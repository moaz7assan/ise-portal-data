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7"/>
  </p:notesMasterIdLst>
  <p:sldIdLst>
    <p:sldId id="256" r:id="rId2"/>
    <p:sldId id="1049" r:id="rId3"/>
    <p:sldId id="336" r:id="rId4"/>
    <p:sldId id="1091" r:id="rId5"/>
    <p:sldId id="1092" r:id="rId6"/>
    <p:sldId id="337" r:id="rId7"/>
    <p:sldId id="1094" r:id="rId8"/>
    <p:sldId id="1086" r:id="rId9"/>
    <p:sldId id="1098" r:id="rId10"/>
    <p:sldId id="1095" r:id="rId11"/>
    <p:sldId id="1087" r:id="rId12"/>
    <p:sldId id="1093" r:id="rId13"/>
    <p:sldId id="1089" r:id="rId14"/>
    <p:sldId id="267" r:id="rId15"/>
    <p:sldId id="1090" r:id="rId16"/>
    <p:sldId id="273" r:id="rId17"/>
    <p:sldId id="1096" r:id="rId18"/>
    <p:sldId id="1097" r:id="rId19"/>
    <p:sldId id="259" r:id="rId20"/>
    <p:sldId id="308" r:id="rId21"/>
    <p:sldId id="309" r:id="rId22"/>
    <p:sldId id="295" r:id="rId23"/>
    <p:sldId id="275" r:id="rId24"/>
    <p:sldId id="1084" r:id="rId25"/>
    <p:sldId id="108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F444ACD-FE85-4D62-ACB9-2A9D2A06BA5E}">
          <p14:sldIdLst>
            <p14:sldId id="256"/>
            <p14:sldId id="1049"/>
            <p14:sldId id="336"/>
            <p14:sldId id="1091"/>
            <p14:sldId id="1092"/>
            <p14:sldId id="337"/>
            <p14:sldId id="1094"/>
            <p14:sldId id="1086"/>
            <p14:sldId id="1098"/>
            <p14:sldId id="1095"/>
            <p14:sldId id="1087"/>
            <p14:sldId id="1093"/>
            <p14:sldId id="1089"/>
            <p14:sldId id="267"/>
            <p14:sldId id="1090"/>
            <p14:sldId id="273"/>
            <p14:sldId id="1096"/>
            <p14:sldId id="1097"/>
            <p14:sldId id="259"/>
            <p14:sldId id="308"/>
            <p14:sldId id="309"/>
            <p14:sldId id="295"/>
            <p14:sldId id="275"/>
            <p14:sldId id="1084"/>
            <p14:sldId id="108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528" autoAdjust="0"/>
  </p:normalViewPr>
  <p:slideViewPr>
    <p:cSldViewPr snapToGrid="0">
      <p:cViewPr varScale="1">
        <p:scale>
          <a:sx n="64" d="100"/>
          <a:sy n="64" d="100"/>
        </p:scale>
        <p:origin x="85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D4E9D-7124-4908-BDE5-08580BF8006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0D186C-886E-459A-AC6C-564097B14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60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Total </a:t>
            </a:r>
            <a:r>
              <a:rPr lang="tr-TR" altLang="en-US" dirty="0"/>
              <a:t>number</a:t>
            </a:r>
            <a:r>
              <a:rPr lang="en-US" altLang="en-US" dirty="0"/>
              <a:t> of elements</a:t>
            </a:r>
            <a:r>
              <a:rPr lang="tr-TR" altLang="en-US" dirty="0"/>
              <a:t> in an array</a:t>
            </a:r>
            <a:r>
              <a:rPr lang="en-US" altLang="en-US" dirty="0"/>
              <a:t> </a:t>
            </a:r>
            <a:r>
              <a:rPr lang="tr-TR" altLang="en-US" dirty="0"/>
              <a:t>is the product of the number</a:t>
            </a:r>
            <a:r>
              <a:rPr lang="en-US" altLang="en-US" dirty="0"/>
              <a:t> of rows</a:t>
            </a:r>
            <a:r>
              <a:rPr lang="tr-TR" altLang="en-US" dirty="0"/>
              <a:t> and the number</a:t>
            </a:r>
            <a:r>
              <a:rPr lang="en-US" altLang="en-US" dirty="0"/>
              <a:t> of columns</a:t>
            </a:r>
            <a:r>
              <a:rPr lang="tr-TR" altLang="en-US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D186C-886E-459A-AC6C-564097B141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729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D186C-886E-459A-AC6C-564097B141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30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D186C-886E-459A-AC6C-564097B141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458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D186C-886E-459A-AC6C-564097B141E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516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D186C-886E-459A-AC6C-564097B141E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68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BB27-85A5-45ED-8D2B-81C8797A8C7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BAC-65E1-4273-80B6-12C13BC0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824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BB27-85A5-45ED-8D2B-81C8797A8C7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BAC-65E1-4273-80B6-12C13BC0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82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BB27-85A5-45ED-8D2B-81C8797A8C7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BAC-65E1-4273-80B6-12C13BC0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840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BB27-85A5-45ED-8D2B-81C8797A8C7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BAC-65E1-4273-80B6-12C13BC0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82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BB27-85A5-45ED-8D2B-81C8797A8C7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BAC-65E1-4273-80B6-12C13BC0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74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BB27-85A5-45ED-8D2B-81C8797A8C7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BAC-65E1-4273-80B6-12C13BC0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86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BB27-85A5-45ED-8D2B-81C8797A8C7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BAC-65E1-4273-80B6-12C13BC0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903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BB27-85A5-45ED-8D2B-81C8797A8C7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BAC-65E1-4273-80B6-12C13BC0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945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BB27-85A5-45ED-8D2B-81C8797A8C7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BAC-65E1-4273-80B6-12C13BC0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036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BB27-85A5-45ED-8D2B-81C8797A8C7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BAC-65E1-4273-80B6-12C13BC0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424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BB27-85A5-45ED-8D2B-81C8797A8C7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36BAC-65E1-4273-80B6-12C13BC0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077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25AA0-083D-402F-A881-3BD7F9D479DC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©1992-2017 by Pearson Education, Inc. All Rights Reserved.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804330-C189-4087-8430-8DEA2E2C7E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0631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FBB27-85A5-45ED-8D2B-81C8797A8C7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36BAC-65E1-4273-80B6-12C13BC0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529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80.png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9.wmf"/><Relationship Id="rId5" Type="http://schemas.openxmlformats.org/officeDocument/2006/relationships/image" Target="../media/image8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9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emf"/><Relationship Id="rId3" Type="http://schemas.openxmlformats.org/officeDocument/2006/relationships/image" Target="../media/image14.png"/><Relationship Id="rId7" Type="http://schemas.openxmlformats.org/officeDocument/2006/relationships/image" Target="../media/image18.emf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image" Target="../media/image13.emf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emf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2929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616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xmlns="" id="{B784B8C3-6401-ED82-6494-DAEBAB7531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4129" y="348455"/>
            <a:ext cx="7551737" cy="827087"/>
          </a:xfrm>
        </p:spPr>
        <p:txBody>
          <a:bodyPr/>
          <a:lstStyle/>
          <a:p>
            <a:r>
              <a:rPr lang="en-US" altLang="en-US" sz="4400" dirty="0">
                <a:cs typeface="Arial" panose="020B0604020202020204" pitchFamily="34" charset="0"/>
              </a:rPr>
              <a:t>Array, Vectors, Matrices</a:t>
            </a:r>
            <a:endParaRPr lang="en-US" altLang="en-US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xmlns="" id="{3F9E49BC-B7AB-8CCF-2673-AFE2DE8521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780" y="1376364"/>
            <a:ext cx="10608906" cy="4719637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altLang="en-US" b="1" dirty="0"/>
              <a:t>Array:</a:t>
            </a:r>
            <a:r>
              <a:rPr lang="tr-TR" altLang="en-US" dirty="0">
                <a:solidFill>
                  <a:srgbClr val="A50021"/>
                </a:solidFill>
              </a:rPr>
              <a:t> </a:t>
            </a:r>
            <a:r>
              <a:rPr lang="en-US" altLang="en-US" dirty="0"/>
              <a:t>A collection of data values organized into rows and columns and known by a single name.</a:t>
            </a:r>
          </a:p>
          <a:p>
            <a:pPr algn="just">
              <a:lnSpc>
                <a:spcPct val="100000"/>
              </a:lnSpc>
            </a:pPr>
            <a:r>
              <a:rPr lang="en-US" altLang="en-US" dirty="0"/>
              <a:t>Arrays can be classified as </a:t>
            </a:r>
            <a:r>
              <a:rPr lang="en-US" altLang="en-US" b="1" dirty="0"/>
              <a:t>vectors</a:t>
            </a:r>
            <a:r>
              <a:rPr lang="en-US" altLang="en-US" dirty="0"/>
              <a:t> </a:t>
            </a:r>
            <a:r>
              <a:rPr lang="tr-TR" altLang="en-US" dirty="0"/>
              <a:t>and</a:t>
            </a:r>
            <a:r>
              <a:rPr lang="en-US" altLang="en-US" dirty="0"/>
              <a:t> </a:t>
            </a:r>
            <a:r>
              <a:rPr lang="en-US" altLang="en-US" b="1" dirty="0"/>
              <a:t>matrices</a:t>
            </a:r>
            <a:r>
              <a:rPr lang="tr-TR" altLang="en-US" dirty="0"/>
              <a:t>.</a:t>
            </a:r>
            <a:endParaRPr lang="en-US" altLang="en-US" dirty="0"/>
          </a:p>
          <a:p>
            <a:pPr algn="just">
              <a:lnSpc>
                <a:spcPct val="100000"/>
              </a:lnSpc>
            </a:pPr>
            <a:r>
              <a:rPr lang="en-US" altLang="en-US" b="1" dirty="0"/>
              <a:t>Vector:</a:t>
            </a:r>
            <a:r>
              <a:rPr lang="en-US" altLang="en-US" b="1" dirty="0">
                <a:solidFill>
                  <a:srgbClr val="A50021"/>
                </a:solidFill>
              </a:rPr>
              <a:t> </a:t>
            </a:r>
            <a:r>
              <a:rPr lang="en-US" altLang="en-US" dirty="0"/>
              <a:t>Array with one dimension</a:t>
            </a:r>
          </a:p>
          <a:p>
            <a:pPr algn="just">
              <a:lnSpc>
                <a:spcPct val="100000"/>
              </a:lnSpc>
            </a:pPr>
            <a:r>
              <a:rPr lang="en-US" altLang="en-US" b="1" dirty="0"/>
              <a:t>Matrix:</a:t>
            </a:r>
            <a:r>
              <a:rPr lang="tr-TR" altLang="en-US" b="1" dirty="0"/>
              <a:t> </a:t>
            </a:r>
            <a:r>
              <a:rPr lang="en-US" altLang="en-US" dirty="0"/>
              <a:t>Array with more than one dimension</a:t>
            </a:r>
          </a:p>
          <a:p>
            <a:pPr algn="just">
              <a:lnSpc>
                <a:spcPct val="100000"/>
              </a:lnSpc>
              <a:spcAft>
                <a:spcPct val="20000"/>
              </a:spcAft>
            </a:pPr>
            <a:r>
              <a:rPr lang="en-US" altLang="en-US" b="1" dirty="0"/>
              <a:t>Size</a:t>
            </a:r>
            <a:r>
              <a:rPr lang="en-US" altLang="en-US" dirty="0"/>
              <a:t> of an array</a:t>
            </a:r>
            <a:r>
              <a:rPr lang="tr-TR" altLang="en-US" dirty="0"/>
              <a:t> is specified by the n</a:t>
            </a:r>
            <a:r>
              <a:rPr lang="en-US" altLang="en-US" dirty="0"/>
              <a:t>umber of rows and </a:t>
            </a:r>
            <a:r>
              <a:rPr lang="tr-TR" altLang="en-US" dirty="0"/>
              <a:t>the n</a:t>
            </a:r>
            <a:r>
              <a:rPr lang="en-US" altLang="en-US" dirty="0"/>
              <a:t>umber of columns</a:t>
            </a:r>
            <a:r>
              <a:rPr lang="tr-TR" altLang="en-US" dirty="0"/>
              <a:t>, with the number</a:t>
            </a:r>
            <a:r>
              <a:rPr lang="en-US" altLang="en-US" dirty="0"/>
              <a:t> of rows mentioned first</a:t>
            </a:r>
            <a:r>
              <a:rPr lang="tr-TR" altLang="en-US" dirty="0"/>
              <a:t> </a:t>
            </a:r>
            <a:r>
              <a:rPr lang="en-US" altLang="en-US" dirty="0"/>
              <a:t>(</a:t>
            </a:r>
            <a:r>
              <a:rPr lang="tr-TR" altLang="en-US" dirty="0"/>
              <a:t>n x m).</a:t>
            </a:r>
            <a:endParaRPr lang="en-US" altLang="en-US" dirty="0"/>
          </a:p>
          <a:p>
            <a:pPr algn="just">
              <a:lnSpc>
                <a:spcPct val="100000"/>
              </a:lnSpc>
              <a:spcAft>
                <a:spcPct val="20000"/>
              </a:spcAft>
              <a:buFontTx/>
              <a:buNone/>
            </a:pPr>
            <a:r>
              <a:rPr lang="en-US" altLang="en-US" dirty="0"/>
              <a:t>	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C1E9AC-7C37-5AF9-91CA-451B3DF30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 and Column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938EFB-7AB4-2120-792F-8290A1C9F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832"/>
            <a:ext cx="10515600" cy="464313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b="1" dirty="0"/>
              <a:t>Row Vector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3200" dirty="0" err="1"/>
              <a:t>rowVector</a:t>
            </a:r>
            <a:r>
              <a:rPr lang="en-US" sz="3200" dirty="0"/>
              <a:t> = [1 2 3 4 5];        % Using spaces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3200" dirty="0"/>
              <a:t>rowVector2 = [1, 2, 3, 4, 5];  % Using commas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/>
              <a:t>Column Vector: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/>
              <a:t>     </a:t>
            </a:r>
            <a:r>
              <a:rPr lang="en-US" sz="3200" dirty="0" err="1"/>
              <a:t>colVector</a:t>
            </a:r>
            <a:r>
              <a:rPr lang="en-US" sz="3200" dirty="0"/>
              <a:t> = [1; 2; 3; 4; 5];    % Semicolons separate rows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3200" dirty="0"/>
          </a:p>
          <a:p>
            <a:pPr marL="0" indent="0">
              <a:lnSpc>
                <a:spcPct val="150000"/>
              </a:lnSpc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38239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15614B-CF22-5712-3FD8-9BC8AAFBE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F3AA6A-EB37-CA03-E89D-D131258F2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b="1" kern="100" dirty="0">
                <a:effectLst/>
                <a:ea typeface="Aptos" panose="020B0004020202020204" pitchFamily="34" charset="0"/>
              </a:rPr>
              <a:t>Manually:</a:t>
            </a:r>
            <a:r>
              <a:rPr lang="en-US" kern="100" dirty="0">
                <a:effectLst/>
                <a:ea typeface="Aptos" panose="020B0004020202020204" pitchFamily="34" charset="0"/>
              </a:rPr>
              <a:t> </a:t>
            </a: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kern="100" dirty="0">
                <a:effectLst/>
                <a:ea typeface="Aptos" panose="020B0004020202020204" pitchFamily="34" charset="0"/>
              </a:rPr>
              <a:t>	A = [1 2 3; 4 5 6; 7 8 9];  % 3x3 matrix</a:t>
            </a: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b="1" kern="100" dirty="0">
                <a:effectLst/>
                <a:ea typeface="Aptos" panose="020B0004020202020204" pitchFamily="34" charset="0"/>
              </a:rPr>
              <a:t>Using zeros, ones, and eye:</a:t>
            </a:r>
            <a:r>
              <a:rPr lang="en-US" kern="100" dirty="0">
                <a:effectLst/>
                <a:ea typeface="Aptos" panose="020B0004020202020204" pitchFamily="34" charset="0"/>
              </a:rPr>
              <a:t> </a:t>
            </a: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pt-BR" kern="100" dirty="0">
                <a:effectLst/>
                <a:ea typeface="Aptos" panose="020B0004020202020204" pitchFamily="34" charset="0"/>
              </a:rPr>
              <a:t>	Z = zeros(3,3);  % 3x3 matrix of zeros</a:t>
            </a:r>
            <a:endParaRPr lang="en-US" kern="100" dirty="0">
              <a:effectLst/>
              <a:ea typeface="Aptos" panose="020B0004020202020204" pitchFamily="34" charset="0"/>
            </a:endParaRP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kern="100" dirty="0">
                <a:effectLst/>
                <a:ea typeface="Aptos" panose="020B0004020202020204" pitchFamily="34" charset="0"/>
              </a:rPr>
              <a:t>	O = ones(2,4);   % 2x4 matrix of ones</a:t>
            </a: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kern="100" dirty="0">
                <a:effectLst/>
                <a:ea typeface="Aptos" panose="020B0004020202020204" pitchFamily="34" charset="0"/>
              </a:rPr>
              <a:t>	I = eye(4);      % 4x4 identity matrix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C7209B8-8937-7ED2-E942-BFD4DABDB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135" y="3371850"/>
            <a:ext cx="1628775" cy="11811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6504411-1CA6-820E-56A3-B45022DC3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135" y="4924426"/>
            <a:ext cx="1933575" cy="914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8C35522-7468-3440-1E26-B1FB825BEC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2595" y="3724275"/>
            <a:ext cx="2095500" cy="1524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CD11CA03-ABAC-2773-C3B2-9DC38EEC68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2137" y="1952625"/>
            <a:ext cx="1514475" cy="11811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703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xmlns="" id="{793BD802-5A2F-C3C0-2EBB-51526DA113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3734" y="315914"/>
            <a:ext cx="10328984" cy="827087"/>
          </a:xfrm>
        </p:spPr>
        <p:txBody>
          <a:bodyPr/>
          <a:lstStyle/>
          <a:p>
            <a:r>
              <a:rPr lang="en-US" altLang="en-US" sz="4400" dirty="0">
                <a:cs typeface="Arial" panose="020B0604020202020204" pitchFamily="34" charset="0"/>
              </a:rPr>
              <a:t>Vectors</a:t>
            </a:r>
            <a:r>
              <a:rPr lang="en-US" altLang="en-US" dirty="0">
                <a:cs typeface="Arial" panose="020B0604020202020204" pitchFamily="34" charset="0"/>
              </a:rPr>
              <a:t> vs.</a:t>
            </a:r>
            <a:r>
              <a:rPr lang="en-US" altLang="en-US" sz="4400" dirty="0">
                <a:cs typeface="Arial" panose="020B0604020202020204" pitchFamily="34" charset="0"/>
              </a:rPr>
              <a:t> Matrices</a:t>
            </a:r>
            <a:endParaRPr lang="en-US" altLang="en-US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xmlns="" id="{0FE98A37-A904-D568-0107-50A806090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1371601"/>
            <a:ext cx="914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/>
              <a:t>1   2</a:t>
            </a:r>
          </a:p>
          <a:p>
            <a:r>
              <a:rPr lang="en-US" altLang="en-US" sz="2400"/>
              <a:t>3   4</a:t>
            </a:r>
          </a:p>
          <a:p>
            <a:r>
              <a:rPr lang="en-US" altLang="en-US" sz="2400"/>
              <a:t>5   6</a:t>
            </a:r>
          </a:p>
        </p:txBody>
      </p:sp>
      <p:grpSp>
        <p:nvGrpSpPr>
          <p:cNvPr id="99332" name="Group 4">
            <a:extLst>
              <a:ext uri="{FF2B5EF4-FFF2-40B4-BE49-F238E27FC236}">
                <a16:creationId xmlns:a16="http://schemas.microsoft.com/office/drawing/2014/main" xmlns="" id="{A15CDE64-A512-8EBD-99CC-1B77F6C2367C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1447800"/>
            <a:ext cx="152400" cy="1066800"/>
            <a:chOff x="1296" y="1920"/>
            <a:chExt cx="96" cy="672"/>
          </a:xfrm>
        </p:grpSpPr>
        <p:sp>
          <p:nvSpPr>
            <p:cNvPr id="99333" name="Line 5">
              <a:extLst>
                <a:ext uri="{FF2B5EF4-FFF2-40B4-BE49-F238E27FC236}">
                  <a16:creationId xmlns:a16="http://schemas.microsoft.com/office/drawing/2014/main" xmlns="" id="{11E0BAFE-C94F-252B-0A5F-64DB3294CA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192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334" name="Line 6">
              <a:extLst>
                <a:ext uri="{FF2B5EF4-FFF2-40B4-BE49-F238E27FC236}">
                  <a16:creationId xmlns:a16="http://schemas.microsoft.com/office/drawing/2014/main" xmlns="" id="{4CA096C9-F97B-9834-D726-22A29D3F2D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259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335" name="Line 7">
              <a:extLst>
                <a:ext uri="{FF2B5EF4-FFF2-40B4-BE49-F238E27FC236}">
                  <a16:creationId xmlns:a16="http://schemas.microsoft.com/office/drawing/2014/main" xmlns="" id="{F470A51E-3F9E-D839-3646-B93965C0F2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920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9336" name="Group 8">
            <a:extLst>
              <a:ext uri="{FF2B5EF4-FFF2-40B4-BE49-F238E27FC236}">
                <a16:creationId xmlns:a16="http://schemas.microsoft.com/office/drawing/2014/main" xmlns="" id="{5C949EDB-65EE-9C09-EC4B-263386B6368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352800" y="1447800"/>
            <a:ext cx="152400" cy="1066800"/>
            <a:chOff x="1296" y="1920"/>
            <a:chExt cx="96" cy="672"/>
          </a:xfrm>
        </p:grpSpPr>
        <p:sp>
          <p:nvSpPr>
            <p:cNvPr id="99337" name="Line 9">
              <a:extLst>
                <a:ext uri="{FF2B5EF4-FFF2-40B4-BE49-F238E27FC236}">
                  <a16:creationId xmlns:a16="http://schemas.microsoft.com/office/drawing/2014/main" xmlns="" id="{FCA3D6AE-1046-0761-C85A-061A877CB9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192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338" name="Line 10">
              <a:extLst>
                <a:ext uri="{FF2B5EF4-FFF2-40B4-BE49-F238E27FC236}">
                  <a16:creationId xmlns:a16="http://schemas.microsoft.com/office/drawing/2014/main" xmlns="" id="{25CF5D07-6D31-F018-4574-C4897357B7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259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339" name="Line 11">
              <a:extLst>
                <a:ext uri="{FF2B5EF4-FFF2-40B4-BE49-F238E27FC236}">
                  <a16:creationId xmlns:a16="http://schemas.microsoft.com/office/drawing/2014/main" xmlns="" id="{9140E4AB-08E1-80F3-E37B-B7F419D156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920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9340" name="Text Box 12">
            <a:extLst>
              <a:ext uri="{FF2B5EF4-FFF2-40B4-BE49-F238E27FC236}">
                <a16:creationId xmlns:a16="http://schemas.microsoft.com/office/drawing/2014/main" xmlns="" id="{203D190B-52AF-FC5E-E5B1-A8E455BFD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752601"/>
            <a:ext cx="4860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a=</a:t>
            </a:r>
          </a:p>
        </p:txBody>
      </p:sp>
      <p:sp>
        <p:nvSpPr>
          <p:cNvPr id="99341" name="Text Box 13">
            <a:extLst>
              <a:ext uri="{FF2B5EF4-FFF2-40B4-BE49-F238E27FC236}">
                <a16:creationId xmlns:a16="http://schemas.microsoft.com/office/drawing/2014/main" xmlns="" id="{36B7269B-AEB2-2CE3-E556-11CB7BB79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3451" y="1752601"/>
            <a:ext cx="33239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3x2 matrix </a:t>
            </a:r>
            <a:r>
              <a:rPr lang="en-US" altLang="en-US" sz="2400">
                <a:sym typeface="Wingdings" panose="05000000000000000000" pitchFamily="2" charset="2"/>
              </a:rPr>
              <a:t> 6 elements</a:t>
            </a:r>
            <a:endParaRPr lang="en-US" altLang="en-US" sz="2400"/>
          </a:p>
        </p:txBody>
      </p:sp>
      <p:sp>
        <p:nvSpPr>
          <p:cNvPr id="99342" name="Text Box 14">
            <a:extLst>
              <a:ext uri="{FF2B5EF4-FFF2-40B4-BE49-F238E27FC236}">
                <a16:creationId xmlns:a16="http://schemas.microsoft.com/office/drawing/2014/main" xmlns="" id="{669D79A2-0B27-FE24-3AA6-0BCD48672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2819401"/>
            <a:ext cx="19319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b=[1   2   3   4]</a:t>
            </a:r>
          </a:p>
        </p:txBody>
      </p:sp>
      <p:sp>
        <p:nvSpPr>
          <p:cNvPr id="99343" name="Text Box 15">
            <a:extLst>
              <a:ext uri="{FF2B5EF4-FFF2-40B4-BE49-F238E27FC236}">
                <a16:creationId xmlns:a16="http://schemas.microsoft.com/office/drawing/2014/main" xmlns="" id="{C231B0EE-ECFE-FCF7-E965-48B6027DD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1" y="2819401"/>
            <a:ext cx="46767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1x4 array </a:t>
            </a:r>
            <a:r>
              <a:rPr lang="en-US" altLang="en-US" sz="2400" dirty="0">
                <a:sym typeface="Wingdings" panose="05000000000000000000" pitchFamily="2" charset="2"/>
              </a:rPr>
              <a:t> 4 elements, </a:t>
            </a:r>
            <a:r>
              <a:rPr lang="en-US" altLang="en-US" sz="2400" b="1" dirty="0">
                <a:sym typeface="Wingdings" panose="05000000000000000000" pitchFamily="2" charset="2"/>
              </a:rPr>
              <a:t>row vector</a:t>
            </a:r>
            <a:endParaRPr lang="en-US" altLang="en-US" sz="2400" b="1" dirty="0"/>
          </a:p>
        </p:txBody>
      </p:sp>
      <p:grpSp>
        <p:nvGrpSpPr>
          <p:cNvPr id="99344" name="Group 16">
            <a:extLst>
              <a:ext uri="{FF2B5EF4-FFF2-40B4-BE49-F238E27FC236}">
                <a16:creationId xmlns:a16="http://schemas.microsoft.com/office/drawing/2014/main" xmlns="" id="{3822226E-5B4D-15FC-3285-300D2D8ED080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3613150"/>
            <a:ext cx="152400" cy="1066800"/>
            <a:chOff x="1296" y="1920"/>
            <a:chExt cx="96" cy="672"/>
          </a:xfrm>
        </p:grpSpPr>
        <p:sp>
          <p:nvSpPr>
            <p:cNvPr id="99345" name="Line 17">
              <a:extLst>
                <a:ext uri="{FF2B5EF4-FFF2-40B4-BE49-F238E27FC236}">
                  <a16:creationId xmlns:a16="http://schemas.microsoft.com/office/drawing/2014/main" xmlns="" id="{53BA55D1-5C6A-331C-B331-B938F3365B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192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346" name="Line 18">
              <a:extLst>
                <a:ext uri="{FF2B5EF4-FFF2-40B4-BE49-F238E27FC236}">
                  <a16:creationId xmlns:a16="http://schemas.microsoft.com/office/drawing/2014/main" xmlns="" id="{4C75FAAD-DFFC-E5A1-897B-5D12867937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259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347" name="Line 19">
              <a:extLst>
                <a:ext uri="{FF2B5EF4-FFF2-40B4-BE49-F238E27FC236}">
                  <a16:creationId xmlns:a16="http://schemas.microsoft.com/office/drawing/2014/main" xmlns="" id="{AB24A367-F5FC-934F-19C5-7461C56CC2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920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9348" name="Group 20">
            <a:extLst>
              <a:ext uri="{FF2B5EF4-FFF2-40B4-BE49-F238E27FC236}">
                <a16:creationId xmlns:a16="http://schemas.microsoft.com/office/drawing/2014/main" xmlns="" id="{A6A5CE99-8B81-4903-6D6D-206D48CDD09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971800" y="3613150"/>
            <a:ext cx="152400" cy="1066800"/>
            <a:chOff x="1296" y="1920"/>
            <a:chExt cx="96" cy="672"/>
          </a:xfrm>
        </p:grpSpPr>
        <p:sp>
          <p:nvSpPr>
            <p:cNvPr id="99349" name="Line 21">
              <a:extLst>
                <a:ext uri="{FF2B5EF4-FFF2-40B4-BE49-F238E27FC236}">
                  <a16:creationId xmlns:a16="http://schemas.microsoft.com/office/drawing/2014/main" xmlns="" id="{CD8AC7D0-B38B-42B2-DAE5-3712F55C16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192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350" name="Line 22">
              <a:extLst>
                <a:ext uri="{FF2B5EF4-FFF2-40B4-BE49-F238E27FC236}">
                  <a16:creationId xmlns:a16="http://schemas.microsoft.com/office/drawing/2014/main" xmlns="" id="{8F93D2DE-A68B-7C90-690E-BAC007118B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259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351" name="Line 23">
              <a:extLst>
                <a:ext uri="{FF2B5EF4-FFF2-40B4-BE49-F238E27FC236}">
                  <a16:creationId xmlns:a16="http://schemas.microsoft.com/office/drawing/2014/main" xmlns="" id="{6FBBA80B-9703-E288-1518-4C95CD66E5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920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9352" name="Text Box 24">
            <a:extLst>
              <a:ext uri="{FF2B5EF4-FFF2-40B4-BE49-F238E27FC236}">
                <a16:creationId xmlns:a16="http://schemas.microsoft.com/office/drawing/2014/main" xmlns="" id="{6BD78776-EBFC-3B28-E5AF-6EEAB4C58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917951"/>
            <a:ext cx="4683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c=</a:t>
            </a:r>
          </a:p>
        </p:txBody>
      </p:sp>
      <p:sp>
        <p:nvSpPr>
          <p:cNvPr id="99353" name="Rectangle 25">
            <a:extLst>
              <a:ext uri="{FF2B5EF4-FFF2-40B4-BE49-F238E27FC236}">
                <a16:creationId xmlns:a16="http://schemas.microsoft.com/office/drawing/2014/main" xmlns="" id="{61E8D9FA-48B0-8985-1D81-78A1EF52B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536951"/>
            <a:ext cx="533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/>
              <a:t>1</a:t>
            </a:r>
          </a:p>
          <a:p>
            <a:r>
              <a:rPr lang="en-US" altLang="en-US" sz="2400"/>
              <a:t>3</a:t>
            </a:r>
          </a:p>
          <a:p>
            <a:r>
              <a:rPr lang="en-US" altLang="en-US" sz="2400"/>
              <a:t>5</a:t>
            </a:r>
          </a:p>
        </p:txBody>
      </p:sp>
      <p:sp>
        <p:nvSpPr>
          <p:cNvPr id="99354" name="Text Box 26">
            <a:extLst>
              <a:ext uri="{FF2B5EF4-FFF2-40B4-BE49-F238E27FC236}">
                <a16:creationId xmlns:a16="http://schemas.microsoft.com/office/drawing/2014/main" xmlns="" id="{283A79F9-4B82-F2FD-D969-1C666A23C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3450" y="3886201"/>
            <a:ext cx="51253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3x1 array </a:t>
            </a:r>
            <a:r>
              <a:rPr lang="en-US" altLang="en-US" sz="2400">
                <a:sym typeface="Wingdings" panose="05000000000000000000" pitchFamily="2" charset="2"/>
              </a:rPr>
              <a:t> 3 elements, </a:t>
            </a:r>
            <a:r>
              <a:rPr lang="en-US" altLang="en-US" sz="2400" b="1">
                <a:sym typeface="Wingdings" panose="05000000000000000000" pitchFamily="2" charset="2"/>
              </a:rPr>
              <a:t>column vector</a:t>
            </a:r>
            <a:endParaRPr lang="en-US" altLang="en-US" sz="2400" b="1"/>
          </a:p>
        </p:txBody>
      </p:sp>
      <p:sp>
        <p:nvSpPr>
          <p:cNvPr id="99355" name="Text Box 27">
            <a:extLst>
              <a:ext uri="{FF2B5EF4-FFF2-40B4-BE49-F238E27FC236}">
                <a16:creationId xmlns:a16="http://schemas.microsoft.com/office/drawing/2014/main" xmlns="" id="{C03FFE9D-1353-8456-6888-34F3997E9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926" y="5029201"/>
            <a:ext cx="41969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a(2,1)=3		b(3)=3		c(2)=3</a:t>
            </a:r>
          </a:p>
        </p:txBody>
      </p:sp>
      <p:sp>
        <p:nvSpPr>
          <p:cNvPr id="99356" name="Line 28">
            <a:extLst>
              <a:ext uri="{FF2B5EF4-FFF2-40B4-BE49-F238E27FC236}">
                <a16:creationId xmlns:a16="http://schemas.microsoft.com/office/drawing/2014/main" xmlns="" id="{4D55FA90-CD84-E69A-F4CA-1C761AF4F4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0000" y="5446713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57" name="Line 29">
            <a:extLst>
              <a:ext uri="{FF2B5EF4-FFF2-40B4-BE49-F238E27FC236}">
                <a16:creationId xmlns:a16="http://schemas.microsoft.com/office/drawing/2014/main" xmlns="" id="{82A0BEF1-424C-67B4-9B3C-959F7360F2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5446713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58" name="Text Box 30">
            <a:extLst>
              <a:ext uri="{FF2B5EF4-FFF2-40B4-BE49-F238E27FC236}">
                <a16:creationId xmlns:a16="http://schemas.microsoft.com/office/drawing/2014/main" xmlns="" id="{E4856CE2-B2C0-8589-370D-6861B5A5A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729288"/>
            <a:ext cx="7593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Row</a:t>
            </a:r>
            <a:r>
              <a:rPr lang="tr-TR" altLang="en-US"/>
              <a:t> #</a:t>
            </a:r>
            <a:endParaRPr lang="en-US" altLang="en-US"/>
          </a:p>
        </p:txBody>
      </p:sp>
      <p:sp>
        <p:nvSpPr>
          <p:cNvPr id="99359" name="Text Box 31">
            <a:extLst>
              <a:ext uri="{FF2B5EF4-FFF2-40B4-BE49-F238E27FC236}">
                <a16:creationId xmlns:a16="http://schemas.microsoft.com/office/drawing/2014/main" xmlns="" id="{AB66B461-FD30-DA87-ADBA-236186950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729288"/>
            <a:ext cx="10791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tr-TR" altLang="en-US"/>
              <a:t>C</a:t>
            </a:r>
            <a:r>
              <a:rPr lang="en-US" altLang="en-US"/>
              <a:t>olumn</a:t>
            </a:r>
            <a:r>
              <a:rPr lang="tr-TR" altLang="en-US"/>
              <a:t> #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5372AD-FBD5-A7D1-0035-3A466CF48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5BF2A2-1F2A-5B41-BDF4-CF825E803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3200" kern="100" dirty="0"/>
              <a:t>Define a 3×3 matrix where the first row is [2,4,6], the second row is [8, 10, 12], and the third row is [14,16,18].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endParaRPr lang="en-US" sz="3200" kern="100" dirty="0"/>
          </a:p>
          <a:p>
            <a:pPr marL="457200" lvl="1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3200" b="1" kern="100" dirty="0">
                <a:solidFill>
                  <a:srgbClr val="0000FF"/>
                </a:solidFill>
                <a:effectLst/>
                <a:ea typeface="Aptos" panose="020B0004020202020204" pitchFamily="34" charset="0"/>
              </a:rPr>
              <a:t>A = [</a:t>
            </a:r>
            <a:r>
              <a:rPr lang="en-US" sz="3200" b="1" kern="100" dirty="0">
                <a:solidFill>
                  <a:srgbClr val="0000FF"/>
                </a:solidFill>
              </a:rPr>
              <a:t>2,4,6</a:t>
            </a:r>
            <a:r>
              <a:rPr lang="en-US" sz="3200" b="1" kern="100" dirty="0">
                <a:solidFill>
                  <a:srgbClr val="0000FF"/>
                </a:solidFill>
                <a:effectLst/>
                <a:ea typeface="Aptos" panose="020B0004020202020204" pitchFamily="34" charset="0"/>
              </a:rPr>
              <a:t>; </a:t>
            </a:r>
            <a:r>
              <a:rPr lang="en-US" sz="3200" b="1" kern="100" dirty="0">
                <a:solidFill>
                  <a:srgbClr val="0000FF"/>
                </a:solidFill>
              </a:rPr>
              <a:t>8, 10, 12</a:t>
            </a:r>
            <a:r>
              <a:rPr lang="en-US" sz="3200" b="1" kern="100" dirty="0">
                <a:solidFill>
                  <a:srgbClr val="0000FF"/>
                </a:solidFill>
                <a:effectLst/>
                <a:ea typeface="Aptos" panose="020B0004020202020204" pitchFamily="34" charset="0"/>
              </a:rPr>
              <a:t>; </a:t>
            </a:r>
            <a:r>
              <a:rPr lang="en-US" sz="3200" b="1" kern="100" dirty="0">
                <a:solidFill>
                  <a:srgbClr val="0000FF"/>
                </a:solidFill>
              </a:rPr>
              <a:t>14,16,18</a:t>
            </a:r>
            <a:r>
              <a:rPr lang="en-US" sz="3200" b="1" kern="100" dirty="0">
                <a:solidFill>
                  <a:srgbClr val="0000FF"/>
                </a:solidFill>
                <a:effectLst/>
                <a:ea typeface="Aptos" panose="020B0004020202020204" pitchFamily="34" charset="0"/>
              </a:rPr>
              <a:t>];</a:t>
            </a:r>
            <a:endParaRPr lang="en-US" sz="3200" b="1" kern="100" dirty="0">
              <a:solidFill>
                <a:srgbClr val="0000FF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01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493DF9E7-5B84-16B6-2710-AC2BD2C18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Some Special Vectors and Matrices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4BBF1BB3-CB2B-14B8-A0B8-44798FD6D9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00673" y="1690688"/>
            <a:ext cx="5181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&gt;&gt; v = ones(1,4)</a:t>
            </a:r>
          </a:p>
          <a:p>
            <a:pPr marL="0" indent="0">
              <a:buNone/>
            </a:pPr>
            <a:r>
              <a:rPr lang="en-US" dirty="0"/>
              <a:t>v =</a:t>
            </a:r>
          </a:p>
          <a:p>
            <a:pPr marL="0" indent="0">
              <a:buNone/>
            </a:pPr>
            <a:r>
              <a:rPr lang="en-US" dirty="0"/>
              <a:t>     1     1     1     1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&gt;&gt; m = ones(3)</a:t>
            </a:r>
          </a:p>
          <a:p>
            <a:pPr marL="0" indent="0">
              <a:buNone/>
            </a:pPr>
            <a:r>
              <a:rPr lang="en-US" dirty="0"/>
              <a:t>m =</a:t>
            </a:r>
          </a:p>
          <a:p>
            <a:pPr marL="0" indent="0">
              <a:buNone/>
            </a:pPr>
            <a:r>
              <a:rPr lang="en-US" dirty="0"/>
              <a:t>     1     1     1</a:t>
            </a:r>
          </a:p>
          <a:p>
            <a:pPr marL="0" indent="0">
              <a:buNone/>
            </a:pPr>
            <a:r>
              <a:rPr lang="en-US" dirty="0"/>
              <a:t>     1     1     1</a:t>
            </a:r>
          </a:p>
          <a:p>
            <a:pPr marL="0" indent="0">
              <a:buNone/>
            </a:pPr>
            <a:r>
              <a:rPr lang="en-US" dirty="0"/>
              <a:t>     1     1     1</a:t>
            </a:r>
          </a:p>
          <a:p>
            <a:pPr marL="0" indent="0">
              <a:buNone/>
            </a:pPr>
            <a:r>
              <a:rPr lang="en-US" dirty="0"/>
              <a:t>&gt;&gt; </a:t>
            </a:r>
            <a:r>
              <a:rPr lang="pt-BR" dirty="0"/>
              <a:t>n = ones(2,3)</a:t>
            </a:r>
          </a:p>
          <a:p>
            <a:pPr marL="0" indent="0">
              <a:buNone/>
            </a:pPr>
            <a:r>
              <a:rPr lang="pt-BR" dirty="0"/>
              <a:t>n =</a:t>
            </a:r>
          </a:p>
          <a:p>
            <a:pPr marL="0" indent="0">
              <a:buNone/>
            </a:pPr>
            <a:r>
              <a:rPr lang="pt-BR" dirty="0"/>
              <a:t>     1     1     1</a:t>
            </a:r>
          </a:p>
          <a:p>
            <a:pPr marL="0" indent="0">
              <a:buNone/>
            </a:pPr>
            <a:r>
              <a:rPr lang="pt-BR" dirty="0"/>
              <a:t>     1     1     1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ACF297E-6F08-8F35-9177-A309E1CAC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82273" y="1690688"/>
            <a:ext cx="5181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&gt;&gt; x = zeros(1,4)</a:t>
            </a:r>
          </a:p>
          <a:p>
            <a:pPr marL="0" indent="0">
              <a:buNone/>
            </a:pPr>
            <a:r>
              <a:rPr lang="en-US" dirty="0"/>
              <a:t>x =</a:t>
            </a:r>
          </a:p>
          <a:p>
            <a:pPr marL="0" indent="0">
              <a:buNone/>
            </a:pPr>
            <a:r>
              <a:rPr lang="en-US" dirty="0"/>
              <a:t>     0     0     0     0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&gt;&gt; y = zeros(3)</a:t>
            </a:r>
          </a:p>
          <a:p>
            <a:pPr marL="0" indent="0">
              <a:buNone/>
            </a:pPr>
            <a:r>
              <a:rPr lang="en-US" dirty="0"/>
              <a:t>y =</a:t>
            </a:r>
          </a:p>
          <a:p>
            <a:pPr marL="0" indent="0">
              <a:buNone/>
            </a:pPr>
            <a:r>
              <a:rPr lang="en-US" dirty="0"/>
              <a:t>     0     0     0</a:t>
            </a:r>
          </a:p>
          <a:p>
            <a:pPr marL="0" indent="0">
              <a:buNone/>
            </a:pPr>
            <a:r>
              <a:rPr lang="en-US" dirty="0"/>
              <a:t>     0     0     0</a:t>
            </a:r>
          </a:p>
          <a:p>
            <a:pPr marL="0" indent="0">
              <a:buNone/>
            </a:pPr>
            <a:r>
              <a:rPr lang="en-US" dirty="0"/>
              <a:t>     0     0     0</a:t>
            </a:r>
          </a:p>
          <a:p>
            <a:pPr marL="0" indent="0">
              <a:buNone/>
            </a:pPr>
            <a:r>
              <a:rPr lang="pl-PL" dirty="0"/>
              <a:t>&gt;&gt; z = zeros(2,3)</a:t>
            </a:r>
          </a:p>
          <a:p>
            <a:pPr marL="0" indent="0">
              <a:buNone/>
            </a:pPr>
            <a:r>
              <a:rPr lang="pl-PL" dirty="0"/>
              <a:t>z =</a:t>
            </a:r>
          </a:p>
          <a:p>
            <a:pPr marL="0" indent="0">
              <a:buNone/>
            </a:pPr>
            <a:r>
              <a:rPr lang="pl-PL" dirty="0"/>
              <a:t>     0     0     0</a:t>
            </a:r>
          </a:p>
          <a:p>
            <a:pPr marL="0" indent="0">
              <a:buNone/>
            </a:pPr>
            <a:r>
              <a:rPr lang="pl-PL" dirty="0"/>
              <a:t>     0     0     0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411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D4BBB244-872B-12F8-7D80-FED3F887A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B3D38FF-8663-7AFD-2DB8-A6AB5DCD4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0" i="0" dirty="0">
                <a:solidFill>
                  <a:srgbClr val="000000"/>
                </a:solidFill>
                <a:effectLst/>
              </a:rPr>
              <a:t>Create a row vector that has the following elements: </a:t>
            </a:r>
          </a:p>
          <a:p>
            <a:pPr marL="0" indent="0">
              <a:buNone/>
            </a:pPr>
            <a:r>
              <a:rPr lang="en-US" sz="3200" b="0" i="0" dirty="0">
                <a:solidFill>
                  <a:srgbClr val="000000"/>
                </a:solidFill>
                <a:effectLst/>
              </a:rPr>
              <a:t>	8, 10/4, 12×1.4, 51, tan 85°,√26 , and 0.15.</a:t>
            </a:r>
            <a:r>
              <a:rPr lang="en-US" sz="3200" dirty="0"/>
              <a:t> 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ED7B610-87B4-6F8C-F285-9998797E4F65}"/>
              </a:ext>
            </a:extLst>
          </p:cNvPr>
          <p:cNvSpPr txBox="1"/>
          <p:nvPr/>
        </p:nvSpPr>
        <p:spPr>
          <a:xfrm>
            <a:off x="934064" y="4257818"/>
            <a:ext cx="1032387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CourierNewPSMT"/>
              </a:rPr>
              <a:t>row=[8 10/4 12*1.4 51 </a:t>
            </a:r>
            <a:r>
              <a:rPr lang="en-US" sz="2800" b="1" i="0" dirty="0" err="1">
                <a:solidFill>
                  <a:srgbClr val="000000"/>
                </a:solidFill>
                <a:effectLst/>
                <a:latin typeface="CourierNewPSMT"/>
              </a:rPr>
              <a:t>tand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urierNewPSMT"/>
              </a:rPr>
              <a:t>(85) sqrt(26) 0.15]</a:t>
            </a:r>
            <a:r>
              <a:rPr lang="en-US" sz="2800" b="1" dirty="0"/>
              <a:t> </a:t>
            </a:r>
            <a:br>
              <a:rPr lang="en-US" sz="2800" b="1" dirty="0"/>
            </a:b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04331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B3B763-833B-F328-1A44-4449D6732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DAF1FC6-F26C-B760-9CF9-43A7F9EC2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b="1" kern="100" dirty="0">
                <a:effectLst/>
                <a:ea typeface="Aptos" panose="020B0004020202020204" pitchFamily="34" charset="0"/>
              </a:rPr>
              <a:t>Create a 4×4 matrix of ones.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b="1" dirty="0">
                <a:solidFill>
                  <a:srgbClr val="0000FF"/>
                </a:solidFill>
              </a:rPr>
              <a:t>	</a:t>
            </a:r>
            <a:r>
              <a:rPr lang="en-US" b="1" dirty="0" err="1">
                <a:solidFill>
                  <a:srgbClr val="0000FF"/>
                </a:solidFill>
              </a:rPr>
              <a:t>onesMatrix</a:t>
            </a:r>
            <a:r>
              <a:rPr lang="en-US" b="1" dirty="0">
                <a:solidFill>
                  <a:srgbClr val="0000FF"/>
                </a:solidFill>
              </a:rPr>
              <a:t> = ones(4,4);</a:t>
            </a:r>
            <a:endParaRPr lang="en-US" b="1" kern="100" dirty="0">
              <a:effectLst/>
              <a:ea typeface="Aptos" panose="020B00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b="1" kern="100" dirty="0">
                <a:effectLst/>
                <a:ea typeface="Aptos" panose="020B0004020202020204" pitchFamily="34" charset="0"/>
              </a:rPr>
              <a:t>Create a 3×3 identity matrix.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b="1" dirty="0">
                <a:solidFill>
                  <a:srgbClr val="0000FF"/>
                </a:solidFill>
              </a:rPr>
              <a:t>	</a:t>
            </a:r>
            <a:r>
              <a:rPr lang="en-US" b="1" dirty="0" err="1">
                <a:solidFill>
                  <a:srgbClr val="0000FF"/>
                </a:solidFill>
              </a:rPr>
              <a:t>identityMatrix</a:t>
            </a:r>
            <a:r>
              <a:rPr lang="en-US" b="1" dirty="0">
                <a:solidFill>
                  <a:srgbClr val="0000FF"/>
                </a:solidFill>
              </a:rPr>
              <a:t> = eye(3);</a:t>
            </a:r>
            <a:endParaRPr lang="en-US" b="1" kern="100" dirty="0">
              <a:effectLst/>
              <a:ea typeface="Aptos" panose="020B00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effectLst/>
                <a:ea typeface="Aptos" panose="020B0004020202020204" pitchFamily="34" charset="0"/>
              </a:rPr>
              <a:t>Generate a 2×5 matrix filled with random values between 0 and 1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00FF"/>
                </a:solidFill>
              </a:rPr>
              <a:t>	</a:t>
            </a:r>
            <a:r>
              <a:rPr lang="en-US" b="1" dirty="0" err="1">
                <a:solidFill>
                  <a:srgbClr val="0000FF"/>
                </a:solidFill>
              </a:rPr>
              <a:t>randomMatrix</a:t>
            </a:r>
            <a:r>
              <a:rPr lang="en-US" b="1" dirty="0">
                <a:solidFill>
                  <a:srgbClr val="0000FF"/>
                </a:solidFill>
              </a:rPr>
              <a:t> = rand(2,5);   </a:t>
            </a:r>
          </a:p>
          <a:p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0880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D2870F40-FC83-526E-6FAB-448D21E2A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6516"/>
          </a:xfrm>
        </p:spPr>
        <p:txBody>
          <a:bodyPr/>
          <a:lstStyle/>
          <a:p>
            <a:r>
              <a:rPr lang="en-US" b="0" i="0" dirty="0">
                <a:effectLst/>
                <a:latin typeface="Roboto" panose="02000000000000000000" pitchFamily="2" charset="0"/>
              </a:rPr>
              <a:t>colon 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1E06F10-549B-8CE5-845E-8E7E599A1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0206"/>
            <a:ext cx="10515600" cy="52012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Vector creation, array subscripting, and for-loop iteration</a:t>
            </a:r>
          </a:p>
          <a:p>
            <a:r>
              <a:rPr lang="en-US" sz="2400" dirty="0"/>
              <a:t>x = j:k creates vector x incremented by 1 </a:t>
            </a:r>
            <a:endParaRPr lang="ar-EG" sz="2400" dirty="0"/>
          </a:p>
          <a:p>
            <a:pPr marL="457200" lvl="1" indent="0">
              <a:buNone/>
            </a:pPr>
            <a:r>
              <a:rPr lang="en-US" dirty="0"/>
              <a:t>x=[4:10]</a:t>
            </a:r>
          </a:p>
          <a:p>
            <a:pPr marL="457200" lvl="1" indent="0">
              <a:buNone/>
            </a:pPr>
            <a:r>
              <a:rPr lang="en-US" dirty="0"/>
              <a:t>x =</a:t>
            </a:r>
          </a:p>
          <a:p>
            <a:pPr marL="457200" lvl="1" indent="0">
              <a:buNone/>
            </a:pPr>
            <a:r>
              <a:rPr lang="en-US" dirty="0"/>
              <a:t>     4     5     6     7     8     9    10</a:t>
            </a:r>
          </a:p>
          <a:p>
            <a:r>
              <a:rPr lang="en-US" sz="2400" dirty="0"/>
              <a:t>x = j:i:k creates a vector x using </a:t>
            </a:r>
            <a:r>
              <a:rPr lang="en-US" sz="2400" dirty="0" err="1"/>
              <a:t>i</a:t>
            </a:r>
            <a:r>
              <a:rPr lang="en-US" sz="2400" dirty="0"/>
              <a:t> as the increment between elements.</a:t>
            </a:r>
          </a:p>
          <a:p>
            <a:pPr marL="457200" lvl="1" indent="0">
              <a:buNone/>
            </a:pPr>
            <a:r>
              <a:rPr lang="en-US" dirty="0"/>
              <a:t>x=[4:3:15]</a:t>
            </a:r>
          </a:p>
          <a:p>
            <a:pPr marL="457200" lvl="1" indent="0">
              <a:buNone/>
            </a:pPr>
            <a:r>
              <a:rPr lang="en-US" dirty="0"/>
              <a:t>x =</a:t>
            </a:r>
          </a:p>
          <a:p>
            <a:pPr marL="457200" lvl="1" indent="0">
              <a:buNone/>
            </a:pPr>
            <a:r>
              <a:rPr lang="en-US" dirty="0"/>
              <a:t>     4     7    10    13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y=[15:-4:0]</a:t>
            </a:r>
          </a:p>
          <a:p>
            <a:pPr marL="457200" lvl="1" indent="0">
              <a:buNone/>
            </a:pPr>
            <a:r>
              <a:rPr lang="en-US" dirty="0"/>
              <a:t>y =</a:t>
            </a:r>
          </a:p>
          <a:p>
            <a:pPr marL="457200" lvl="1" indent="0">
              <a:buNone/>
            </a:pPr>
            <a:r>
              <a:rPr lang="en-US" dirty="0"/>
              <a:t>    15    11     7     3</a:t>
            </a:r>
          </a:p>
        </p:txBody>
      </p:sp>
    </p:spTree>
    <p:extLst>
      <p:ext uri="{BB962C8B-B14F-4D97-AF65-F5344CB8AC3E}">
        <p14:creationId xmlns:p14="http://schemas.microsoft.com/office/powerpoint/2010/main" val="27750470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C44D38-B767-EA15-D54A-7B6628A48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8F814D-0151-BEDF-5339-53C1DC282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3200" kern="100" dirty="0">
                <a:effectLst/>
                <a:ea typeface="Aptos" panose="020B0004020202020204" pitchFamily="34" charset="0"/>
              </a:rPr>
              <a:t>Create a row vector containing numbers from 5 to 25 with a step of 5.</a:t>
            </a:r>
          </a:p>
          <a:p>
            <a:pPr marL="457200" lvl="1" indent="0" algn="just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3200" b="1" dirty="0" err="1">
                <a:solidFill>
                  <a:srgbClr val="0000FF"/>
                </a:solidFill>
              </a:rPr>
              <a:t>rowVector</a:t>
            </a:r>
            <a:r>
              <a:rPr lang="en-US" sz="3200" b="1" dirty="0">
                <a:solidFill>
                  <a:srgbClr val="0000FF"/>
                </a:solidFill>
              </a:rPr>
              <a:t> = 5:5:25;   </a:t>
            </a:r>
            <a:endParaRPr lang="en-US" sz="3200" b="1" kern="100" dirty="0">
              <a:solidFill>
                <a:srgbClr val="0000FF"/>
              </a:solidFill>
              <a:effectLst/>
              <a:ea typeface="Aptos" panose="020B0004020202020204" pitchFamily="34" charset="0"/>
            </a:endParaRPr>
          </a:p>
          <a:p>
            <a:pPr marL="0" indent="0" algn="just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3200" kern="100" dirty="0">
                <a:effectLst/>
                <a:ea typeface="Aptos" panose="020B0004020202020204" pitchFamily="34" charset="0"/>
              </a:rPr>
              <a:t>Create a column vector containing numbers from 10 to 50 with a step of 10.</a:t>
            </a:r>
          </a:p>
          <a:p>
            <a:pPr marL="457200" lvl="1" indent="0" algn="just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3200" b="1" dirty="0" err="1">
                <a:solidFill>
                  <a:srgbClr val="0000FF"/>
                </a:solidFill>
              </a:rPr>
              <a:t>colVector</a:t>
            </a:r>
            <a:r>
              <a:rPr lang="en-US" sz="3200" b="1" dirty="0">
                <a:solidFill>
                  <a:srgbClr val="0000FF"/>
                </a:solidFill>
              </a:rPr>
              <a:t> = (10:10:50)';  </a:t>
            </a:r>
          </a:p>
        </p:txBody>
      </p:sp>
    </p:spTree>
    <p:extLst>
      <p:ext uri="{BB962C8B-B14F-4D97-AF65-F5344CB8AC3E}">
        <p14:creationId xmlns:p14="http://schemas.microsoft.com/office/powerpoint/2010/main" val="637213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2616175C-0777-919F-6B08-4FD661A1F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047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en-US" altLang="en-US" sz="4400" dirty="0">
                <a:latin typeface="Arial" panose="020B0604020202020204" pitchFamily="34" charset="0"/>
              </a:rPr>
              <a:t>Array Addressing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3E52854-4CB5-A1B7-6234-312104A601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68963"/>
            <a:ext cx="2744755" cy="490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400" dirty="0"/>
              <a:t>A =</a:t>
            </a:r>
          </a:p>
          <a:p>
            <a:pPr marL="0" indent="0">
              <a:buNone/>
            </a:pPr>
            <a:r>
              <a:rPr lang="fr-FR" sz="2400" dirty="0"/>
              <a:t>     1     2     3     4</a:t>
            </a:r>
          </a:p>
          <a:p>
            <a:pPr marL="0" indent="0">
              <a:buNone/>
            </a:pPr>
            <a:r>
              <a:rPr lang="fr-FR" sz="2400" dirty="0"/>
              <a:t>     5     6     7     8</a:t>
            </a:r>
          </a:p>
          <a:p>
            <a:pPr marL="0" indent="0">
              <a:buNone/>
            </a:pPr>
            <a:r>
              <a:rPr lang="fr-FR" sz="2400" dirty="0"/>
              <a:t>     9    10    11    12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&gt;&gt; A(1,:)</a:t>
            </a:r>
          </a:p>
          <a:p>
            <a:pPr marL="0" indent="0">
              <a:buNone/>
            </a:pPr>
            <a:r>
              <a:rPr lang="fr-FR" sz="2400" dirty="0"/>
              <a:t>1     2     3     4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&gt;&gt; </a:t>
            </a:r>
            <a:r>
              <a:rPr lang="fr-FR" sz="2400" dirty="0" smtClean="0"/>
              <a:t>A(end,:)</a:t>
            </a:r>
            <a:endParaRPr lang="fr-FR" sz="2400" dirty="0"/>
          </a:p>
          <a:p>
            <a:pPr marL="0" indent="0">
              <a:buNone/>
            </a:pPr>
            <a:r>
              <a:rPr lang="fr-FR" sz="2400" dirty="0"/>
              <a:t>9    10    11    12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xmlns="" id="{7DD90A20-BA26-2AAE-0A5D-8BC5D91949D4}"/>
              </a:ext>
            </a:extLst>
          </p:cNvPr>
          <p:cNvSpPr txBox="1">
            <a:spLocks/>
          </p:cNvSpPr>
          <p:nvPr/>
        </p:nvSpPr>
        <p:spPr>
          <a:xfrm>
            <a:off x="4365523" y="1268963"/>
            <a:ext cx="3285578" cy="490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400" dirty="0"/>
              <a:t>&gt;&gt; A(:,2)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400" dirty="0"/>
              <a:t>     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400" dirty="0"/>
              <a:t>     6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400" dirty="0"/>
              <a:t>    10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400" dirty="0"/>
              <a:t>&gt;&gt; A(:,end)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400" dirty="0"/>
              <a:t>     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400" dirty="0"/>
              <a:t>     8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400" dirty="0"/>
              <a:t>    12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400" dirty="0"/>
              <a:t>&gt;&gt; A(2:7)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400" dirty="0"/>
              <a:t>5     9     2     6    10     3</a:t>
            </a:r>
            <a:endParaRPr lang="en-US" sz="2400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xmlns="" id="{AF08A01B-1252-E734-5773-79950FE68521}"/>
              </a:ext>
            </a:extLst>
          </p:cNvPr>
          <p:cNvSpPr txBox="1">
            <a:spLocks/>
          </p:cNvSpPr>
          <p:nvPr/>
        </p:nvSpPr>
        <p:spPr>
          <a:xfrm>
            <a:off x="8710126" y="1268963"/>
            <a:ext cx="3009122" cy="51000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&gt;&gt; A(:)</a:t>
            </a:r>
          </a:p>
          <a:p>
            <a:pPr marL="0" indent="0">
              <a:buNone/>
            </a:pPr>
            <a:r>
              <a:rPr lang="fr-FR" dirty="0"/>
              <a:t>     1</a:t>
            </a:r>
          </a:p>
          <a:p>
            <a:pPr marL="0" indent="0">
              <a:buNone/>
            </a:pPr>
            <a:r>
              <a:rPr lang="fr-FR" dirty="0"/>
              <a:t>     5</a:t>
            </a:r>
          </a:p>
          <a:p>
            <a:pPr marL="0" indent="0">
              <a:buNone/>
            </a:pPr>
            <a:r>
              <a:rPr lang="fr-FR" dirty="0"/>
              <a:t>     9</a:t>
            </a:r>
          </a:p>
          <a:p>
            <a:pPr marL="0" indent="0">
              <a:buNone/>
            </a:pPr>
            <a:r>
              <a:rPr lang="fr-FR" dirty="0"/>
              <a:t>     2</a:t>
            </a:r>
          </a:p>
          <a:p>
            <a:pPr marL="0" indent="0">
              <a:buNone/>
            </a:pPr>
            <a:r>
              <a:rPr lang="fr-FR" dirty="0"/>
              <a:t>     6</a:t>
            </a:r>
          </a:p>
          <a:p>
            <a:pPr marL="0" indent="0">
              <a:buNone/>
            </a:pPr>
            <a:r>
              <a:rPr lang="fr-FR" dirty="0"/>
              <a:t>    10</a:t>
            </a:r>
          </a:p>
          <a:p>
            <a:pPr marL="0" indent="0">
              <a:buNone/>
            </a:pPr>
            <a:r>
              <a:rPr lang="fr-FR" dirty="0"/>
              <a:t>     3</a:t>
            </a:r>
          </a:p>
          <a:p>
            <a:pPr marL="0" indent="0">
              <a:buNone/>
            </a:pPr>
            <a:r>
              <a:rPr lang="fr-FR" dirty="0"/>
              <a:t>     7</a:t>
            </a:r>
          </a:p>
          <a:p>
            <a:pPr marL="0" indent="0">
              <a:buNone/>
            </a:pPr>
            <a:r>
              <a:rPr lang="fr-FR" dirty="0"/>
              <a:t>    11</a:t>
            </a:r>
          </a:p>
          <a:p>
            <a:pPr marL="0" indent="0">
              <a:buNone/>
            </a:pPr>
            <a:r>
              <a:rPr lang="fr-FR" dirty="0"/>
              <a:t>     4</a:t>
            </a:r>
          </a:p>
          <a:p>
            <a:pPr marL="0" indent="0">
              <a:buNone/>
            </a:pPr>
            <a:r>
              <a:rPr lang="fr-FR" dirty="0"/>
              <a:t>     8</a:t>
            </a:r>
          </a:p>
          <a:p>
            <a:pPr marL="0" indent="0">
              <a:buNone/>
            </a:pPr>
            <a:r>
              <a:rPr lang="fr-FR" dirty="0"/>
              <a:t>    12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6BC648AB-2A6A-0B28-D8ED-6B5D5526D054}"/>
              </a:ext>
            </a:extLst>
          </p:cNvPr>
          <p:cNvSpPr txBox="1">
            <a:spLocks noChangeArrowheads="1"/>
          </p:cNvSpPr>
          <p:nvPr/>
        </p:nvSpPr>
        <p:spPr>
          <a:xfrm>
            <a:off x="767795" y="828951"/>
            <a:ext cx="9556076" cy="5557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pt-BR" sz="2400" dirty="0">
                <a:latin typeface="Arial" pitchFamily="34" charset="0"/>
              </a:rPr>
              <a:t>A = [1 2 3 4; 5 6 7 8; 9 10 11 12]</a:t>
            </a:r>
            <a:endParaRPr lang="en-US" sz="240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892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674" y="606678"/>
            <a:ext cx="10271125" cy="35727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z="4000" b="1" dirty="0">
                <a:solidFill>
                  <a:srgbClr val="0000FF"/>
                </a:solidFill>
                <a:latin typeface="Arial" panose="020B0604020202020204" pitchFamily="34" charset="0"/>
                <a:ea typeface="+mj-ea"/>
                <a:cs typeface="+mj-cs"/>
              </a:rPr>
              <a:t>Creating Matrices from Vectors</a:t>
            </a:r>
          </a:p>
          <a:p>
            <a:pPr marL="12700" marR="5080" algn="just">
              <a:spcBef>
                <a:spcPts val="2710"/>
              </a:spcBef>
              <a:tabLst>
                <a:tab pos="134937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800" spc="-9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[1,3,5]</a:t>
            </a:r>
            <a:r>
              <a:rPr sz="2800" spc="-8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[7,9,11]</a:t>
            </a:r>
            <a:r>
              <a:rPr sz="2800" spc="-7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(row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vectors).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Note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b]</a:t>
            </a:r>
            <a:r>
              <a:rPr sz="2800" spc="-7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7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sz="28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a;b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7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sz="2800" spc="-10" dirty="0">
                <a:latin typeface="Arial MT"/>
                <a:cs typeface="Arial MT"/>
              </a:rPr>
              <a:t>:</a:t>
            </a:r>
            <a:endParaRPr sz="2800" dirty="0">
              <a:latin typeface="Arial MT"/>
              <a:cs typeface="Arial MT"/>
            </a:endParaRPr>
          </a:p>
          <a:p>
            <a:pPr>
              <a:spcBef>
                <a:spcPts val="60"/>
              </a:spcBef>
            </a:pPr>
            <a:endParaRPr sz="2800" dirty="0">
              <a:latin typeface="Arial MT"/>
              <a:cs typeface="Arial MT"/>
            </a:endParaRPr>
          </a:p>
          <a:p>
            <a:pPr marL="12700"/>
            <a:r>
              <a:rPr sz="2800" dirty="0">
                <a:latin typeface="Courier New"/>
                <a:cs typeface="Courier New"/>
              </a:rPr>
              <a:t>&gt;&gt;c</a:t>
            </a:r>
            <a:r>
              <a:rPr sz="2800" spc="-10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=</a:t>
            </a:r>
            <a:r>
              <a:rPr sz="2800" spc="-20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[a</a:t>
            </a:r>
            <a:r>
              <a:rPr sz="2800" spc="-20" dirty="0">
                <a:latin typeface="Courier New"/>
                <a:cs typeface="Courier New"/>
              </a:rPr>
              <a:t> </a:t>
            </a:r>
            <a:r>
              <a:rPr sz="2800" spc="-25" dirty="0">
                <a:latin typeface="Courier New"/>
                <a:cs typeface="Courier New"/>
              </a:rPr>
              <a:t>b];</a:t>
            </a:r>
            <a:endParaRPr sz="2800" dirty="0">
              <a:latin typeface="Courier New"/>
              <a:cs typeface="Courier New"/>
            </a:endParaRPr>
          </a:p>
          <a:p>
            <a:pPr marL="12700">
              <a:spcBef>
                <a:spcPts val="5"/>
              </a:spcBef>
            </a:pPr>
            <a:r>
              <a:rPr sz="2800" dirty="0">
                <a:latin typeface="Courier New"/>
                <a:cs typeface="Courier New"/>
              </a:rPr>
              <a:t>c</a:t>
            </a:r>
            <a:r>
              <a:rPr sz="2800" spc="-5" dirty="0">
                <a:latin typeface="Courier New"/>
                <a:cs typeface="Courier New"/>
              </a:rPr>
              <a:t> </a:t>
            </a:r>
            <a:r>
              <a:rPr sz="2800" spc="-50" dirty="0">
                <a:latin typeface="Courier New"/>
                <a:cs typeface="Courier New"/>
              </a:rPr>
              <a:t>=</a:t>
            </a:r>
            <a:endParaRPr sz="2800" dirty="0">
              <a:latin typeface="Courier New"/>
              <a:cs typeface="Courier New"/>
            </a:endParaRPr>
          </a:p>
          <a:p>
            <a:pPr marL="560705">
              <a:tabLst>
                <a:tab pos="1109345" algn="l"/>
                <a:tab pos="1655445" algn="l"/>
                <a:tab pos="2204085" algn="l"/>
                <a:tab pos="2750820" algn="l"/>
                <a:tab pos="3298190" algn="l"/>
              </a:tabLst>
            </a:pPr>
            <a:r>
              <a:rPr sz="2800" spc="-50" dirty="0">
                <a:latin typeface="Courier New"/>
                <a:cs typeface="Courier New"/>
              </a:rPr>
              <a:t>1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50" dirty="0">
                <a:latin typeface="Courier New"/>
                <a:cs typeface="Courier New"/>
              </a:rPr>
              <a:t>3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50" dirty="0">
                <a:latin typeface="Courier New"/>
                <a:cs typeface="Courier New"/>
              </a:rPr>
              <a:t>5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50" dirty="0">
                <a:latin typeface="Courier New"/>
                <a:cs typeface="Courier New"/>
              </a:rPr>
              <a:t>7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50" dirty="0">
                <a:latin typeface="Courier New"/>
                <a:cs typeface="Courier New"/>
              </a:rPr>
              <a:t>9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25" dirty="0">
                <a:latin typeface="Courier New"/>
                <a:cs typeface="Courier New"/>
              </a:rPr>
              <a:t>11</a:t>
            </a:r>
            <a:endParaRPr sz="2800" dirty="0">
              <a:latin typeface="Courier New"/>
              <a:cs typeface="Courier New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81570"/>
              </p:ext>
            </p:extLst>
          </p:nvPr>
        </p:nvGraphicFramePr>
        <p:xfrm>
          <a:off x="701674" y="4474721"/>
          <a:ext cx="3599466" cy="1479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863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441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1670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721360">
                <a:tc>
                  <a:txBody>
                    <a:bodyPr/>
                    <a:lstStyle/>
                    <a:p>
                      <a:pPr marL="31750">
                        <a:lnSpc>
                          <a:spcPts val="2480"/>
                        </a:lnSpc>
                      </a:pPr>
                      <a:r>
                        <a:rPr lang="en-US" sz="2800" spc="-25" dirty="0">
                          <a:latin typeface="Courier New"/>
                          <a:cs typeface="Courier New"/>
                        </a:rPr>
                        <a:t>&gt;&gt;D</a:t>
                      </a:r>
                      <a:endParaRPr lang="en-US" sz="2800" dirty="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lang="en-US" sz="2800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lang="en-US" sz="2800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lang="en-US" sz="2800" spc="-50" dirty="0">
                          <a:latin typeface="Courier New"/>
                          <a:cs typeface="Courier New"/>
                        </a:rPr>
                        <a:t>=</a:t>
                      </a:r>
                      <a:endParaRPr lang="en-US" sz="2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480"/>
                        </a:lnSpc>
                      </a:pPr>
                      <a:r>
                        <a:rPr lang="en-US" sz="2800" spc="-50" dirty="0">
                          <a:latin typeface="Courier New"/>
                          <a:cs typeface="Courier New"/>
                        </a:rPr>
                        <a:t>=</a:t>
                      </a:r>
                      <a:endParaRPr lang="en-US" sz="2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80"/>
                        </a:lnSpc>
                      </a:pPr>
                      <a:r>
                        <a:rPr lang="en-US" sz="2800" spc="-10" dirty="0">
                          <a:latin typeface="Courier New"/>
                          <a:cs typeface="Courier New"/>
                        </a:rPr>
                        <a:t>[</a:t>
                      </a:r>
                      <a:r>
                        <a:rPr lang="en-US" sz="2800" spc="-10" dirty="0" err="1">
                          <a:latin typeface="Courier New"/>
                          <a:cs typeface="Courier New"/>
                        </a:rPr>
                        <a:t>a;b</a:t>
                      </a:r>
                      <a:r>
                        <a:rPr lang="en-US" sz="2800" spc="-10" dirty="0">
                          <a:latin typeface="Courier New"/>
                          <a:cs typeface="Courier New"/>
                        </a:rPr>
                        <a:t>]</a:t>
                      </a:r>
                      <a:endParaRPr lang="en-US" sz="2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algn="r">
                        <a:lnSpc>
                          <a:spcPts val="2560"/>
                        </a:lnSpc>
                      </a:pPr>
                      <a:r>
                        <a:rPr lang="en-US" sz="2800" spc="-50">
                          <a:latin typeface="Courier New"/>
                          <a:cs typeface="Courier New"/>
                        </a:rPr>
                        <a:t>1</a:t>
                      </a:r>
                      <a:endParaRPr lang="en-US"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60"/>
                        </a:lnSpc>
                        <a:tabLst>
                          <a:tab pos="636905" algn="l"/>
                        </a:tabLst>
                      </a:pPr>
                      <a:r>
                        <a:rPr lang="en-US" sz="2800" spc="-50" dirty="0">
                          <a:latin typeface="Courier New"/>
                          <a:cs typeface="Courier New"/>
                        </a:rPr>
                        <a:t>3</a:t>
                      </a:r>
                      <a:r>
                        <a:rPr lang="en-US" sz="28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lang="en-US" sz="2800" spc="-50" dirty="0">
                          <a:latin typeface="Courier New"/>
                          <a:cs typeface="Courier New"/>
                        </a:rPr>
                        <a:t>5</a:t>
                      </a:r>
                      <a:endParaRPr lang="en-US" sz="2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algn="r">
                        <a:lnSpc>
                          <a:spcPts val="2590"/>
                        </a:lnSpc>
                      </a:pPr>
                      <a:r>
                        <a:rPr lang="en-US" sz="2800" spc="-50">
                          <a:latin typeface="Courier New"/>
                          <a:cs typeface="Courier New"/>
                        </a:rPr>
                        <a:t>7</a:t>
                      </a:r>
                      <a:endParaRPr lang="en-US"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90"/>
                        </a:lnSpc>
                        <a:tabLst>
                          <a:tab pos="636905" algn="l"/>
                        </a:tabLst>
                      </a:pPr>
                      <a:r>
                        <a:rPr lang="en-US" sz="2800" spc="-50" dirty="0">
                          <a:latin typeface="Courier New"/>
                          <a:cs typeface="Courier New"/>
                        </a:rPr>
                        <a:t>9</a:t>
                      </a:r>
                      <a:r>
                        <a:rPr lang="en-US" sz="28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lang="en-US" sz="2800" spc="-25" dirty="0">
                          <a:latin typeface="Courier New"/>
                          <a:cs typeface="Courier New"/>
                        </a:rPr>
                        <a:t>11</a:t>
                      </a:r>
                      <a:endParaRPr lang="en-US" sz="2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7832BE0-AE03-B4F5-C86F-6284CB510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xmlns="" id="{5AE1A40D-4723-C380-5994-3AC19B0C13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1" y="228601"/>
            <a:ext cx="8162925" cy="701675"/>
          </a:xfrm>
        </p:spPr>
        <p:txBody>
          <a:bodyPr/>
          <a:lstStyle/>
          <a:p>
            <a:r>
              <a:rPr lang="en-US" altLang="en-US" sz="4000" dirty="0"/>
              <a:t>Matrix Calculations</a:t>
            </a:r>
          </a:p>
        </p:txBody>
      </p:sp>
      <p:sp>
        <p:nvSpPr>
          <p:cNvPr id="8909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xmlns="" id="{17E18546-3F90-73C7-9827-84E52819AE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8498" y="838200"/>
            <a:ext cx="10692882" cy="5638800"/>
          </a:xfrm>
        </p:spPr>
        <p:txBody>
          <a:bodyPr/>
          <a:lstStyle/>
          <a:p>
            <a:r>
              <a:rPr lang="en-US" altLang="en-US" sz="2400" dirty="0"/>
              <a:t>Addition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dirty="0"/>
              <a:t>Multiplication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pPr marL="0" indent="0">
              <a:buNone/>
            </a:pPr>
            <a:endParaRPr lang="en-US" altLang="en-US" sz="2400" dirty="0"/>
          </a:p>
          <a:p>
            <a:endParaRPr lang="en-US" altLang="en-US" sz="2400" dirty="0"/>
          </a:p>
        </p:txBody>
      </p:sp>
      <p:pic>
        <p:nvPicPr>
          <p:cNvPr id="89092" name="Picture 4">
            <a:extLst>
              <a:ext uri="{FF2B5EF4-FFF2-40B4-BE49-F238E27FC236}">
                <a16:creationId xmlns:a16="http://schemas.microsoft.com/office/drawing/2014/main" xmlns="" id="{2A919A89-6AEA-7E6D-9528-DEBE0C48F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180" y="1314062"/>
            <a:ext cx="9784080" cy="1893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093" name="Picture 5">
            <a:extLst>
              <a:ext uri="{FF2B5EF4-FFF2-40B4-BE49-F238E27FC236}">
                <a16:creationId xmlns:a16="http://schemas.microsoft.com/office/drawing/2014/main" xmlns="" id="{0F2A2D5E-F5BA-8EB0-7EB8-035BC25E2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180" y="3817352"/>
            <a:ext cx="9509760" cy="2203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613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6390" y="1065550"/>
            <a:ext cx="9940412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spcBef>
                <a:spcPts val="100"/>
              </a:spcBef>
            </a:pPr>
            <a:r>
              <a:rPr lang="en-US" sz="280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Multiplying</a:t>
            </a:r>
            <a:r>
              <a:rPr lang="en-US" sz="2800" spc="-2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spc="-5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en-US" sz="2800" spc="-6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spc="-5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2800" spc="-5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spc="-5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scalar</a:t>
            </a:r>
            <a:r>
              <a:rPr lang="en-US" sz="2800" spc="-3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spc="-5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sz="280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produces</a:t>
            </a:r>
            <a:r>
              <a:rPr lang="en-US" sz="2800" spc="-65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spc="-65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en-US" sz="2800" spc="-85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whose</a:t>
            </a:r>
            <a:r>
              <a:rPr lang="en-US" sz="2800" spc="-65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lang="en-US" sz="2800" spc="-5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2800" spc="-7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800" spc="-8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lang="en-US" sz="2800" spc="-55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25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800" b="1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spc="-55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multiplied</a:t>
            </a:r>
            <a:r>
              <a:rPr lang="en-US" sz="2800" spc="-2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2800" spc="-4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80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spc="-5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2800" spc="-55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41395" y="2464434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3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2776" y="2235834"/>
            <a:ext cx="9556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72795" algn="l"/>
              </a:tabLst>
            </a:pPr>
            <a:r>
              <a:rPr sz="2400" spc="-50" dirty="0">
                <a:latin typeface="Arial MT"/>
                <a:cs typeface="Arial MT"/>
              </a:rPr>
              <a:t>2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9</a:t>
            </a:r>
            <a:endParaRPr sz="2400">
              <a:latin typeface="Arial MT"/>
              <a:cs typeface="Arial MT"/>
            </a:endParaRPr>
          </a:p>
          <a:p>
            <a:pPr marL="12700">
              <a:tabLst>
                <a:tab pos="603885" algn="l"/>
              </a:tabLst>
            </a:pPr>
            <a:r>
              <a:rPr sz="2400" spc="-50" dirty="0">
                <a:latin typeface="Arial MT"/>
                <a:cs typeface="Arial MT"/>
              </a:rPr>
              <a:t>5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–7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18176" y="2388234"/>
            <a:ext cx="203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=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9428" y="2235834"/>
            <a:ext cx="1295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1610">
              <a:spcBef>
                <a:spcPts val="100"/>
              </a:spcBef>
              <a:tabLst>
                <a:tab pos="939165" algn="l"/>
              </a:tabLst>
            </a:pPr>
            <a:r>
              <a:rPr sz="2400" spc="-50" dirty="0">
                <a:latin typeface="Arial MT"/>
                <a:cs typeface="Arial MT"/>
              </a:rPr>
              <a:t>6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27</a:t>
            </a:r>
            <a:endParaRPr sz="2400">
              <a:latin typeface="Arial MT"/>
              <a:cs typeface="Arial MT"/>
            </a:endParaRPr>
          </a:p>
          <a:p>
            <a:pPr marL="12700">
              <a:tabLst>
                <a:tab pos="774065" algn="l"/>
              </a:tabLst>
            </a:pPr>
            <a:r>
              <a:rPr sz="2400" spc="-25" dirty="0">
                <a:latin typeface="Arial MT"/>
                <a:cs typeface="Arial MT"/>
              </a:rPr>
              <a:t>15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–21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5239" y="3455289"/>
            <a:ext cx="10151563" cy="2636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dirty="0">
                <a:solidFill>
                  <a:srgbClr val="445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multiplication is performed in MATLAB as follows:</a:t>
            </a:r>
          </a:p>
          <a:p>
            <a:pPr marL="12700">
              <a:spcBef>
                <a:spcPts val="2650"/>
              </a:spcBef>
            </a:pPr>
            <a:r>
              <a:rPr sz="2400" dirty="0">
                <a:solidFill>
                  <a:srgbClr val="44536A"/>
                </a:solidFill>
                <a:latin typeface="Courier New"/>
                <a:cs typeface="Courier New"/>
              </a:rPr>
              <a:t>&gt;&gt;A</a:t>
            </a:r>
            <a:r>
              <a:rPr sz="2400" spc="-20" dirty="0">
                <a:solidFill>
                  <a:srgbClr val="44536A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44536A"/>
                </a:solidFill>
                <a:latin typeface="Courier New"/>
                <a:cs typeface="Courier New"/>
              </a:rPr>
              <a:t>=</a:t>
            </a:r>
            <a:r>
              <a:rPr sz="2400" spc="-15" dirty="0">
                <a:solidFill>
                  <a:srgbClr val="44536A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44536A"/>
                </a:solidFill>
                <a:latin typeface="Courier New"/>
                <a:cs typeface="Courier New"/>
              </a:rPr>
              <a:t>[2,</a:t>
            </a:r>
            <a:r>
              <a:rPr sz="2400" spc="-15" dirty="0">
                <a:solidFill>
                  <a:srgbClr val="44536A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44536A"/>
                </a:solidFill>
                <a:latin typeface="Courier New"/>
                <a:cs typeface="Courier New"/>
              </a:rPr>
              <a:t>9;</a:t>
            </a:r>
            <a:r>
              <a:rPr sz="2400" spc="-15" dirty="0">
                <a:solidFill>
                  <a:srgbClr val="44536A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44536A"/>
                </a:solidFill>
                <a:latin typeface="Courier New"/>
                <a:cs typeface="Courier New"/>
              </a:rPr>
              <a:t>5,-</a:t>
            </a:r>
            <a:r>
              <a:rPr sz="2400" spc="-25" dirty="0">
                <a:solidFill>
                  <a:srgbClr val="44536A"/>
                </a:solidFill>
                <a:latin typeface="Courier New"/>
                <a:cs typeface="Courier New"/>
              </a:rPr>
              <a:t>7];</a:t>
            </a:r>
            <a:endParaRPr sz="2400" dirty="0">
              <a:latin typeface="Courier New"/>
              <a:cs typeface="Courier New"/>
            </a:endParaRPr>
          </a:p>
          <a:p>
            <a:pPr marL="12700"/>
            <a:r>
              <a:rPr sz="2400" spc="-10" dirty="0">
                <a:solidFill>
                  <a:srgbClr val="44536A"/>
                </a:solidFill>
                <a:latin typeface="Courier New"/>
                <a:cs typeface="Courier New"/>
              </a:rPr>
              <a:t>&gt;&gt;3*A</a:t>
            </a:r>
            <a:endParaRPr sz="2400" dirty="0">
              <a:latin typeface="Courier New"/>
              <a:cs typeface="Courier New"/>
            </a:endParaRPr>
          </a:p>
          <a:p>
            <a:pPr marL="12700">
              <a:spcBef>
                <a:spcPts val="5"/>
              </a:spcBef>
            </a:pPr>
            <a:r>
              <a:rPr sz="2400" dirty="0" err="1">
                <a:solidFill>
                  <a:srgbClr val="44536A"/>
                </a:solidFill>
                <a:latin typeface="Courier New"/>
                <a:cs typeface="Courier New"/>
              </a:rPr>
              <a:t>ans</a:t>
            </a:r>
            <a:r>
              <a:rPr sz="2400" spc="-15" dirty="0">
                <a:solidFill>
                  <a:srgbClr val="44536A"/>
                </a:solidFill>
                <a:latin typeface="Courier New"/>
                <a:cs typeface="Courier New"/>
              </a:rPr>
              <a:t> </a:t>
            </a:r>
            <a:r>
              <a:rPr sz="2400" spc="-50" dirty="0">
                <a:solidFill>
                  <a:srgbClr val="44536A"/>
                </a:solidFill>
                <a:latin typeface="Courier New"/>
                <a:cs typeface="Courier New"/>
              </a:rPr>
              <a:t>=</a:t>
            </a:r>
            <a:endParaRPr lang="en-US" sz="2400" dirty="0">
              <a:latin typeface="Courier New"/>
              <a:cs typeface="Courier New"/>
            </a:endParaRPr>
          </a:p>
          <a:p>
            <a:pPr marL="12700">
              <a:spcBef>
                <a:spcPts val="5"/>
              </a:spcBef>
            </a:pPr>
            <a:r>
              <a:rPr lang="en-US" sz="2400" spc="-50" dirty="0">
                <a:solidFill>
                  <a:srgbClr val="44536A"/>
                </a:solidFill>
                <a:latin typeface="Courier New"/>
                <a:cs typeface="Courier New"/>
              </a:rPr>
              <a:t>		</a:t>
            </a:r>
            <a:r>
              <a:rPr sz="2400" spc="-50" dirty="0">
                <a:solidFill>
                  <a:srgbClr val="44536A"/>
                </a:solidFill>
                <a:latin typeface="Courier New"/>
                <a:cs typeface="Courier New"/>
              </a:rPr>
              <a:t>6</a:t>
            </a:r>
            <a:r>
              <a:rPr sz="2400" dirty="0">
                <a:solidFill>
                  <a:srgbClr val="44536A"/>
                </a:solidFill>
                <a:latin typeface="Courier New"/>
                <a:cs typeface="Courier New"/>
              </a:rPr>
              <a:t>	</a:t>
            </a:r>
            <a:r>
              <a:rPr sz="2400" spc="-25" dirty="0">
                <a:solidFill>
                  <a:srgbClr val="44536A"/>
                </a:solidFill>
                <a:latin typeface="Courier New"/>
                <a:cs typeface="Courier New"/>
              </a:rPr>
              <a:t>27</a:t>
            </a:r>
            <a:endParaRPr lang="en-US" sz="2400" spc="-25" dirty="0">
              <a:solidFill>
                <a:srgbClr val="44536A"/>
              </a:solidFill>
              <a:latin typeface="Courier New"/>
              <a:cs typeface="Courier New"/>
            </a:endParaRPr>
          </a:p>
          <a:p>
            <a:pPr marL="12700">
              <a:spcBef>
                <a:spcPts val="5"/>
              </a:spcBef>
            </a:pPr>
            <a:r>
              <a:rPr lang="en-US" sz="2400" spc="-25" dirty="0">
                <a:solidFill>
                  <a:srgbClr val="44536A"/>
                </a:solidFill>
                <a:latin typeface="Courier New"/>
                <a:cs typeface="Courier New"/>
              </a:rPr>
              <a:t>		</a:t>
            </a:r>
            <a:r>
              <a:rPr sz="2400" dirty="0">
                <a:solidFill>
                  <a:srgbClr val="44536A"/>
                </a:solidFill>
                <a:latin typeface="Courier New"/>
                <a:cs typeface="Courier New"/>
              </a:rPr>
              <a:t>15</a:t>
            </a:r>
            <a:r>
              <a:rPr sz="2400" spc="-5" dirty="0">
                <a:solidFill>
                  <a:srgbClr val="44536A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44536A"/>
                </a:solidFill>
                <a:latin typeface="Courier New"/>
                <a:cs typeface="Courier New"/>
              </a:rPr>
              <a:t>-</a:t>
            </a:r>
            <a:r>
              <a:rPr sz="2400" spc="-25" dirty="0">
                <a:solidFill>
                  <a:srgbClr val="44536A"/>
                </a:solidFill>
                <a:latin typeface="Courier New"/>
                <a:cs typeface="Courier New"/>
              </a:rPr>
              <a:t>21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68361" y="2286761"/>
            <a:ext cx="152400" cy="762000"/>
          </a:xfrm>
          <a:custGeom>
            <a:avLst/>
            <a:gdLst/>
            <a:ahLst/>
            <a:cxnLst/>
            <a:rect l="l" t="t" r="r" b="b"/>
            <a:pathLst>
              <a:path w="152400" h="762000">
                <a:moveTo>
                  <a:pt x="0" y="4572"/>
                </a:moveTo>
                <a:lnTo>
                  <a:pt x="152400" y="4572"/>
                </a:lnTo>
              </a:path>
              <a:path w="152400" h="762000">
                <a:moveTo>
                  <a:pt x="129539" y="0"/>
                </a:moveTo>
                <a:lnTo>
                  <a:pt x="129539" y="762000"/>
                </a:lnTo>
              </a:path>
              <a:path w="152400" h="762000">
                <a:moveTo>
                  <a:pt x="0" y="754379"/>
                </a:moveTo>
                <a:lnTo>
                  <a:pt x="152400" y="75437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44361" y="2286761"/>
            <a:ext cx="204470" cy="685800"/>
          </a:xfrm>
          <a:custGeom>
            <a:avLst/>
            <a:gdLst/>
            <a:ahLst/>
            <a:cxnLst/>
            <a:rect l="l" t="t" r="r" b="b"/>
            <a:pathLst>
              <a:path w="204470" h="685800">
                <a:moveTo>
                  <a:pt x="204215" y="4572"/>
                </a:moveTo>
                <a:lnTo>
                  <a:pt x="0" y="4572"/>
                </a:lnTo>
              </a:path>
              <a:path w="204470" h="685800">
                <a:moveTo>
                  <a:pt x="30479" y="0"/>
                </a:moveTo>
                <a:lnTo>
                  <a:pt x="30479" y="685800"/>
                </a:lnTo>
              </a:path>
              <a:path w="204470" h="685800">
                <a:moveTo>
                  <a:pt x="204215" y="678179"/>
                </a:moveTo>
                <a:lnTo>
                  <a:pt x="0" y="67817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44161" y="2286761"/>
            <a:ext cx="128270" cy="685800"/>
          </a:xfrm>
          <a:custGeom>
            <a:avLst/>
            <a:gdLst/>
            <a:ahLst/>
            <a:cxnLst/>
            <a:rect l="l" t="t" r="r" b="b"/>
            <a:pathLst>
              <a:path w="128269" h="685800">
                <a:moveTo>
                  <a:pt x="128015" y="4572"/>
                </a:moveTo>
                <a:lnTo>
                  <a:pt x="0" y="4572"/>
                </a:lnTo>
              </a:path>
              <a:path w="128269" h="685800">
                <a:moveTo>
                  <a:pt x="18287" y="0"/>
                </a:moveTo>
                <a:lnTo>
                  <a:pt x="18287" y="685800"/>
                </a:lnTo>
              </a:path>
              <a:path w="128269" h="685800">
                <a:moveTo>
                  <a:pt x="128015" y="678179"/>
                </a:moveTo>
                <a:lnTo>
                  <a:pt x="0" y="67817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10961" y="2286761"/>
            <a:ext cx="228600" cy="685800"/>
          </a:xfrm>
          <a:custGeom>
            <a:avLst/>
            <a:gdLst/>
            <a:ahLst/>
            <a:cxnLst/>
            <a:rect l="l" t="t" r="r" b="b"/>
            <a:pathLst>
              <a:path w="228600" h="685800">
                <a:moveTo>
                  <a:pt x="0" y="4572"/>
                </a:moveTo>
                <a:lnTo>
                  <a:pt x="228600" y="4572"/>
                </a:lnTo>
              </a:path>
              <a:path w="228600" h="685800">
                <a:moveTo>
                  <a:pt x="195072" y="0"/>
                </a:moveTo>
                <a:lnTo>
                  <a:pt x="195072" y="685800"/>
                </a:lnTo>
              </a:path>
              <a:path w="228600" h="685800">
                <a:moveTo>
                  <a:pt x="0" y="678179"/>
                </a:moveTo>
                <a:lnTo>
                  <a:pt x="228600" y="67817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9A2D7DA8-B3F4-872D-DEFC-2E51D1AFBAAD}"/>
              </a:ext>
            </a:extLst>
          </p:cNvPr>
          <p:cNvSpPr txBox="1">
            <a:spLocks noChangeArrowheads="1"/>
          </p:cNvSpPr>
          <p:nvPr/>
        </p:nvSpPr>
        <p:spPr>
          <a:xfrm>
            <a:off x="1905001" y="228601"/>
            <a:ext cx="8162925" cy="70167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/>
              <a:t>Matrix Calculations</a:t>
            </a:r>
            <a:endParaRPr lang="en-US" alt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8C922C-B419-596B-2A7D-35E393175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F5F98E3B-91D1-3032-88A8-AEAD75FABB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85750" indent="-285750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Courier New" panose="02070309020205020404" pitchFamily="49" charset="0"/>
                  <a:buChar char="o"/>
                  <a:tabLst>
                    <a:tab pos="914400" algn="l"/>
                  </a:tabLst>
                </a:pPr>
                <a:r>
                  <a:rPr lang="en-US" kern="100" dirty="0">
                    <a:effectLst/>
                    <a:ea typeface="Aptos" panose="020B0004020202020204" pitchFamily="34" charset="0"/>
                  </a:rPr>
                  <a:t>Define two matrices A=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kern="100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kern="10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kern="100" smtClean="0"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kern="100" smtClean="0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kern="100" smtClean="0">
                                  <a:effectLst/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b="0" i="1" kern="100" smtClean="0">
                                  <a:effectLst/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kern="100" dirty="0">
                    <a:ea typeface="Aptos" panose="020B0004020202020204" pitchFamily="34" charset="0"/>
                  </a:rPr>
                  <a:t> and B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kern="1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kern="10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kern="10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kern="10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kern="10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b="0" i="1" kern="100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kern="100" dirty="0">
                    <a:effectLst/>
                    <a:ea typeface="Aptos" panose="020B0004020202020204" pitchFamily="34" charset="0"/>
                  </a:rPr>
                  <a:t>, then: </a:t>
                </a:r>
              </a:p>
              <a:p>
                <a:pPr lvl="1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Wingdings" panose="05000000000000000000" pitchFamily="2" charset="2"/>
                  <a:buChar char=""/>
                  <a:tabLst>
                    <a:tab pos="1371600" algn="l"/>
                  </a:tabLst>
                </a:pPr>
                <a:r>
                  <a:rPr lang="en-US" sz="2800" kern="100" dirty="0">
                    <a:effectLst/>
                    <a:ea typeface="Aptos" panose="020B0004020202020204" pitchFamily="34" charset="0"/>
                  </a:rPr>
                  <a:t>Compute C=A+B</a:t>
                </a:r>
              </a:p>
              <a:p>
                <a:pPr lvl="1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Wingdings" panose="05000000000000000000" pitchFamily="2" charset="2"/>
                  <a:buChar char=""/>
                  <a:tabLst>
                    <a:tab pos="1371600" algn="l"/>
                  </a:tabLst>
                </a:pPr>
                <a:r>
                  <a:rPr lang="en-US" sz="2800" kern="100" dirty="0">
                    <a:effectLst/>
                    <a:ea typeface="Aptos" panose="020B0004020202020204" pitchFamily="34" charset="0"/>
                  </a:rPr>
                  <a:t>Compute D=A− B</a:t>
                </a:r>
              </a:p>
              <a:p>
                <a:pPr lvl="1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Wingdings" panose="05000000000000000000" pitchFamily="2" charset="2"/>
                  <a:buChar char=""/>
                  <a:tabLst>
                    <a:tab pos="1371600" algn="l"/>
                  </a:tabLst>
                </a:pPr>
                <a:r>
                  <a:rPr lang="pt-BR" sz="2800" kern="100" dirty="0">
                    <a:effectLst/>
                    <a:ea typeface="Aptos" panose="020B0004020202020204" pitchFamily="34" charset="0"/>
                  </a:rPr>
                  <a:t>Compute E=A .∗ </a:t>
                </a:r>
                <a:r>
                  <a:rPr lang="en-US" sz="2800" kern="100" dirty="0">
                    <a:effectLst/>
                    <a:ea typeface="Aptos" panose="020B0004020202020204" pitchFamily="34" charset="0"/>
                  </a:rPr>
                  <a:t>B (Element-wise multiplication)</a:t>
                </a:r>
              </a:p>
              <a:p>
                <a:pPr lvl="1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Wingdings" panose="05000000000000000000" pitchFamily="2" charset="2"/>
                  <a:buChar char=""/>
                  <a:tabLst>
                    <a:tab pos="1371600" algn="l"/>
                  </a:tabLst>
                </a:pPr>
                <a:r>
                  <a:rPr lang="en-US" sz="2800" kern="100" dirty="0">
                    <a:effectLst/>
                    <a:ea typeface="Aptos" panose="020B0004020202020204" pitchFamily="34" charset="0"/>
                  </a:rPr>
                  <a:t>Compute F=A∗B (Matrix multiplication)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F98E3B-91D1-3032-88A8-AEAD75FABB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5057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6DA3E2-3983-2335-D965-3540F8568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8B9493-68A2-5FD2-2ED6-292E24FF8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2314"/>
            <a:ext cx="10515600" cy="471464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BR" dirty="0"/>
              <a:t> A=[1, 2 ; 4, 6];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/>
              <a:t> B=[3, 5 ; 8, 9];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/>
              <a:t> C=A+B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/>
              <a:t> D=A-B;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/>
              <a:t> E=A .* B;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/>
              <a:t> F=A*B;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9552400-1DF0-442E-127C-BB6A81FD21E4}"/>
              </a:ext>
            </a:extLst>
          </p:cNvPr>
          <p:cNvSpPr txBox="1"/>
          <p:nvPr/>
        </p:nvSpPr>
        <p:spPr>
          <a:xfrm>
            <a:off x="5152104" y="1858146"/>
            <a:ext cx="166165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 =</a:t>
            </a:r>
          </a:p>
          <a:p>
            <a:r>
              <a:rPr lang="en-US" sz="2800" dirty="0"/>
              <a:t>     4     7</a:t>
            </a:r>
          </a:p>
          <a:p>
            <a:r>
              <a:rPr lang="en-US" sz="2800" dirty="0"/>
              <a:t>    12    15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3AA4E39-CF8E-3F5A-88B7-1D26269B8E4C}"/>
              </a:ext>
            </a:extLst>
          </p:cNvPr>
          <p:cNvSpPr txBox="1"/>
          <p:nvPr/>
        </p:nvSpPr>
        <p:spPr>
          <a:xfrm>
            <a:off x="7874409" y="1858146"/>
            <a:ext cx="188779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D =</a:t>
            </a:r>
          </a:p>
          <a:p>
            <a:r>
              <a:rPr lang="en-US" sz="2800" dirty="0"/>
              <a:t>    -2    -3</a:t>
            </a:r>
          </a:p>
          <a:p>
            <a:r>
              <a:rPr lang="en-US" sz="2800" dirty="0"/>
              <a:t>    -4    -3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7A2287B-D980-3BFC-AB13-65705223848A}"/>
              </a:ext>
            </a:extLst>
          </p:cNvPr>
          <p:cNvSpPr txBox="1"/>
          <p:nvPr/>
        </p:nvSpPr>
        <p:spPr>
          <a:xfrm>
            <a:off x="5152104" y="4340330"/>
            <a:ext cx="225158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E =</a:t>
            </a:r>
          </a:p>
          <a:p>
            <a:r>
              <a:rPr lang="en-US" sz="2800" dirty="0"/>
              <a:t>     3    10</a:t>
            </a:r>
          </a:p>
          <a:p>
            <a:r>
              <a:rPr lang="en-US" sz="2800" dirty="0"/>
              <a:t>    32    54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EE2594F0-AB14-44C9-2C04-61B62B3D08FC}"/>
              </a:ext>
            </a:extLst>
          </p:cNvPr>
          <p:cNvSpPr txBox="1"/>
          <p:nvPr/>
        </p:nvSpPr>
        <p:spPr>
          <a:xfrm>
            <a:off x="8139880" y="4340330"/>
            <a:ext cx="20758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F =</a:t>
            </a:r>
          </a:p>
          <a:p>
            <a:r>
              <a:rPr lang="en-US" sz="2800" dirty="0"/>
              <a:t>    19    23</a:t>
            </a:r>
          </a:p>
          <a:p>
            <a:r>
              <a:rPr lang="en-US" sz="2800" dirty="0"/>
              <a:t>    60    74</a:t>
            </a:r>
          </a:p>
        </p:txBody>
      </p:sp>
    </p:spTree>
    <p:extLst>
      <p:ext uri="{BB962C8B-B14F-4D97-AF65-F5344CB8AC3E}">
        <p14:creationId xmlns:p14="http://schemas.microsoft.com/office/powerpoint/2010/main" val="2141901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xmlns="" id="{1C0E3816-124A-3BDF-5910-0A6F9F91C7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1" y="228601"/>
            <a:ext cx="8162925" cy="701675"/>
          </a:xfrm>
        </p:spPr>
        <p:txBody>
          <a:bodyPr/>
          <a:lstStyle/>
          <a:p>
            <a:r>
              <a:rPr lang="en-US" altLang="en-US" sz="4000" dirty="0"/>
              <a:t>Matrix Calculations</a:t>
            </a:r>
          </a:p>
        </p:txBody>
      </p:sp>
      <p:sp>
        <p:nvSpPr>
          <p:cNvPr id="8909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xmlns="" id="{F9880B45-1A73-3B37-03BE-47FF947EEC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0022" y="1062135"/>
            <a:ext cx="10692882" cy="4079032"/>
          </a:xfrm>
        </p:spPr>
        <p:txBody>
          <a:bodyPr/>
          <a:lstStyle/>
          <a:p>
            <a:r>
              <a:rPr lang="en-US" altLang="en-US" sz="2400" dirty="0"/>
              <a:t>Inverse</a:t>
            </a:r>
          </a:p>
          <a:p>
            <a:endParaRPr lang="en-US" altLang="en-US" sz="2400" dirty="0"/>
          </a:p>
          <a:p>
            <a:endParaRPr lang="en-US" altLang="en-US" sz="2400" dirty="0"/>
          </a:p>
        </p:txBody>
      </p:sp>
      <p:pic>
        <p:nvPicPr>
          <p:cNvPr id="89094" name="Picture 6">
            <a:extLst>
              <a:ext uri="{FF2B5EF4-FFF2-40B4-BE49-F238E27FC236}">
                <a16:creationId xmlns:a16="http://schemas.microsoft.com/office/drawing/2014/main" xmlns="" id="{80DC8C99-1535-56E4-C26E-162B47744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041" y="1719044"/>
            <a:ext cx="10475940" cy="2405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xmlns="" id="{E93D1DB1-4360-3107-8D11-FD20CEA4C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8241" y="471488"/>
            <a:ext cx="10795517" cy="403225"/>
          </a:xfrm>
        </p:spPr>
        <p:txBody>
          <a:bodyPr>
            <a:noAutofit/>
          </a:bodyPr>
          <a:lstStyle/>
          <a:p>
            <a:r>
              <a:rPr lang="en-US" altLang="en-US" sz="3600" dirty="0">
                <a:latin typeface="+mn-lt"/>
                <a:cs typeface="Arial" panose="020B0604020202020204" pitchFamily="34" charset="0"/>
              </a:rPr>
              <a:t>Solutions to Systems of Linear Equations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xmlns="" id="{7F3A3370-0B35-7839-997A-BBAD04D895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391" y="1376363"/>
            <a:ext cx="10655559" cy="1454150"/>
          </a:xfrm>
        </p:spPr>
        <p:txBody>
          <a:bodyPr>
            <a:noAutofit/>
          </a:bodyPr>
          <a:lstStyle/>
          <a:p>
            <a:pPr defTabSz="919163">
              <a:tabLst>
                <a:tab pos="2747963" algn="l"/>
              </a:tabLst>
            </a:pPr>
            <a:r>
              <a:rPr lang="en-US" altLang="en-US" u="sng" dirty="0"/>
              <a:t>Example</a:t>
            </a:r>
            <a:r>
              <a:rPr lang="en-US" altLang="en-US" dirty="0"/>
              <a:t>: a system of 3 linear equations with 3 unknowns (x</a:t>
            </a:r>
            <a:r>
              <a:rPr lang="en-US" altLang="en-US" baseline="-25000" dirty="0"/>
              <a:t>1</a:t>
            </a:r>
            <a:r>
              <a:rPr lang="en-US" altLang="en-US" dirty="0"/>
              <a:t>, x</a:t>
            </a:r>
            <a:r>
              <a:rPr lang="en-US" altLang="en-US" baseline="-25000" dirty="0"/>
              <a:t>2</a:t>
            </a:r>
            <a:r>
              <a:rPr lang="en-US" altLang="en-US" dirty="0"/>
              <a:t>, x</a:t>
            </a:r>
            <a:r>
              <a:rPr lang="en-US" altLang="en-US" baseline="-25000" dirty="0"/>
              <a:t>3</a:t>
            </a:r>
            <a:r>
              <a:rPr lang="en-US" altLang="en-US" dirty="0"/>
              <a:t>):</a:t>
            </a:r>
          </a:p>
          <a:p>
            <a:pPr defTabSz="919163">
              <a:buNone/>
              <a:tabLst>
                <a:tab pos="2747963" algn="l"/>
              </a:tabLst>
            </a:pPr>
            <a:r>
              <a:rPr lang="en-US" altLang="en-US" dirty="0"/>
              <a:t>		</a:t>
            </a:r>
            <a:r>
              <a:rPr lang="en-US" altLang="en-US" dirty="0">
                <a:latin typeface="Courier New" panose="02070309020205020404" pitchFamily="49" charset="0"/>
              </a:rPr>
              <a:t>3x</a:t>
            </a:r>
            <a:r>
              <a:rPr lang="en-US" altLang="en-US" baseline="-25000" dirty="0">
                <a:latin typeface="Courier New" panose="02070309020205020404" pitchFamily="49" charset="0"/>
              </a:rPr>
              <a:t>1</a:t>
            </a:r>
            <a:r>
              <a:rPr lang="en-US" altLang="en-US" dirty="0">
                <a:latin typeface="Courier New" panose="02070309020205020404" pitchFamily="49" charset="0"/>
              </a:rPr>
              <a:t> + 2x</a:t>
            </a:r>
            <a:r>
              <a:rPr lang="en-US" altLang="en-US" baseline="-25000" dirty="0">
                <a:latin typeface="Courier New" panose="02070309020205020404" pitchFamily="49" charset="0"/>
              </a:rPr>
              <a:t>2</a:t>
            </a:r>
            <a:r>
              <a:rPr lang="en-US" altLang="en-US" dirty="0">
                <a:latin typeface="Courier New" panose="02070309020205020404" pitchFamily="49" charset="0"/>
              </a:rPr>
              <a:t> –  x</a:t>
            </a:r>
            <a:r>
              <a:rPr lang="en-US" altLang="en-US" baseline="-25000" dirty="0">
                <a:latin typeface="Courier New" panose="02070309020205020404" pitchFamily="49" charset="0"/>
              </a:rPr>
              <a:t>3</a:t>
            </a:r>
            <a:r>
              <a:rPr lang="en-US" altLang="en-US" dirty="0">
                <a:latin typeface="Courier New" panose="02070309020205020404" pitchFamily="49" charset="0"/>
              </a:rPr>
              <a:t> = 10</a:t>
            </a:r>
          </a:p>
          <a:p>
            <a:pPr defTabSz="919163">
              <a:buNone/>
              <a:tabLst>
                <a:tab pos="2747963" algn="l"/>
              </a:tabLst>
            </a:pPr>
            <a:r>
              <a:rPr lang="en-US" altLang="en-US" dirty="0">
                <a:latin typeface="Courier New" panose="02070309020205020404" pitchFamily="49" charset="0"/>
              </a:rPr>
              <a:t>		-x</a:t>
            </a:r>
            <a:r>
              <a:rPr lang="en-US" altLang="en-US" baseline="-25000" dirty="0">
                <a:latin typeface="Courier New" panose="02070309020205020404" pitchFamily="49" charset="0"/>
              </a:rPr>
              <a:t>1</a:t>
            </a:r>
            <a:r>
              <a:rPr lang="en-US" altLang="en-US" dirty="0">
                <a:latin typeface="Courier New" panose="02070309020205020404" pitchFamily="49" charset="0"/>
              </a:rPr>
              <a:t> + 3x</a:t>
            </a:r>
            <a:r>
              <a:rPr lang="en-US" altLang="en-US" baseline="-25000" dirty="0">
                <a:latin typeface="Courier New" panose="02070309020205020404" pitchFamily="49" charset="0"/>
              </a:rPr>
              <a:t>2</a:t>
            </a:r>
            <a:r>
              <a:rPr lang="en-US" altLang="en-US" dirty="0">
                <a:latin typeface="Courier New" panose="02070309020205020404" pitchFamily="49" charset="0"/>
              </a:rPr>
              <a:t> + 2x</a:t>
            </a:r>
            <a:r>
              <a:rPr lang="en-US" altLang="en-US" baseline="-25000" dirty="0">
                <a:latin typeface="Courier New" panose="02070309020205020404" pitchFamily="49" charset="0"/>
              </a:rPr>
              <a:t>3</a:t>
            </a:r>
            <a:r>
              <a:rPr lang="en-US" altLang="en-US" dirty="0">
                <a:latin typeface="Courier New" panose="02070309020205020404" pitchFamily="49" charset="0"/>
              </a:rPr>
              <a:t> =  5</a:t>
            </a:r>
          </a:p>
          <a:p>
            <a:pPr defTabSz="919163">
              <a:buNone/>
              <a:tabLst>
                <a:tab pos="2747963" algn="l"/>
              </a:tabLst>
            </a:pPr>
            <a:r>
              <a:rPr lang="en-US" altLang="en-US" dirty="0">
                <a:latin typeface="Courier New" panose="02070309020205020404" pitchFamily="49" charset="0"/>
              </a:rPr>
              <a:t>		 x</a:t>
            </a:r>
            <a:r>
              <a:rPr lang="en-US" altLang="en-US" baseline="-25000" dirty="0">
                <a:latin typeface="Courier New" panose="02070309020205020404" pitchFamily="49" charset="0"/>
              </a:rPr>
              <a:t>1</a:t>
            </a:r>
            <a:r>
              <a:rPr lang="en-US" altLang="en-US" dirty="0">
                <a:latin typeface="Courier New" panose="02070309020205020404" pitchFamily="49" charset="0"/>
              </a:rPr>
              <a:t> –  x</a:t>
            </a:r>
            <a:r>
              <a:rPr lang="en-US" altLang="en-US" baseline="-25000" dirty="0">
                <a:latin typeface="Courier New" panose="02070309020205020404" pitchFamily="49" charset="0"/>
              </a:rPr>
              <a:t>2</a:t>
            </a:r>
            <a:r>
              <a:rPr lang="en-US" altLang="en-US" dirty="0">
                <a:latin typeface="Courier New" panose="02070309020205020404" pitchFamily="49" charset="0"/>
              </a:rPr>
              <a:t> –  x</a:t>
            </a:r>
            <a:r>
              <a:rPr lang="en-US" altLang="en-US" baseline="-25000" dirty="0">
                <a:latin typeface="Courier New" panose="02070309020205020404" pitchFamily="49" charset="0"/>
              </a:rPr>
              <a:t>3</a:t>
            </a:r>
            <a:r>
              <a:rPr lang="en-US" altLang="en-US" dirty="0">
                <a:latin typeface="Courier New" panose="02070309020205020404" pitchFamily="49" charset="0"/>
              </a:rPr>
              <a:t> = -1</a:t>
            </a:r>
          </a:p>
        </p:txBody>
      </p:sp>
      <p:sp>
        <p:nvSpPr>
          <p:cNvPr id="69636" name="Text Box 4">
            <a:extLst>
              <a:ext uri="{FF2B5EF4-FFF2-40B4-BE49-F238E27FC236}">
                <a16:creationId xmlns:a16="http://schemas.microsoft.com/office/drawing/2014/main" xmlns="" id="{F2AF6883-A2F8-3304-EF53-48E6ACB2F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343" y="4993481"/>
            <a:ext cx="1024501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dirty="0"/>
              <a:t>Then, the system can be described as:</a:t>
            </a:r>
          </a:p>
          <a:p>
            <a:pPr algn="ctr"/>
            <a:r>
              <a:rPr lang="en-US" altLang="en-US" sz="2800" dirty="0"/>
              <a:t>Ax = b</a:t>
            </a:r>
          </a:p>
        </p:txBody>
      </p:sp>
      <p:grpSp>
        <p:nvGrpSpPr>
          <p:cNvPr id="69637" name="Group 5">
            <a:extLst>
              <a:ext uri="{FF2B5EF4-FFF2-40B4-BE49-F238E27FC236}">
                <a16:creationId xmlns:a16="http://schemas.microsoft.com/office/drawing/2014/main" xmlns="" id="{D1AE10DB-4C89-EC89-F3EF-355F71B24512}"/>
              </a:ext>
            </a:extLst>
          </p:cNvPr>
          <p:cNvGrpSpPr>
            <a:grpSpLocks/>
          </p:cNvGrpSpPr>
          <p:nvPr/>
        </p:nvGrpSpPr>
        <p:grpSpPr bwMode="auto">
          <a:xfrm>
            <a:off x="3106984" y="3527278"/>
            <a:ext cx="5309229" cy="1467070"/>
            <a:chOff x="1139" y="2097"/>
            <a:chExt cx="3099" cy="7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638" name="Object 6">
                  <a:extLst>
                    <a:ext uri="{FF2B5EF4-FFF2-40B4-BE49-F238E27FC236}">
                      <a16:creationId xmlns:a16="http://schemas.microsoft.com/office/drawing/2014/main" xmlns="" id="{C2004009-4C1D-2AF0-E876-8C17653CD786}"/>
                    </a:ext>
                  </a:extLst>
                </p:cNvPr>
                <p:cNvSpPr txBox="1"/>
                <p:nvPr/>
              </p:nvSpPr>
              <p:spPr bwMode="auto">
                <a:xfrm>
                  <a:off x="1139" y="2192"/>
                  <a:ext cx="1367" cy="6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638" name="Object 6">
                  <a:extLst>
                    <a:ext uri="{FF2B5EF4-FFF2-40B4-BE49-F238E27FC236}">
                      <a16:creationId xmlns:a16="http://schemas.microsoft.com/office/drawing/2014/main" id="{C2004009-4C1D-2AF0-E876-8C17653CD7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39" y="2192"/>
                  <a:ext cx="1367" cy="6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69639" name="Object 7">
                  <a:extLst>
                    <a:ext uri="{FF2B5EF4-FFF2-40B4-BE49-F238E27FC236}">
                      <a16:creationId xmlns:a16="http://schemas.microsoft.com/office/drawing/2014/main" xmlns="" id="{5DEA8032-5DD0-785E-F2AF-A1F587CD5812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688" y="2097"/>
                <a:ext cx="482" cy="60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30" name="Equation" r:id="rId4" imgW="634680" imgH="799920" progId="Equation.3">
                        <p:embed/>
                      </p:oleObj>
                    </mc:Choice>
                    <mc:Fallback>
                      <p:oleObj name="Equation" r:id="rId4" imgW="634680" imgH="799920" progId="Equation.3">
                        <p:embed/>
                        <p:pic>
                          <p:nvPicPr>
                            <p:cNvPr id="69639" name="Object 7">
                              <a:extLst>
                                <a:ext uri="{FF2B5EF4-FFF2-40B4-BE49-F238E27FC236}">
                                  <a16:creationId xmlns:a16="http://schemas.microsoft.com/office/drawing/2014/main" xmlns="" id="{5DEA8032-5DD0-785E-F2AF-A1F587CD5812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688" y="2097"/>
                              <a:ext cx="482" cy="60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69639" name="Object 7">
                  <a:extLst>
                    <a:ext uri="{FF2B5EF4-FFF2-40B4-BE49-F238E27FC236}">
                      <a16:creationId xmlns:a16="http://schemas.microsoft.com/office/drawing/2014/main" id="{5DEA8032-5DD0-785E-F2AF-A1F587CD5812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688" y="2097"/>
                <a:ext cx="482" cy="607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6" imgW="634680" imgH="799920" progId="Equation.3">
                        <p:embed/>
                      </p:oleObj>
                    </mc:Choice>
                    <mc:Fallback>
                      <p:oleObj name="Equation" r:id="rId6" imgW="634680" imgH="799920" progId="Equation.3">
                        <p:embed/>
                        <p:pic>
                          <p:nvPicPr>
                            <p:cNvPr id="69639" name="Object 7">
                              <a:extLst>
                                <a:ext uri="{FF2B5EF4-FFF2-40B4-BE49-F238E27FC236}">
                                  <a16:creationId xmlns:a16="http://schemas.microsoft.com/office/drawing/2014/main" id="{5DEA8032-5DD0-785E-F2AF-A1F587CD5812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688" y="2097"/>
                              <a:ext cx="482" cy="60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69640" name="Object 8">
                  <a:extLst>
                    <a:ext uri="{FF2B5EF4-FFF2-40B4-BE49-F238E27FC236}">
                      <a16:creationId xmlns:a16="http://schemas.microsoft.com/office/drawing/2014/main" xmlns="" id="{ADBFC880-8A0C-8AF2-33FD-54D4332F7B5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760" y="2099"/>
                <a:ext cx="478" cy="591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31" name="Equation" r:id="rId8" imgW="647640" imgH="799920" progId="Equation.3">
                        <p:embed/>
                      </p:oleObj>
                    </mc:Choice>
                    <mc:Fallback>
                      <p:oleObj name="Equation" r:id="rId8" imgW="647640" imgH="799920" progId="Equation.3">
                        <p:embed/>
                        <p:pic>
                          <p:nvPicPr>
                            <p:cNvPr id="69640" name="Object 8">
                              <a:extLst>
                                <a:ext uri="{FF2B5EF4-FFF2-40B4-BE49-F238E27FC236}">
                                  <a16:creationId xmlns:a16="http://schemas.microsoft.com/office/drawing/2014/main" xmlns="" id="{ADBFC880-8A0C-8AF2-33FD-54D4332F7B54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60" y="2099"/>
                              <a:ext cx="478" cy="59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69640" name="Object 8">
                  <a:extLst>
                    <a:ext uri="{FF2B5EF4-FFF2-40B4-BE49-F238E27FC236}">
                      <a16:creationId xmlns:a16="http://schemas.microsoft.com/office/drawing/2014/main" id="{ADBFC880-8A0C-8AF2-33FD-54D4332F7B5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760" y="2099"/>
                <a:ext cx="478" cy="591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0" imgW="647640" imgH="799920" progId="Equation.3">
                        <p:embed/>
                      </p:oleObj>
                    </mc:Choice>
                    <mc:Fallback>
                      <p:oleObj name="Equation" r:id="rId10" imgW="647640" imgH="799920" progId="Equation.3">
                        <p:embed/>
                        <p:pic>
                          <p:nvPicPr>
                            <p:cNvPr id="69640" name="Object 8">
                              <a:extLst>
                                <a:ext uri="{FF2B5EF4-FFF2-40B4-BE49-F238E27FC236}">
                                  <a16:creationId xmlns:a16="http://schemas.microsoft.com/office/drawing/2014/main" id="{ADBFC880-8A0C-8AF2-33FD-54D4332F7B54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60" y="2099"/>
                              <a:ext cx="478" cy="59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autoUpdateAnimBg="0"/>
      <p:bldP spid="69636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3">
            <a:extLst>
              <a:ext uri="{FF2B5EF4-FFF2-40B4-BE49-F238E27FC236}">
                <a16:creationId xmlns:a16="http://schemas.microsoft.com/office/drawing/2014/main" xmlns="" id="{4D1C08CC-F362-CF92-2A88-F1B59EBC10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96956" y="1129004"/>
            <a:ext cx="4186270" cy="4285571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sz="2400" u="sng" dirty="0"/>
              <a:t>Solution by Matrix Inverse: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dirty="0"/>
              <a:t>Ax = b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dirty="0"/>
              <a:t>A</a:t>
            </a:r>
            <a:r>
              <a:rPr lang="en-US" altLang="en-US" sz="2000" baseline="30000" dirty="0"/>
              <a:t>-1</a:t>
            </a:r>
            <a:r>
              <a:rPr lang="en-US" altLang="en-US" sz="2000" dirty="0"/>
              <a:t>Ax = A</a:t>
            </a:r>
            <a:r>
              <a:rPr lang="en-US" altLang="en-US" sz="2000" baseline="30000" dirty="0"/>
              <a:t>-1</a:t>
            </a:r>
            <a:r>
              <a:rPr lang="en-US" altLang="en-US" sz="2000" dirty="0"/>
              <a:t>b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dirty="0"/>
              <a:t>x = A</a:t>
            </a:r>
            <a:r>
              <a:rPr lang="en-US" altLang="en-US" sz="2000" baseline="30000" dirty="0"/>
              <a:t>-1</a:t>
            </a:r>
            <a:r>
              <a:rPr lang="en-US" altLang="en-US" sz="2000" dirty="0"/>
              <a:t>b</a:t>
            </a:r>
          </a:p>
          <a:p>
            <a:pPr>
              <a:spcBef>
                <a:spcPct val="0"/>
              </a:spcBef>
            </a:pPr>
            <a:r>
              <a:rPr lang="en-US" altLang="en-US" sz="2400" dirty="0"/>
              <a:t>MATLAB: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dirty="0"/>
              <a:t>&gt;&gt; A = [ 3 2 -1; -1 3 2; 1 -1 -1];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dirty="0"/>
              <a:t>&gt;&gt; b = [ 10; 5; -1];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dirty="0"/>
              <a:t>&gt;&gt; x = inv(A)*b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dirty="0"/>
              <a:t>x =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dirty="0"/>
              <a:t>   -2.0000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dirty="0"/>
              <a:t>    5.0000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dirty="0"/>
              <a:t>   -6.0000</a:t>
            </a:r>
          </a:p>
        </p:txBody>
      </p:sp>
      <p:sp>
        <p:nvSpPr>
          <p:cNvPr id="70660" name="Rectangle 4">
            <a:extLst>
              <a:ext uri="{FF2B5EF4-FFF2-40B4-BE49-F238E27FC236}">
                <a16:creationId xmlns:a16="http://schemas.microsoft.com/office/drawing/2014/main" xmlns="" id="{FA750D32-249E-BDD6-3FC0-9140B8DC0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472" y="4498380"/>
            <a:ext cx="2360613" cy="655638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u="sng"/>
              <a:t>Answer</a:t>
            </a:r>
            <a:r>
              <a:rPr lang="en-US" altLang="en-US"/>
              <a:t>: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/>
              <a:t>x</a:t>
            </a:r>
            <a:r>
              <a:rPr lang="en-US" altLang="en-US" baseline="-25000"/>
              <a:t>1</a:t>
            </a:r>
            <a:r>
              <a:rPr lang="en-US" altLang="en-US"/>
              <a:t> = -2, x</a:t>
            </a:r>
            <a:r>
              <a:rPr lang="en-US" altLang="en-US" baseline="-25000"/>
              <a:t>2</a:t>
            </a:r>
            <a:r>
              <a:rPr lang="en-US" altLang="en-US"/>
              <a:t> = 5, x</a:t>
            </a:r>
            <a:r>
              <a:rPr lang="en-US" altLang="en-US" baseline="-25000"/>
              <a:t>3</a:t>
            </a:r>
            <a:r>
              <a:rPr lang="en-US" altLang="en-US"/>
              <a:t> = -6</a:t>
            </a:r>
          </a:p>
        </p:txBody>
      </p:sp>
      <p:sp>
        <p:nvSpPr>
          <p:cNvPr id="70661" name="Rectangle 5">
            <a:extLst>
              <a:ext uri="{FF2B5EF4-FFF2-40B4-BE49-F238E27FC236}">
                <a16:creationId xmlns:a16="http://schemas.microsoft.com/office/drawing/2014/main" xmlns="" id="{F5B465CF-6159-6498-A4C4-E2AEB9CF3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4550" y="1294607"/>
            <a:ext cx="5253523" cy="1185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400" u="sng" dirty="0"/>
              <a:t>Solution by Matrix Division: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dirty="0"/>
              <a:t>The solution to the equation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/>
              <a:t>Ax = b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dirty="0"/>
              <a:t>can be computed using </a:t>
            </a:r>
            <a:r>
              <a:rPr lang="en-US" altLang="en-US" sz="2000" dirty="0">
                <a:solidFill>
                  <a:schemeClr val="hlink"/>
                </a:solidFill>
              </a:rPr>
              <a:t>left division</a:t>
            </a:r>
            <a:r>
              <a:rPr lang="en-US" altLang="en-US" sz="2000" dirty="0"/>
              <a:t>.</a:t>
            </a:r>
          </a:p>
        </p:txBody>
      </p:sp>
      <p:sp>
        <p:nvSpPr>
          <p:cNvPr id="70662" name="Rectangle 6">
            <a:extLst>
              <a:ext uri="{FF2B5EF4-FFF2-40B4-BE49-F238E27FC236}">
                <a16:creationId xmlns:a16="http://schemas.microsoft.com/office/drawing/2014/main" xmlns="" id="{7330DE25-EAF1-CC9F-8CCD-CD17083E5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600" y="4335860"/>
            <a:ext cx="2360612" cy="655637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u="sng" dirty="0"/>
              <a:t>Answer</a:t>
            </a:r>
            <a:r>
              <a:rPr lang="en-US" altLang="en-US" dirty="0"/>
              <a:t>: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dirty="0"/>
              <a:t>x</a:t>
            </a:r>
            <a:r>
              <a:rPr lang="en-US" altLang="en-US" baseline="-25000" dirty="0"/>
              <a:t>1</a:t>
            </a:r>
            <a:r>
              <a:rPr lang="en-US" altLang="en-US" dirty="0"/>
              <a:t> = -2, x</a:t>
            </a:r>
            <a:r>
              <a:rPr lang="en-US" altLang="en-US" baseline="-25000" dirty="0"/>
              <a:t>2</a:t>
            </a:r>
            <a:r>
              <a:rPr lang="en-US" altLang="en-US" dirty="0"/>
              <a:t> = 5, x</a:t>
            </a:r>
            <a:r>
              <a:rPr lang="en-US" altLang="en-US" baseline="-25000" dirty="0"/>
              <a:t>3</a:t>
            </a:r>
            <a:r>
              <a:rPr lang="en-US" altLang="en-US" dirty="0"/>
              <a:t> = -6</a:t>
            </a:r>
          </a:p>
        </p:txBody>
      </p:sp>
      <p:sp>
        <p:nvSpPr>
          <p:cNvPr id="70663" name="Text Box 7">
            <a:extLst>
              <a:ext uri="{FF2B5EF4-FFF2-40B4-BE49-F238E27FC236}">
                <a16:creationId xmlns:a16="http://schemas.microsoft.com/office/drawing/2014/main" xmlns="" id="{4015517B-922D-0539-4611-8D1275753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956" y="5437888"/>
            <a:ext cx="1011438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u="sng" dirty="0">
                <a:solidFill>
                  <a:schemeClr val="hlink"/>
                </a:solidFill>
              </a:rPr>
              <a:t>NOTE</a:t>
            </a:r>
            <a:r>
              <a:rPr lang="en-US" altLang="en-US" sz="3200" dirty="0">
                <a:solidFill>
                  <a:schemeClr val="hlink"/>
                </a:solidFill>
              </a:rPr>
              <a:t>: </a:t>
            </a:r>
          </a:p>
          <a:p>
            <a:r>
              <a:rPr lang="en-US" altLang="en-US" sz="2400" dirty="0">
                <a:solidFill>
                  <a:schemeClr val="hlink"/>
                </a:solidFill>
              </a:rPr>
              <a:t>left division: A\b </a:t>
            </a:r>
            <a:r>
              <a:rPr lang="en-US" altLang="en-US" sz="2400" dirty="0">
                <a:solidFill>
                  <a:schemeClr val="hlink"/>
                </a:solidFill>
                <a:sym typeface="Wingdings" panose="05000000000000000000" pitchFamily="2" charset="2"/>
              </a:rPr>
              <a:t> b </a:t>
            </a:r>
            <a:r>
              <a:rPr lang="en-US" altLang="en-US" sz="2400" dirty="0">
                <a:solidFill>
                  <a:schemeClr val="hlink"/>
                </a:solidFill>
                <a:sym typeface="Symbol" panose="05050102010706020507" pitchFamily="18" charset="2"/>
              </a:rPr>
              <a:t> A	right division: x/y </a:t>
            </a:r>
            <a:r>
              <a:rPr lang="en-US" altLang="en-US" sz="2400" dirty="0">
                <a:solidFill>
                  <a:schemeClr val="hlink"/>
                </a:solidFill>
                <a:sym typeface="Wingdings" panose="05000000000000000000" pitchFamily="2" charset="2"/>
              </a:rPr>
              <a:t> x </a:t>
            </a:r>
            <a:r>
              <a:rPr lang="en-US" altLang="en-US" sz="2400" dirty="0">
                <a:solidFill>
                  <a:schemeClr val="hlink"/>
                </a:solidFill>
                <a:sym typeface="Symbol" panose="05050102010706020507" pitchFamily="18" charset="2"/>
              </a:rPr>
              <a:t> y</a:t>
            </a:r>
          </a:p>
        </p:txBody>
      </p:sp>
      <p:sp>
        <p:nvSpPr>
          <p:cNvPr id="70664" name="Rectangle 8">
            <a:extLst>
              <a:ext uri="{FF2B5EF4-FFF2-40B4-BE49-F238E27FC236}">
                <a16:creationId xmlns:a16="http://schemas.microsoft.com/office/drawing/2014/main" xmlns="" id="{4CC66573-E6C0-FB6D-0D7A-A0D85F721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4550" y="2672160"/>
            <a:ext cx="4572000" cy="2319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1313" indent="-341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000" dirty="0"/>
              <a:t>MATLAB:</a:t>
            </a:r>
          </a:p>
          <a:p>
            <a:pPr lvl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dirty="0"/>
              <a:t>&gt;&gt; A = [ 3 2 -1; -1 3 2; 1 -1 -1];</a:t>
            </a:r>
          </a:p>
          <a:p>
            <a:pPr lvl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dirty="0"/>
              <a:t>&gt;&gt; b = [ 10; 5; -1];</a:t>
            </a:r>
          </a:p>
          <a:p>
            <a:pPr lvl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dirty="0"/>
              <a:t>&gt;&gt; x = A\b</a:t>
            </a:r>
          </a:p>
          <a:p>
            <a:pPr lvl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dirty="0"/>
              <a:t>x =</a:t>
            </a:r>
          </a:p>
          <a:p>
            <a:pPr lvl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dirty="0"/>
              <a:t>   -2.0000</a:t>
            </a:r>
          </a:p>
          <a:p>
            <a:pPr lvl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dirty="0"/>
              <a:t>    5.0000</a:t>
            </a:r>
          </a:p>
          <a:p>
            <a:pPr lvl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 dirty="0"/>
              <a:t>   -6.0000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3058978C-12E6-00C3-7D35-2F156D2F6A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8241" y="471488"/>
            <a:ext cx="10795517" cy="403225"/>
          </a:xfrm>
        </p:spPr>
        <p:txBody>
          <a:bodyPr>
            <a:noAutofit/>
          </a:bodyPr>
          <a:lstStyle/>
          <a:p>
            <a:r>
              <a:rPr lang="en-US" altLang="en-US" sz="3600" dirty="0">
                <a:latin typeface="+mn-lt"/>
                <a:cs typeface="Arial" panose="020B0604020202020204" pitchFamily="34" charset="0"/>
              </a:rPr>
              <a:t>Solutions to Systems of Linear Equations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 autoUpdateAnimBg="0"/>
      <p:bldP spid="70660" grpId="0" animBg="1" autoUpdateAnimBg="0"/>
      <p:bldP spid="70661" grpId="0" autoUpdateAnimBg="0"/>
      <p:bldP spid="70662" grpId="0" animBg="1" autoUpdateAnimBg="0"/>
      <p:bldP spid="70663" grpId="0" autoUpdateAnimBg="0"/>
      <p:bldP spid="70664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xmlns="" id="{AF8013A0-1F48-DEEB-CE51-D810BE7AE2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143001"/>
            <a:ext cx="10879494" cy="5381625"/>
          </a:xfrm>
        </p:spPr>
        <p:txBody>
          <a:bodyPr/>
          <a:lstStyle/>
          <a:p>
            <a:pPr marL="0" indent="0">
              <a:lnSpc>
                <a:spcPct val="90000"/>
              </a:lnSpc>
              <a:buClr>
                <a:srgbClr val="9999FF"/>
              </a:buClr>
              <a:buNone/>
            </a:pPr>
            <a:r>
              <a:rPr lang="en-US" altLang="zh-CN" sz="3300" dirty="0">
                <a:solidFill>
                  <a:srgbClr val="79007E"/>
                </a:solidFill>
              </a:rPr>
              <a:t>Example: </a:t>
            </a:r>
            <a:r>
              <a:rPr lang="en-US" altLang="zh-CN" dirty="0">
                <a:solidFill>
                  <a:srgbClr val="0033CC"/>
                </a:solidFill>
              </a:rPr>
              <a:t>Solving a system of linear equations</a:t>
            </a:r>
          </a:p>
          <a:p>
            <a:pPr>
              <a:lnSpc>
                <a:spcPct val="90000"/>
              </a:lnSpc>
            </a:pPr>
            <a:endParaRPr lang="en-US" altLang="zh-CN" sz="3400" dirty="0"/>
          </a:p>
          <a:p>
            <a:pPr>
              <a:lnSpc>
                <a:spcPct val="90000"/>
              </a:lnSpc>
            </a:pPr>
            <a:endParaRPr lang="en-US" altLang="zh-CN" dirty="0"/>
          </a:p>
          <a:p>
            <a:pPr>
              <a:lnSpc>
                <a:spcPct val="90000"/>
              </a:lnSpc>
            </a:pPr>
            <a:endParaRPr lang="en-US" altLang="zh-CN" dirty="0"/>
          </a:p>
          <a:p>
            <a:pPr lvl="1">
              <a:lnSpc>
                <a:spcPct val="90000"/>
              </a:lnSpc>
            </a:pPr>
            <a:endParaRPr lang="pt-BR" altLang="zh-CN" dirty="0"/>
          </a:p>
          <a:p>
            <a:pPr lvl="1">
              <a:lnSpc>
                <a:spcPct val="90000"/>
              </a:lnSpc>
              <a:buFontTx/>
              <a:buBlip>
                <a:blip r:embed="rId3"/>
              </a:buBlip>
            </a:pPr>
            <a:r>
              <a:rPr lang="pt-BR" altLang="en-US" dirty="0"/>
              <a:t>A = [ 4 -2 6; 2 8 2; 6 10 3 ];</a:t>
            </a:r>
          </a:p>
          <a:p>
            <a:pPr lvl="1">
              <a:lnSpc>
                <a:spcPct val="90000"/>
              </a:lnSpc>
              <a:buFontTx/>
              <a:buBlip>
                <a:blip r:embed="rId3"/>
              </a:buBlip>
            </a:pPr>
            <a:r>
              <a:rPr lang="pt-BR" altLang="en-US" dirty="0"/>
              <a:t>B = [ 8; 4; 0 ];</a:t>
            </a:r>
          </a:p>
          <a:p>
            <a:pPr lvl="1">
              <a:lnSpc>
                <a:spcPct val="90000"/>
              </a:lnSpc>
              <a:buFontTx/>
              <a:buBlip>
                <a:blip r:embed="rId3"/>
              </a:buBlip>
            </a:pPr>
            <a:r>
              <a:rPr lang="pt-BR" altLang="en-US" dirty="0"/>
              <a:t>X = A \ B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pt-BR" altLang="en-US" dirty="0"/>
              <a:t>	</a:t>
            </a:r>
            <a:r>
              <a:rPr lang="pt-BR" altLang="en-US" dirty="0">
                <a:solidFill>
                  <a:schemeClr val="hlink"/>
                </a:solidFill>
              </a:rPr>
              <a:t>X =</a:t>
            </a:r>
            <a:br>
              <a:rPr lang="pt-BR" altLang="en-US" dirty="0">
                <a:solidFill>
                  <a:schemeClr val="hlink"/>
                </a:solidFill>
              </a:rPr>
            </a:br>
            <a:r>
              <a:rPr lang="pt-BR" altLang="en-US" dirty="0">
                <a:solidFill>
                  <a:schemeClr val="hlink"/>
                </a:solidFill>
              </a:rPr>
              <a:t>   -1.8049</a:t>
            </a:r>
            <a:br>
              <a:rPr lang="pt-BR" altLang="en-US" dirty="0">
                <a:solidFill>
                  <a:schemeClr val="hlink"/>
                </a:solidFill>
              </a:rPr>
            </a:br>
            <a:r>
              <a:rPr lang="pt-BR" altLang="en-US" dirty="0">
                <a:solidFill>
                  <a:schemeClr val="hlink"/>
                </a:solidFill>
              </a:rPr>
              <a:t>    0.2927</a:t>
            </a:r>
            <a:br>
              <a:rPr lang="pt-BR" altLang="en-US" dirty="0">
                <a:solidFill>
                  <a:schemeClr val="hlink"/>
                </a:solidFill>
              </a:rPr>
            </a:br>
            <a:r>
              <a:rPr lang="pt-BR" altLang="en-US" dirty="0">
                <a:solidFill>
                  <a:schemeClr val="hlink"/>
                </a:solidFill>
              </a:rPr>
              <a:t>    2.6341</a:t>
            </a:r>
            <a:endParaRPr lang="en-US" altLang="zh-CN" dirty="0">
              <a:solidFill>
                <a:schemeClr val="hlink"/>
              </a:solidFill>
            </a:endParaRPr>
          </a:p>
        </p:txBody>
      </p:sp>
      <p:grpSp>
        <p:nvGrpSpPr>
          <p:cNvPr id="47119" name="Group 15">
            <a:extLst>
              <a:ext uri="{FF2B5EF4-FFF2-40B4-BE49-F238E27FC236}">
                <a16:creationId xmlns:a16="http://schemas.microsoft.com/office/drawing/2014/main" xmlns="" id="{06633D03-E4FA-BC1F-84EF-1326F74E695B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1816100"/>
            <a:ext cx="7391400" cy="1612900"/>
            <a:chOff x="576" y="1144"/>
            <a:chExt cx="4656" cy="1016"/>
          </a:xfrm>
        </p:grpSpPr>
        <p:graphicFrame>
          <p:nvGraphicFramePr>
            <p:cNvPr id="47107" name="Object 3">
              <a:extLst>
                <a:ext uri="{FF2B5EF4-FFF2-40B4-BE49-F238E27FC236}">
                  <a16:creationId xmlns:a16="http://schemas.microsoft.com/office/drawing/2014/main" xmlns="" id="{154EA5A6-C1B3-7EAD-22DE-75FD3835C0B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6" y="1152"/>
            <a:ext cx="1687" cy="9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" name="Equation" r:id="rId4" imgW="1091880" imgH="672840" progId="Equation.3">
                    <p:embed/>
                  </p:oleObj>
                </mc:Choice>
                <mc:Fallback>
                  <p:oleObj name="Equation" r:id="rId4" imgW="1091880" imgH="672840" progId="Equation.3">
                    <p:embed/>
                    <p:pic>
                      <p:nvPicPr>
                        <p:cNvPr id="47107" name="Object 3">
                          <a:extLst>
                            <a:ext uri="{FF2B5EF4-FFF2-40B4-BE49-F238E27FC236}">
                              <a16:creationId xmlns:a16="http://schemas.microsoft.com/office/drawing/2014/main" xmlns="" id="{154EA5A6-C1B3-7EAD-22DE-75FD3835C0B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1152"/>
                          <a:ext cx="1687" cy="9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08" name="Object 4">
              <a:extLst>
                <a:ext uri="{FF2B5EF4-FFF2-40B4-BE49-F238E27FC236}">
                  <a16:creationId xmlns:a16="http://schemas.microsoft.com/office/drawing/2014/main" xmlns="" id="{AE496DE5-F2CF-151F-C5C4-8CA8CD6E546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68" y="1144"/>
            <a:ext cx="2064" cy="10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" name="Equation" r:id="rId6" imgW="1384200" imgH="711000" progId="Equation.3">
                    <p:embed/>
                  </p:oleObj>
                </mc:Choice>
                <mc:Fallback>
                  <p:oleObj name="Equation" r:id="rId6" imgW="1384200" imgH="711000" progId="Equation.3">
                    <p:embed/>
                    <p:pic>
                      <p:nvPicPr>
                        <p:cNvPr id="47108" name="Object 4">
                          <a:extLst>
                            <a:ext uri="{FF2B5EF4-FFF2-40B4-BE49-F238E27FC236}">
                              <a16:creationId xmlns:a16="http://schemas.microsoft.com/office/drawing/2014/main" xmlns="" id="{AE496DE5-F2CF-151F-C5C4-8CA8CD6E546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144"/>
                          <a:ext cx="2064" cy="10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09" name="AutoShape 5">
              <a:extLst>
                <a:ext uri="{FF2B5EF4-FFF2-40B4-BE49-F238E27FC236}">
                  <a16:creationId xmlns:a16="http://schemas.microsoft.com/office/drawing/2014/main" xmlns="" id="{307B99B9-78E7-E421-0DA1-9F72130DF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530"/>
              <a:ext cx="478" cy="246"/>
            </a:xfrm>
            <a:prstGeom prst="rightArrow">
              <a:avLst>
                <a:gd name="adj1" fmla="val 50000"/>
                <a:gd name="adj2" fmla="val 48577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7116" name="Rectangle 12">
            <a:extLst>
              <a:ext uri="{FF2B5EF4-FFF2-40B4-BE49-F238E27FC236}">
                <a16:creationId xmlns:a16="http://schemas.microsoft.com/office/drawing/2014/main" xmlns="" id="{52B18D12-19DD-B198-097D-1D357AAB6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883" y="260351"/>
            <a:ext cx="10228217" cy="63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400">
                <a:solidFill>
                  <a:schemeClr val="tx2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defRPr sz="4400">
                <a:solidFill>
                  <a:schemeClr val="tx2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defRPr sz="4400">
                <a:solidFill>
                  <a:schemeClr val="tx2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defRPr sz="4400">
                <a:solidFill>
                  <a:schemeClr val="tx2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defRPr sz="4400">
                <a:solidFill>
                  <a:schemeClr val="tx2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/>
            <a:r>
              <a:rPr lang="en-US" altLang="en-US" sz="4000" b="1" dirty="0">
                <a:solidFill>
                  <a:srgbClr val="0000FF"/>
                </a:solidFill>
                <a:latin typeface="+mn-lt"/>
                <a:ea typeface="+mj-ea"/>
                <a:cs typeface="Arial" panose="020B0604020202020204" pitchFamily="34" charset="0"/>
              </a:rPr>
              <a:t>Solutions to Systems of Linear Equations</a:t>
            </a:r>
            <a:endParaRPr lang="en-US" altLang="zh-CN" sz="4000" b="1" dirty="0">
              <a:solidFill>
                <a:srgbClr val="0000FF"/>
              </a:solidFill>
              <a:latin typeface="+mn-lt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7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71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5" name="مجموعة 16">
            <a:extLst>
              <a:ext uri="{FF2B5EF4-FFF2-40B4-BE49-F238E27FC236}">
                <a16:creationId xmlns:a16="http://schemas.microsoft.com/office/drawing/2014/main" xmlns="" id="{60F2EA7D-19FA-48E3-D6BC-6DFEB6B399F6}"/>
              </a:ext>
            </a:extLst>
          </p:cNvPr>
          <p:cNvGrpSpPr>
            <a:grpSpLocks/>
          </p:cNvGrpSpPr>
          <p:nvPr/>
        </p:nvGrpSpPr>
        <p:grpSpPr bwMode="auto">
          <a:xfrm>
            <a:off x="6713425" y="1423649"/>
            <a:ext cx="4043022" cy="1949223"/>
            <a:chOff x="3131838" y="320079"/>
            <a:chExt cx="5789776" cy="1819126"/>
          </a:xfrm>
        </p:grpSpPr>
        <p:pic>
          <p:nvPicPr>
            <p:cNvPr id="8208" name="صورة 1">
              <a:extLst>
                <a:ext uri="{FF2B5EF4-FFF2-40B4-BE49-F238E27FC236}">
                  <a16:creationId xmlns:a16="http://schemas.microsoft.com/office/drawing/2014/main" xmlns="" id="{B5801E4E-6F63-6B36-6369-F1CFC47FB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-20000" contrast="4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1838" y="320079"/>
              <a:ext cx="5789776" cy="1819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8209" name="رابط كسهم مستقيم 4">
              <a:extLst>
                <a:ext uri="{FF2B5EF4-FFF2-40B4-BE49-F238E27FC236}">
                  <a16:creationId xmlns:a16="http://schemas.microsoft.com/office/drawing/2014/main" xmlns="" id="{6BCE3BFD-EC55-4D36-64F7-4331000308B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818501" y="808895"/>
              <a:ext cx="576064" cy="0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" name="مستطيل 8">
              <a:extLst>
                <a:ext uri="{FF2B5EF4-FFF2-40B4-BE49-F238E27FC236}">
                  <a16:creationId xmlns:a16="http://schemas.microsoft.com/office/drawing/2014/main" xmlns="" id="{9BE8CA59-3012-5C5A-541A-61CB6CA5A2EE}"/>
                </a:ext>
              </a:extLst>
            </p:cNvPr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4890510" y="896143"/>
              <a:ext cx="504055" cy="504056"/>
            </a:xfrm>
            <a:prstGeom prst="rect">
              <a:avLst/>
            </a:prstGeom>
            <a:blipFill rotWithShape="0">
              <a:blip r:embed="rId3"/>
              <a:stretch>
                <a:fillRect r="-9434"/>
              </a:stretch>
            </a:blip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ar-SA" sz="1929">
                  <a:noFill/>
                </a:rPr>
                <a:t> </a:t>
              </a:r>
            </a:p>
          </p:txBody>
        </p:sp>
        <p:sp>
          <p:nvSpPr>
            <p:cNvPr id="10" name="مستطيل 9">
              <a:extLst>
                <a:ext uri="{FF2B5EF4-FFF2-40B4-BE49-F238E27FC236}">
                  <a16:creationId xmlns:a16="http://schemas.microsoft.com/office/drawing/2014/main" xmlns="" id="{9A1DFBEF-1333-3C10-2BEB-B257225CE647}"/>
                </a:ext>
              </a:extLst>
            </p:cNvPr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6732239" y="880902"/>
              <a:ext cx="504055" cy="504056"/>
            </a:xfrm>
            <a:prstGeom prst="rect">
              <a:avLst/>
            </a:prstGeom>
            <a:blipFill rotWithShape="0">
              <a:blip r:embed="rId4"/>
              <a:stretch>
                <a:fillRect r="-14815"/>
              </a:stretch>
            </a:blip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ar-SA" sz="1929">
                  <a:noFill/>
                </a:rPr>
                <a:t> </a:t>
              </a:r>
            </a:p>
          </p:txBody>
        </p:sp>
        <p:cxnSp>
          <p:nvCxnSpPr>
            <p:cNvPr id="8212" name="رابط كسهم مستقيم 11">
              <a:extLst>
                <a:ext uri="{FF2B5EF4-FFF2-40B4-BE49-F238E27FC236}">
                  <a16:creationId xmlns:a16="http://schemas.microsoft.com/office/drawing/2014/main" xmlns="" id="{DAE46718-0CAA-A5B4-8265-13E9F1686E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876256" y="808895"/>
              <a:ext cx="504055" cy="0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13" name="رابط كسهم مستقيم 14">
              <a:extLst>
                <a:ext uri="{FF2B5EF4-FFF2-40B4-BE49-F238E27FC236}">
                  <a16:creationId xmlns:a16="http://schemas.microsoft.com/office/drawing/2014/main" xmlns="" id="{3E5D2E5E-F0D6-CD98-B1E0-520F3B78C78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55389" y="1040159"/>
              <a:ext cx="0" cy="432048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" name="مستطيل 15">
              <a:extLst>
                <a:ext uri="{FF2B5EF4-FFF2-40B4-BE49-F238E27FC236}">
                  <a16:creationId xmlns:a16="http://schemas.microsoft.com/office/drawing/2014/main" xmlns="" id="{AD91B84E-0FA5-97D9-EC9D-5751B99298E3}"/>
                </a:ext>
              </a:extLst>
            </p:cNvPr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5394568" y="1111368"/>
              <a:ext cx="504055" cy="504056"/>
            </a:xfrm>
            <a:prstGeom prst="rect">
              <a:avLst/>
            </a:prstGeom>
            <a:blipFill rotWithShape="0">
              <a:blip r:embed="rId5"/>
              <a:stretch>
                <a:fillRect r="-1852"/>
              </a:stretch>
            </a:blip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ar-SA" sz="1929">
                  <a:noFill/>
                </a:rPr>
                <a:t> </a:t>
              </a:r>
            </a:p>
          </p:txBody>
        </p:sp>
      </p:grpSp>
      <p:sp>
        <p:nvSpPr>
          <p:cNvPr id="18" name="مربع نص 17">
            <a:extLst>
              <a:ext uri="{FF2B5EF4-FFF2-40B4-BE49-F238E27FC236}">
                <a16:creationId xmlns:a16="http://schemas.microsoft.com/office/drawing/2014/main" xmlns="" id="{1013E5CD-ECDE-A822-CF89-C0579D16F88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47034" y="899419"/>
            <a:ext cx="6692629" cy="329761"/>
          </a:xfrm>
          <a:prstGeom prst="rect">
            <a:avLst/>
          </a:prstGeom>
          <a:blipFill rotWithShape="0">
            <a:blip r:embed="rId6"/>
            <a:stretch>
              <a:fillRect l="-879" r="-195" b="-40000"/>
            </a:stretch>
          </a:blipFill>
        </p:spPr>
        <p:txBody>
          <a:bodyPr/>
          <a:lstStyle/>
          <a:p>
            <a:pPr>
              <a:defRPr/>
            </a:pPr>
            <a:r>
              <a:rPr lang="ar-SA" sz="1929">
                <a:noFill/>
              </a:rPr>
              <a:t> </a:t>
            </a:r>
          </a:p>
        </p:txBody>
      </p:sp>
      <p:pic>
        <p:nvPicPr>
          <p:cNvPr id="8197" name="صورة 19">
            <a:extLst>
              <a:ext uri="{FF2B5EF4-FFF2-40B4-BE49-F238E27FC236}">
                <a16:creationId xmlns:a16="http://schemas.microsoft.com/office/drawing/2014/main" xmlns="" id="{9DF0A7EB-DFC4-5F0E-2AE1-C051BAB34D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206" y="4180795"/>
            <a:ext cx="4269241" cy="1995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مربع نص 20">
            <a:extLst>
              <a:ext uri="{FF2B5EF4-FFF2-40B4-BE49-F238E27FC236}">
                <a16:creationId xmlns:a16="http://schemas.microsoft.com/office/drawing/2014/main" xmlns="" id="{A9573E36-5B7C-8E69-CDA2-4B9A1F76534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68407" y="1464062"/>
            <a:ext cx="4267514" cy="329761"/>
          </a:xfrm>
          <a:prstGeom prst="rect">
            <a:avLst/>
          </a:prstGeom>
          <a:blipFill rotWithShape="0">
            <a:blip r:embed="rId8"/>
            <a:stretch>
              <a:fillRect r="-765" b="-19608"/>
            </a:stretch>
          </a:blipFill>
        </p:spPr>
        <p:txBody>
          <a:bodyPr/>
          <a:lstStyle/>
          <a:p>
            <a:pPr>
              <a:defRPr/>
            </a:pPr>
            <a:r>
              <a:rPr lang="ar-SA" sz="1929">
                <a:noFill/>
              </a:rPr>
              <a:t> </a:t>
            </a:r>
          </a:p>
        </p:txBody>
      </p:sp>
      <p:sp>
        <p:nvSpPr>
          <p:cNvPr id="22" name="مربع نص 21">
            <a:extLst>
              <a:ext uri="{FF2B5EF4-FFF2-40B4-BE49-F238E27FC236}">
                <a16:creationId xmlns:a16="http://schemas.microsoft.com/office/drawing/2014/main" xmlns="" id="{1025F7DA-0CC0-5F17-EAE3-AE8ABDE489F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990584" y="1898866"/>
            <a:ext cx="3410961" cy="329761"/>
          </a:xfrm>
          <a:prstGeom prst="rect">
            <a:avLst/>
          </a:prstGeom>
          <a:blipFill rotWithShape="0">
            <a:blip r:embed="rId9"/>
            <a:stretch>
              <a:fillRect l="-1338" r="-2103" b="-40000"/>
            </a:stretch>
          </a:blipFill>
        </p:spPr>
        <p:txBody>
          <a:bodyPr/>
          <a:lstStyle/>
          <a:p>
            <a:pPr>
              <a:defRPr/>
            </a:pPr>
            <a:r>
              <a:rPr lang="ar-SA" sz="1929">
                <a:noFill/>
              </a:rPr>
              <a:t> </a:t>
            </a:r>
          </a:p>
        </p:txBody>
      </p:sp>
      <p:sp>
        <p:nvSpPr>
          <p:cNvPr id="23" name="مربع نص 22">
            <a:extLst>
              <a:ext uri="{FF2B5EF4-FFF2-40B4-BE49-F238E27FC236}">
                <a16:creationId xmlns:a16="http://schemas.microsoft.com/office/drawing/2014/main" xmlns="" id="{ED337508-5457-E2D5-3475-1D3C29522C4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033503" y="2684671"/>
            <a:ext cx="4000340" cy="329761"/>
          </a:xfrm>
          <a:prstGeom prst="rect">
            <a:avLst/>
          </a:prstGeom>
          <a:blipFill rotWithShape="0">
            <a:blip r:embed="rId10"/>
            <a:stretch>
              <a:fillRect l="-817" r="-1144" b="-19608"/>
            </a:stretch>
          </a:blipFill>
        </p:spPr>
        <p:txBody>
          <a:bodyPr/>
          <a:lstStyle/>
          <a:p>
            <a:pPr>
              <a:defRPr/>
            </a:pPr>
            <a:r>
              <a:rPr lang="ar-SA" sz="1929">
                <a:noFill/>
              </a:rPr>
              <a:t> </a:t>
            </a:r>
          </a:p>
        </p:txBody>
      </p:sp>
      <p:sp>
        <p:nvSpPr>
          <p:cNvPr id="24" name="مربع نص 23">
            <a:extLst>
              <a:ext uri="{FF2B5EF4-FFF2-40B4-BE49-F238E27FC236}">
                <a16:creationId xmlns:a16="http://schemas.microsoft.com/office/drawing/2014/main" xmlns="" id="{3ED8C808-580D-B114-A1CF-D1D67CDF800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856578" y="3119475"/>
            <a:ext cx="3823163" cy="329761"/>
          </a:xfrm>
          <a:prstGeom prst="rect">
            <a:avLst/>
          </a:prstGeom>
          <a:blipFill rotWithShape="0">
            <a:blip r:embed="rId11"/>
            <a:stretch>
              <a:fillRect r="-2051" b="-40000"/>
            </a:stretch>
          </a:blipFill>
        </p:spPr>
        <p:txBody>
          <a:bodyPr/>
          <a:lstStyle/>
          <a:p>
            <a:pPr>
              <a:defRPr/>
            </a:pPr>
            <a:r>
              <a:rPr lang="ar-SA" sz="1929">
                <a:noFill/>
              </a:rPr>
              <a:t> </a:t>
            </a:r>
          </a:p>
        </p:txBody>
      </p:sp>
      <p:sp>
        <p:nvSpPr>
          <p:cNvPr id="25" name="مربع نص 24">
            <a:extLst>
              <a:ext uri="{FF2B5EF4-FFF2-40B4-BE49-F238E27FC236}">
                <a16:creationId xmlns:a16="http://schemas.microsoft.com/office/drawing/2014/main" xmlns="" id="{E7256C87-33FC-ADD2-813F-E18C1F9B8C9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09051" y="3720270"/>
            <a:ext cx="3738593" cy="329761"/>
          </a:xfrm>
          <a:prstGeom prst="rect">
            <a:avLst/>
          </a:prstGeom>
          <a:blipFill rotWithShape="0">
            <a:blip r:embed="rId12"/>
            <a:stretch>
              <a:fillRect l="-2098" r="-1049" b="-40000"/>
            </a:stretch>
          </a:blipFill>
        </p:spPr>
        <p:txBody>
          <a:bodyPr/>
          <a:lstStyle/>
          <a:p>
            <a:pPr>
              <a:defRPr/>
            </a:pPr>
            <a:r>
              <a:rPr lang="ar-SA" sz="1929">
                <a:noFill/>
              </a:rPr>
              <a:t> </a:t>
            </a:r>
          </a:p>
        </p:txBody>
      </p:sp>
      <p:pic>
        <p:nvPicPr>
          <p:cNvPr id="8203" name="صورة 28">
            <a:extLst>
              <a:ext uri="{FF2B5EF4-FFF2-40B4-BE49-F238E27FC236}">
                <a16:creationId xmlns:a16="http://schemas.microsoft.com/office/drawing/2014/main" xmlns="" id="{03FF7538-B5C8-E00F-E5D3-BA6E69F0BC2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532" y="4180795"/>
            <a:ext cx="2622777" cy="709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4" name="صورة 29">
            <a:extLst>
              <a:ext uri="{FF2B5EF4-FFF2-40B4-BE49-F238E27FC236}">
                <a16:creationId xmlns:a16="http://schemas.microsoft.com/office/drawing/2014/main" xmlns="" id="{BA266FDD-64C7-6A18-C3CD-760F6AB4D2C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532" y="5031241"/>
            <a:ext cx="2622777" cy="709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5" name="صورة 30">
            <a:extLst>
              <a:ext uri="{FF2B5EF4-FFF2-40B4-BE49-F238E27FC236}">
                <a16:creationId xmlns:a16="http://schemas.microsoft.com/office/drawing/2014/main" xmlns="" id="{D5718E6A-B82E-8AF7-D71C-45C4D683744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532" y="5910604"/>
            <a:ext cx="2622777" cy="709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مربع نص 3">
            <a:extLst>
              <a:ext uri="{FF2B5EF4-FFF2-40B4-BE49-F238E27FC236}">
                <a16:creationId xmlns:a16="http://schemas.microsoft.com/office/drawing/2014/main" xmlns="" id="{703606F7-94B1-5B5C-1AEC-BE3B45A2911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307600" y="2070577"/>
            <a:ext cx="289639" cy="329761"/>
          </a:xfrm>
          <a:prstGeom prst="rect">
            <a:avLst/>
          </a:prstGeom>
          <a:blipFill rotWithShape="0">
            <a:blip r:embed="rId16"/>
            <a:stretch>
              <a:fillRect l="-20455" r="-4545" b="-13725"/>
            </a:stretch>
          </a:blipFill>
        </p:spPr>
        <p:txBody>
          <a:bodyPr/>
          <a:lstStyle/>
          <a:p>
            <a:r>
              <a:rPr lang="ar-SA" sz="1929">
                <a:noFill/>
              </a:rPr>
              <a:t> </a:t>
            </a:r>
          </a:p>
        </p:txBody>
      </p:sp>
      <p:sp>
        <p:nvSpPr>
          <p:cNvPr id="30" name="مربع نص 29">
            <a:extLst>
              <a:ext uri="{FF2B5EF4-FFF2-40B4-BE49-F238E27FC236}">
                <a16:creationId xmlns:a16="http://schemas.microsoft.com/office/drawing/2014/main" xmlns="" id="{AF25A4E6-274C-617E-8D4B-3FBD57738C92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355052" y="2347842"/>
            <a:ext cx="310249" cy="329761"/>
          </a:xfrm>
          <a:prstGeom prst="rect">
            <a:avLst/>
          </a:prstGeom>
          <a:blipFill rotWithShape="0">
            <a:blip r:embed="rId17"/>
            <a:stretch>
              <a:fillRect l="-19149" r="-12766" b="-21569"/>
            </a:stretch>
          </a:blipFill>
        </p:spPr>
        <p:txBody>
          <a:bodyPr/>
          <a:lstStyle/>
          <a:p>
            <a:r>
              <a:rPr lang="ar-SA" sz="1929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190084-4C85-EBDD-979E-650690F85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69EBB71-DAF2-CF7A-4C08-78ED756E9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Create the 3 x 3 matrix whose entries in the first row and first column are all equal to 1 and all the other entries are equal to e.</a:t>
            </a:r>
          </a:p>
          <a:p>
            <a:pPr marL="0" indent="0">
              <a:buNone/>
            </a:pPr>
            <a:r>
              <a:rPr lang="en-US" dirty="0"/>
              <a:t>2.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AADFA35-6FDF-A620-B1B9-46312C86E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19" y="3090863"/>
            <a:ext cx="9058275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396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CC1826-949B-DFA6-0054-67F97D7F0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AFE4959-1E81-F924-32A9-4EA685E2D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74BC683-F320-A013-D1A6-898298298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845" y="1893627"/>
            <a:ext cx="6753225" cy="1876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4B670B8-DD0E-E7D0-4E7C-E3D92C8BB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" y="4255720"/>
            <a:ext cx="10332720" cy="205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710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4213</TotalTime>
  <Words>1018</Words>
  <Application>Microsoft Office PowerPoint</Application>
  <PresentationFormat>Widescreen</PresentationFormat>
  <Paragraphs>272</Paragraphs>
  <Slides>25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42" baseType="lpstr">
      <vt:lpstr>SimSun</vt:lpstr>
      <vt:lpstr>Aptos</vt:lpstr>
      <vt:lpstr>Arial</vt:lpstr>
      <vt:lpstr>Arial MT</vt:lpstr>
      <vt:lpstr>Calibri</vt:lpstr>
      <vt:lpstr>Calibri Light</vt:lpstr>
      <vt:lpstr>Cambria Math</vt:lpstr>
      <vt:lpstr>Courier New</vt:lpstr>
      <vt:lpstr>CourierNewPSMT</vt:lpstr>
      <vt:lpstr>等线</vt:lpstr>
      <vt:lpstr>等线 Light</vt:lpstr>
      <vt:lpstr>Roboto</vt:lpstr>
      <vt:lpstr>Symbol</vt:lpstr>
      <vt:lpstr>Times New Roman</vt:lpstr>
      <vt:lpstr>Wingdings</vt:lpstr>
      <vt:lpstr>Office Theme</vt:lpstr>
      <vt:lpstr>Equation</vt:lpstr>
      <vt:lpstr>PowerPoint Presentation</vt:lpstr>
      <vt:lpstr>PowerPoint Presentation</vt:lpstr>
      <vt:lpstr>Array, Vectors, Matrices</vt:lpstr>
      <vt:lpstr>Row and Column Vectors</vt:lpstr>
      <vt:lpstr>Creating Matrices</vt:lpstr>
      <vt:lpstr>Vectors vs. Matrices</vt:lpstr>
      <vt:lpstr>Example</vt:lpstr>
      <vt:lpstr>Some Special Vectors and Matrices</vt:lpstr>
      <vt:lpstr>Example</vt:lpstr>
      <vt:lpstr>Example</vt:lpstr>
      <vt:lpstr>colon :</vt:lpstr>
      <vt:lpstr>Example</vt:lpstr>
      <vt:lpstr>Array Addressing</vt:lpstr>
      <vt:lpstr>PowerPoint Presentation</vt:lpstr>
      <vt:lpstr>Matrix Calculations</vt:lpstr>
      <vt:lpstr>PowerPoint Presentation</vt:lpstr>
      <vt:lpstr>Example</vt:lpstr>
      <vt:lpstr>Solution</vt:lpstr>
      <vt:lpstr>Matrix Calculations</vt:lpstr>
      <vt:lpstr>Solutions to Systems of Linear Equations</vt:lpstr>
      <vt:lpstr>Solutions to Systems of Linear Equations</vt:lpstr>
      <vt:lpstr>PowerPoint Presentation</vt:lpstr>
      <vt:lpstr>PowerPoint Presentation</vt:lpstr>
      <vt:lpstr>Exercise</vt:lpstr>
      <vt:lpstr>Exercise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Youssef Mohamed Khedr</dc:creator>
  <cp:lastModifiedBy>Microsoft account</cp:lastModifiedBy>
  <cp:revision>97</cp:revision>
  <dcterms:created xsi:type="dcterms:W3CDTF">2023-09-30T05:39:14Z</dcterms:created>
  <dcterms:modified xsi:type="dcterms:W3CDTF">2026-10-04T02:28:34Z</dcterms:modified>
</cp:coreProperties>
</file>