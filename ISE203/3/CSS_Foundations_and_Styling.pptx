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72600" y="822960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30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49840" y="274320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06840" y="429768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7C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7040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2B8CF"/>
                </a:solidFill>
                <a:latin typeface="Aptos"/>
              </a:rPr>
              <a:t>WEB APPLICATIONS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406640" cy="1371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CSS Foundations &amp; Visual Styling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685800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CFDBED"/>
                </a:solidFill>
                <a:latin typeface="Aptos"/>
              </a:rPr>
              <a:t>CSS syntax • selectors • box model • typography • backgrounds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60520"/>
            <a:ext cx="914400" cy="54864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6309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612648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 dirty="0">
                <a:solidFill>
                  <a:srgbClr val="B1C2DC"/>
                </a:solidFill>
                <a:latin typeface="Aptos"/>
              </a:rPr>
              <a:t>LECTURE </a:t>
            </a:r>
            <a:r>
              <a:rPr lang="en-US" sz="1100" b="1" i="0" dirty="0" smtClean="0">
                <a:solidFill>
                  <a:srgbClr val="B1C2DC"/>
                </a:solidFill>
                <a:latin typeface="Aptos"/>
              </a:rPr>
              <a:t>3</a:t>
            </a:r>
            <a:r>
              <a:rPr sz="1100" b="1" i="0" dirty="0" smtClean="0">
                <a:solidFill>
                  <a:srgbClr val="B1C2DC"/>
                </a:solidFill>
                <a:latin typeface="Aptos"/>
              </a:rPr>
              <a:t>  </a:t>
            </a:r>
            <a:r>
              <a:rPr sz="1100" b="1" i="0" dirty="0">
                <a:solidFill>
                  <a:srgbClr val="B1C2DC"/>
                </a:solidFill>
                <a:latin typeface="Aptos"/>
              </a:rPr>
              <a:t>• 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09360"/>
            <a:ext cx="70408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B1C2DC"/>
                </a:solidFill>
                <a:latin typeface="Aptos"/>
              </a:rPr>
              <a:t>A practical guide from styling basics to responsive interfaces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30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3071DC"/>
                </a:solidFill>
                <a:latin typeface="Aptos"/>
              </a:rPr>
              <a:t>Understand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47548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F42"/>
                </a:solidFill>
                <a:latin typeface="Aptos"/>
              </a:rPr>
              <a:t>Explain how CSS controls presentation while HTML provides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80760" y="150876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25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59B70"/>
                </a:solidFill>
                <a:latin typeface="Aptos"/>
              </a:rPr>
              <a:t>Target elements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47672"/>
            <a:ext cx="47548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F42"/>
                </a:solidFill>
                <a:latin typeface="Aptos"/>
              </a:rPr>
              <a:t>Write selectors and understand which rule wins.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365760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7C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67328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7C5CE6"/>
                </a:solidFill>
                <a:latin typeface="Aptos"/>
              </a:rPr>
              <a:t>Control spacing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96512"/>
            <a:ext cx="47548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F42"/>
                </a:solidFill>
                <a:latin typeface="Aptos"/>
              </a:rPr>
              <a:t>Use the box model, dimensions, display, and overflow.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65760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80760" y="365760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EF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3767328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F9736"/>
                </a:solidFill>
                <a:latin typeface="Aptos"/>
              </a:rPr>
              <a:t>Style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096512"/>
            <a:ext cx="47548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 dirty="0">
                <a:solidFill>
                  <a:srgbClr val="232F42"/>
                </a:solidFill>
                <a:latin typeface="Aptos"/>
              </a:rPr>
              <a:t>Apply colors, typography, units, and backgrounds.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HTML + CSS: Structure Meets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1663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3071DC"/>
                </a:solidFill>
                <a:latin typeface="Aptos"/>
              </a:rPr>
              <a:t>THE 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66360" cy="434340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F42"/>
                </a:solidFill>
                <a:latin typeface="Aptos"/>
              </a:rPr>
              <a:t>•  HTML describes what content means: headings, paragraphs, links, forms.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F42"/>
                </a:solidFill>
                <a:latin typeface="Aptos"/>
              </a:rPr>
              <a:t>•  CSS describes how that content looks and is arranged.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F42"/>
                </a:solidFill>
                <a:latin typeface="Aptos"/>
              </a:rPr>
              <a:t>•  One stylesheet can consistently style many pages.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F42"/>
                </a:solidFill>
                <a:latin typeface="Aptos"/>
              </a:rPr>
              <a:t>•  Separating structure from presentation improves reuse and maintenance.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49944" y="1481328"/>
            <a:ext cx="5017216" cy="3572453"/>
          </a:xfrm>
          <a:prstGeom prst="roundRect">
            <a:avLst>
              <a:gd name="adj" fmla="val 12000"/>
            </a:avLst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35096" y="1545336"/>
            <a:ext cx="4685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 dirty="0">
                <a:solidFill>
                  <a:srgbClr val="22B8CF"/>
                </a:solidFill>
                <a:latin typeface="Aptos"/>
              </a:rPr>
              <a:t>HTML +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5096" y="1810512"/>
            <a:ext cx="4685759" cy="3162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dirty="0">
                <a:solidFill>
                  <a:srgbClr val="E8EFFA"/>
                </a:solidFill>
                <a:latin typeface="Consolas"/>
              </a:rPr>
              <a:t>&lt;h1 class="page-title"&gt;Welcome&lt;/h1&gt;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8EFFA"/>
                </a:solidFill>
                <a:latin typeface="Consolas"/>
              </a:rPr>
              <a:t>&lt;p class="intro"&gt;Learn CSS step by step.&lt;/p&gt;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8EFFA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8EFFA"/>
                </a:solidFill>
                <a:latin typeface="Consolas"/>
              </a:rPr>
              <a:t>.page-title {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8EFFA"/>
                </a:solidFill>
                <a:latin typeface="Consolas"/>
              </a:rPr>
              <a:t>  color: #2457a7;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8EFFA"/>
                </a:solidFill>
                <a:latin typeface="Consolas"/>
              </a:rPr>
              <a:t>  text-align: center;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8EFFA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8EFFA"/>
                </a:solidFill>
                <a:latin typeface="Consolas"/>
              </a:rPr>
              <a:t>.intro {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8EFFA"/>
                </a:solidFill>
                <a:latin typeface="Consolas"/>
              </a:rPr>
              <a:t>  line-height: 1.6;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8EFFA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03 / 18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41" y="4164229"/>
            <a:ext cx="6225103" cy="22471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Three Ways to Add CSS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337560" cy="3474720"/>
          </a:xfrm>
          <a:prstGeom prst="roundRect">
            <a:avLst>
              <a:gd name="adj" fmla="val 12000"/>
            </a:avLst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73152" cy="3474720"/>
          </a:xfrm>
          <a:prstGeom prst="roundRect">
            <a:avLst>
              <a:gd name="adj" fmla="val 12000"/>
            </a:avLst>
          </a:prstGeom>
          <a:solidFill>
            <a:srgbClr val="30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301752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3071DC"/>
                </a:solidFill>
                <a:latin typeface="Aptos"/>
              </a:rPr>
              <a:t>Inline</a:t>
            </a:r>
            <a:endParaRPr sz="1400" b="1" i="0" dirty="0">
              <a:solidFill>
                <a:srgbClr val="3071D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0956" y="2084831"/>
            <a:ext cx="3017520" cy="17779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 dirty="0" smtClean="0">
                <a:solidFill>
                  <a:srgbClr val="232F42"/>
                </a:solidFill>
                <a:latin typeface="Aptos"/>
              </a:rPr>
              <a:t>&lt;h1 style="color: blue;"&gt;Hello&lt;/h1&gt;</a:t>
            </a:r>
          </a:p>
          <a:p>
            <a:pPr algn="l">
              <a:spcAft>
                <a:spcPts val="500"/>
              </a:spcAft>
            </a:pPr>
            <a:endParaRPr sz="2000" b="0" i="0" dirty="0">
              <a:solidFill>
                <a:srgbClr val="232F42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2000" b="0" i="0" dirty="0">
                <a:solidFill>
                  <a:srgbClr val="232F42"/>
                </a:solidFill>
                <a:latin typeface="Aptos"/>
              </a:rPr>
              <a:t>Quick test only; mixes style with markup.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45920"/>
            <a:ext cx="3337560" cy="3474720"/>
          </a:xfrm>
          <a:prstGeom prst="roundRect">
            <a:avLst>
              <a:gd name="adj" fmla="val 12000"/>
            </a:avLst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60520" y="1645920"/>
            <a:ext cx="73152" cy="3474720"/>
          </a:xfrm>
          <a:prstGeom prst="roundRect">
            <a:avLst>
              <a:gd name="adj" fmla="val 12000"/>
            </a:avLst>
          </a:prstGeom>
          <a:solidFill>
            <a:srgbClr val="25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755648"/>
            <a:ext cx="301752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259B70"/>
                </a:solidFill>
                <a:latin typeface="Aptos"/>
              </a:rPr>
              <a:t>Internal</a:t>
            </a:r>
            <a:endParaRPr sz="1400" b="1" i="0" dirty="0">
              <a:solidFill>
                <a:srgbClr val="259B7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43400" y="2084832"/>
            <a:ext cx="3017520" cy="17779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 dirty="0">
                <a:solidFill>
                  <a:srgbClr val="232F42"/>
                </a:solidFill>
                <a:latin typeface="Aptos"/>
              </a:rPr>
              <a:t>&lt;style&gt; h1 { color: blue; } &lt;/style&gt;</a:t>
            </a:r>
          </a:p>
          <a:p>
            <a:pPr algn="l">
              <a:spcAft>
                <a:spcPts val="500"/>
              </a:spcAft>
            </a:pPr>
            <a:endParaRPr sz="2000" b="0" i="0" dirty="0">
              <a:solidFill>
                <a:srgbClr val="232F42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2000" b="0" i="0" dirty="0">
                <a:solidFill>
                  <a:srgbClr val="232F42"/>
                </a:solidFill>
                <a:latin typeface="Aptos"/>
              </a:rPr>
              <a:t>Useful for a single page or demo.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45920"/>
            <a:ext cx="3337560" cy="3474720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26679" y="1645920"/>
            <a:ext cx="73152" cy="3474720"/>
          </a:xfrm>
          <a:prstGeom prst="roundRect">
            <a:avLst>
              <a:gd name="adj" fmla="val 12000"/>
            </a:avLst>
          </a:prstGeom>
          <a:solidFill>
            <a:srgbClr val="7C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59" y="1755648"/>
            <a:ext cx="301752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7C5CE6"/>
                </a:solidFill>
                <a:latin typeface="Aptos"/>
              </a:rPr>
              <a:t>External · Preferred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2084832"/>
            <a:ext cx="3017520" cy="17779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 dirty="0">
                <a:solidFill>
                  <a:srgbClr val="232F42"/>
                </a:solidFill>
                <a:latin typeface="Aptos"/>
              </a:rPr>
              <a:t>&lt;link </a:t>
            </a:r>
            <a:r>
              <a:rPr sz="2000" b="0" i="0" dirty="0" err="1">
                <a:solidFill>
                  <a:srgbClr val="232F42"/>
                </a:solidFill>
                <a:latin typeface="Aptos"/>
              </a:rPr>
              <a:t>rel</a:t>
            </a:r>
            <a:r>
              <a:rPr sz="2000" b="0" i="0" dirty="0">
                <a:solidFill>
                  <a:srgbClr val="232F42"/>
                </a:solidFill>
                <a:latin typeface="Aptos"/>
              </a:rPr>
              <a:t>="stylesheet" </a:t>
            </a:r>
            <a:r>
              <a:rPr sz="2000" b="0" i="0" dirty="0" err="1">
                <a:solidFill>
                  <a:srgbClr val="232F42"/>
                </a:solidFill>
                <a:latin typeface="Aptos"/>
              </a:rPr>
              <a:t>href</a:t>
            </a:r>
            <a:r>
              <a:rPr sz="2000" b="0" i="0" dirty="0">
                <a:solidFill>
                  <a:srgbClr val="232F42"/>
                </a:solidFill>
                <a:latin typeface="Aptos"/>
              </a:rPr>
              <a:t>="styles.css"&gt;</a:t>
            </a:r>
          </a:p>
          <a:p>
            <a:pPr algn="l">
              <a:spcAft>
                <a:spcPts val="500"/>
              </a:spcAft>
            </a:pPr>
            <a:endParaRPr sz="2000" b="0" i="0" dirty="0">
              <a:solidFill>
                <a:srgbClr val="232F42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2000" b="0" i="0" dirty="0">
                <a:solidFill>
                  <a:srgbClr val="232F42"/>
                </a:solidFill>
                <a:latin typeface="Aptos"/>
              </a:rPr>
              <a:t>Reusable, organized, easier to maintain.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 dirty="0">
                <a:solidFill>
                  <a:srgbClr val="121F38"/>
                </a:solidFill>
                <a:latin typeface="Aptos"/>
              </a:rPr>
              <a:t>CSS Rule Anatomy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16636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3071DC"/>
                </a:solidFill>
                <a:latin typeface="Aptos"/>
              </a:rPr>
              <a:t>READ THE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66360" cy="2536079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Selector: identifies which elements to target.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Property: names the aspect to change.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Value: sets the desired result.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Each declaration usually ends with a semicolon; declarations sit inside </a:t>
            </a:r>
            <a:r>
              <a:rPr sz="2000" dirty="0" smtClean="0">
                <a:solidFill>
                  <a:srgbClr val="232F42"/>
                </a:solidFill>
                <a:latin typeface="Aptos"/>
              </a:rPr>
              <a:t>braces</a:t>
            </a:r>
            <a:r>
              <a:rPr lang="en-US" sz="2000" dirty="0" smtClean="0">
                <a:solidFill>
                  <a:srgbClr val="232F42"/>
                </a:solidFill>
                <a:latin typeface="Aptos"/>
              </a:rPr>
              <a:t> </a:t>
            </a:r>
            <a:r>
              <a:rPr lang="en-US" sz="2000" dirty="0"/>
              <a:t>(curly brackets)</a:t>
            </a:r>
            <a:r>
              <a:rPr sz="2000" dirty="0" smtClean="0">
                <a:solidFill>
                  <a:srgbClr val="232F42"/>
                </a:solidFill>
                <a:latin typeface="Aptos"/>
              </a:rPr>
              <a:t>.</a:t>
            </a:r>
            <a:endParaRPr sz="2000" dirty="0">
              <a:solidFill>
                <a:srgbClr val="232F42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80760" y="1481328"/>
            <a:ext cx="5486400" cy="4526280"/>
          </a:xfrm>
          <a:prstGeom prst="roundRect">
            <a:avLst>
              <a:gd name="adj" fmla="val 12000"/>
            </a:avLst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27064" y="1554480"/>
            <a:ext cx="51937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22B8CF"/>
                </a:solidFill>
                <a:latin typeface="Aptos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7064" y="1810512"/>
            <a:ext cx="5193792" cy="3162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000" dirty="0">
                <a:solidFill>
                  <a:srgbClr val="E8EFFA"/>
                </a:solidFill>
                <a:latin typeface="Consolas"/>
              </a:rPr>
              <a:t>h1 {</a:t>
            </a:r>
          </a:p>
          <a:p>
            <a:pPr>
              <a:spcAft>
                <a:spcPts val="100"/>
              </a:spcAft>
            </a:pPr>
            <a:r>
              <a:rPr sz="2000" dirty="0">
                <a:solidFill>
                  <a:srgbClr val="E8EFFA"/>
                </a:solidFill>
                <a:latin typeface="Consolas"/>
              </a:rPr>
              <a:t>  color: #2457a7;</a:t>
            </a:r>
          </a:p>
          <a:p>
            <a:pPr>
              <a:spcAft>
                <a:spcPts val="100"/>
              </a:spcAft>
            </a:pPr>
            <a:r>
              <a:rPr sz="2000" dirty="0">
                <a:solidFill>
                  <a:srgbClr val="E8EFFA"/>
                </a:solidFill>
                <a:latin typeface="Consolas"/>
              </a:rPr>
              <a:t>  font-size: 2rem;</a:t>
            </a:r>
          </a:p>
          <a:p>
            <a:pPr>
              <a:spcAft>
                <a:spcPts val="100"/>
              </a:spcAft>
            </a:pPr>
            <a:r>
              <a:rPr sz="2000" dirty="0">
                <a:solidFill>
                  <a:srgbClr val="E8EFFA"/>
                </a:solidFill>
                <a:latin typeface="Consolas"/>
              </a:rPr>
              <a:t>  text-align: center;</a:t>
            </a:r>
          </a:p>
          <a:p>
            <a:pPr>
              <a:spcAft>
                <a:spcPts val="100"/>
              </a:spcAft>
            </a:pPr>
            <a:r>
              <a:rPr sz="2000" dirty="0">
                <a:solidFill>
                  <a:srgbClr val="E8EFFA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2000" dirty="0">
                <a:solidFill>
                  <a:srgbClr val="E8EFFA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2000" dirty="0">
                <a:solidFill>
                  <a:srgbClr val="E8EFFA"/>
                </a:solidFill>
                <a:latin typeface="Consolas"/>
              </a:rPr>
              <a:t>p {</a:t>
            </a:r>
          </a:p>
          <a:p>
            <a:pPr>
              <a:spcAft>
                <a:spcPts val="100"/>
              </a:spcAft>
            </a:pPr>
            <a:r>
              <a:rPr sz="2000" dirty="0">
                <a:solidFill>
                  <a:srgbClr val="E8EFFA"/>
                </a:solidFill>
                <a:latin typeface="Consolas"/>
              </a:rPr>
              <a:t>  color: #46546a;</a:t>
            </a:r>
          </a:p>
          <a:p>
            <a:pPr>
              <a:spcAft>
                <a:spcPts val="100"/>
              </a:spcAft>
            </a:pPr>
            <a:r>
              <a:rPr sz="2000" dirty="0">
                <a:solidFill>
                  <a:srgbClr val="E8EFFA"/>
                </a:solidFill>
                <a:latin typeface="Consolas"/>
              </a:rPr>
              <a:t>  line-height: 1.6;</a:t>
            </a:r>
          </a:p>
          <a:p>
            <a:pPr>
              <a:spcAft>
                <a:spcPts val="100"/>
              </a:spcAft>
            </a:pPr>
            <a:r>
              <a:rPr sz="2000" dirty="0">
                <a:solidFill>
                  <a:srgbClr val="E8EFFA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01 ·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Selectors: Target the Right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16636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3071DC"/>
                </a:solidFill>
                <a:latin typeface="Aptos"/>
              </a:rPr>
              <a:t>COMMON SELECTORS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66360" cy="2946448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Element: p targets every paragraph.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Class: .notice targets every element with class="notice"; reusable.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ID: #main </a:t>
            </a:r>
            <a:r>
              <a:rPr sz="2000" dirty="0" smtClean="0">
                <a:solidFill>
                  <a:srgbClr val="232F42"/>
                </a:solidFill>
                <a:latin typeface="Aptos"/>
              </a:rPr>
              <a:t>targets </a:t>
            </a:r>
            <a:r>
              <a:rPr sz="2000" dirty="0">
                <a:solidFill>
                  <a:srgbClr val="232F42"/>
                </a:solidFill>
                <a:latin typeface="Aptos"/>
              </a:rPr>
              <a:t>the element with id="main"; use IDs sparingly for styling.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Universal: * targets all elements.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Group: h1, h2, p applies one rule to several selectors.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81328"/>
            <a:ext cx="5486400" cy="4526280"/>
          </a:xfrm>
          <a:prstGeom prst="roundRect">
            <a:avLst>
              <a:gd name="adj" fmla="val 12000"/>
            </a:avLst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27064" y="1554480"/>
            <a:ext cx="51937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22B8CF"/>
                </a:solidFill>
                <a:latin typeface="Aptos"/>
              </a:rPr>
              <a:t>SELECTOR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7064" y="1810512"/>
            <a:ext cx="5193792" cy="3380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HTML:</a:t>
            </a: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&lt;h1 id="main"&gt;University Portal&lt;/h1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&gt;</a:t>
            </a:r>
          </a:p>
          <a:p>
            <a:pPr>
              <a:spcAft>
                <a:spcPts val="100"/>
              </a:spcAft>
            </a:pP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&lt;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p class="notice"&gt;Registration is open.&lt;/p&gt;&lt;p&gt;Explore our programs.&lt;/p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&gt;</a:t>
            </a:r>
          </a:p>
          <a:p>
            <a:pPr>
              <a:spcAft>
                <a:spcPts val="100"/>
              </a:spcAft>
            </a:pP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&lt;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div class="notice"&gt;Admission deadline: June 30.&lt;/div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&gt;</a:t>
            </a:r>
          </a:p>
          <a:p>
            <a:pPr>
              <a:spcAft>
                <a:spcPts val="100"/>
              </a:spcAft>
            </a:pP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CSS:</a:t>
            </a: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* 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{box-sizing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: border-box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;}</a:t>
            </a: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h1 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{color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: navy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;}</a:t>
            </a: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.notice 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{background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: </a:t>
            </a:r>
            <a:r>
              <a:rPr lang="en-US" sz="1300" dirty="0" err="1">
                <a:solidFill>
                  <a:srgbClr val="E8EFFA"/>
                </a:solidFill>
                <a:latin typeface="Consolas"/>
              </a:rPr>
              <a:t>lightyellow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;}</a:t>
            </a: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#main 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{text-align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: center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;}</a:t>
            </a: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h1, p 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{font-family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: Arial, sans-serif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;}</a:t>
            </a:r>
            <a:endParaRPr sz="1300" dirty="0">
              <a:solidFill>
                <a:srgbClr val="E8EFFA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01 ·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Relationships &amp; Attribute Selectors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16636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3071DC"/>
                </a:solidFill>
                <a:latin typeface="Aptos"/>
              </a:rPr>
              <a:t>HOW TARGETING DIFFERS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66360" cy="2536079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</a:t>
            </a:r>
            <a:r>
              <a:rPr sz="2000" dirty="0" smtClean="0">
                <a:solidFill>
                  <a:srgbClr val="232F42"/>
                </a:solidFill>
                <a:latin typeface="Aptos"/>
              </a:rPr>
              <a:t>Descendant selector (space): any matching descendant.</a:t>
            </a:r>
            <a:endParaRPr sz="2000" dirty="0">
              <a:solidFill>
                <a:srgbClr val="232F42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Child selector (&gt;): only direct children.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Attribute selector: target based on an attribute/value.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Use commas to group selectors; spaces and commas mean different things.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156716"/>
            <a:ext cx="5806440" cy="5335524"/>
          </a:xfrm>
          <a:prstGeom prst="roundRect">
            <a:avLst>
              <a:gd name="adj" fmla="val 12000"/>
            </a:avLst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3368" y="1268730"/>
            <a:ext cx="51937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 dirty="0">
                <a:solidFill>
                  <a:srgbClr val="22B8CF"/>
                </a:solidFill>
                <a:latin typeface="Aptos"/>
              </a:rPr>
              <a:t>SELECTOR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8684" y="1469898"/>
            <a:ext cx="5482172" cy="50706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HTML:</a:t>
            </a:r>
            <a:br>
              <a:rPr lang="en-US" sz="1300" dirty="0" smtClean="0">
                <a:solidFill>
                  <a:srgbClr val="E8EFFA"/>
                </a:solidFill>
                <a:latin typeface="Consolas"/>
              </a:rPr>
            </a:b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&lt;div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&gt;</a:t>
            </a: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    &lt;p&gt;First paragraph&lt;/p&gt;</a:t>
            </a:r>
          </a:p>
          <a:p>
            <a:pPr>
              <a:spcAft>
                <a:spcPts val="100"/>
              </a:spcAft>
            </a:pP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    &lt;section&gt;</a:t>
            </a: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        &lt;p&gt;Second paragraph&lt;/p&gt;</a:t>
            </a: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    &lt;/section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&gt;</a:t>
            </a: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   &lt;label for="email"&gt;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Email&lt;/label&gt;</a:t>
            </a: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 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  &lt;input 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type="email" placeholder="Email address"&gt;</a:t>
            </a: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&lt;/div&gt;</a:t>
            </a:r>
          </a:p>
          <a:p>
            <a:pPr>
              <a:spcAft>
                <a:spcPts val="100"/>
              </a:spcAft>
            </a:pP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&lt;p&gt;Third paragraph&lt;/p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&gt;</a:t>
            </a: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endParaRPr lang="en-US" sz="1300" dirty="0" smtClean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CSS:</a:t>
            </a:r>
          </a:p>
          <a:p>
            <a:pPr>
              <a:spcAft>
                <a:spcPts val="100"/>
              </a:spcAft>
            </a:pPr>
            <a:r>
              <a:rPr sz="1300" dirty="0" smtClean="0">
                <a:solidFill>
                  <a:srgbClr val="E8EFFA"/>
                </a:solidFill>
                <a:latin typeface="Consolas"/>
              </a:rPr>
              <a:t>div </a:t>
            </a:r>
            <a:r>
              <a:rPr sz="1300" dirty="0">
                <a:solidFill>
                  <a:srgbClr val="E8EFFA"/>
                </a:solidFill>
                <a:latin typeface="Consolas"/>
              </a:rPr>
              <a:t>p { color: #c0392b; }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/* Any p inside a div */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div &gt; p { color: #218c74; }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/* p directly inside a div */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input[type="email"] </a:t>
            </a:r>
            <a:r>
              <a:rPr sz="1300" dirty="0" smtClean="0">
                <a:solidFill>
                  <a:srgbClr val="E8EFFA"/>
                </a:solidFill>
                <a:latin typeface="Consolas"/>
              </a:rPr>
              <a:t>{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 </a:t>
            </a:r>
            <a:r>
              <a:rPr sz="1300" dirty="0" smtClean="0">
                <a:solidFill>
                  <a:srgbClr val="E8EFFA"/>
                </a:solidFill>
                <a:latin typeface="Consolas"/>
              </a:rPr>
              <a:t>border</a:t>
            </a:r>
            <a:r>
              <a:rPr sz="1300" dirty="0">
                <a:solidFill>
                  <a:srgbClr val="E8EFFA"/>
                </a:solidFill>
                <a:latin typeface="Consolas"/>
              </a:rPr>
              <a:t>: 1px solid #2457a7</a:t>
            </a:r>
            <a:r>
              <a:rPr sz="1300" dirty="0" smtClean="0">
                <a:solidFill>
                  <a:srgbClr val="E8EFFA"/>
                </a:solidFill>
                <a:latin typeface="Consolas"/>
              </a:rPr>
              <a:t>;}</a:t>
            </a:r>
            <a:endParaRPr lang="en-US" sz="1300" dirty="0" smtClean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div, p { 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color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: red;} 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/* div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, p: selects all div 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elements           and 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all p 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elements */</a:t>
            </a: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endParaRPr sz="1300" dirty="0">
              <a:solidFill>
                <a:srgbClr val="E8EFFA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01 ·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Specificity &amp; Naming Conventions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16636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3071DC"/>
                </a:solidFill>
                <a:latin typeface="Aptos"/>
              </a:rPr>
              <a:t>PRACTICAL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66360" cy="448533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When declarations conflict, specificity helps determine which applies; source order also matters when specificity ties.</a:t>
            </a:r>
          </a:p>
          <a:p>
            <a:pPr>
              <a:spcAft>
                <a:spcPts val="800"/>
              </a:spcAft>
            </a:pPr>
            <a:r>
              <a:rPr sz="2000" dirty="0" smtClean="0">
                <a:solidFill>
                  <a:srgbClr val="232F42"/>
                </a:solidFill>
                <a:latin typeface="Aptos"/>
              </a:rPr>
              <a:t>•  Typical teaching hierarchy: element &lt; class/attribute/pseudo-class &lt; ID &lt; inline style.</a:t>
            </a:r>
            <a:endParaRPr sz="2000" dirty="0">
              <a:solidFill>
                <a:srgbClr val="232F42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Prefer reusable, descriptive class names such as .main-header and .user-card.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Use lowercase and hyphens; avoid spaces in a class selector unless selecting a descendant.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Avoid relying on IDs and inline styles for routine styling.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81328"/>
            <a:ext cx="5486400" cy="4526280"/>
          </a:xfrm>
          <a:prstGeom prst="roundRect">
            <a:avLst>
              <a:gd name="adj" fmla="val 12000"/>
            </a:avLst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27064" y="1554480"/>
            <a:ext cx="51937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22B8CF"/>
                </a:solidFill>
                <a:latin typeface="Aptos"/>
              </a:rPr>
              <a:t>SPECIFICITY &amp; NAMING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7064" y="1810512"/>
            <a:ext cx="5193792" cy="31803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HTML:</a:t>
            </a:r>
          </a:p>
          <a:p>
            <a:pPr>
              <a:spcAft>
                <a:spcPts val="100"/>
              </a:spcAft>
            </a:pP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&lt;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p id="notice" class="intro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"&gt; 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Important information&lt;/p&gt;</a:t>
            </a:r>
            <a:endParaRPr lang="en-US" sz="1300" dirty="0" smtClean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endParaRPr lang="en-US" sz="1300" dirty="0" smtClean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CSS:</a:t>
            </a: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300" dirty="0" smtClean="0">
                <a:solidFill>
                  <a:srgbClr val="E8EFFA"/>
                </a:solidFill>
                <a:latin typeface="Consolas"/>
              </a:rPr>
              <a:t>/* </a:t>
            </a:r>
            <a:r>
              <a:rPr sz="1300" dirty="0">
                <a:solidFill>
                  <a:srgbClr val="E8EFFA"/>
                </a:solidFill>
                <a:latin typeface="Consolas"/>
              </a:rPr>
              <a:t>More specific than p */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p { color: #333; }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.intro { color: #2457a7; }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#notice { color: #c0392b; }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/* Good class names */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.main-header { }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.user-profile { </a:t>
            </a:r>
            <a:r>
              <a:rPr sz="1300" dirty="0" smtClean="0">
                <a:solidFill>
                  <a:srgbClr val="E8EFFA"/>
                </a:solidFill>
                <a:latin typeface="Consolas"/>
              </a:rPr>
              <a:t>}</a:t>
            </a:r>
            <a:endParaRPr lang="en-US" sz="1300" dirty="0" smtClean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*/ Pseudo-class 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selector */</a:t>
            </a: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.</a:t>
            </a:r>
            <a:r>
              <a:rPr lang="en-US" sz="1300" dirty="0" err="1">
                <a:solidFill>
                  <a:srgbClr val="E8EFFA"/>
                </a:solidFill>
                <a:latin typeface="Consolas"/>
              </a:rPr>
              <a:t>btn:hover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 {    background-color: </a:t>
            </a:r>
            <a:r>
              <a:rPr lang="en-US" sz="1300" dirty="0" err="1">
                <a:solidFill>
                  <a:srgbClr val="E8EFFA"/>
                </a:solidFill>
                <a:latin typeface="Consolas"/>
              </a:rPr>
              <a:t>darkblue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;}</a:t>
            </a:r>
            <a:endParaRPr sz="1300" dirty="0">
              <a:solidFill>
                <a:srgbClr val="E8EFFA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02 · SPACING &amp;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The CSS Box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337560" cy="2198493"/>
          </a:xfrm>
          <a:prstGeom prst="roundRect">
            <a:avLst>
              <a:gd name="adj" fmla="val 12000"/>
            </a:avLst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73152" cy="2158623"/>
          </a:xfrm>
          <a:prstGeom prst="roundRect">
            <a:avLst>
              <a:gd name="adj" fmla="val 12000"/>
            </a:avLst>
          </a:prstGeom>
          <a:solidFill>
            <a:srgbClr val="30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30175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3071DC"/>
                </a:solidFill>
                <a:latin typeface="Aptos"/>
              </a:rPr>
              <a:t>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2"/>
            <a:ext cx="3017520" cy="2971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32F42"/>
                </a:solidFill>
                <a:latin typeface="Aptos"/>
              </a:rPr>
              <a:t>The text, image, or other content inside the element.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45920"/>
            <a:ext cx="3337560" cy="2198493"/>
          </a:xfrm>
          <a:prstGeom prst="roundRect">
            <a:avLst>
              <a:gd name="adj" fmla="val 12000"/>
            </a:avLst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60520" y="1645920"/>
            <a:ext cx="73152" cy="2198493"/>
          </a:xfrm>
          <a:prstGeom prst="roundRect">
            <a:avLst>
              <a:gd name="adj" fmla="val 12000"/>
            </a:avLst>
          </a:prstGeom>
          <a:solidFill>
            <a:srgbClr val="25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755648"/>
            <a:ext cx="30175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59B70"/>
                </a:solidFill>
                <a:latin typeface="Aptos"/>
              </a:rPr>
              <a:t>Padding + Border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84832"/>
            <a:ext cx="3017520" cy="2971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 dirty="0">
                <a:solidFill>
                  <a:srgbClr val="232F42"/>
                </a:solidFill>
                <a:latin typeface="Aptos"/>
              </a:rPr>
              <a:t>Padding is internal space around content. Border is the visible edge.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45920"/>
            <a:ext cx="3337560" cy="2198493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 flipH="1">
            <a:off x="7680960" y="1645920"/>
            <a:ext cx="45719" cy="2198493"/>
          </a:xfrm>
          <a:prstGeom prst="roundRect">
            <a:avLst>
              <a:gd name="adj" fmla="val 12000"/>
            </a:avLst>
          </a:prstGeom>
          <a:solidFill>
            <a:srgbClr val="7C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59" y="1755648"/>
            <a:ext cx="30175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7C5CE6"/>
                </a:solidFill>
                <a:latin typeface="Aptos"/>
              </a:rP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2084832"/>
            <a:ext cx="3017520" cy="2971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 dirty="0">
                <a:solidFill>
                  <a:srgbClr val="232F42"/>
                </a:solidFill>
                <a:latin typeface="Aptos"/>
              </a:rPr>
              <a:t>External space outside the border; separates an element from neighbors.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09 / 18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561" y="4038352"/>
            <a:ext cx="5982283" cy="26367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02 · SPACING &amp;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Padding, Margin &amp; Borders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16636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3071DC"/>
                </a:solidFill>
                <a:latin typeface="Aptos"/>
              </a:rPr>
              <a:t>REMEMBER THE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66360" cy="3254224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Padding creates breathing room inside the border.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Margin creates space outside the border.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Border can be styled by width, style, and color; border-radius rounds corners.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Shorthand values follow top, right, bottom, left when four values are supplied.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Vertical margins can collapse in some block-flow situations.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19019" y="1481328"/>
            <a:ext cx="5648141" cy="4526280"/>
          </a:xfrm>
          <a:prstGeom prst="roundRect">
            <a:avLst>
              <a:gd name="adj" fmla="val 12000"/>
            </a:avLst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27064" y="1554480"/>
            <a:ext cx="51937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22B8CF"/>
                </a:solidFill>
                <a:latin typeface="Aptos"/>
              </a:rPr>
              <a:t>BOX SPACING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9019" y="1810512"/>
            <a:ext cx="5675573" cy="2318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E8EFFA"/>
                </a:solidFill>
                <a:latin typeface="Consolas"/>
              </a:rPr>
              <a:t>.card {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8EFFA"/>
                </a:solidFill>
                <a:latin typeface="Consolas"/>
              </a:rPr>
              <a:t>  padding: 20px 24px;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8EFFA"/>
                </a:solidFill>
                <a:latin typeface="Consolas"/>
              </a:rPr>
              <a:t>  margin: 0 auto 24px</a:t>
            </a:r>
            <a:r>
              <a:rPr sz="1600" dirty="0" smtClean="0">
                <a:solidFill>
                  <a:srgbClr val="E8EFFA"/>
                </a:solidFill>
                <a:latin typeface="Consolas"/>
              </a:rPr>
              <a:t>;</a:t>
            </a:r>
            <a:r>
              <a:rPr lang="en-US" sz="1600" dirty="0" smtClean="0">
                <a:solidFill>
                  <a:srgbClr val="E8EFFA"/>
                </a:solidFill>
                <a:latin typeface="Consolas"/>
              </a:rPr>
              <a:t> /* top=0</a:t>
            </a:r>
            <a:r>
              <a:rPr lang="en-US" sz="1600" dirty="0">
                <a:solidFill>
                  <a:srgbClr val="E8EFFA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E8EFFA"/>
                </a:solidFill>
                <a:latin typeface="Consolas"/>
              </a:rPr>
              <a:t>L&amp;R: auto, B=24 */</a:t>
            </a:r>
            <a:endParaRPr sz="16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8EFFA"/>
                </a:solidFill>
                <a:latin typeface="Consolas"/>
              </a:rPr>
              <a:t>  border: 1px solid #d7deea;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8EFFA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8EFFA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8EFFA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8EFFA"/>
                </a:solidFill>
                <a:latin typeface="Consolas"/>
              </a:rPr>
              <a:t>/* Four values: top right bottom left */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8EFFA"/>
                </a:solidFill>
                <a:latin typeface="Consolas"/>
              </a:rPr>
              <a:t>.box { margin: 10px 15px 20px 25px;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02 · SPACING &amp;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Dimensions, Box Sizing &amp; Outlines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16636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3071DC"/>
                </a:solidFill>
                <a:latin typeface="Aptos"/>
              </a:rPr>
              <a:t>CONTROL SIZE SAFELY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66360" cy="4895699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width and height set dimensions; min-/max- constrain them.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content-box (default) adds padding and border outside the declared width.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border-box includes padding and border within the declared width; often easier to reason about.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An outline is drawn outside the border and does not take up layout space.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Keep a visible focus indicator for keyboard users</a:t>
            </a:r>
            <a:r>
              <a:rPr sz="2000" dirty="0" smtClean="0">
                <a:solidFill>
                  <a:srgbClr val="232F42"/>
                </a:solidFill>
                <a:latin typeface="Aptos"/>
              </a:rPr>
              <a:t>.</a:t>
            </a:r>
            <a:endParaRPr lang="en-US" sz="2000" dirty="0" smtClean="0">
              <a:solidFill>
                <a:srgbClr val="232F42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lang="en-US" sz="2000" dirty="0"/>
              <a:t>Why is </a:t>
            </a:r>
            <a:r>
              <a:rPr lang="en-US" sz="2000" dirty="0" smtClean="0"/>
              <a:t>outline useful</a:t>
            </a:r>
            <a:r>
              <a:rPr lang="en-US" sz="2000" dirty="0"/>
              <a:t>? When users navigate a webpage with a keyboard, they need to see which control currently has focus. </a:t>
            </a:r>
            <a:endParaRPr sz="2000" dirty="0">
              <a:solidFill>
                <a:srgbClr val="232F42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80760" y="1481328"/>
            <a:ext cx="5486400" cy="4526280"/>
          </a:xfrm>
          <a:prstGeom prst="roundRect">
            <a:avLst>
              <a:gd name="adj" fmla="val 12000"/>
            </a:avLst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27064" y="1554480"/>
            <a:ext cx="51937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22B8CF"/>
                </a:solidFill>
                <a:latin typeface="Aptos"/>
              </a:rPr>
              <a:t>DIMENSIONS &amp;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7064" y="1810512"/>
            <a:ext cx="5193792" cy="40190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* { box-sizing: border-box; }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.card {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  width: min(100%, 720px);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  min-height: 180px;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  padding: 24px;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  border: 2px solid #2457a7;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dirty="0" err="1">
                <a:solidFill>
                  <a:srgbClr val="E8EFFA"/>
                </a:solidFill>
                <a:latin typeface="Consolas"/>
              </a:rPr>
              <a:t>button:focus-visible</a:t>
            </a:r>
            <a:r>
              <a:rPr sz="1300" dirty="0">
                <a:solidFill>
                  <a:srgbClr val="E8EFFA"/>
                </a:solidFill>
                <a:latin typeface="Consolas"/>
              </a:rPr>
              <a:t> {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  outline: 3px solid #ef9736;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8EFFA"/>
                </a:solidFill>
                <a:latin typeface="Consolas"/>
              </a:rPr>
              <a:t>  outline-offset: 3px;</a:t>
            </a:r>
          </a:p>
          <a:p>
            <a:pPr>
              <a:spcAft>
                <a:spcPts val="100"/>
              </a:spcAft>
            </a:pPr>
            <a:r>
              <a:rPr sz="1300" dirty="0" smtClean="0">
                <a:solidFill>
                  <a:srgbClr val="E8EFFA"/>
                </a:solidFill>
                <a:latin typeface="Consolas"/>
              </a:rPr>
              <a:t>}</a:t>
            </a:r>
            <a:endParaRPr lang="en-US" sz="1300" dirty="0" smtClean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Question:</a:t>
            </a:r>
          </a:p>
          <a:p>
            <a:pPr>
              <a:spcAft>
                <a:spcPts val="100"/>
              </a:spcAft>
            </a:pPr>
            <a:r>
              <a:rPr lang="en-US" sz="1300" dirty="0">
                <a:solidFill>
                  <a:srgbClr val="E8EFFA"/>
                </a:solidFill>
                <a:latin typeface="Consolas"/>
              </a:rPr>
              <a:t>.card {    box-sizing: border-box;    width: 400px;    padding: 24px;    border: 2px solid navy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;}</a:t>
            </a:r>
          </a:p>
          <a:p>
            <a:pPr>
              <a:spcAft>
                <a:spcPts val="100"/>
              </a:spcAft>
            </a:pPr>
            <a:endParaRPr lang="en-US" sz="1300" dirty="0">
              <a:solidFill>
                <a:srgbClr val="E8EFFA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Calculate the </a:t>
            </a:r>
            <a:r>
              <a:rPr lang="en-US" sz="1300" dirty="0">
                <a:solidFill>
                  <a:srgbClr val="E8EFFA"/>
                </a:solidFill>
                <a:latin typeface="Consolas"/>
              </a:rPr>
              <a:t>content </a:t>
            </a:r>
            <a:r>
              <a:rPr lang="en-US" sz="1300" dirty="0" smtClean="0">
                <a:solidFill>
                  <a:srgbClr val="E8EFFA"/>
                </a:solidFill>
                <a:latin typeface="Consolas"/>
              </a:rPr>
              <a:t>width.</a:t>
            </a:r>
            <a:endParaRPr sz="1300" dirty="0">
              <a:solidFill>
                <a:srgbClr val="E8EFFA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02 · LAYOUT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Display, Overflow &amp; Visibility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30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70730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3071DC"/>
                </a:solidFill>
                <a:latin typeface="Aptos"/>
              </a:rPr>
              <a:t>block / inline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1868299"/>
            <a:ext cx="4754880" cy="147014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 dirty="0">
                <a:solidFill>
                  <a:srgbClr val="232F42"/>
                </a:solidFill>
                <a:latin typeface="Aptos"/>
              </a:rPr>
              <a:t>Block usually starts a new line; inline flows with text and does not accept width/height in the usual way</a:t>
            </a:r>
            <a:r>
              <a:rPr sz="1600" b="0" i="0" dirty="0" smtClean="0">
                <a:solidFill>
                  <a:srgbClr val="232F42"/>
                </a:solidFill>
                <a:latin typeface="Aptos"/>
              </a:rPr>
              <a:t>.</a:t>
            </a:r>
            <a:endParaRPr lang="ar-EG" sz="1600" b="0" i="0" dirty="0" smtClean="0">
              <a:solidFill>
                <a:srgbClr val="232F42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lang="en-US" sz="1600" dirty="0">
                <a:solidFill>
                  <a:srgbClr val="232F42"/>
                </a:solidFill>
                <a:latin typeface="Aptos"/>
              </a:rPr>
              <a:t>.box {    display: block;    width: 200px;    height: 80px</a:t>
            </a:r>
            <a:r>
              <a:rPr lang="en-US" sz="1600" dirty="0" smtClean="0">
                <a:solidFill>
                  <a:srgbClr val="232F42"/>
                </a:solidFill>
                <a:latin typeface="Aptos"/>
              </a:rPr>
              <a:t>;}</a:t>
            </a:r>
            <a:endParaRPr lang="ar-EG" sz="1600" dirty="0" smtClean="0">
              <a:solidFill>
                <a:srgbClr val="232F42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lang="en-US" sz="1600" dirty="0">
                <a:solidFill>
                  <a:srgbClr val="232F42"/>
                </a:solidFill>
                <a:latin typeface="Aptos"/>
              </a:rPr>
              <a:t>.label {    display: inline;}</a:t>
            </a:r>
            <a:endParaRPr sz="1600" b="0" i="0" dirty="0">
              <a:solidFill>
                <a:srgbClr val="232F42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80760" y="150876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25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59B70"/>
                </a:solidFill>
                <a:latin typeface="Aptos"/>
              </a:rPr>
              <a:t>inline-block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47672"/>
            <a:ext cx="4892040" cy="116493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 dirty="0">
                <a:solidFill>
                  <a:srgbClr val="232F42"/>
                </a:solidFill>
                <a:latin typeface="Aptos"/>
              </a:rPr>
              <a:t>Flows inline while allowing width and height</a:t>
            </a:r>
            <a:r>
              <a:rPr sz="1400" b="0" i="0" dirty="0" smtClean="0">
                <a:solidFill>
                  <a:srgbClr val="232F42"/>
                </a:solidFill>
                <a:latin typeface="Aptos"/>
              </a:rPr>
              <a:t>.</a:t>
            </a:r>
            <a:endParaRPr lang="ar-EG" sz="1400" b="0" i="0" dirty="0" smtClean="0">
              <a:solidFill>
                <a:srgbClr val="232F42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endParaRPr lang="ar-EG" sz="1400" dirty="0">
              <a:solidFill>
                <a:srgbClr val="232F42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232F42"/>
                </a:solidFill>
                <a:latin typeface="Aptos"/>
              </a:rPr>
              <a:t>.badge {    display: inline-block;    width: 120px;    </a:t>
            </a:r>
            <a:endParaRPr lang="ar-EG" sz="1400" dirty="0" smtClean="0">
              <a:solidFill>
                <a:srgbClr val="232F42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lang="en-US" sz="1400" dirty="0" smtClean="0">
                <a:solidFill>
                  <a:srgbClr val="232F42"/>
                </a:solidFill>
                <a:latin typeface="Aptos"/>
              </a:rPr>
              <a:t>height</a:t>
            </a:r>
            <a:r>
              <a:rPr lang="en-US" sz="1400" dirty="0">
                <a:solidFill>
                  <a:srgbClr val="232F42"/>
                </a:solidFill>
                <a:latin typeface="Aptos"/>
              </a:rPr>
              <a:t>: 40px;}</a:t>
            </a:r>
            <a:endParaRPr sz="1400" b="0" i="0" dirty="0">
              <a:solidFill>
                <a:srgbClr val="232F42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365760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7C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67328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7C5CE6"/>
                </a:solidFill>
                <a:latin typeface="Aptos"/>
              </a:rPr>
              <a:t>overflow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96512"/>
            <a:ext cx="4754880" cy="1716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 dirty="0">
                <a:solidFill>
                  <a:srgbClr val="232F42"/>
                </a:solidFill>
                <a:latin typeface="Aptos"/>
              </a:rPr>
              <a:t>visible, hidden, scroll, or auto controls content that exceeds a box</a:t>
            </a:r>
            <a:r>
              <a:rPr sz="1600" b="0" i="0" dirty="0" smtClean="0">
                <a:solidFill>
                  <a:srgbClr val="232F42"/>
                </a:solidFill>
                <a:latin typeface="Aptos"/>
              </a:rPr>
              <a:t>.</a:t>
            </a:r>
            <a:endParaRPr lang="ar-EG" sz="1600" b="0" i="0" dirty="0" smtClean="0">
              <a:solidFill>
                <a:srgbClr val="232F42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lang="en-US" sz="1600" dirty="0">
                <a:solidFill>
                  <a:srgbClr val="232F42"/>
                </a:solidFill>
                <a:latin typeface="Aptos"/>
              </a:rPr>
              <a:t>&lt;div class="box"&gt;    This is a long paragraph that may exceed the available space inside the box.&lt;/div&gt;</a:t>
            </a:r>
            <a:endParaRPr lang="ar-EG" sz="1600" dirty="0">
              <a:solidFill>
                <a:srgbClr val="232F42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endParaRPr sz="1600" b="0" i="0" dirty="0">
              <a:solidFill>
                <a:srgbClr val="232F42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80760" y="3513728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89904" y="3539833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EF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3511296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EF9736"/>
                </a:solidFill>
                <a:latin typeface="Aptos"/>
              </a:rPr>
              <a:t>display vs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9464" y="3772932"/>
            <a:ext cx="4754880" cy="8212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 dirty="0" err="1">
                <a:solidFill>
                  <a:srgbClr val="232F42"/>
                </a:solidFill>
                <a:latin typeface="Aptos"/>
              </a:rPr>
              <a:t>display:none</a:t>
            </a:r>
            <a:r>
              <a:rPr sz="1400" b="0" i="0" dirty="0">
                <a:solidFill>
                  <a:srgbClr val="232F42"/>
                </a:solidFill>
                <a:latin typeface="Aptos"/>
              </a:rPr>
              <a:t> removes layout space; </a:t>
            </a:r>
            <a:r>
              <a:rPr sz="1400" b="0" i="0" dirty="0" err="1">
                <a:solidFill>
                  <a:srgbClr val="232F42"/>
                </a:solidFill>
                <a:latin typeface="Aptos"/>
              </a:rPr>
              <a:t>visibility:hidden</a:t>
            </a:r>
            <a:r>
              <a:rPr sz="1400" b="0" i="0" dirty="0">
                <a:solidFill>
                  <a:srgbClr val="232F42"/>
                </a:solidFill>
                <a:latin typeface="Aptos"/>
              </a:rPr>
              <a:t> hides content but preserves its space</a:t>
            </a:r>
            <a:r>
              <a:rPr sz="1400" b="0" i="0" dirty="0" smtClean="0">
                <a:solidFill>
                  <a:srgbClr val="232F42"/>
                </a:solidFill>
                <a:latin typeface="Aptos"/>
              </a:rPr>
              <a:t>.</a:t>
            </a:r>
            <a:endParaRPr lang="ar-EG" sz="1400" b="0" i="0" dirty="0" smtClean="0">
              <a:solidFill>
                <a:srgbClr val="232F42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endParaRPr sz="1400" b="0" i="0" dirty="0">
              <a:solidFill>
                <a:srgbClr val="232F4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12 / 18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052" y="4262318"/>
            <a:ext cx="4959628" cy="105276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3" y="5425783"/>
            <a:ext cx="5001768" cy="9521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03 · 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Typography: Color, Fonts &amp;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16636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3071DC"/>
                </a:solidFill>
                <a:latin typeface="Aptos"/>
              </a:rPr>
              <a:t>BUILD A READABLE TYPE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66360" cy="4177554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Text color accepts named, hex, </a:t>
            </a:r>
            <a:r>
              <a:rPr sz="2000" dirty="0" err="1">
                <a:solidFill>
                  <a:srgbClr val="232F42"/>
                </a:solidFill>
                <a:latin typeface="Aptos"/>
              </a:rPr>
              <a:t>rgb</a:t>
            </a:r>
            <a:r>
              <a:rPr sz="2000" dirty="0">
                <a:solidFill>
                  <a:srgbClr val="232F42"/>
                </a:solidFill>
                <a:latin typeface="Aptos"/>
              </a:rPr>
              <a:t>/</a:t>
            </a:r>
            <a:r>
              <a:rPr sz="2000" dirty="0" err="1">
                <a:solidFill>
                  <a:srgbClr val="232F42"/>
                </a:solidFill>
                <a:latin typeface="Aptos"/>
              </a:rPr>
              <a:t>rgba</a:t>
            </a:r>
            <a:r>
              <a:rPr sz="2000" dirty="0">
                <a:solidFill>
                  <a:srgbClr val="232F42"/>
                </a:solidFill>
                <a:latin typeface="Aptos"/>
              </a:rPr>
              <a:t>, and </a:t>
            </a:r>
            <a:r>
              <a:rPr sz="2000" dirty="0" err="1">
                <a:solidFill>
                  <a:srgbClr val="232F42"/>
                </a:solidFill>
                <a:latin typeface="Aptos"/>
              </a:rPr>
              <a:t>hsl</a:t>
            </a:r>
            <a:r>
              <a:rPr sz="2000" dirty="0">
                <a:solidFill>
                  <a:srgbClr val="232F42"/>
                </a:solidFill>
                <a:latin typeface="Aptos"/>
              </a:rPr>
              <a:t>/</a:t>
            </a:r>
            <a:r>
              <a:rPr sz="2000" dirty="0" err="1">
                <a:solidFill>
                  <a:srgbClr val="232F42"/>
                </a:solidFill>
                <a:latin typeface="Aptos"/>
              </a:rPr>
              <a:t>hsla</a:t>
            </a:r>
            <a:r>
              <a:rPr sz="2000" dirty="0">
                <a:solidFill>
                  <a:srgbClr val="232F42"/>
                </a:solidFill>
                <a:latin typeface="Aptos"/>
              </a:rPr>
              <a:t> formats.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font-family uses a fallback stack ending in a generic family.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font-size may use </a:t>
            </a:r>
            <a:r>
              <a:rPr sz="2000" dirty="0" err="1">
                <a:solidFill>
                  <a:srgbClr val="232F42"/>
                </a:solidFill>
                <a:latin typeface="Aptos"/>
              </a:rPr>
              <a:t>px</a:t>
            </a:r>
            <a:r>
              <a:rPr sz="2000" dirty="0">
                <a:solidFill>
                  <a:srgbClr val="232F42"/>
                </a:solidFill>
                <a:latin typeface="Aptos"/>
              </a:rPr>
              <a:t>, </a:t>
            </a:r>
            <a:r>
              <a:rPr sz="2000" dirty="0" err="1">
                <a:solidFill>
                  <a:srgbClr val="232F42"/>
                </a:solidFill>
                <a:latin typeface="Aptos"/>
              </a:rPr>
              <a:t>em</a:t>
            </a:r>
            <a:r>
              <a:rPr sz="2000" dirty="0">
                <a:solidFill>
                  <a:srgbClr val="232F42"/>
                </a:solidFill>
                <a:latin typeface="Aptos"/>
              </a:rPr>
              <a:t>, rem, or percentages; rem is often predictable for scalable systems.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font-weight controls thickness; font-style handles italic/oblique.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</a:t>
            </a:r>
            <a:r>
              <a:rPr sz="2000" dirty="0" smtClean="0">
                <a:solidFill>
                  <a:srgbClr val="232F42"/>
                </a:solidFill>
                <a:latin typeface="Aptos"/>
              </a:rPr>
              <a:t>Web fonts can be loaded externally, subject to availability and performance considerations.</a:t>
            </a:r>
            <a:endParaRPr sz="2000" dirty="0">
              <a:solidFill>
                <a:srgbClr val="232F42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80760" y="1481328"/>
            <a:ext cx="5486400" cy="4526280"/>
          </a:xfrm>
          <a:prstGeom prst="roundRect">
            <a:avLst>
              <a:gd name="adj" fmla="val 12000"/>
            </a:avLst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27064" y="1554480"/>
            <a:ext cx="51937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22B8CF"/>
                </a:solidFill>
                <a:latin typeface="Aptos"/>
              </a:rPr>
              <a:t>TYPOGRAPHY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7064" y="1810512"/>
            <a:ext cx="5193792" cy="4123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body {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color: #253047;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font-size: 1rem;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line-height: 1.6;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h1 {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font-size: 2rem;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font-weight: 700;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color: #2457a7;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03 · 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Text Effects, Alignment &amp; Spacing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16636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3071DC"/>
                </a:solidFill>
                <a:latin typeface="Aptos"/>
              </a:rPr>
              <a:t>PROPERTIES TO RECOGNIZE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66360" cy="4280146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text-align: left, center, right, justify.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text-decoration: underline, </a:t>
            </a:r>
            <a:r>
              <a:rPr sz="2000" dirty="0" err="1">
                <a:solidFill>
                  <a:srgbClr val="232F42"/>
                </a:solidFill>
                <a:latin typeface="Aptos"/>
              </a:rPr>
              <a:t>overline</a:t>
            </a:r>
            <a:r>
              <a:rPr sz="2000" dirty="0">
                <a:solidFill>
                  <a:srgbClr val="232F42"/>
                </a:solidFill>
                <a:latin typeface="Aptos"/>
              </a:rPr>
              <a:t>, line-through, or none.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text-transform changes visual case; text-indent indents the first line.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letter-spacing and word-spacing control spacing; use restraint.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line-height controls vertical spacing; </a:t>
            </a:r>
            <a:r>
              <a:rPr sz="2000" dirty="0" err="1">
                <a:solidFill>
                  <a:srgbClr val="232F42"/>
                </a:solidFill>
                <a:latin typeface="Aptos"/>
              </a:rPr>
              <a:t>unitless</a:t>
            </a:r>
            <a:r>
              <a:rPr sz="2000" dirty="0">
                <a:solidFill>
                  <a:srgbClr val="232F42"/>
                </a:solidFill>
                <a:latin typeface="Aptos"/>
              </a:rPr>
              <a:t> values such as 1.5 work well for body text.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text-shadow adds depth; vertical-align is mainly for inline/table-cell alignment.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81328"/>
            <a:ext cx="5486400" cy="4526280"/>
          </a:xfrm>
          <a:prstGeom prst="roundRect">
            <a:avLst>
              <a:gd name="adj" fmla="val 12000"/>
            </a:avLst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27064" y="1554480"/>
            <a:ext cx="51937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22B8CF"/>
                </a:solidFill>
                <a:latin typeface="Aptos"/>
              </a:rPr>
              <a:t>TEXT STYLING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7064" y="1810512"/>
            <a:ext cx="5193792" cy="4123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.article-title {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text-align: center;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letter-spacing: 0.02em;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text-shadow: 1px 2px 3px #0002;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.article-body {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line-height: 1.6;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a { text-decoration: underline;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03 · TYPOGRAPHY &amp; BACKGROUNDS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CSS Units: Choose with Intent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30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3071DC"/>
                </a:solidFill>
                <a:latin typeface="Aptos"/>
              </a:rPr>
              <a:t>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47548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F42"/>
                </a:solidFill>
                <a:latin typeface="Aptos"/>
              </a:rPr>
              <a:t>A CSS pixel unit; useful for fine details, but fixed sizes alone can limit flexibility.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80760" y="150876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25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59B70"/>
                </a:solidFill>
                <a:latin typeface="Aptos"/>
              </a:rPr>
              <a:t>em / rem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47672"/>
            <a:ext cx="47548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F42"/>
                </a:solidFill>
                <a:latin typeface="Aptos"/>
              </a:rPr>
              <a:t>Relative to font sizing (em often depends on the current element; rem depends on the root size).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EF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365760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7C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67328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7C5CE6"/>
                </a:solidFill>
                <a:latin typeface="Aptos"/>
              </a:rPr>
              <a:t>% / vw / vh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96512"/>
            <a:ext cx="47548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F42"/>
                </a:solidFill>
                <a:latin typeface="Aptos"/>
              </a:rPr>
              <a:t>Relative to a containing context or viewport; useful for fluid sizing.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65760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80760" y="365760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EF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3767328"/>
            <a:ext cx="475488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EF9736"/>
                </a:solidFill>
                <a:latin typeface="Aptos"/>
              </a:rPr>
              <a:t>clamp()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096512"/>
            <a:ext cx="47548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F42"/>
                </a:solidFill>
                <a:latin typeface="Aptos"/>
              </a:rPr>
              <a:t>Can define a minimum, preferred fluid value, and maximum for responsive sizing.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04 · BACKGROUNDS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Backgrounds: Color, Image &amp; Gradients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16636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3071DC"/>
                </a:solidFill>
                <a:latin typeface="Aptos"/>
              </a:rPr>
              <a:t>COMMON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66360" cy="3562001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background-color accepts the same color formats as text color.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background-image can use an image URL or a gradient.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Background images are decorative; use real &lt;</a:t>
            </a:r>
            <a:r>
              <a:rPr sz="2000" dirty="0" err="1">
                <a:solidFill>
                  <a:srgbClr val="232F42"/>
                </a:solidFill>
                <a:latin typeface="Aptos"/>
              </a:rPr>
              <a:t>img</a:t>
            </a:r>
            <a:r>
              <a:rPr sz="2000" dirty="0">
                <a:solidFill>
                  <a:srgbClr val="232F42"/>
                </a:solidFill>
                <a:latin typeface="Aptos"/>
              </a:rPr>
              <a:t>&gt; elements for meaningful content.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Relative paths are resolved from the stylesheet location.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Backgrounds repeat by default unless configured otherwise.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81328"/>
            <a:ext cx="5486400" cy="4526280"/>
          </a:xfrm>
          <a:prstGeom prst="roundRect">
            <a:avLst>
              <a:gd name="adj" fmla="val 12000"/>
            </a:avLst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27064" y="1554480"/>
            <a:ext cx="51937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22B8CF"/>
                </a:solidFill>
                <a:latin typeface="Aptos"/>
              </a:rPr>
              <a:t>BACKGROUND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7064" y="1810512"/>
            <a:ext cx="5193792" cy="4123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.hero {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background-color: #183152;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background-image: linear-gradient(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  120deg, #2457a7, #7c5ce6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);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color: white;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04 · BACKGROUNDS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Background Position, Repeat &amp;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16636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3071DC"/>
                </a:solidFill>
                <a:latin typeface="Aptos"/>
              </a:rPr>
              <a:t>MAKE THE IMAGE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66360" cy="448533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background-repeat: repeat, no-repeat, repeat-x, repeat-y.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background-position controls where the image starts (center, top right, percentages, lengths).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background-size: cover fills the box and may crop; contain shows the entire image and may leave empty space.</a:t>
            </a:r>
          </a:p>
          <a:p>
            <a:pPr>
              <a:spcAft>
                <a:spcPts val="800"/>
              </a:spcAft>
            </a:pPr>
            <a:r>
              <a:rPr sz="2000" dirty="0" smtClean="0">
                <a:solidFill>
                  <a:srgbClr val="232F42"/>
                </a:solidFill>
                <a:latin typeface="Aptos"/>
              </a:rPr>
              <a:t>•  background-attachment controls scroll behavior; fixed can have mobile/performance caveats.</a:t>
            </a:r>
          </a:p>
          <a:p>
            <a:pPr>
              <a:spcAft>
                <a:spcPts val="800"/>
              </a:spcAft>
            </a:pPr>
            <a:r>
              <a:rPr sz="2000" dirty="0" smtClean="0">
                <a:solidFill>
                  <a:srgbClr val="232F42"/>
                </a:solidFill>
                <a:latin typeface="Aptos"/>
              </a:rPr>
              <a:t>•  Use a semi-transparent overlay when text needs contrast over an image.</a:t>
            </a:r>
            <a:endParaRPr sz="2000" dirty="0">
              <a:solidFill>
                <a:srgbClr val="232F42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80760" y="1481328"/>
            <a:ext cx="5486400" cy="4526280"/>
          </a:xfrm>
          <a:prstGeom prst="roundRect">
            <a:avLst>
              <a:gd name="adj" fmla="val 12000"/>
            </a:avLst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27064" y="1554480"/>
            <a:ext cx="51937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22B8CF"/>
                </a:solidFill>
                <a:latin typeface="Aptos"/>
              </a:rPr>
              <a:t>HERO 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7064" y="1810512"/>
            <a:ext cx="5193792" cy="4123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.hero {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background-image: url("campus.jpg");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background-repeat: no-repeat;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background-position: center;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background-size: cover;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min-height: 24rem;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071DC"/>
                </a:solidFill>
                <a:latin typeface="Aptos"/>
              </a:rPr>
              <a:t>05 ·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21F38"/>
                </a:solidFill>
                <a:latin typeface="Aptos"/>
              </a:rPr>
              <a:t>Lecture 1 — Practice &amp; 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32004"/>
          </a:xfrm>
          <a:prstGeom prst="rect">
            <a:avLst/>
          </a:prstGeom>
          <a:solidFill>
            <a:srgbClr val="DC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16636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 dirty="0">
                <a:solidFill>
                  <a:srgbClr val="3071DC"/>
                </a:solidFill>
                <a:latin typeface="Aptos"/>
              </a:rPr>
              <a:t>TRY THESE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66360" cy="3562001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Link an external stylesheet and style at least five elements.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Use element, class, ID, descendant, child, and attribute selectors.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Create a card using padding, margin, border, border-radius, and border-box.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Style a hero section with a gradient or image background.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32F42"/>
                </a:solidFill>
                <a:latin typeface="Aptos"/>
              </a:rPr>
              <a:t>•  Adjust typography and test readability at different sizes.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81328"/>
            <a:ext cx="5486400" cy="4526280"/>
          </a:xfrm>
          <a:prstGeom prst="roundRect">
            <a:avLst>
              <a:gd name="adj" fmla="val 12000"/>
            </a:avLst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27064" y="1554480"/>
            <a:ext cx="51937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22B8CF"/>
                </a:solidFill>
                <a:latin typeface="Aptos"/>
              </a:rPr>
              <a:t>STARTER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7064" y="1810512"/>
            <a:ext cx="5193792" cy="4123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/* Challenge: improve this card */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.card {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max-width: 42rem;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margin: 2rem auto;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padding: 1.5rem;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border: 1px solid #d7deea;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  background: #fff;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8EFFA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772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5D6B80"/>
                </a:solidFill>
                <a:latin typeface="Aptos"/>
              </a:rPr>
              <a:t>WEB APPLICATIONS ENGINEERING  • 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>
                <a:solidFill>
                  <a:srgbClr val="5D6B80"/>
                </a:solidFill>
                <a:latin typeface="Aptos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2092</Words>
  <Application>Microsoft Office PowerPoint</Application>
  <PresentationFormat>Widescreen</PresentationFormat>
  <Paragraphs>349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28</cp:revision>
  <dcterms:created xsi:type="dcterms:W3CDTF">2013-01-27T09:14:16Z</dcterms:created>
  <dcterms:modified xsi:type="dcterms:W3CDTF">2026-10-11T08:50:42Z</dcterms:modified>
  <cp:category/>
</cp:coreProperties>
</file>