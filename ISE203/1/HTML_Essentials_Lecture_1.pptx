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270" autoAdjust="0"/>
  </p:normalViewPr>
  <p:slideViewPr>
    <p:cSldViewPr snapToGrid="0" snapToObjects="1">
      <p:cViewPr varScale="1">
        <p:scale>
          <a:sx n="55" d="100"/>
          <a:sy n="55" d="100"/>
        </p:scale>
        <p:origin x="1072" y="3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2C32AD-C0FF-4216-A983-A2471D38B0FE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C2DA8-3C68-4DC3-9BCC-4C4E0F5B3E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0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void elements : </a:t>
            </a:r>
            <a:r>
              <a:rPr lang="en-US" dirty="0" smtClean="0"/>
              <a:t>&lt;</a:t>
            </a:r>
            <a:r>
              <a:rPr lang="en-US" dirty="0" err="1" smtClean="0"/>
              <a:t>img</a:t>
            </a:r>
            <a:r>
              <a:rPr lang="en-US" dirty="0" smtClean="0"/>
              <a:t>&gt; &lt;</a:t>
            </a:r>
            <a:r>
              <a:rPr lang="en-US" dirty="0" err="1" smtClean="0"/>
              <a:t>br</a:t>
            </a:r>
            <a:r>
              <a:rPr lang="en-US" dirty="0" smtClean="0"/>
              <a:t>&gt; &lt;</a:t>
            </a:r>
            <a:r>
              <a:rPr lang="en-US" dirty="0" err="1" smtClean="0"/>
              <a:t>hr</a:t>
            </a:r>
            <a:r>
              <a:rPr lang="en-US" dirty="0" smtClean="0"/>
              <a:t>&gt; &lt;meta&gt; &lt;link&gt; &lt;input&gt;</a:t>
            </a:r>
            <a:br>
              <a:rPr lang="en-US" dirty="0" smtClean="0"/>
            </a:br>
            <a:r>
              <a:rPr lang="en-US" dirty="0" smtClean="0"/>
              <a:t>"What would we put between &lt;</a:t>
            </a:r>
            <a:r>
              <a:rPr lang="en-US" dirty="0" err="1" smtClean="0"/>
              <a:t>img</a:t>
            </a:r>
            <a:r>
              <a:rPr lang="en-US" dirty="0" smtClean="0"/>
              <a:t>&gt; and &lt;/</a:t>
            </a:r>
            <a:r>
              <a:rPr lang="en-US" dirty="0" err="1" smtClean="0"/>
              <a:t>img</a:t>
            </a:r>
            <a:r>
              <a:rPr lang="en-US" dirty="0" smtClean="0"/>
              <a:t>&gt;?“ =&gt;</a:t>
            </a:r>
            <a:r>
              <a:rPr lang="en-US" baseline="0" dirty="0" smtClean="0"/>
              <a:t> nothing, that’s why they don’t need closing tag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73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span doesn't represent a new paragraph.</a:t>
            </a:r>
          </a:p>
          <a:p>
            <a:r>
              <a:rPr lang="en-US" dirty="0" smtClean="0"/>
              <a:t>It's an </a:t>
            </a:r>
            <a:r>
              <a:rPr lang="en-US" b="1" dirty="0" smtClean="0"/>
              <a:t>inline container inside the existing content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&lt;span&gt; does NOT automatically make text look different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 err="1" smtClean="0"/>
              <a:t>hr</a:t>
            </a:r>
            <a:r>
              <a:rPr lang="en-US" dirty="0" smtClean="0"/>
              <a:t>&gt;</a:t>
            </a:r>
          </a:p>
          <a:p>
            <a:r>
              <a:rPr lang="en-US" dirty="0" smtClean="0"/>
              <a:t>Visually, browsers commonly display it as a horizontal line, so that's understandable.</a:t>
            </a:r>
          </a:p>
          <a:p>
            <a:r>
              <a:rPr lang="en-US" dirty="0" smtClean="0"/>
              <a:t>A thematic break between sections of content.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 err="1" smtClean="0"/>
              <a:t>br</a:t>
            </a:r>
            <a:r>
              <a:rPr lang="en-US" dirty="0" smtClean="0"/>
              <a:t>&gt; creates a line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35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24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Website/ </a:t>
            </a:r>
          </a:p>
          <a:p>
            <a:r>
              <a:rPr lang="en-US" dirty="0" smtClean="0"/>
              <a:t>│ </a:t>
            </a:r>
          </a:p>
          <a:p>
            <a:r>
              <a:rPr lang="en-US" dirty="0" smtClean="0"/>
              <a:t>├── index.html </a:t>
            </a:r>
          </a:p>
          <a:p>
            <a:r>
              <a:rPr lang="en-US" dirty="0" smtClean="0"/>
              <a:t>├── about.html </a:t>
            </a:r>
          </a:p>
          <a:p>
            <a:r>
              <a:rPr lang="en-US" dirty="0" smtClean="0"/>
              <a:t>│ └── images/ </a:t>
            </a:r>
          </a:p>
          <a:p>
            <a:r>
              <a:rPr lang="en-US" dirty="0" smtClean="0"/>
              <a:t>               └── logo.png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8267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&lt;dl&gt; ↓ Description List &lt;</a:t>
            </a:r>
            <a:r>
              <a:rPr lang="en-US" dirty="0" err="1" smtClean="0"/>
              <a:t>dt</a:t>
            </a:r>
            <a:r>
              <a:rPr lang="en-US" dirty="0" smtClean="0"/>
              <a:t>&gt; ↓ Description Term &lt;</a:t>
            </a:r>
            <a:r>
              <a:rPr lang="en-US" dirty="0" err="1" smtClean="0"/>
              <a:t>dd</a:t>
            </a:r>
            <a:r>
              <a:rPr lang="en-US" dirty="0" smtClean="0"/>
              <a:t>&gt; ↓ Description/Definition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53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th</a:t>
            </a:r>
            <a:r>
              <a:rPr lang="en-US" dirty="0" smtClean="0"/>
              <a:t> = </a:t>
            </a:r>
            <a:r>
              <a:rPr lang="en-US" b="1" dirty="0" smtClean="0"/>
              <a:t>Table Header</a:t>
            </a:r>
            <a:endParaRPr lang="en-US" dirty="0" smtClean="0"/>
          </a:p>
          <a:p>
            <a:r>
              <a:rPr lang="en-US" dirty="0" smtClean="0"/>
              <a:t>td = </a:t>
            </a:r>
            <a:r>
              <a:rPr lang="en-US" b="1" dirty="0" smtClean="0"/>
              <a:t>Table Data</a:t>
            </a:r>
          </a:p>
          <a:p>
            <a:r>
              <a:rPr lang="en-US" dirty="0" err="1" smtClean="0"/>
              <a:t>tr</a:t>
            </a:r>
            <a:r>
              <a:rPr lang="en-US" dirty="0" smtClean="0"/>
              <a:t> =</a:t>
            </a:r>
            <a:r>
              <a:rPr lang="en-US" baseline="0" dirty="0" smtClean="0"/>
              <a:t> </a:t>
            </a:r>
            <a:r>
              <a:rPr lang="en-US" b="1" dirty="0" smtClean="0"/>
              <a:t>Table Row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74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; &amp;</a:t>
            </a:r>
            <a:r>
              <a:rPr lang="en-US" dirty="0" err="1" smtClean="0"/>
              <a:t>nbsp</a:t>
            </a:r>
            <a:r>
              <a:rPr lang="en-US" dirty="0" smtClean="0"/>
              <a:t> =&gt; </a:t>
            </a:r>
            <a:r>
              <a:rPr lang="en-US" dirty="0" smtClean="0"/>
              <a:t>non-breaking space</a:t>
            </a:r>
          </a:p>
          <a:p>
            <a:endParaRPr lang="en-US" dirty="0" smtClean="0"/>
          </a:p>
          <a:p>
            <a:r>
              <a:rPr lang="en-US" b="1" smtClean="0"/>
              <a:t>&amp; </a:t>
            </a:r>
            <a:r>
              <a:rPr lang="en-US" b="1" dirty="0" smtClean="0"/>
              <a:t>is not always required to be written as &amp;amp;</a:t>
            </a:r>
            <a:r>
              <a:rPr lang="en-US" dirty="0" smtClean="0"/>
              <a:t>.</a:t>
            </a:r>
          </a:p>
          <a:p>
            <a:r>
              <a:rPr lang="en-US" dirty="0" smtClean="0"/>
              <a:t>However, when you want to represent a literal ampersand in HTML source, the standard/safest HTML representation is: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C2DA8-3C68-4DC3-9BCC-4C4E0F5B3EA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22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53291" y="2888035"/>
            <a:ext cx="630936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dirty="0">
                <a:solidFill>
                  <a:srgbClr val="009184"/>
                </a:solidFill>
                <a:latin typeface="Aptos"/>
              </a:rPr>
              <a:t>WEB APPLICATIONS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8660" y="3576484"/>
            <a:ext cx="621792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Aptos"/>
              </a:rPr>
              <a:t>Dr. Mohamed Ryan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30936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9184"/>
                </a:solidFill>
                <a:latin typeface="Aptos"/>
              </a:rPr>
              <a:t>WEB APPLICATIONS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1344"/>
            <a:ext cx="6492240" cy="188359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Aptos"/>
              </a:rPr>
              <a:t>Lecture </a:t>
            </a:r>
            <a:r>
              <a:rPr lang="en-US" sz="4000" b="1" dirty="0" smtClean="0">
                <a:solidFill>
                  <a:srgbClr val="FFFFFF"/>
                </a:solidFill>
                <a:latin typeface="Aptos"/>
              </a:rPr>
              <a:t>1</a:t>
            </a:r>
            <a:endParaRPr lang="ar-EG" sz="4000" b="1" dirty="0" smtClean="0">
              <a:solidFill>
                <a:srgbClr val="FFFFFF"/>
              </a:solidFill>
              <a:latin typeface="Aptos"/>
            </a:endParaRPr>
          </a:p>
          <a:p>
            <a:endParaRPr lang="en-US" sz="4000" b="1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4000" b="1" dirty="0" smtClean="0">
                <a:solidFill>
                  <a:srgbClr val="FFFFFF"/>
                </a:solidFill>
                <a:latin typeface="Aptos"/>
              </a:rPr>
              <a:t>HTML Essentials</a:t>
            </a:r>
            <a:endParaRPr sz="40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6217920" cy="9144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dirty="0">
                <a:solidFill>
                  <a:srgbClr val="DAE4EC"/>
                </a:solidFill>
                <a:latin typeface="Aptos"/>
              </a:rPr>
              <a:t>Foundations, Text, Links, Images, Lists &amp;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417320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dirty="0">
                <a:solidFill>
                  <a:srgbClr val="009184"/>
                </a:solidFill>
                <a:latin typeface="Cascadia Mono"/>
              </a:rPr>
              <a:t>&lt;html&gt;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331720"/>
            <a:ext cx="30175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FFFFFF"/>
                </a:solidFill>
                <a:latin typeface="Cascadia Mono"/>
              </a:rPr>
              <a:t>&lt;body&gt;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154680"/>
            <a:ext cx="301752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0">
                <a:solidFill>
                  <a:srgbClr val="99D1C9"/>
                </a:solidFill>
                <a:latin typeface="Cascadia Mono"/>
              </a:rPr>
              <a:t>&lt;main&gt;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977639"/>
            <a:ext cx="3383280" cy="7315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>
                <a:solidFill>
                  <a:srgbClr val="009184"/>
                </a:solidFill>
                <a:latin typeface="Cascadia Mono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32756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59" y="1572768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74193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435607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Explain what HTML is and how browsers interpret markup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1572768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32788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6328" y="1435607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Build a valid HTML5 document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70632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59" y="3017520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321411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2880360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202831"/>
                </a:solidFill>
                <a:latin typeface="Aptos"/>
              </a:rPr>
              <a:t>Use elements, attributes, nesting and comments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770632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46520" y="3017520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880360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Structure text with headings, paragraphs and formatting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15384"/>
            <a:ext cx="5349240" cy="1115568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22959" y="4462272"/>
            <a:ext cx="566928" cy="566928"/>
          </a:xfrm>
          <a:prstGeom prst="ellipse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4631436"/>
            <a:ext cx="566928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dirty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4325112"/>
            <a:ext cx="4069080" cy="8961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202831"/>
                </a:solidFill>
                <a:latin typeface="Aptos"/>
              </a:rPr>
              <a:t>Create links, images, lists and tables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HTML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9184"/>
                </a:solidFill>
                <a:latin typeface="Aptos"/>
              </a:rPr>
              <a:t>HTML provides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27632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2234"/>
                </a:solidFill>
                <a:latin typeface="Aptos"/>
              </a:rPr>
              <a:t>Think of a building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4846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3172968"/>
            <a:ext cx="4073603" cy="117775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Elements describe content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Attributes add information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Browser parses the markup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2148840"/>
            <a:ext cx="4846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8405" y="3087009"/>
            <a:ext cx="3935066" cy="117775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HTML = structure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CSS = appearance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rPr dirty="0"/>
              <a:t>• JavaScript =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HTML vs. HTML5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94960" cy="452628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417320"/>
            <a:ext cx="5394960" cy="4526280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09184"/>
                </a:solidFill>
                <a:latin typeface="Aptos"/>
              </a:rPr>
              <a:t>Earlier HTML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27632"/>
            <a:ext cx="484632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42234"/>
                </a:solidFill>
                <a:latin typeface="Aptos"/>
              </a:rPr>
              <a:t>HTML5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148840"/>
            <a:ext cx="4846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6152" y="2377440"/>
            <a:ext cx="4151376" cy="2971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Limited native multimedia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Plugins were common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Fewer semantic 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2148840"/>
            <a:ext cx="484632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21424" y="2377440"/>
            <a:ext cx="4151376" cy="297180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Native audio/video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Richer semantic elements</a:t>
            </a:r>
          </a:p>
          <a:p>
            <a:pPr>
              <a:spcAft>
                <a:spcPts val="1100"/>
              </a:spcAft>
              <a:defRPr sz="1900">
                <a:solidFill>
                  <a:srgbClr val="202831"/>
                </a:solidFill>
                <a:latin typeface="Aptos"/>
              </a:defRPr>
            </a:pPr>
            <a:r>
              <a:t>• Modern form controls &amp;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The HTML Document Skeleton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1" y="2470257"/>
            <a:ext cx="4403475" cy="212160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Every page starts with a predictable document structure.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The &lt;head&gt; stores metadata and resource references.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The &lt;body&gt; contains the content users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2375" y="2240280"/>
            <a:ext cx="5073345" cy="28069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&lt;!DOCTYPE html&gt;
&lt;html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lang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en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"&gt;
&lt;head&gt;
  &lt;meta charset="UTF-8"&gt;
  &lt;title&gt;My Page&lt;/title&gt;
&lt;/head&gt;
&lt;body&gt;
  &lt;h1&gt;Hello Web&lt;/h1&gt;
&lt;/body&gt;
&lt;/html&gt;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What Belongs in &lt;head&gt;?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5236" y="2275080"/>
            <a:ext cx="4590288" cy="299364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&lt;title&gt; — browser tab title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&lt;meta charset="UTF-8"&gt; — character encoding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&lt;meta name="viewport" ...&gt; — responsive viewport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&lt;link </a:t>
            </a:r>
            <a:r>
              <a:rPr dirty="0" err="1"/>
              <a:t>rel</a:t>
            </a:r>
            <a:r>
              <a:rPr dirty="0"/>
              <a:t>="stylesheet" ...&gt; — external CSS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&lt;script ...&gt; — JavaScript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395" y="2240280"/>
            <a:ext cx="5045326" cy="252992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&lt;head&gt;
  &lt;meta charset="UTF-8"&gt;
  &lt;meta name="viewport"
        content="width=device-width, initial-scale=1.0"&gt;
  &lt;title&gt;My Page&lt;/title&gt;
  &lt;link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rel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="stylesheet"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href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="styles.css"&gt;
&lt;/head&gt;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DOCTYPE &amp; Standards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58922" y="2626196"/>
            <a:ext cx="9576226" cy="131625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&lt;!DOCTYPE html&gt; tells the browser to use modern standards mode.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Without a proper DOCTYPE, browsers may enter quirks mode.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Rule: start every HTML document with &lt;!DOCTYPE html&gt;.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HTML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17916" y="2695022"/>
            <a:ext cx="9222265" cy="131625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An element normally has an opening tag, content, and closing tag.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Example: &lt;p&gt;Hello&lt;/p&gt;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Some elements are void elements in HTML, such as &lt;</a:t>
            </a:r>
            <a:r>
              <a:rPr dirty="0" err="1"/>
              <a:t>img</a:t>
            </a:r>
            <a:r>
              <a:rPr dirty="0"/>
              <a:t>&gt; and &lt;</a:t>
            </a:r>
            <a:r>
              <a:rPr dirty="0" err="1"/>
              <a:t>br</a:t>
            </a:r>
            <a:r>
              <a:rPr dirty="0"/>
              <a:t>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Nesting: Think Russian Dolls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7957" y="2507227"/>
            <a:ext cx="4452636" cy="194207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Elements can contain other elements.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Close elements in the reverse order in which they were opened.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Correct: &lt;div&gt;&lt;p&gt;Text&lt;/p&gt;&lt;/div&gt;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Wrong: &lt;div&gt;&lt;p&gt;Text&lt;/div&gt;&lt;/p&gt;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63148" y="2620395"/>
            <a:ext cx="5102842" cy="197592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&lt;div&gt;
  &lt;p&gt;Correctly nested content.&lt;/p&gt;
&lt;/div&gt;
&lt;!-- Wrong:
&lt;div&gt;&lt;p&gt;Broken nesting&lt;/div&gt;&lt;/p&gt;
--&gt;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9130" y="2190086"/>
            <a:ext cx="4678779" cy="255762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Comments are ignored by the browser and help developers document code.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Single-line: &lt;!-- Explain this section --&gt;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Multi-line comments can document larger sections.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Never store secrets in comments; users can inspect page 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2743" y="2328672"/>
            <a:ext cx="5056633" cy="22529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&lt;!-- Explain this section --&gt;
&lt;!--
  Multi-line comment
  for documentation
--&gt;
&lt;h1&gt;Visible content&lt;/h1&gt;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Headings &amp; Page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2277" y="2567203"/>
            <a:ext cx="9723710" cy="17958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&lt;h1&gt; through &lt;h6&gt; express heading levels.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headings for structure, not simply for larger text.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Keep the hierarchy logical: h1 → h2 → h3.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descriptive headings for accessibility and search engines</a:t>
            </a:r>
            <a:r>
              <a:rPr dirty="0" smtClean="0"/>
              <a:t>.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Paragraphs &amp;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2636028"/>
            <a:ext cx="9399245" cy="1827817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&lt;p&gt; defines a paragraph.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HTML collapses consecutive spaces and line breaks in normal text.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separate elements for separate paragraphs.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&lt;</a:t>
            </a:r>
            <a:r>
              <a:rPr dirty="0" err="1"/>
              <a:t>br</a:t>
            </a:r>
            <a:r>
              <a:rPr dirty="0"/>
              <a:t>&gt; for a deliberate line break, not general layout.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1" y="2617740"/>
            <a:ext cx="4491965" cy="181383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Attributes add information to an element.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Syntax: &lt;element attribute="value"&gt;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Common global attributes: id, class, style, title, lang.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23819" y="2879376"/>
            <a:ext cx="5024184" cy="8679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&lt;p id="intro" class="lead"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lang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en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"&gt;
  Welcome!
&lt;/p&gt;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Text Formatting: Meaning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48697" y="2421164"/>
            <a:ext cx="7747819" cy="2198551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&lt;strong&gt; — important content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em</a:t>
            </a:r>
            <a:r>
              <a:rPr dirty="0"/>
              <a:t>&gt; — emphasized content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&lt;mark&gt; — highlighted content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&lt;del&gt; / &lt;ins&gt; — removed / inserted content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&lt;sub&gt; / &lt;sup&gt; — subscript / superscript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Links with &lt;a&gt;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292" y="2571347"/>
            <a:ext cx="4432972" cy="207031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href</a:t>
            </a:r>
            <a:r>
              <a:rPr dirty="0"/>
              <a:t> specifies the destination.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External link: https://...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Another page: about.html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Same page: #section1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Email: mailto:...   Phone: </a:t>
            </a:r>
            <a:r>
              <a:rPr dirty="0" err="1"/>
              <a:t>tel</a:t>
            </a:r>
            <a:r>
              <a:rPr dirty="0"/>
              <a:t>:...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57076" y="2741628"/>
            <a:ext cx="5468113" cy="1421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&lt;a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href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="about.html"&gt;About Us&lt;/a&gt;
&lt;a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href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="#contact"&gt;Contact&lt;/a&gt;
&lt;a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href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="mailto:info@example.com"&gt;Email&lt;/a&gt;
&lt;a 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href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="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tel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:+201000000000"&gt;Call&lt;/a&gt;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Opening Links Safely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2138075"/>
            <a:ext cx="4173599" cy="249179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target="_blank" opens a new browsing context.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For links opened in a new tab, the source recommends </a:t>
            </a:r>
            <a:r>
              <a:rPr dirty="0" err="1"/>
              <a:t>rel</a:t>
            </a:r>
            <a:r>
              <a:rPr dirty="0"/>
              <a:t>="</a:t>
            </a:r>
            <a:r>
              <a:rPr dirty="0" err="1"/>
              <a:t>noopener</a:t>
            </a:r>
            <a:r>
              <a:rPr dirty="0"/>
              <a:t> </a:t>
            </a:r>
            <a:r>
              <a:rPr dirty="0" err="1"/>
              <a:t>noreferrer</a:t>
            </a:r>
            <a:r>
              <a:rPr dirty="0"/>
              <a:t>".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Write meaningful link text; do not rely only on "click here".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FF3F6"/>
                </a:solidFill>
                <a:latin typeface="Cascadia Mono"/>
              </a:rPr>
              <a:t>&lt;a href="https://example.com"
   target="_blank"
   rel="noopener noreferrer"&gt;
  External site
&lt;/a&gt;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&lt;span&gt;, &lt;</a:t>
            </a:r>
            <a:r>
              <a:rPr sz="3000" b="1" dirty="0" err="1">
                <a:solidFill>
                  <a:srgbClr val="142234"/>
                </a:solidFill>
                <a:latin typeface="Aptos"/>
              </a:rPr>
              <a:t>hr</a:t>
            </a:r>
            <a:r>
              <a:rPr sz="3000" b="1" dirty="0">
                <a:solidFill>
                  <a:srgbClr val="142234"/>
                </a:solidFill>
                <a:latin typeface="Aptos"/>
              </a:rPr>
              <a:t>&gt; and &lt;</a:t>
            </a:r>
            <a:r>
              <a:rPr sz="3000" b="1" dirty="0" err="1">
                <a:solidFill>
                  <a:srgbClr val="142234"/>
                </a:solidFill>
                <a:latin typeface="Aptos"/>
              </a:rPr>
              <a:t>br</a:t>
            </a:r>
            <a:r>
              <a:rPr sz="3000" b="1" dirty="0">
                <a:solidFill>
                  <a:srgbClr val="142234"/>
                </a:solidFill>
                <a:latin typeface="Aptos"/>
              </a:rPr>
              <a:t>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15384" y="2452418"/>
            <a:ext cx="8934267" cy="1795876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&lt;span&gt; is an inline container with no visual effect by itself.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Use it with CSS classes/styles to target part of a sentence.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hr</a:t>
            </a:r>
            <a:r>
              <a:rPr dirty="0"/>
              <a:t>&gt; separates thematic sections.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br</a:t>
            </a:r>
            <a:r>
              <a:rPr dirty="0"/>
              <a:t>&gt; creates a line break.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Images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833" y="2184374"/>
            <a:ext cx="4405093" cy="2557623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img</a:t>
            </a:r>
            <a:r>
              <a:rPr dirty="0"/>
              <a:t> </a:t>
            </a:r>
            <a:r>
              <a:rPr dirty="0" err="1"/>
              <a:t>src</a:t>
            </a:r>
            <a:r>
              <a:rPr dirty="0"/>
              <a:t>="photo.jpg" alt="Description"&gt;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src</a:t>
            </a:r>
            <a:r>
              <a:rPr dirty="0"/>
              <a:t> identifies the image resource.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alt provides alternative text when the image cannot be seen or loaded.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Meaningful alt text is important for accessibility.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EFF3F6"/>
                </a:solidFill>
                <a:latin typeface="Cascadia Mono"/>
              </a:rPr>
              <a:t>&lt;img src="images/campus.jpg"
     alt="Main entrance of the university"
     width="800"
     height="450"&gt;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File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Relative: photo.jpg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Subfolder: images/photo.jpg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Parent folder: ../photo.jpg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Absolute URL: https://example.com/images/photo.jpg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For project assets, prefer predictable relative paths.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smtClean="0">
                <a:solidFill>
                  <a:srgbClr val="EFF3F6"/>
                </a:solidFill>
                <a:latin typeface="Cascadia Mono"/>
              </a:rPr>
              <a:t>photo.jpg
images/photo.jpg
../photo.jpg
../images/photo.jpg
https://example.com/images/photo.jpg</a:t>
            </a:r>
            <a:endParaRPr sz="1800" b="0">
              <a:solidFill>
                <a:srgbClr val="EFF3F6"/>
              </a:solidFill>
              <a:latin typeface="Cascadia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&lt;ul&gt; — unordered list; use when sequence does not matter.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&lt;ol&gt; — ordered list; use when sequence matters.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&lt;dl&gt; — term/definition pairs.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Lists can be nested to express hierarchy.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8818" y="1655064"/>
            <a:ext cx="3818950" cy="419191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ul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
  &lt;li&gt;HTML&lt;/li&gt;
  &lt;li&gt;CSS&lt;/li&gt;
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ul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
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ol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
  &lt;li&gt;Write&lt;/li&gt;
  &lt;li&gt;Save&lt;/li&gt;
  &lt;li&gt;Run&lt;/li&gt;
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ol</a:t>
            </a:r>
            <a:r>
              <a:rPr sz="1800" b="0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sz="1800" b="0" dirty="0" smtClean="0">
              <a:solidFill>
                <a:srgbClr val="EFF3F6"/>
              </a:solidFill>
              <a:latin typeface="Cascadia Mono"/>
            </a:endParaRPr>
          </a:p>
          <a:p>
            <a:pPr algn="l">
              <a:spcAft>
                <a:spcPts val="0"/>
              </a:spcAft>
            </a:pPr>
            <a:endParaRPr lang="en-US" dirty="0">
              <a:solidFill>
                <a:srgbClr val="EFF3F6"/>
              </a:solidFill>
              <a:latin typeface="Cascadia Mono"/>
            </a:endParaRPr>
          </a:p>
          <a:p>
            <a:r>
              <a:rPr lang="en-US" dirty="0">
                <a:solidFill>
                  <a:srgbClr val="EFF3F6"/>
                </a:solidFill>
                <a:latin typeface="Cascadia Mono"/>
              </a:rPr>
              <a:t>&lt;dl&gt;   </a:t>
            </a:r>
            <a:endParaRPr lang="en-US" dirty="0" smtClean="0">
              <a:solidFill>
                <a:srgbClr val="EFF3F6"/>
              </a:solidFill>
              <a:latin typeface="Cascadia Mono"/>
            </a:endParaRPr>
          </a:p>
          <a:p>
            <a:r>
              <a:rPr lang="en-US" dirty="0" smtClean="0">
                <a:solidFill>
                  <a:srgbClr val="EFF3F6"/>
                </a:solidFill>
                <a:latin typeface="Cascadia Mono"/>
              </a:rPr>
              <a:t> 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&lt;</a:t>
            </a:r>
            <a:r>
              <a:rPr lang="en-US" dirty="0" err="1">
                <a:solidFill>
                  <a:srgbClr val="EFF3F6"/>
                </a:solidFill>
                <a:latin typeface="Cascadia Mono"/>
              </a:rPr>
              <a:t>dt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&gt;HTML&lt;/</a:t>
            </a:r>
            <a:r>
              <a:rPr lang="en-US" dirty="0" err="1">
                <a:solidFill>
                  <a:srgbClr val="EFF3F6"/>
                </a:solidFill>
                <a:latin typeface="Cascadia Mono"/>
              </a:rPr>
              <a:t>dt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&gt;    </a:t>
            </a:r>
            <a:endParaRPr lang="en-US" dirty="0" smtClean="0">
              <a:solidFill>
                <a:srgbClr val="EFF3F6"/>
              </a:solidFill>
              <a:latin typeface="Cascadia Mono"/>
            </a:endParaRPr>
          </a:p>
          <a:p>
            <a:r>
              <a:rPr lang="en-US" dirty="0" smtClean="0">
                <a:solidFill>
                  <a:srgbClr val="EFF3F6"/>
                </a:solidFill>
                <a:latin typeface="Cascadia Mono"/>
              </a:rPr>
              <a:t> &lt;</a:t>
            </a:r>
            <a:r>
              <a:rPr lang="en-US" dirty="0" err="1">
                <a:solidFill>
                  <a:srgbClr val="EFF3F6"/>
                </a:solidFill>
                <a:latin typeface="Cascadia Mono"/>
              </a:rPr>
              <a:t>dd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&gt;</a:t>
            </a:r>
            <a:r>
              <a:rPr lang="en-US" dirty="0" err="1">
                <a:solidFill>
                  <a:srgbClr val="EFF3F6"/>
                </a:solidFill>
                <a:latin typeface="Cascadia Mono"/>
              </a:rPr>
              <a:t>HyperText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 Markup </a:t>
            </a:r>
            <a:endParaRPr lang="en-US" dirty="0" smtClean="0">
              <a:solidFill>
                <a:srgbClr val="EFF3F6"/>
              </a:solidFill>
              <a:latin typeface="Cascadia Mono"/>
            </a:endParaRPr>
          </a:p>
          <a:p>
            <a:r>
              <a:rPr lang="en-US" dirty="0" smtClean="0">
                <a:solidFill>
                  <a:srgbClr val="EFF3F6"/>
                </a:solidFill>
                <a:latin typeface="Cascadia Mono"/>
              </a:rPr>
              <a:t>&lt;/</a:t>
            </a:r>
            <a:r>
              <a:rPr lang="en-US" dirty="0">
                <a:solidFill>
                  <a:srgbClr val="EFF3F6"/>
                </a:solidFill>
                <a:latin typeface="Cascadia Mono"/>
              </a:rPr>
              <a:t>dl&gt;</a:t>
            </a:r>
            <a:endParaRPr sz="1800" b="0" dirty="0">
              <a:solidFill>
                <a:srgbClr val="EFF3F6"/>
              </a:solidFill>
              <a:latin typeface="Cascadia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Tables: Basic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8897" y="2114926"/>
            <a:ext cx="4462966" cy="2378087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tables for tabular data—not page layout.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&lt;table&gt; contains the table.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tr</a:t>
            </a:r>
            <a:r>
              <a:rPr dirty="0"/>
              <a:t>&gt; = row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</a:t>
            </a:r>
            <a:r>
              <a:rPr dirty="0" err="1"/>
              <a:t>th</a:t>
            </a:r>
            <a:r>
              <a:rPr dirty="0"/>
              <a:t>&gt; = header cell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&lt;td&gt; = data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&lt;table&gt;
  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&gt;Name&lt;/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&gt;Age&lt;/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
  &lt;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&gt;&lt;td&gt;Ahmed&lt;/td&gt;&lt;td&gt;25&lt;/td&gt;&lt;/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&gt;
&lt;/table&gt;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dirty="0">
                <a:solidFill>
                  <a:srgbClr val="142234"/>
                </a:solidFill>
                <a:latin typeface="Aptos"/>
              </a:rPr>
              <a:t>Tables: Semantic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&lt;thead&gt; groups header rows.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&lt;tbody&gt; groups main data.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&lt;tfoot&gt; groups summary/footer rows.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t>• colspan spans columns; rowspan spans rows.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6276" y="1243584"/>
            <a:ext cx="5760720" cy="530352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7445" y="1554480"/>
            <a:ext cx="5358383" cy="526913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&lt;table</a:t>
            </a:r>
            <a:r>
              <a:rPr lang="en-US" sz="1600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sz="1600" dirty="0">
              <a:solidFill>
                <a:srgbClr val="EFF3F6"/>
              </a:solidFill>
              <a:latin typeface="Cascadia Mono"/>
            </a:endParaRP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thead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&gt;Student&lt;/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&gt;Grade&lt;/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thead</a:t>
            </a:r>
            <a:r>
              <a:rPr lang="en-US" sz="1600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sz="1600" dirty="0">
              <a:solidFill>
                <a:srgbClr val="EFF3F6"/>
              </a:solidFill>
              <a:latin typeface="Cascadia Mono"/>
            </a:endParaRP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tbody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&lt;td&gt;Ahmed&lt;/td&gt;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&lt;td&gt;90&lt;/td&gt;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sz="1600" dirty="0">
              <a:solidFill>
                <a:srgbClr val="EFF3F6"/>
              </a:solidFill>
              <a:latin typeface="Cascadia Mono"/>
            </a:endParaRPr>
          </a:p>
          <a:p>
            <a:r>
              <a:rPr lang="en-US" sz="1600" dirty="0" smtClean="0">
                <a:solidFill>
                  <a:srgbClr val="EFF3F6"/>
                </a:solidFill>
                <a:latin typeface="Cascadia Mono"/>
              </a:rPr>
              <a:t>				……</a:t>
            </a:r>
            <a:endParaRPr lang="en-US" sz="1600" dirty="0">
              <a:solidFill>
                <a:srgbClr val="EFF3F6"/>
              </a:solidFill>
              <a:latin typeface="Cascadia Mono"/>
            </a:endParaRP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tbody</a:t>
            </a:r>
            <a:r>
              <a:rPr lang="en-US" sz="1600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sz="1600" dirty="0">
              <a:solidFill>
                <a:srgbClr val="EFF3F6"/>
              </a:solidFill>
              <a:latin typeface="Cascadia Mono"/>
            </a:endParaRP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tfoot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&gt;Average&lt;/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th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    &lt;td&gt;85&lt;/td&gt;</a:t>
            </a:r>
          </a:p>
          <a:p>
            <a:r>
              <a:rPr lang="en-US" sz="1600" dirty="0">
                <a:solidFill>
                  <a:srgbClr val="EFF3F6"/>
                </a:solidFill>
                <a:latin typeface="Cascadia Mono"/>
              </a:rPr>
              <a:t>        &lt;/</a:t>
            </a:r>
            <a:r>
              <a:rPr lang="en-US" sz="1600" dirty="0" err="1">
                <a:solidFill>
                  <a:srgbClr val="EFF3F6"/>
                </a:solidFill>
                <a:latin typeface="Cascadia Mono"/>
              </a:rPr>
              <a:t>tr</a:t>
            </a:r>
            <a:r>
              <a:rPr lang="en-US" sz="1600" dirty="0">
                <a:solidFill>
                  <a:srgbClr val="EFF3F6"/>
                </a:solidFill>
                <a:latin typeface="Cascadia Mono"/>
              </a:rPr>
              <a:t>&gt;</a:t>
            </a:r>
          </a:p>
          <a:p>
            <a:r>
              <a:rPr lang="en-US" dirty="0">
                <a:solidFill>
                  <a:srgbClr val="EFF3F6"/>
                </a:solidFill>
                <a:latin typeface="Cascadia Mono"/>
              </a:rPr>
              <a:t>    &lt;/</a:t>
            </a:r>
            <a:r>
              <a:rPr lang="en-US" dirty="0" err="1">
                <a:solidFill>
                  <a:srgbClr val="EFF3F6"/>
                </a:solidFill>
                <a:latin typeface="Cascadia Mono"/>
              </a:rPr>
              <a:t>tfoot</a:t>
            </a:r>
            <a:r>
              <a:rPr lang="en-US" dirty="0" smtClean="0">
                <a:solidFill>
                  <a:srgbClr val="EFF3F6"/>
                </a:solidFill>
                <a:latin typeface="Cascadia Mono"/>
              </a:rPr>
              <a:t>&gt;</a:t>
            </a:r>
            <a:endParaRPr lang="en-US" dirty="0">
              <a:solidFill>
                <a:srgbClr val="EFF3F6"/>
              </a:solidFill>
              <a:latin typeface="Cascadia Mono"/>
            </a:endParaRPr>
          </a:p>
          <a:p>
            <a:r>
              <a:rPr lang="en-US" dirty="0">
                <a:solidFill>
                  <a:srgbClr val="EFF3F6"/>
                </a:solidFill>
                <a:latin typeface="Cascadia Mono"/>
              </a:rPr>
              <a:t>&lt;/table&gt;</a:t>
            </a:r>
            <a:endParaRPr sz="1800" b="0" dirty="0">
              <a:solidFill>
                <a:srgbClr val="EFF3F6"/>
              </a:solidFill>
              <a:latin typeface="Cascadia Mon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div &amp; HTML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4892040" cy="5074920"/>
          </a:xfrm>
          <a:prstGeom prst="roundRect">
            <a:avLst/>
          </a:prstGeom>
          <a:solidFill>
            <a:srgbClr val="E8F7F4"/>
          </a:solidFill>
          <a:ln>
            <a:solidFill>
              <a:srgbClr val="B1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536192"/>
            <a:ext cx="4297680" cy="44805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&lt;div&gt; is a generic block-level container with no semantic meaning.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Use it for grouping when no semantic element fits.</a:t>
            </a:r>
          </a:p>
          <a:p>
            <a:pPr>
              <a:spcAft>
                <a:spcPts val="1000"/>
              </a:spcAft>
              <a:defRPr sz="2000">
                <a:solidFill>
                  <a:srgbClr val="202831"/>
                </a:solidFill>
                <a:latin typeface="Aptos"/>
              </a:defRPr>
            </a:pPr>
            <a:r>
              <a:rPr dirty="0"/>
              <a:t>• Entities represent reserved/special characters: &amp;</a:t>
            </a:r>
            <a:r>
              <a:rPr dirty="0" err="1"/>
              <a:t>lt</a:t>
            </a:r>
            <a:r>
              <a:rPr dirty="0"/>
              <a:t>; &amp;</a:t>
            </a:r>
            <a:r>
              <a:rPr dirty="0" err="1"/>
              <a:t>gt</a:t>
            </a:r>
            <a:r>
              <a:rPr dirty="0"/>
              <a:t>; &amp;amp; &amp;</a:t>
            </a:r>
            <a:r>
              <a:rPr dirty="0" err="1"/>
              <a:t>quot</a:t>
            </a:r>
            <a:r>
              <a:rPr dirty="0"/>
              <a:t>; &amp;copy; &amp;</a:t>
            </a:r>
            <a:r>
              <a:rPr dirty="0" err="1"/>
              <a:t>nbsp</a:t>
            </a:r>
            <a:r>
              <a:rPr dirty="0"/>
              <a:t>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207008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184"/>
                </a:solidFill>
                <a:latin typeface="Aptos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554480"/>
            <a:ext cx="5760720" cy="4343400"/>
          </a:xfrm>
          <a:prstGeom prst="roundRect">
            <a:avLst/>
          </a:prstGeom>
          <a:solidFill>
            <a:srgbClr val="1C2127"/>
          </a:solidFill>
          <a:ln>
            <a:solidFill>
              <a:srgbClr val="3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07607" y="1719072"/>
            <a:ext cx="5358383" cy="405079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dirty="0">
                <a:solidFill>
                  <a:srgbClr val="EFF3F6"/>
                </a:solidFill>
                <a:latin typeface="Cascadia Mono"/>
              </a:rPr>
              <a:t>&lt;div class="card"&gt;Content&lt;/div&gt;
&amp;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lt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;  &amp;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gt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;  &amp;amp;  &amp;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quot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;
&amp;copy;  &amp;</a:t>
            </a:r>
            <a:r>
              <a:rPr sz="1800" b="0" dirty="0" err="1">
                <a:solidFill>
                  <a:srgbClr val="EFF3F6"/>
                </a:solidFill>
                <a:latin typeface="Cascadia Mono"/>
              </a:rPr>
              <a:t>nbsp</a:t>
            </a:r>
            <a:r>
              <a:rPr sz="1800" b="0" dirty="0">
                <a:solidFill>
                  <a:srgbClr val="EFF3F6"/>
                </a:solidFill>
                <a:latin typeface="Cascadia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Mini Build: Personal Profile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66376" cy="4251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Combine the foundations: document skeleton, headings, paragraphs, formatting, links, an image, a list and a small table.</a:t>
            </a:r>
          </a:p>
          <a:p>
            <a:pPr>
              <a:spcAft>
                <a:spcPts val="1100"/>
              </a:spcAft>
              <a:defRPr sz="2200">
                <a:solidFill>
                  <a:srgbClr val="202831"/>
                </a:solidFill>
                <a:latin typeface="Aptos"/>
              </a:defRPr>
            </a:pPr>
            <a:r>
              <a:t>• The goal is not visual styling yet—the goal is correct HTML 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786384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35607"/>
            <a:ext cx="457200" cy="60350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399032"/>
            <a:ext cx="93726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Why is &lt;!DOCTYPE html&gt; important?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31136"/>
            <a:ext cx="10561320" cy="786384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340864"/>
            <a:ext cx="457200" cy="60350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304288"/>
            <a:ext cx="93726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What is the difference between an element and an attribute?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36391"/>
            <a:ext cx="10561320" cy="786384"/>
          </a:xfrm>
          <a:prstGeom prst="roundRect">
            <a:avLst/>
          </a:prstGeom>
          <a:solidFill>
            <a:srgbClr val="E8F7F4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246120"/>
            <a:ext cx="457200" cy="60350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3209544"/>
            <a:ext cx="93726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Why must nested tags be closed in reverse order?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41648"/>
            <a:ext cx="10561320" cy="786384"/>
          </a:xfrm>
          <a:prstGeom prst="roundRect">
            <a:avLst/>
          </a:prstGeom>
          <a:solidFill>
            <a:srgbClr val="EDF3F9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151376"/>
            <a:ext cx="457200" cy="60350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9184"/>
                </a:solidFill>
                <a:latin typeface="Apto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4114800"/>
            <a:ext cx="9372600" cy="6400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02831"/>
                </a:solidFill>
                <a:latin typeface="Aptos"/>
              </a:rPr>
              <a:t>When should you use &lt;ol&gt; instead of &lt;ul&gt;?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9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881360" cy="56692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234"/>
                </a:solidFill>
                <a:latin typeface="Aptos"/>
              </a:rPr>
              <a:t>Lecture 1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6920" y="896112"/>
            <a:ext cx="192024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009184"/>
                </a:solidFill>
                <a:latin typeface="Aptos"/>
              </a:rPr>
              <a:t>HTML CONTENT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66376" cy="425196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t>• HTML is about structure and meaning.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t>• Start with a valid document skeleton.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t>• Use meaningful text structure, links and image alternatives.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t>• Use lists and tables according to the kind of data they represent.</a:t>
            </a:r>
          </a:p>
          <a:p>
            <a:pPr>
              <a:spcAft>
                <a:spcPts val="1100"/>
              </a:spcAft>
              <a:defRPr sz="2100">
                <a:solidFill>
                  <a:srgbClr val="202831"/>
                </a:solidFill>
                <a:latin typeface="Aptos"/>
              </a:defRPr>
            </a:pPr>
            <a:r>
              <a:t>• Next: semantic structure, media, forms and accessibility.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Web Applications Engineering  •  HTML Essentials  •  Dr. Mohamed Ryan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87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1786</Words>
  <Application>Microsoft Office PowerPoint</Application>
  <PresentationFormat>Widescreen</PresentationFormat>
  <Paragraphs>310</Paragraphs>
  <Slides>27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17</cp:revision>
  <dcterms:created xsi:type="dcterms:W3CDTF">2013-01-27T09:14:16Z</dcterms:created>
  <dcterms:modified xsi:type="dcterms:W3CDTF">2026-09-25T21:42:51Z</dcterms:modified>
  <cp:category/>
</cp:coreProperties>
</file>