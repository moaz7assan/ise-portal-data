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7836" autoAdjust="0"/>
  </p:normalViewPr>
  <p:slideViewPr>
    <p:cSldViewPr snapToGrid="0" snapToObjects="1">
      <p:cViewPr varScale="1">
        <p:scale>
          <a:sx n="54" d="100"/>
          <a:sy n="54" d="100"/>
        </p:scale>
        <p:origin x="504" y="40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BE6E56-2B32-46ED-A927-A557128A9D4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19F965-C423-462A-920E-28C109AEF3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9795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&lt;figure&gt;</a:t>
            </a:r>
          </a:p>
          <a:p>
            <a:r>
              <a:rPr lang="en-US" dirty="0" smtClean="0"/>
              <a:t>  &lt;pre&gt;&lt;code&gt;console.log("Hello");&lt;/code&gt;&lt;/pre&gt;</a:t>
            </a:r>
          </a:p>
          <a:p>
            <a:r>
              <a:rPr lang="en-US" dirty="0" smtClean="0"/>
              <a:t>  &lt;</a:t>
            </a:r>
            <a:r>
              <a:rPr lang="en-US" dirty="0" err="1" smtClean="0"/>
              <a:t>figcaption</a:t>
            </a:r>
            <a:r>
              <a:rPr lang="en-US" dirty="0" smtClean="0"/>
              <a:t>&gt;Example 1: Logging to the console.&lt;/</a:t>
            </a:r>
            <a:r>
              <a:rPr lang="en-US" dirty="0" err="1" smtClean="0"/>
              <a:t>figcaption</a:t>
            </a:r>
            <a:r>
              <a:rPr lang="en-US" dirty="0" smtClean="0"/>
              <a:t>&gt;</a:t>
            </a:r>
          </a:p>
          <a:p>
            <a:r>
              <a:rPr lang="en-US" dirty="0" smtClean="0"/>
              <a:t>&lt;/figure&gt;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19F965-C423-462A-920E-28C109AEF36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6050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fallback content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It's the content </a:t>
            </a:r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inside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&lt;video&gt; element, placed there as a </a:t>
            </a:r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backup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for browsers that can't handle the &lt;video&gt; tag.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19F965-C423-462A-920E-28C109AEF36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11975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loading="lazy“ =&gt; It tells the browser that the iframe does not necessarily need to be loaded immediately.</a:t>
            </a:r>
          </a:p>
          <a:p>
            <a:endParaRPr lang="en-US" dirty="0" smtClean="0"/>
          </a:p>
          <a:p>
            <a:r>
              <a:rPr lang="en-US" dirty="0" smtClean="0"/>
              <a:t>Sandbox = what you're allowing them to 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19F965-C423-462A-920E-28C109AEF36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1866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19F965-C423-462A-920E-28C109AEF36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9595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19F965-C423-462A-920E-28C109AEF362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1731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19F965-C423-462A-920E-28C109AEF362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1570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2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009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685800"/>
            <a:ext cx="6309360" cy="3200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09184"/>
                </a:solidFill>
                <a:latin typeface="Aptos"/>
              </a:rPr>
              <a:t>WEB APPLICATIONS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325880"/>
            <a:ext cx="6492240" cy="11887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Aptos"/>
              </a:rPr>
              <a:t>HTML Essentials — Lecture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743200"/>
            <a:ext cx="6217920" cy="9144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0">
                <a:solidFill>
                  <a:srgbClr val="DAE4EC"/>
                </a:solidFill>
                <a:latin typeface="Aptos"/>
              </a:rPr>
              <a:t>Semantic HTML, Media, Forms &amp; Accessibility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709160"/>
            <a:ext cx="6217920" cy="4114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Dr. Mohamed Ryan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321808"/>
            <a:ext cx="2194560" cy="3200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B8C7D3"/>
                </a:solidFill>
                <a:latin typeface="Aptos"/>
              </a:rPr>
              <a:t>Lecture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1417320"/>
            <a:ext cx="3383280" cy="7315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3800" b="1">
                <a:solidFill>
                  <a:srgbClr val="009184"/>
                </a:solidFill>
                <a:latin typeface="Cascadia Mono"/>
              </a:rPr>
              <a:t>&lt;html&gt;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2331720"/>
            <a:ext cx="3017520" cy="6400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3000" b="0">
                <a:solidFill>
                  <a:srgbClr val="FFFFFF"/>
                </a:solidFill>
                <a:latin typeface="Cascadia Mono"/>
              </a:rPr>
              <a:t>&lt;body&gt;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8120" y="3154680"/>
            <a:ext cx="3017520" cy="6400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3000" b="0">
                <a:solidFill>
                  <a:srgbClr val="99D1C9"/>
                </a:solidFill>
                <a:latin typeface="Cascadia Mono"/>
              </a:rPr>
              <a:t>&lt;main&gt;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3977639"/>
            <a:ext cx="3383280" cy="7315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3800" b="1">
                <a:solidFill>
                  <a:srgbClr val="009184"/>
                </a:solidFill>
                <a:latin typeface="Cascadia Mono"/>
              </a:rPr>
              <a:t>&lt;/html&gt;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9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881360" cy="56692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42234"/>
                </a:solidFill>
                <a:latin typeface="Aptos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46920" y="896112"/>
            <a:ext cx="1920240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009184"/>
                </a:solidFill>
                <a:latin typeface="Aptos"/>
              </a:rPr>
              <a:t>OBJECTIVES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5349240" cy="1115568"/>
          </a:xfrm>
          <a:prstGeom prst="roundRect">
            <a:avLst/>
          </a:prstGeom>
          <a:solidFill>
            <a:srgbClr val="EDF3F9"/>
          </a:solidFill>
          <a:ln>
            <a:solidFill>
              <a:srgbClr val="CD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22959" y="1572768"/>
            <a:ext cx="566928" cy="566928"/>
          </a:xfrm>
          <a:prstGeom prst="ellipse">
            <a:avLst/>
          </a:prstGeom>
          <a:solidFill>
            <a:srgbClr val="009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59" y="1741932"/>
            <a:ext cx="566928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dirty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72768" y="1435607"/>
            <a:ext cx="4069080" cy="89611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202831"/>
                </a:solidFill>
                <a:latin typeface="Aptos"/>
              </a:rPr>
              <a:t>Build a page with semantic HTML5 elements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325880"/>
            <a:ext cx="5349240" cy="1115568"/>
          </a:xfrm>
          <a:prstGeom prst="roundRect">
            <a:avLst/>
          </a:prstGeom>
          <a:solidFill>
            <a:srgbClr val="EDF3F9"/>
          </a:solidFill>
          <a:ln>
            <a:solidFill>
              <a:srgbClr val="CD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446520" y="1572768"/>
            <a:ext cx="566928" cy="566928"/>
          </a:xfrm>
          <a:prstGeom prst="ellipse">
            <a:avLst/>
          </a:prstGeom>
          <a:solidFill>
            <a:srgbClr val="009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46520" y="1741932"/>
            <a:ext cx="566928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dirty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96328" y="1435607"/>
            <a:ext cx="4069080" cy="89611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202831"/>
                </a:solidFill>
                <a:latin typeface="Aptos"/>
              </a:rPr>
              <a:t>Embed audio, video and external content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770632"/>
            <a:ext cx="5349240" cy="1115568"/>
          </a:xfrm>
          <a:prstGeom prst="roundRect">
            <a:avLst/>
          </a:prstGeom>
          <a:solidFill>
            <a:srgbClr val="EDF3F9"/>
          </a:solidFill>
          <a:ln>
            <a:solidFill>
              <a:srgbClr val="CD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22959" y="3017520"/>
            <a:ext cx="566928" cy="566928"/>
          </a:xfrm>
          <a:prstGeom prst="ellipse">
            <a:avLst/>
          </a:prstGeom>
          <a:solidFill>
            <a:srgbClr val="009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59" y="3186340"/>
            <a:ext cx="566928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dirty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72768" y="2880360"/>
            <a:ext cx="4069080" cy="89611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202831"/>
                </a:solidFill>
                <a:latin typeface="Aptos"/>
              </a:rPr>
              <a:t>Display code using &lt;pre&gt; and &lt;code&gt;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2770632"/>
            <a:ext cx="5349240" cy="1115568"/>
          </a:xfrm>
          <a:prstGeom prst="roundRect">
            <a:avLst/>
          </a:prstGeom>
          <a:solidFill>
            <a:srgbClr val="EDF3F9"/>
          </a:solidFill>
          <a:ln>
            <a:solidFill>
              <a:srgbClr val="CD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446520" y="3017520"/>
            <a:ext cx="566928" cy="566928"/>
          </a:xfrm>
          <a:prstGeom prst="ellipse">
            <a:avLst/>
          </a:prstGeom>
          <a:solidFill>
            <a:srgbClr val="009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46520" y="3186340"/>
            <a:ext cx="566928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96328" y="2880360"/>
            <a:ext cx="4069080" cy="89611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202831"/>
                </a:solidFill>
                <a:latin typeface="Aptos"/>
              </a:rPr>
              <a:t>Create practical forms with validation attributes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215384"/>
            <a:ext cx="5349240" cy="1115568"/>
          </a:xfrm>
          <a:prstGeom prst="roundRect">
            <a:avLst/>
          </a:prstGeom>
          <a:solidFill>
            <a:srgbClr val="EDF3F9"/>
          </a:solidFill>
          <a:ln>
            <a:solidFill>
              <a:srgbClr val="CD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822959" y="4462272"/>
            <a:ext cx="566928" cy="566928"/>
          </a:xfrm>
          <a:prstGeom prst="ellipse">
            <a:avLst/>
          </a:prstGeom>
          <a:solidFill>
            <a:srgbClr val="009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2959" y="4622292"/>
            <a:ext cx="566928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dirty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72768" y="4325112"/>
            <a:ext cx="4069080" cy="89611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202831"/>
                </a:solidFill>
                <a:latin typeface="Aptos"/>
              </a:rPr>
              <a:t>Explain GET vs POST and form submission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4215384"/>
            <a:ext cx="5349240" cy="1115568"/>
          </a:xfrm>
          <a:prstGeom prst="roundRect">
            <a:avLst/>
          </a:prstGeom>
          <a:solidFill>
            <a:srgbClr val="EDF3F9"/>
          </a:solidFill>
          <a:ln>
            <a:solidFill>
              <a:srgbClr val="CD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6446520" y="4462272"/>
            <a:ext cx="566928" cy="566928"/>
          </a:xfrm>
          <a:prstGeom prst="ellipse">
            <a:avLst/>
          </a:prstGeom>
          <a:solidFill>
            <a:srgbClr val="009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46520" y="4622292"/>
            <a:ext cx="566928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dirty="0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96328" y="4325112"/>
            <a:ext cx="4069080" cy="89611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202831"/>
                </a:solidFill>
                <a:latin typeface="Aptos"/>
              </a:rPr>
              <a:t>Apply core accessibility principles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510528"/>
            <a:ext cx="987552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876"/>
                </a:solidFill>
                <a:latin typeface="Aptos"/>
              </a:rPr>
              <a:t>Web Applications Engineering  •  HTML Essentials  •  Dr. Mohamed Ryan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876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9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881360" cy="56692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42234"/>
                </a:solidFill>
                <a:latin typeface="Aptos"/>
              </a:rPr>
              <a:t>From Generic Containers to Meaningful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46920" y="896112"/>
            <a:ext cx="1920240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009184"/>
                </a:solidFill>
                <a:latin typeface="Aptos"/>
              </a:rPr>
              <a:t>FORMS &amp; ACCESSIBILITY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325880"/>
            <a:ext cx="10561320" cy="4709160"/>
          </a:xfrm>
          <a:prstGeom prst="roundRect">
            <a:avLst/>
          </a:prstGeom>
          <a:solidFill>
            <a:srgbClr val="FFFFFF"/>
          </a:solidFill>
          <a:ln>
            <a:solidFill>
              <a:srgbClr val="CD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97864" y="2298880"/>
            <a:ext cx="9774936" cy="1654812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>
              <a:spcAft>
                <a:spcPts val="1100"/>
              </a:spcAft>
              <a:defRPr sz="2200">
                <a:solidFill>
                  <a:srgbClr val="202831"/>
                </a:solidFill>
                <a:latin typeface="Aptos"/>
              </a:defRPr>
            </a:pPr>
            <a:r>
              <a:rPr dirty="0"/>
              <a:t>• Older layouts often used many &lt;div&gt; elements with classes.</a:t>
            </a:r>
          </a:p>
          <a:p>
            <a:pPr>
              <a:spcAft>
                <a:spcPts val="1100"/>
              </a:spcAft>
              <a:defRPr sz="2200">
                <a:solidFill>
                  <a:srgbClr val="202831"/>
                </a:solidFill>
                <a:latin typeface="Aptos"/>
              </a:defRPr>
            </a:pPr>
            <a:r>
              <a:rPr dirty="0"/>
              <a:t>• Modern HTML provides meaningful structural elements.</a:t>
            </a:r>
          </a:p>
          <a:p>
            <a:pPr>
              <a:spcAft>
                <a:spcPts val="1100"/>
              </a:spcAft>
              <a:defRPr sz="2200">
                <a:solidFill>
                  <a:srgbClr val="202831"/>
                </a:solidFill>
                <a:latin typeface="Aptos"/>
              </a:defRPr>
            </a:pPr>
            <a:r>
              <a:rPr dirty="0"/>
              <a:t>• Semantic tags tell developers, browsers and assistive technologies what a region means.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987552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876"/>
                </a:solidFill>
                <a:latin typeface="Aptos"/>
              </a:rPr>
              <a:t>Web Applications Engineering  •  HTML Essentials  •  Dr. Mohamed Ryan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876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9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881360" cy="56692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42234"/>
                </a:solidFill>
                <a:latin typeface="Aptos"/>
              </a:rPr>
              <a:t>Core Semantic Elements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46920" y="896112"/>
            <a:ext cx="1920240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009184"/>
                </a:solidFill>
                <a:latin typeface="Aptos"/>
              </a:rPr>
              <a:t>FORMS &amp; ACCESSIBILITY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325880"/>
            <a:ext cx="10561320" cy="4709160"/>
          </a:xfrm>
          <a:prstGeom prst="roundRect">
            <a:avLst/>
          </a:prstGeom>
          <a:solidFill>
            <a:srgbClr val="FFFFFF"/>
          </a:solidFill>
          <a:ln>
            <a:solidFill>
              <a:srgbClr val="CD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50026" y="1976775"/>
            <a:ext cx="10434254" cy="2985946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02831"/>
                </a:solidFill>
                <a:latin typeface="Aptos"/>
              </a:defRPr>
            </a:pPr>
            <a:r>
              <a:rPr dirty="0"/>
              <a:t>• &lt;header&gt; — introductory content/navigation</a:t>
            </a:r>
          </a:p>
          <a:p>
            <a:pPr>
              <a:spcAft>
                <a:spcPts val="700"/>
              </a:spcAft>
              <a:defRPr sz="1900">
                <a:solidFill>
                  <a:srgbClr val="202831"/>
                </a:solidFill>
                <a:latin typeface="Aptos"/>
              </a:defRPr>
            </a:pPr>
            <a:r>
              <a:rPr dirty="0"/>
              <a:t>• &lt;</a:t>
            </a:r>
            <a:r>
              <a:rPr dirty="0" err="1"/>
              <a:t>nav</a:t>
            </a:r>
            <a:r>
              <a:rPr dirty="0"/>
              <a:t>&gt; — navigation links</a:t>
            </a:r>
          </a:p>
          <a:p>
            <a:pPr>
              <a:spcAft>
                <a:spcPts val="700"/>
              </a:spcAft>
              <a:defRPr sz="1900">
                <a:solidFill>
                  <a:srgbClr val="202831"/>
                </a:solidFill>
                <a:latin typeface="Aptos"/>
              </a:defRPr>
            </a:pPr>
            <a:r>
              <a:rPr dirty="0"/>
              <a:t>• &lt;main&gt; — primary page content</a:t>
            </a:r>
          </a:p>
          <a:p>
            <a:pPr>
              <a:spcAft>
                <a:spcPts val="700"/>
              </a:spcAft>
              <a:defRPr sz="1900">
                <a:solidFill>
                  <a:srgbClr val="202831"/>
                </a:solidFill>
                <a:latin typeface="Aptos"/>
              </a:defRPr>
            </a:pPr>
            <a:r>
              <a:rPr dirty="0"/>
              <a:t>• &lt;article&gt; — self-contained </a:t>
            </a:r>
            <a:r>
              <a:rPr dirty="0" smtClean="0"/>
              <a:t>content</a:t>
            </a:r>
            <a:r>
              <a:rPr lang="en-US" dirty="0" smtClean="0"/>
              <a:t> “</a:t>
            </a:r>
            <a:r>
              <a:rPr lang="en-US" sz="1900" dirty="0" smtClean="0"/>
              <a:t>an </a:t>
            </a:r>
            <a:r>
              <a:rPr lang="en-US" sz="1900" dirty="0"/>
              <a:t>independent piece of </a:t>
            </a:r>
            <a:r>
              <a:rPr lang="en-US" sz="1900" dirty="0" smtClean="0"/>
              <a:t>content”</a:t>
            </a:r>
            <a:endParaRPr dirty="0"/>
          </a:p>
          <a:p>
            <a:pPr>
              <a:spcAft>
                <a:spcPts val="700"/>
              </a:spcAft>
              <a:defRPr sz="1900">
                <a:solidFill>
                  <a:srgbClr val="202831"/>
                </a:solidFill>
                <a:latin typeface="Aptos"/>
              </a:defRPr>
            </a:pPr>
            <a:r>
              <a:rPr dirty="0"/>
              <a:t>• &lt;section&gt; — thematic grouping, usually with a </a:t>
            </a:r>
            <a:r>
              <a:rPr dirty="0" smtClean="0"/>
              <a:t>heading</a:t>
            </a:r>
            <a:r>
              <a:rPr lang="en-US" dirty="0" smtClean="0"/>
              <a:t> </a:t>
            </a:r>
            <a:r>
              <a:rPr lang="en-US" sz="1900" dirty="0" smtClean="0"/>
              <a:t>"a </a:t>
            </a:r>
            <a:r>
              <a:rPr lang="en-US" sz="1900" dirty="0"/>
              <a:t>group of content about one topic."</a:t>
            </a:r>
            <a:endParaRPr dirty="0"/>
          </a:p>
          <a:p>
            <a:pPr>
              <a:spcAft>
                <a:spcPts val="700"/>
              </a:spcAft>
              <a:defRPr sz="1900">
                <a:solidFill>
                  <a:srgbClr val="202831"/>
                </a:solidFill>
                <a:latin typeface="Aptos"/>
              </a:defRPr>
            </a:pPr>
            <a:r>
              <a:rPr dirty="0"/>
              <a:t>• &lt;aside&gt; — related/secondary content</a:t>
            </a:r>
          </a:p>
          <a:p>
            <a:pPr>
              <a:spcAft>
                <a:spcPts val="700"/>
              </a:spcAft>
              <a:defRPr sz="1900">
                <a:solidFill>
                  <a:srgbClr val="202831"/>
                </a:solidFill>
                <a:latin typeface="Aptos"/>
              </a:defRPr>
            </a:pPr>
            <a:r>
              <a:rPr dirty="0"/>
              <a:t>• &lt;footer&gt; — closing information</a:t>
            </a:r>
          </a:p>
          <a:p>
            <a:pPr>
              <a:spcAft>
                <a:spcPts val="700"/>
              </a:spcAft>
              <a:defRPr sz="1900">
                <a:solidFill>
                  <a:srgbClr val="202831"/>
                </a:solidFill>
                <a:latin typeface="Aptos"/>
              </a:defRPr>
            </a:pPr>
            <a:r>
              <a:rPr dirty="0"/>
              <a:t>• &lt;figure&gt; — self-contained media/content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987552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876"/>
                </a:solidFill>
                <a:latin typeface="Aptos"/>
              </a:rPr>
              <a:t>Web Applications Engineering  •  HTML Essentials  •  Dr. Mohamed Ryan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876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9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881360" cy="56692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42234"/>
                </a:solidFill>
                <a:latin typeface="Aptos"/>
              </a:rPr>
              <a:t>Semantic Layout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46920" y="896112"/>
            <a:ext cx="1920240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009184"/>
                </a:solidFill>
                <a:latin typeface="Aptos"/>
              </a:rPr>
              <a:t>SEMANTICS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34440"/>
            <a:ext cx="4892040" cy="5074920"/>
          </a:xfrm>
          <a:prstGeom prst="roundRect">
            <a:avLst/>
          </a:prstGeom>
          <a:solidFill>
            <a:srgbClr val="E8F7F4"/>
          </a:solidFill>
          <a:ln>
            <a:solidFill>
              <a:srgbClr val="B1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97789" y="2469372"/>
            <a:ext cx="4491965" cy="199336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02831"/>
                </a:solidFill>
                <a:latin typeface="Aptos"/>
              </a:defRPr>
            </a:pPr>
            <a:r>
              <a:rPr dirty="0"/>
              <a:t>• A typical page can be organized as header → </a:t>
            </a:r>
            <a:r>
              <a:rPr dirty="0" err="1"/>
              <a:t>nav</a:t>
            </a:r>
            <a:r>
              <a:rPr dirty="0"/>
              <a:t> → main → article/sections → aside → footer.</a:t>
            </a:r>
          </a:p>
          <a:p>
            <a:pPr>
              <a:spcAft>
                <a:spcPts val="1000"/>
              </a:spcAft>
              <a:defRPr sz="2000">
                <a:solidFill>
                  <a:srgbClr val="202831"/>
                </a:solidFill>
                <a:latin typeface="Aptos"/>
              </a:defRPr>
            </a:pPr>
            <a:r>
              <a:rPr dirty="0"/>
              <a:t>• Semantic structure reduces the need to guess what a generic &lt;div&gt; represents.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06440" y="1207008"/>
            <a:ext cx="1828800" cy="3200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09184"/>
                </a:solidFill>
                <a:latin typeface="Aptos"/>
              </a:rPr>
              <a:t>Example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06440" y="1554480"/>
            <a:ext cx="5760720" cy="4343400"/>
          </a:xfrm>
          <a:prstGeom prst="roundRect">
            <a:avLst/>
          </a:prstGeom>
          <a:solidFill>
            <a:srgbClr val="1C2127"/>
          </a:solidFill>
          <a:ln>
            <a:solidFill>
              <a:srgbClr val="374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43582" y="2456492"/>
            <a:ext cx="5161838" cy="225292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dirty="0">
                <a:solidFill>
                  <a:srgbClr val="EFF3F6"/>
                </a:solidFill>
                <a:latin typeface="Cascadia Mono"/>
              </a:rPr>
              <a:t>&lt;body&gt;
  &lt;header&gt;...&lt;/header&gt;
  &lt;main&gt;
    &lt;article&gt;...&lt;/article&gt;
    &lt;aside&gt;...&lt;/aside&gt;
  &lt;/main&gt;
  &lt;footer&gt;...&lt;/footer&gt;
&lt;/body&gt;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510528"/>
            <a:ext cx="987552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876"/>
                </a:solidFill>
                <a:latin typeface="Aptos"/>
              </a:rPr>
              <a:t>Web Applications Engineering  •  HTML Essentials  •  Dr. Mohamed Ryan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876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9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881360" cy="56692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42234"/>
                </a:solidFill>
                <a:latin typeface="Aptos"/>
              </a:rPr>
              <a:t>Why Semantic HTML?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46920" y="896112"/>
            <a:ext cx="1920240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009184"/>
                </a:solidFill>
                <a:latin typeface="Aptos"/>
              </a:rPr>
              <a:t>FORMS &amp; ACCESSIBILITY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325880"/>
            <a:ext cx="10561320" cy="4709160"/>
          </a:xfrm>
          <a:prstGeom prst="roundRect">
            <a:avLst/>
          </a:prstGeom>
          <a:solidFill>
            <a:srgbClr val="FFFFFF"/>
          </a:solidFill>
          <a:ln>
            <a:solidFill>
              <a:srgbClr val="CD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417713" y="2478220"/>
            <a:ext cx="8229207" cy="1847481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>
              <a:spcAft>
                <a:spcPts val="1100"/>
              </a:spcAft>
              <a:defRPr sz="2200">
                <a:solidFill>
                  <a:srgbClr val="202831"/>
                </a:solidFill>
                <a:latin typeface="Aptos"/>
              </a:defRPr>
            </a:pPr>
            <a:r>
              <a:rPr dirty="0"/>
              <a:t>• SEO: clearer content structure for search engines.</a:t>
            </a:r>
          </a:p>
          <a:p>
            <a:pPr>
              <a:spcAft>
                <a:spcPts val="1100"/>
              </a:spcAft>
              <a:defRPr sz="2200">
                <a:solidFill>
                  <a:srgbClr val="202831"/>
                </a:solidFill>
                <a:latin typeface="Aptos"/>
              </a:defRPr>
            </a:pPr>
            <a:r>
              <a:rPr dirty="0"/>
              <a:t>• Accessibility: screen readers can navigate meaningful regions.</a:t>
            </a:r>
          </a:p>
          <a:p>
            <a:pPr>
              <a:spcAft>
                <a:spcPts val="1100"/>
              </a:spcAft>
              <a:defRPr sz="2200">
                <a:solidFill>
                  <a:srgbClr val="202831"/>
                </a:solidFill>
                <a:latin typeface="Aptos"/>
              </a:defRPr>
            </a:pPr>
            <a:r>
              <a:rPr dirty="0"/>
              <a:t>• Readability: developers understand the page faster.</a:t>
            </a:r>
          </a:p>
          <a:p>
            <a:pPr>
              <a:spcAft>
                <a:spcPts val="1100"/>
              </a:spcAft>
              <a:defRPr sz="2200">
                <a:solidFill>
                  <a:srgbClr val="202831"/>
                </a:solidFill>
                <a:latin typeface="Aptos"/>
              </a:defRPr>
            </a:pPr>
            <a:r>
              <a:rPr dirty="0"/>
              <a:t>• Maintainability: structure communicates intent.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987552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876"/>
                </a:solidFill>
                <a:latin typeface="Aptos"/>
              </a:rPr>
              <a:t>Web Applications Engineering  •  HTML Essentials  •  Dr. Mohamed Ryan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876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9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881360" cy="56692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42234"/>
                </a:solidFill>
                <a:latin typeface="Aptos"/>
              </a:rPr>
              <a:t>Audio with &lt;audio&gt;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46920" y="896112"/>
            <a:ext cx="1920240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009184"/>
                </a:solidFill>
                <a:latin typeface="Aptos"/>
              </a:rPr>
              <a:t>SEMANTICS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34440"/>
            <a:ext cx="4892040" cy="5074920"/>
          </a:xfrm>
          <a:prstGeom prst="roundRect">
            <a:avLst/>
          </a:prstGeom>
          <a:solidFill>
            <a:srgbClr val="E8F7F4"/>
          </a:solidFill>
          <a:ln>
            <a:solidFill>
              <a:srgbClr val="B1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97789" y="2098794"/>
            <a:ext cx="4590288" cy="296698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02831"/>
                </a:solidFill>
                <a:latin typeface="Aptos"/>
              </a:defRPr>
            </a:pPr>
            <a:r>
              <a:rPr dirty="0"/>
              <a:t>• Use &lt;audio controls&gt; for native browser playback.</a:t>
            </a:r>
          </a:p>
          <a:p>
            <a:pPr>
              <a:spcAft>
                <a:spcPts val="1000"/>
              </a:spcAft>
              <a:defRPr sz="2000">
                <a:solidFill>
                  <a:srgbClr val="202831"/>
                </a:solidFill>
                <a:latin typeface="Aptos"/>
              </a:defRPr>
            </a:pPr>
            <a:r>
              <a:rPr dirty="0"/>
              <a:t>• &lt;source&gt; lets you provide multiple formats.</a:t>
            </a:r>
          </a:p>
          <a:p>
            <a:pPr>
              <a:spcAft>
                <a:spcPts val="1000"/>
              </a:spcAft>
              <a:defRPr sz="2000">
                <a:solidFill>
                  <a:srgbClr val="202831"/>
                </a:solidFill>
                <a:latin typeface="Aptos"/>
              </a:defRPr>
            </a:pPr>
            <a:r>
              <a:rPr dirty="0"/>
              <a:t>• Common attributes: controls, </a:t>
            </a:r>
            <a:r>
              <a:rPr dirty="0" err="1"/>
              <a:t>autoplay</a:t>
            </a:r>
            <a:r>
              <a:rPr dirty="0"/>
              <a:t>, loop, muted.</a:t>
            </a:r>
          </a:p>
          <a:p>
            <a:pPr>
              <a:spcAft>
                <a:spcPts val="1000"/>
              </a:spcAft>
              <a:defRPr sz="2000">
                <a:solidFill>
                  <a:srgbClr val="202831"/>
                </a:solidFill>
                <a:latin typeface="Aptos"/>
              </a:defRPr>
            </a:pPr>
            <a:r>
              <a:rPr dirty="0"/>
              <a:t>• Prefer user-controlled playback; avoid unexpected </a:t>
            </a:r>
            <a:r>
              <a:rPr dirty="0" err="1"/>
              <a:t>autoplay</a:t>
            </a:r>
            <a:r>
              <a:rPr dirty="0"/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06440" y="1207008"/>
            <a:ext cx="1828800" cy="3200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09184"/>
                </a:solidFill>
                <a:latin typeface="Aptos"/>
              </a:rPr>
              <a:t>Example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06440" y="1554480"/>
            <a:ext cx="5760720" cy="4343400"/>
          </a:xfrm>
          <a:prstGeom prst="roundRect">
            <a:avLst/>
          </a:prstGeom>
          <a:solidFill>
            <a:srgbClr val="1C2127"/>
          </a:solidFill>
          <a:ln>
            <a:solidFill>
              <a:srgbClr val="374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184588" y="2594322"/>
            <a:ext cx="5468113" cy="197592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dirty="0">
                <a:solidFill>
                  <a:srgbClr val="EFF3F6"/>
                </a:solidFill>
                <a:latin typeface="Cascadia Mono"/>
              </a:rPr>
              <a:t>&lt;audio controls&gt;
  &lt;source </a:t>
            </a:r>
            <a:r>
              <a:rPr sz="1800" b="0" dirty="0" err="1">
                <a:solidFill>
                  <a:srgbClr val="EFF3F6"/>
                </a:solidFill>
                <a:latin typeface="Cascadia Mono"/>
              </a:rPr>
              <a:t>src</a:t>
            </a:r>
            <a:r>
              <a:rPr sz="1800" b="0" dirty="0">
                <a:solidFill>
                  <a:srgbClr val="EFF3F6"/>
                </a:solidFill>
                <a:latin typeface="Cascadia Mono"/>
              </a:rPr>
              <a:t>="song.mp3" type="audio/mpeg"&gt;
  &lt;source </a:t>
            </a:r>
            <a:r>
              <a:rPr sz="1800" b="0" dirty="0" err="1">
                <a:solidFill>
                  <a:srgbClr val="EFF3F6"/>
                </a:solidFill>
                <a:latin typeface="Cascadia Mono"/>
              </a:rPr>
              <a:t>src</a:t>
            </a:r>
            <a:r>
              <a:rPr sz="1800" b="0" dirty="0">
                <a:solidFill>
                  <a:srgbClr val="EFF3F6"/>
                </a:solidFill>
                <a:latin typeface="Cascadia Mono"/>
              </a:rPr>
              <a:t>="song.ogg" type="audio/</a:t>
            </a:r>
            <a:r>
              <a:rPr sz="1800" b="0" dirty="0" err="1">
                <a:solidFill>
                  <a:srgbClr val="EFF3F6"/>
                </a:solidFill>
                <a:latin typeface="Cascadia Mono"/>
              </a:rPr>
              <a:t>ogg</a:t>
            </a:r>
            <a:r>
              <a:rPr sz="1800" b="0" dirty="0">
                <a:solidFill>
                  <a:srgbClr val="EFF3F6"/>
                </a:solidFill>
                <a:latin typeface="Cascadia Mono"/>
              </a:rPr>
              <a:t>"&gt;
  Your browser does not support audio.
&lt;/audio&gt;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510528"/>
            <a:ext cx="987552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876"/>
                </a:solidFill>
                <a:latin typeface="Aptos"/>
              </a:rPr>
              <a:t>Web Applications Engineering  •  HTML Essentials  •  Dr. Mohamed Ryan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876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9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881360" cy="56692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42234"/>
                </a:solidFill>
                <a:latin typeface="Aptos"/>
              </a:rPr>
              <a:t>Video with &lt;video&gt;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46920" y="896112"/>
            <a:ext cx="1920240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009184"/>
                </a:solidFill>
                <a:latin typeface="Aptos"/>
              </a:rPr>
              <a:t>MEDIA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34440"/>
            <a:ext cx="4892040" cy="5074920"/>
          </a:xfrm>
          <a:prstGeom prst="roundRect">
            <a:avLst/>
          </a:prstGeom>
          <a:solidFill>
            <a:srgbClr val="E8F7F4"/>
          </a:solidFill>
          <a:ln>
            <a:solidFill>
              <a:srgbClr val="B1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3894" y="2400349"/>
            <a:ext cx="4432972" cy="265166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02831"/>
                </a:solidFill>
                <a:latin typeface="Aptos"/>
              </a:defRPr>
            </a:pPr>
            <a:r>
              <a:rPr dirty="0"/>
              <a:t>• Use &lt;video controls&gt; for native playback.</a:t>
            </a:r>
          </a:p>
          <a:p>
            <a:pPr>
              <a:spcAft>
                <a:spcPts val="1000"/>
              </a:spcAft>
              <a:defRPr sz="2000">
                <a:solidFill>
                  <a:srgbClr val="202831"/>
                </a:solidFill>
                <a:latin typeface="Aptos"/>
              </a:defRPr>
            </a:pPr>
            <a:r>
              <a:rPr dirty="0"/>
              <a:t>• Provide &lt;source&gt; elements when multiple formats are needed.</a:t>
            </a:r>
          </a:p>
          <a:p>
            <a:pPr>
              <a:spcAft>
                <a:spcPts val="1000"/>
              </a:spcAft>
              <a:defRPr sz="2000">
                <a:solidFill>
                  <a:srgbClr val="202831"/>
                </a:solidFill>
                <a:latin typeface="Aptos"/>
              </a:defRPr>
            </a:pPr>
            <a:r>
              <a:rPr dirty="0"/>
              <a:t>• poster provides a preview image.</a:t>
            </a:r>
          </a:p>
          <a:p>
            <a:pPr>
              <a:spcAft>
                <a:spcPts val="1000"/>
              </a:spcAft>
              <a:defRPr sz="2000">
                <a:solidFill>
                  <a:srgbClr val="202831"/>
                </a:solidFill>
                <a:latin typeface="Aptos"/>
              </a:defRPr>
            </a:pPr>
            <a:r>
              <a:rPr dirty="0"/>
              <a:t>• Set sensible dimensions and provide fallback text.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06440" y="1207008"/>
            <a:ext cx="1828800" cy="3200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09184"/>
                </a:solidFill>
                <a:latin typeface="Aptos"/>
              </a:rPr>
              <a:t>Example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06440" y="1554480"/>
            <a:ext cx="5760720" cy="4343400"/>
          </a:xfrm>
          <a:prstGeom prst="roundRect">
            <a:avLst/>
          </a:prstGeom>
          <a:solidFill>
            <a:srgbClr val="1C2127"/>
          </a:solidFill>
          <a:ln>
            <a:solidFill>
              <a:srgbClr val="374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174755" y="2525318"/>
            <a:ext cx="5132341" cy="197592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dirty="0">
                <a:solidFill>
                  <a:srgbClr val="EFF3F6"/>
                </a:solidFill>
                <a:latin typeface="Cascadia Mono"/>
              </a:rPr>
              <a:t>&lt;video controls
       width="640"
       height="360"
       poster="thumbnail.jpg"&gt;
  &lt;source </a:t>
            </a:r>
            <a:r>
              <a:rPr sz="1800" b="0" dirty="0" err="1">
                <a:solidFill>
                  <a:srgbClr val="EFF3F6"/>
                </a:solidFill>
                <a:latin typeface="Cascadia Mono"/>
              </a:rPr>
              <a:t>src</a:t>
            </a:r>
            <a:r>
              <a:rPr sz="1800" b="0" dirty="0">
                <a:solidFill>
                  <a:srgbClr val="EFF3F6"/>
                </a:solidFill>
                <a:latin typeface="Cascadia Mono"/>
              </a:rPr>
              <a:t>="movie.mp4" type="video/mp4"&gt;
&lt;/video&gt;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510528"/>
            <a:ext cx="987552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876"/>
                </a:solidFill>
                <a:latin typeface="Aptos"/>
              </a:rPr>
              <a:t>Web Applications Engineering  •  HTML Essentials  •  Dr. Mohamed Ryan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876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9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881360" cy="56692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42234"/>
                </a:solidFill>
                <a:latin typeface="Aptos"/>
              </a:rPr>
              <a:t>Media Best Practices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46920" y="896112"/>
            <a:ext cx="1920240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009184"/>
                </a:solidFill>
                <a:latin typeface="Aptos"/>
              </a:rPr>
              <a:t>FORMS &amp; ACCESSIBILITY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325880"/>
            <a:ext cx="10561320" cy="4709160"/>
          </a:xfrm>
          <a:prstGeom prst="roundRect">
            <a:avLst/>
          </a:prstGeom>
          <a:solidFill>
            <a:srgbClr val="FFFFFF"/>
          </a:solidFill>
          <a:ln>
            <a:solidFill>
              <a:srgbClr val="CD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288419" y="2452418"/>
            <a:ext cx="9684381" cy="1795876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>
              <a:spcAft>
                <a:spcPts val="1100"/>
              </a:spcAft>
              <a:defRPr sz="2200">
                <a:solidFill>
                  <a:srgbClr val="202831"/>
                </a:solidFill>
                <a:latin typeface="Aptos"/>
              </a:defRPr>
            </a:pPr>
            <a:r>
              <a:rPr dirty="0"/>
              <a:t>• Give users playback controls.</a:t>
            </a:r>
          </a:p>
          <a:p>
            <a:pPr>
              <a:spcAft>
                <a:spcPts val="1100"/>
              </a:spcAft>
              <a:defRPr sz="2200">
                <a:solidFill>
                  <a:srgbClr val="202831"/>
                </a:solidFill>
                <a:latin typeface="Aptos"/>
              </a:defRPr>
            </a:pPr>
            <a:r>
              <a:rPr dirty="0"/>
              <a:t>• Use a poster image when it improves the experience.</a:t>
            </a:r>
          </a:p>
          <a:p>
            <a:pPr>
              <a:spcAft>
                <a:spcPts val="1100"/>
              </a:spcAft>
              <a:defRPr sz="2200">
                <a:solidFill>
                  <a:srgbClr val="202831"/>
                </a:solidFill>
                <a:latin typeface="Aptos"/>
              </a:defRPr>
            </a:pPr>
            <a:r>
              <a:rPr dirty="0"/>
              <a:t>• Be careful with </a:t>
            </a:r>
            <a:r>
              <a:rPr dirty="0" err="1"/>
              <a:t>autoplay</a:t>
            </a:r>
            <a:r>
              <a:rPr dirty="0"/>
              <a:t>, especially with sound.</a:t>
            </a:r>
          </a:p>
          <a:p>
            <a:pPr>
              <a:spcAft>
                <a:spcPts val="1100"/>
              </a:spcAft>
              <a:defRPr sz="2200">
                <a:solidFill>
                  <a:srgbClr val="202831"/>
                </a:solidFill>
                <a:latin typeface="Aptos"/>
              </a:defRPr>
            </a:pPr>
            <a:r>
              <a:rPr dirty="0"/>
              <a:t>• Provide appropriate source formats and fallback content.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987552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876"/>
                </a:solidFill>
                <a:latin typeface="Aptos"/>
              </a:rPr>
              <a:t>Web Applications Engineering  •  HTML Essentials  •  Dr. Mohamed Ryan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876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9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881360" cy="56692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42234"/>
                </a:solidFill>
                <a:latin typeface="Aptos"/>
              </a:rPr>
              <a:t>&lt;iframe&gt;: Embed External Content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46920" y="896112"/>
            <a:ext cx="1920240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009184"/>
                </a:solidFill>
                <a:latin typeface="Aptos"/>
              </a:rPr>
              <a:t>MEDIA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34440"/>
            <a:ext cx="4892040" cy="5074920"/>
          </a:xfrm>
          <a:prstGeom prst="roundRect">
            <a:avLst/>
          </a:prstGeom>
          <a:solidFill>
            <a:srgbClr val="E8F7F4"/>
          </a:solidFill>
          <a:ln>
            <a:solidFill>
              <a:srgbClr val="B1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2223089"/>
            <a:ext cx="4442804" cy="286540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02831"/>
                </a:solidFill>
                <a:latin typeface="Aptos"/>
              </a:defRPr>
            </a:pPr>
            <a:r>
              <a:rPr dirty="0"/>
              <a:t>• An iframe embeds another HTML document or external content.</a:t>
            </a:r>
          </a:p>
          <a:p>
            <a:pPr>
              <a:spcAft>
                <a:spcPts val="1000"/>
              </a:spcAft>
              <a:defRPr sz="2000">
                <a:solidFill>
                  <a:srgbClr val="202831"/>
                </a:solidFill>
                <a:latin typeface="Aptos"/>
              </a:defRPr>
            </a:pPr>
            <a:r>
              <a:rPr dirty="0"/>
              <a:t>• Common examples include maps and video embeds.</a:t>
            </a:r>
          </a:p>
          <a:p>
            <a:pPr>
              <a:spcAft>
                <a:spcPts val="1000"/>
              </a:spcAft>
              <a:defRPr sz="2000">
                <a:solidFill>
                  <a:srgbClr val="202831"/>
                </a:solidFill>
                <a:latin typeface="Aptos"/>
              </a:defRPr>
            </a:pPr>
            <a:r>
              <a:rPr dirty="0"/>
              <a:t>• Only embed content from trusted sources.</a:t>
            </a:r>
          </a:p>
          <a:p>
            <a:pPr>
              <a:spcAft>
                <a:spcPts val="1000"/>
              </a:spcAft>
              <a:defRPr sz="2000">
                <a:solidFill>
                  <a:srgbClr val="202831"/>
                </a:solidFill>
                <a:latin typeface="Aptos"/>
              </a:defRPr>
            </a:pPr>
            <a:r>
              <a:rPr dirty="0"/>
              <a:t>• Use sandbox when appropriate for additional restrictions.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06440" y="1207008"/>
            <a:ext cx="1828800" cy="3200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09184"/>
                </a:solidFill>
                <a:latin typeface="Aptos"/>
              </a:rPr>
              <a:t>Example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06440" y="1554480"/>
            <a:ext cx="5760720" cy="4343400"/>
          </a:xfrm>
          <a:prstGeom prst="roundRect">
            <a:avLst/>
          </a:prstGeom>
          <a:solidFill>
            <a:srgbClr val="1C2127"/>
          </a:solidFill>
          <a:ln>
            <a:solidFill>
              <a:srgbClr val="374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14085" y="2485988"/>
            <a:ext cx="5191335" cy="197592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dirty="0">
                <a:solidFill>
                  <a:srgbClr val="EFF3F6"/>
                </a:solidFill>
                <a:latin typeface="Cascadia Mono"/>
              </a:rPr>
              <a:t>&lt;iframe
  </a:t>
            </a:r>
            <a:r>
              <a:rPr sz="1800" b="0" dirty="0" err="1">
                <a:solidFill>
                  <a:srgbClr val="EFF3F6"/>
                </a:solidFill>
                <a:latin typeface="Cascadia Mono"/>
              </a:rPr>
              <a:t>src</a:t>
            </a:r>
            <a:r>
              <a:rPr sz="1800" b="0" dirty="0">
                <a:solidFill>
                  <a:srgbClr val="EFF3F6"/>
                </a:solidFill>
                <a:latin typeface="Cascadia Mono"/>
              </a:rPr>
              <a:t>="https://trusted.example.com"
  width="800"
  height="450"
  loading="lazy"
  sandbox&gt;
&lt;/iframe&gt;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510528"/>
            <a:ext cx="987552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876"/>
                </a:solidFill>
                <a:latin typeface="Aptos"/>
              </a:rPr>
              <a:t>Web Applications Engineering  •  HTML Essentials  •  Dr. Mohamed Ryan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876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9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881360" cy="56692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42234"/>
                </a:solidFill>
                <a:latin typeface="Aptos"/>
              </a:rPr>
              <a:t>Displaying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46920" y="896112"/>
            <a:ext cx="1920240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009184"/>
                </a:solidFill>
                <a:latin typeface="Aptos"/>
              </a:rPr>
              <a:t>MEDIA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34440"/>
            <a:ext cx="4892040" cy="5074920"/>
          </a:xfrm>
          <a:prstGeom prst="roundRect">
            <a:avLst/>
          </a:prstGeom>
          <a:solidFill>
            <a:srgbClr val="E8F7F4"/>
          </a:solidFill>
          <a:ln>
            <a:solidFill>
              <a:srgbClr val="B1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99466" y="2443107"/>
            <a:ext cx="4383811" cy="181383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02831"/>
                </a:solidFill>
                <a:latin typeface="Aptos"/>
              </a:defRPr>
            </a:pPr>
            <a:r>
              <a:rPr dirty="0"/>
              <a:t>• &lt;code&gt; is useful for inline code.</a:t>
            </a:r>
          </a:p>
          <a:p>
            <a:pPr>
              <a:spcAft>
                <a:spcPts val="1000"/>
              </a:spcAft>
              <a:defRPr sz="2000">
                <a:solidFill>
                  <a:srgbClr val="202831"/>
                </a:solidFill>
                <a:latin typeface="Aptos"/>
              </a:defRPr>
            </a:pPr>
            <a:r>
              <a:rPr dirty="0"/>
              <a:t>• &lt;pre&gt; preserves whitespace and line </a:t>
            </a:r>
            <a:r>
              <a:rPr dirty="0" smtClean="0"/>
              <a:t>breaks</a:t>
            </a:r>
            <a:r>
              <a:rPr lang="en-US" dirty="0"/>
              <a:t> </a:t>
            </a:r>
            <a:r>
              <a:rPr dirty="0" smtClean="0"/>
              <a:t>.</a:t>
            </a:r>
            <a:endParaRPr dirty="0"/>
          </a:p>
          <a:p>
            <a:pPr>
              <a:spcAft>
                <a:spcPts val="1000"/>
              </a:spcAft>
              <a:defRPr sz="2000">
                <a:solidFill>
                  <a:srgbClr val="202831"/>
                </a:solidFill>
                <a:latin typeface="Aptos"/>
              </a:defRPr>
            </a:pPr>
            <a:r>
              <a:rPr dirty="0"/>
              <a:t>• For code blocks, combine them: &lt;pre&gt;&lt;code&gt; ... &lt;/code&gt;&lt;/pre&gt;.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06440" y="1207008"/>
            <a:ext cx="1828800" cy="3200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09184"/>
                </a:solidFill>
                <a:latin typeface="Aptos"/>
              </a:rPr>
              <a:t>Example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06440" y="1554480"/>
            <a:ext cx="5760720" cy="4343400"/>
          </a:xfrm>
          <a:prstGeom prst="roundRect">
            <a:avLst/>
          </a:prstGeom>
          <a:solidFill>
            <a:srgbClr val="1C2127"/>
          </a:solidFill>
          <a:ln>
            <a:solidFill>
              <a:srgbClr val="374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086266" y="2535151"/>
            <a:ext cx="5152006" cy="197592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dirty="0">
                <a:solidFill>
                  <a:srgbClr val="EFF3F6"/>
                </a:solidFill>
                <a:latin typeface="Cascadia Mono"/>
              </a:rPr>
              <a:t>&lt;p&gt;Use &lt;code&gt;console.log()&lt;/code&gt;.&lt;/p&gt;
&lt;pre&gt;&lt;code&gt;
function sum(a, b) {
  return a + b;
}
&lt;/code&gt;&lt;/pre&gt;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510528"/>
            <a:ext cx="987552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876"/>
                </a:solidFill>
                <a:latin typeface="Aptos"/>
              </a:rPr>
              <a:t>Web Applications Engineering  •  HTML Essentials  •  Dr. Mohamed Ryan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876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9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881360" cy="56692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42234"/>
                </a:solidFill>
                <a:latin typeface="Aptos"/>
              </a:rPr>
              <a:t>Forms: The Bridge to User Input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46920" y="896112"/>
            <a:ext cx="1920240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009184"/>
                </a:solidFill>
                <a:latin typeface="Aptos"/>
              </a:rPr>
              <a:t>MEDIA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34440"/>
            <a:ext cx="4892040" cy="5074920"/>
          </a:xfrm>
          <a:prstGeom prst="roundRect">
            <a:avLst/>
          </a:prstGeom>
          <a:solidFill>
            <a:srgbClr val="E8F7F4"/>
          </a:solidFill>
          <a:ln>
            <a:solidFill>
              <a:srgbClr val="B1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8628" y="2596995"/>
            <a:ext cx="4432972" cy="212160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02831"/>
                </a:solidFill>
                <a:latin typeface="Aptos"/>
              </a:defRPr>
            </a:pPr>
            <a:r>
              <a:rPr dirty="0"/>
              <a:t>• </a:t>
            </a:r>
            <a:r>
              <a:rPr b="1" dirty="0"/>
              <a:t>Forms collect user data and submit it to a server</a:t>
            </a:r>
            <a:r>
              <a:rPr dirty="0"/>
              <a:t>.</a:t>
            </a:r>
          </a:p>
          <a:p>
            <a:pPr>
              <a:spcAft>
                <a:spcPts val="1000"/>
              </a:spcAft>
              <a:defRPr sz="2000">
                <a:solidFill>
                  <a:srgbClr val="202831"/>
                </a:solidFill>
                <a:latin typeface="Aptos"/>
              </a:defRPr>
            </a:pPr>
            <a:r>
              <a:rPr dirty="0"/>
              <a:t>• Typical uses: login, registration, search, contact forms and surveys.</a:t>
            </a:r>
          </a:p>
          <a:p>
            <a:pPr>
              <a:spcAft>
                <a:spcPts val="1000"/>
              </a:spcAft>
              <a:defRPr sz="2000">
                <a:solidFill>
                  <a:srgbClr val="202831"/>
                </a:solidFill>
                <a:latin typeface="Aptos"/>
              </a:defRPr>
            </a:pPr>
            <a:r>
              <a:rPr dirty="0"/>
              <a:t>• Basic structure: &lt;form&gt; + &lt;label&gt; + &lt;input&gt; + &lt;button&gt;.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06440" y="1207008"/>
            <a:ext cx="1828800" cy="3200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09184"/>
                </a:solidFill>
                <a:latin typeface="Aptos"/>
              </a:rPr>
              <a:t>Example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06440" y="1554480"/>
            <a:ext cx="5760720" cy="4343400"/>
          </a:xfrm>
          <a:prstGeom prst="roundRect">
            <a:avLst/>
          </a:prstGeom>
          <a:solidFill>
            <a:srgbClr val="1C2127"/>
          </a:solidFill>
          <a:ln>
            <a:solidFill>
              <a:srgbClr val="374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007607" y="2595422"/>
            <a:ext cx="5468113" cy="197592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dirty="0">
                <a:solidFill>
                  <a:srgbClr val="EFF3F6"/>
                </a:solidFill>
                <a:latin typeface="Cascadia Mono"/>
              </a:rPr>
              <a:t>&lt;form action="/register" method="POST"&gt;
  &lt;label for="email"&gt;Email&lt;/label&gt;
  &lt;input id="email" name="email" type="email"&gt;
  &lt;button type="submit"&gt;Register&lt;/button&gt;
&lt;/form&gt;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510528"/>
            <a:ext cx="987552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876"/>
                </a:solidFill>
                <a:latin typeface="Aptos"/>
              </a:rPr>
              <a:t>Web Applications Engineering  •  HTML Essentials  •  Dr. Mohamed Ryan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876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9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881360" cy="56692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42234"/>
                </a:solidFill>
                <a:latin typeface="Aptos"/>
              </a:rPr>
              <a:t>action, method and name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46920" y="896112"/>
            <a:ext cx="1920240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009184"/>
                </a:solidFill>
                <a:latin typeface="Aptos"/>
              </a:rPr>
              <a:t>FORMS &amp; ACCESSIBILITY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34440"/>
            <a:ext cx="4892040" cy="5074920"/>
          </a:xfrm>
          <a:prstGeom prst="roundRect">
            <a:avLst/>
          </a:prstGeom>
          <a:solidFill>
            <a:srgbClr val="E8F7F4"/>
          </a:solidFill>
          <a:ln>
            <a:solidFill>
              <a:srgbClr val="B1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94230" y="1921583"/>
            <a:ext cx="4507161" cy="3609193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02831"/>
                </a:solidFill>
                <a:latin typeface="Aptos"/>
              </a:defRPr>
            </a:pPr>
            <a:r>
              <a:rPr dirty="0"/>
              <a:t>• action — where the form data is sent.</a:t>
            </a:r>
          </a:p>
          <a:p>
            <a:pPr>
              <a:spcAft>
                <a:spcPts val="1000"/>
              </a:spcAft>
              <a:defRPr sz="2000">
                <a:solidFill>
                  <a:srgbClr val="202831"/>
                </a:solidFill>
                <a:latin typeface="Aptos"/>
              </a:defRPr>
            </a:pPr>
            <a:r>
              <a:rPr dirty="0"/>
              <a:t>• method — how the browser submits it (commonly GET or POST).</a:t>
            </a:r>
          </a:p>
          <a:p>
            <a:pPr>
              <a:spcAft>
                <a:spcPts val="1000"/>
              </a:spcAft>
              <a:defRPr sz="2000">
                <a:solidFill>
                  <a:srgbClr val="202831"/>
                </a:solidFill>
                <a:latin typeface="Aptos"/>
              </a:defRPr>
            </a:pPr>
            <a:r>
              <a:rPr dirty="0"/>
              <a:t>• GET: data is encoded in the URL; useful for searches/filters.</a:t>
            </a:r>
          </a:p>
          <a:p>
            <a:pPr>
              <a:spcAft>
                <a:spcPts val="1000"/>
              </a:spcAft>
              <a:defRPr sz="2000">
                <a:solidFill>
                  <a:srgbClr val="202831"/>
                </a:solidFill>
                <a:latin typeface="Aptos"/>
              </a:defRPr>
            </a:pPr>
            <a:r>
              <a:rPr dirty="0"/>
              <a:t>• POST: data is sent in the request body; common for submissions/creation.</a:t>
            </a:r>
          </a:p>
          <a:p>
            <a:pPr>
              <a:spcAft>
                <a:spcPts val="1000"/>
              </a:spcAft>
              <a:defRPr sz="2000">
                <a:solidFill>
                  <a:srgbClr val="202831"/>
                </a:solidFill>
                <a:latin typeface="Aptos"/>
              </a:defRPr>
            </a:pPr>
            <a:r>
              <a:rPr dirty="0"/>
              <a:t>• name identifies a field in submitted form data.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06440" y="1207008"/>
            <a:ext cx="1828800" cy="3200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09184"/>
                </a:solidFill>
                <a:latin typeface="Aptos"/>
              </a:rPr>
              <a:t>Example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06440" y="1554480"/>
            <a:ext cx="5760720" cy="4343400"/>
          </a:xfrm>
          <a:prstGeom prst="roundRect">
            <a:avLst/>
          </a:prstGeom>
          <a:solidFill>
            <a:srgbClr val="1C2127"/>
          </a:solidFill>
          <a:ln>
            <a:solidFill>
              <a:srgbClr val="374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52743" y="2348336"/>
            <a:ext cx="5468113" cy="225292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dirty="0">
                <a:solidFill>
                  <a:srgbClr val="EFF3F6"/>
                </a:solidFill>
                <a:latin typeface="Cascadia Mono"/>
              </a:rPr>
              <a:t>&lt;form action="/search" method="GET"&gt;
  &lt;input name="q"&gt;
  &lt;button type="submit"&gt;Search&lt;/button&gt;
&lt;/form&gt;
&lt;form action="/register" method="POST"&gt;
  &lt;input name="email"&gt;
&lt;/form&gt;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510528"/>
            <a:ext cx="987552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876"/>
                </a:solidFill>
                <a:latin typeface="Aptos"/>
              </a:rPr>
              <a:t>Web Applications Engineering  •  HTML Essentials  •  Dr. Mohamed Ryan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876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9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881360" cy="56692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42234"/>
                </a:solidFill>
                <a:latin typeface="Aptos"/>
              </a:rPr>
              <a:t>GET vs POST — Think in Terms of Purpose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46920" y="896112"/>
            <a:ext cx="1920240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009184"/>
                </a:solidFill>
                <a:latin typeface="Aptos"/>
              </a:rPr>
              <a:t>FORMS &amp; ACCESSIBILITY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34440"/>
            <a:ext cx="4892040" cy="5074920"/>
          </a:xfrm>
          <a:prstGeom prst="roundRect">
            <a:avLst/>
          </a:prstGeom>
          <a:solidFill>
            <a:srgbClr val="E8F7F4"/>
          </a:solidFill>
          <a:ln>
            <a:solidFill>
              <a:srgbClr val="B1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1536192"/>
            <a:ext cx="4297680" cy="448056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02831"/>
                </a:solidFill>
                <a:latin typeface="Aptos"/>
              </a:defRPr>
            </a:pPr>
            <a:r>
              <a:t>• GET example: /search?q=html — useful when the request can be represented as a URL.</a:t>
            </a:r>
          </a:p>
          <a:p>
            <a:pPr>
              <a:spcAft>
                <a:spcPts val="1000"/>
              </a:spcAft>
              <a:defRPr sz="2000">
                <a:solidFill>
                  <a:srgbClr val="202831"/>
                </a:solidFill>
                <a:latin typeface="Aptos"/>
              </a:defRPr>
            </a:pPr>
            <a:r>
              <a:t>• POST example: /register — data goes in the request body.</a:t>
            </a:r>
          </a:p>
          <a:p>
            <a:pPr>
              <a:spcAft>
                <a:spcPts val="1000"/>
              </a:spcAft>
              <a:defRPr sz="2000">
                <a:solidFill>
                  <a:srgbClr val="202831"/>
                </a:solidFill>
                <a:latin typeface="Aptos"/>
              </a:defRPr>
            </a:pPr>
            <a:r>
              <a:t>• POST is not encryption. Sensitive data still requires HTTPS.</a:t>
            </a:r>
          </a:p>
          <a:p>
            <a:pPr>
              <a:spcAft>
                <a:spcPts val="1000"/>
              </a:spcAft>
              <a:defRPr sz="2000">
                <a:solidFill>
                  <a:srgbClr val="202831"/>
                </a:solidFill>
                <a:latin typeface="Aptos"/>
              </a:defRPr>
            </a:pPr>
            <a:r>
              <a:t>• Choose the method based on the operation and its semantics.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06440" y="1207008"/>
            <a:ext cx="1828800" cy="3200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09184"/>
                </a:solidFill>
                <a:latin typeface="Aptos"/>
              </a:rPr>
              <a:t>Example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06440" y="1554480"/>
            <a:ext cx="5760720" cy="4343400"/>
          </a:xfrm>
          <a:prstGeom prst="roundRect">
            <a:avLst/>
          </a:prstGeom>
          <a:solidFill>
            <a:srgbClr val="1C2127"/>
          </a:solidFill>
          <a:ln>
            <a:solidFill>
              <a:srgbClr val="374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007607" y="1719072"/>
            <a:ext cx="5358383" cy="405079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dirty="0">
                <a:solidFill>
                  <a:srgbClr val="EFF3F6"/>
                </a:solidFill>
                <a:latin typeface="Cascadia Mono"/>
              </a:rPr>
              <a:t>GET  /</a:t>
            </a:r>
            <a:r>
              <a:rPr sz="1800" b="0" dirty="0" err="1">
                <a:solidFill>
                  <a:srgbClr val="EFF3F6"/>
                </a:solidFill>
                <a:latin typeface="Cascadia Mono"/>
              </a:rPr>
              <a:t>search?q</a:t>
            </a:r>
            <a:r>
              <a:rPr sz="1800" b="0" dirty="0">
                <a:solidFill>
                  <a:srgbClr val="EFF3F6"/>
                </a:solidFill>
                <a:latin typeface="Cascadia Mono"/>
              </a:rPr>
              <a:t>=html
POST /register
     request body:
     email=student@example.com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510528"/>
            <a:ext cx="987552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876"/>
                </a:solidFill>
                <a:latin typeface="Aptos"/>
              </a:rPr>
              <a:t>Web Applications Engineering  •  HTML Essentials  •  Dr. Mohamed Ryan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876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9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881360" cy="56692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42234"/>
                </a:solidFill>
                <a:latin typeface="Aptos"/>
              </a:rPr>
              <a:t>Labels &amp; Accessible Forms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46920" y="896112"/>
            <a:ext cx="1920240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009184"/>
                </a:solidFill>
                <a:latin typeface="Aptos"/>
              </a:rPr>
              <a:t>FORMS &amp; ACCESSIBILITY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34440"/>
            <a:ext cx="4892040" cy="5074920"/>
          </a:xfrm>
          <a:prstGeom prst="roundRect">
            <a:avLst/>
          </a:prstGeom>
          <a:solidFill>
            <a:srgbClr val="E8F7F4"/>
          </a:solidFill>
          <a:ln>
            <a:solidFill>
              <a:srgbClr val="B1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1536192"/>
            <a:ext cx="4297680" cy="448056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02831"/>
                </a:solidFill>
                <a:latin typeface="Aptos"/>
              </a:defRPr>
            </a:pPr>
            <a:r>
              <a:rPr dirty="0"/>
              <a:t>• Associate &lt;label for="email"&gt; with &lt;input id="email"&gt;.</a:t>
            </a:r>
          </a:p>
          <a:p>
            <a:pPr>
              <a:spcAft>
                <a:spcPts val="1000"/>
              </a:spcAft>
              <a:defRPr sz="2000">
                <a:solidFill>
                  <a:srgbClr val="202831"/>
                </a:solidFill>
                <a:latin typeface="Aptos"/>
              </a:defRPr>
            </a:pPr>
            <a:r>
              <a:rPr dirty="0"/>
              <a:t>• Or wrap the input inside the label.</a:t>
            </a:r>
          </a:p>
          <a:p>
            <a:pPr>
              <a:spcAft>
                <a:spcPts val="1000"/>
              </a:spcAft>
              <a:defRPr sz="2000">
                <a:solidFill>
                  <a:srgbClr val="202831"/>
                </a:solidFill>
                <a:latin typeface="Aptos"/>
              </a:defRPr>
            </a:pPr>
            <a:r>
              <a:rPr dirty="0"/>
              <a:t>• Clicking the label focuses the control.</a:t>
            </a:r>
          </a:p>
          <a:p>
            <a:pPr>
              <a:spcAft>
                <a:spcPts val="1000"/>
              </a:spcAft>
              <a:defRPr sz="2000">
                <a:solidFill>
                  <a:srgbClr val="202831"/>
                </a:solidFill>
                <a:latin typeface="Aptos"/>
              </a:defRPr>
            </a:pPr>
            <a:r>
              <a:rPr dirty="0"/>
              <a:t>• Labels are essential for accessible forms and better usability.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06440" y="1207008"/>
            <a:ext cx="1828800" cy="3200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09184"/>
                </a:solidFill>
                <a:latin typeface="Aptos"/>
              </a:rPr>
              <a:t>Example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06440" y="1554480"/>
            <a:ext cx="5760720" cy="4343400"/>
          </a:xfrm>
          <a:prstGeom prst="roundRect">
            <a:avLst/>
          </a:prstGeom>
          <a:solidFill>
            <a:srgbClr val="1C2127"/>
          </a:solidFill>
          <a:ln>
            <a:solidFill>
              <a:srgbClr val="374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007607" y="1719072"/>
            <a:ext cx="5358383" cy="405079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dirty="0">
                <a:solidFill>
                  <a:srgbClr val="EFF3F6"/>
                </a:solidFill>
                <a:latin typeface="Cascadia Mono"/>
              </a:rPr>
              <a:t>&lt;label for="email"&gt;Email address&lt;/label&gt;
&lt;input id="email"
       name="email"
       type="email"&gt;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510528"/>
            <a:ext cx="987552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876"/>
                </a:solidFill>
                <a:latin typeface="Aptos"/>
              </a:rPr>
              <a:t>Web Applications Engineering  •  HTML Essentials  •  Dr. Mohamed Ryan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876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9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881360" cy="56692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42234"/>
                </a:solidFill>
                <a:latin typeface="Aptos"/>
              </a:rPr>
              <a:t>Common Input Types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46920" y="896112"/>
            <a:ext cx="1920240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009184"/>
                </a:solidFill>
                <a:latin typeface="Aptos"/>
              </a:rPr>
              <a:t>FORMS &amp; ACCESSIBILITY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325880"/>
            <a:ext cx="10561320" cy="4709160"/>
          </a:xfrm>
          <a:prstGeom prst="roundRect">
            <a:avLst/>
          </a:prstGeom>
          <a:solidFill>
            <a:srgbClr val="FFFFFF"/>
          </a:solidFill>
          <a:ln>
            <a:solidFill>
              <a:srgbClr val="CD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42613" y="2452418"/>
            <a:ext cx="9753207" cy="1795876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>
              <a:spcAft>
                <a:spcPts val="1100"/>
              </a:spcAft>
              <a:defRPr sz="2200">
                <a:solidFill>
                  <a:srgbClr val="202831"/>
                </a:solidFill>
                <a:latin typeface="Aptos"/>
              </a:defRPr>
            </a:pPr>
            <a:r>
              <a:rPr dirty="0"/>
              <a:t>• text, password, email, </a:t>
            </a:r>
            <a:r>
              <a:rPr dirty="0" err="1"/>
              <a:t>tel</a:t>
            </a:r>
            <a:r>
              <a:rPr dirty="0"/>
              <a:t>, </a:t>
            </a:r>
            <a:r>
              <a:rPr dirty="0" err="1"/>
              <a:t>url</a:t>
            </a:r>
            <a:endParaRPr dirty="0"/>
          </a:p>
          <a:p>
            <a:pPr>
              <a:spcAft>
                <a:spcPts val="1100"/>
              </a:spcAft>
              <a:defRPr sz="2200">
                <a:solidFill>
                  <a:srgbClr val="202831"/>
                </a:solidFill>
                <a:latin typeface="Aptos"/>
              </a:defRPr>
            </a:pPr>
            <a:r>
              <a:rPr dirty="0"/>
              <a:t>• number, range, date, time, color</a:t>
            </a:r>
          </a:p>
          <a:p>
            <a:pPr>
              <a:spcAft>
                <a:spcPts val="1100"/>
              </a:spcAft>
              <a:defRPr sz="2200">
                <a:solidFill>
                  <a:srgbClr val="202831"/>
                </a:solidFill>
                <a:latin typeface="Aptos"/>
              </a:defRPr>
            </a:pPr>
            <a:r>
              <a:rPr dirty="0"/>
              <a:t>• file, search, hidden</a:t>
            </a:r>
          </a:p>
          <a:p>
            <a:pPr>
              <a:spcAft>
                <a:spcPts val="1100"/>
              </a:spcAft>
              <a:defRPr sz="2200">
                <a:solidFill>
                  <a:srgbClr val="202831"/>
                </a:solidFill>
                <a:latin typeface="Aptos"/>
              </a:defRPr>
            </a:pPr>
            <a:r>
              <a:rPr dirty="0"/>
              <a:t>• Choose the type that matches the expected data.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987552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876"/>
                </a:solidFill>
                <a:latin typeface="Aptos"/>
              </a:rPr>
              <a:t>Web Applications Engineering  •  HTML Essentials  •  Dr. Mohamed Ryan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876"/>
                </a:solidFill>
                <a:latin typeface="Aptos"/>
              </a:rPr>
              <a:t>16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9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881360" cy="56692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dirty="0">
                <a:solidFill>
                  <a:srgbClr val="142234"/>
                </a:solidFill>
                <a:latin typeface="Aptos"/>
              </a:rPr>
              <a:t>Validation &amp; Useful Attributes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46920" y="896112"/>
            <a:ext cx="1920240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009184"/>
                </a:solidFill>
                <a:latin typeface="Aptos"/>
              </a:rPr>
              <a:t>FORMS &amp; ACCESSIBILITY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34440"/>
            <a:ext cx="4892040" cy="5074920"/>
          </a:xfrm>
          <a:prstGeom prst="roundRect">
            <a:avLst/>
          </a:prstGeom>
          <a:solidFill>
            <a:srgbClr val="E8F7F4"/>
          </a:solidFill>
          <a:ln>
            <a:solidFill>
              <a:srgbClr val="B1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1536192"/>
            <a:ext cx="4297680" cy="448056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02831"/>
                </a:solidFill>
                <a:latin typeface="Aptos"/>
              </a:defRPr>
            </a:pPr>
            <a:r>
              <a:rPr dirty="0"/>
              <a:t>• required — field must be completed</a:t>
            </a:r>
          </a:p>
          <a:p>
            <a:pPr>
              <a:spcAft>
                <a:spcPts val="1000"/>
              </a:spcAft>
              <a:defRPr sz="1800">
                <a:solidFill>
                  <a:srgbClr val="202831"/>
                </a:solidFill>
                <a:latin typeface="Aptos"/>
              </a:defRPr>
            </a:pPr>
            <a:r>
              <a:rPr dirty="0"/>
              <a:t>• min / max / step — numeric/date constraints</a:t>
            </a:r>
          </a:p>
          <a:p>
            <a:pPr>
              <a:spcAft>
                <a:spcPts val="1000"/>
              </a:spcAft>
              <a:defRPr sz="1800">
                <a:solidFill>
                  <a:srgbClr val="202831"/>
                </a:solidFill>
                <a:latin typeface="Aptos"/>
              </a:defRPr>
            </a:pPr>
            <a:r>
              <a:rPr dirty="0"/>
              <a:t>• </a:t>
            </a:r>
            <a:r>
              <a:rPr dirty="0" err="1"/>
              <a:t>minlength</a:t>
            </a:r>
            <a:r>
              <a:rPr dirty="0"/>
              <a:t> / </a:t>
            </a:r>
            <a:r>
              <a:rPr dirty="0" err="1"/>
              <a:t>maxlength</a:t>
            </a:r>
            <a:r>
              <a:rPr dirty="0"/>
              <a:t> — text length limits</a:t>
            </a:r>
          </a:p>
          <a:p>
            <a:pPr>
              <a:spcAft>
                <a:spcPts val="1000"/>
              </a:spcAft>
              <a:defRPr sz="1800">
                <a:solidFill>
                  <a:srgbClr val="202831"/>
                </a:solidFill>
                <a:latin typeface="Aptos"/>
              </a:defRPr>
            </a:pPr>
            <a:r>
              <a:rPr dirty="0"/>
              <a:t>• placeholder — hint, not a replacement for a label</a:t>
            </a:r>
          </a:p>
          <a:p>
            <a:pPr>
              <a:spcAft>
                <a:spcPts val="1000"/>
              </a:spcAft>
              <a:defRPr sz="1800">
                <a:solidFill>
                  <a:srgbClr val="202831"/>
                </a:solidFill>
                <a:latin typeface="Aptos"/>
              </a:defRPr>
            </a:pPr>
            <a:r>
              <a:rPr dirty="0"/>
              <a:t>• </a:t>
            </a:r>
            <a:r>
              <a:rPr dirty="0" err="1"/>
              <a:t>readonly</a:t>
            </a:r>
            <a:r>
              <a:rPr dirty="0"/>
              <a:t> — visible but not editable</a:t>
            </a:r>
          </a:p>
          <a:p>
            <a:pPr>
              <a:spcAft>
                <a:spcPts val="1000"/>
              </a:spcAft>
              <a:defRPr sz="1800">
                <a:solidFill>
                  <a:srgbClr val="202831"/>
                </a:solidFill>
                <a:latin typeface="Aptos"/>
              </a:defRPr>
            </a:pPr>
            <a:r>
              <a:rPr dirty="0"/>
              <a:t>• disabled — inactive and not submitted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06440" y="1207008"/>
            <a:ext cx="1828800" cy="3200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09184"/>
                </a:solidFill>
                <a:latin typeface="Aptos"/>
              </a:rPr>
              <a:t>Example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06440" y="1554480"/>
            <a:ext cx="5760720" cy="4343400"/>
          </a:xfrm>
          <a:prstGeom prst="roundRect">
            <a:avLst/>
          </a:prstGeom>
          <a:solidFill>
            <a:srgbClr val="1C2127"/>
          </a:solidFill>
          <a:ln>
            <a:solidFill>
              <a:srgbClr val="374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007607" y="1719072"/>
            <a:ext cx="5358383" cy="405079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EFF3F6"/>
                </a:solidFill>
                <a:latin typeface="Cascadia Mono"/>
              </a:rPr>
              <a:t>&lt;input type="email"
       name="email"
       required
       placeholder="you@example.com"&gt;
&lt;input type="number"
       name="age"
       min="18" max="100"&gt;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510528"/>
            <a:ext cx="987552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876"/>
                </a:solidFill>
                <a:latin typeface="Aptos"/>
              </a:rPr>
              <a:t>Web Applications Engineering  •  HTML Essentials  •  Dr. Mohamed Ryan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876"/>
                </a:solidFill>
                <a:latin typeface="Aptos"/>
              </a:rPr>
              <a:t>17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9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881360" cy="56692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42234"/>
                </a:solidFill>
                <a:latin typeface="Aptos"/>
              </a:rPr>
              <a:t>Radio, Checkbox, Select &amp; Textarea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46920" y="896112"/>
            <a:ext cx="1920240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009184"/>
                </a:solidFill>
                <a:latin typeface="Aptos"/>
              </a:rPr>
              <a:t>FORMS &amp; ACCESSIBILITY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34440"/>
            <a:ext cx="4892040" cy="5074920"/>
          </a:xfrm>
          <a:prstGeom prst="roundRect">
            <a:avLst/>
          </a:prstGeom>
          <a:solidFill>
            <a:srgbClr val="E8F7F4"/>
          </a:solidFill>
          <a:ln>
            <a:solidFill>
              <a:srgbClr val="B1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1536192"/>
            <a:ext cx="4297680" cy="448056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02831"/>
                </a:solidFill>
                <a:latin typeface="Aptos"/>
              </a:defRPr>
            </a:pPr>
            <a:r>
              <a:rPr dirty="0"/>
              <a:t>• Radio buttons: one choice within the same name group.</a:t>
            </a:r>
          </a:p>
          <a:p>
            <a:pPr>
              <a:spcAft>
                <a:spcPts val="1000"/>
              </a:spcAft>
              <a:defRPr sz="2000">
                <a:solidFill>
                  <a:srgbClr val="202831"/>
                </a:solidFill>
                <a:latin typeface="Aptos"/>
              </a:defRPr>
            </a:pPr>
            <a:r>
              <a:rPr dirty="0"/>
              <a:t>• Checkboxes: multiple independent choices.</a:t>
            </a:r>
          </a:p>
          <a:p>
            <a:pPr>
              <a:spcAft>
                <a:spcPts val="1000"/>
              </a:spcAft>
              <a:defRPr sz="2000">
                <a:solidFill>
                  <a:srgbClr val="202831"/>
                </a:solidFill>
                <a:latin typeface="Aptos"/>
              </a:defRPr>
            </a:pPr>
            <a:r>
              <a:rPr dirty="0"/>
              <a:t>• &lt;select&gt;/&lt;option&gt;: choose from a list.</a:t>
            </a:r>
          </a:p>
          <a:p>
            <a:pPr>
              <a:spcAft>
                <a:spcPts val="1000"/>
              </a:spcAft>
              <a:defRPr sz="2000">
                <a:solidFill>
                  <a:srgbClr val="202831"/>
                </a:solidFill>
                <a:latin typeface="Aptos"/>
              </a:defRPr>
            </a:pPr>
            <a:r>
              <a:rPr dirty="0"/>
              <a:t>• &lt;</a:t>
            </a:r>
            <a:r>
              <a:rPr dirty="0" err="1"/>
              <a:t>textarea</a:t>
            </a:r>
            <a:r>
              <a:rPr dirty="0"/>
              <a:t>&gt;: multi-line text.</a:t>
            </a:r>
          </a:p>
          <a:p>
            <a:pPr>
              <a:spcAft>
                <a:spcPts val="1000"/>
              </a:spcAft>
              <a:defRPr sz="2000">
                <a:solidFill>
                  <a:srgbClr val="202831"/>
                </a:solidFill>
                <a:latin typeface="Aptos"/>
              </a:defRPr>
            </a:pPr>
            <a:r>
              <a:rPr dirty="0"/>
              <a:t>• Use clear labels and useful values.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06440" y="1207008"/>
            <a:ext cx="1828800" cy="3200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09184"/>
                </a:solidFill>
                <a:latin typeface="Aptos"/>
              </a:rPr>
              <a:t>Example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06440" y="1554480"/>
            <a:ext cx="5760720" cy="4343400"/>
          </a:xfrm>
          <a:prstGeom prst="roundRect">
            <a:avLst/>
          </a:prstGeom>
          <a:solidFill>
            <a:srgbClr val="1C2127"/>
          </a:solidFill>
          <a:ln>
            <a:solidFill>
              <a:srgbClr val="374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007607" y="1719072"/>
            <a:ext cx="5358383" cy="405079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EFF3F6"/>
                </a:solidFill>
                <a:latin typeface="Cascadia Mono"/>
              </a:rPr>
              <a:t>&lt;input type="radio" name="gender" value="male"&gt;
&lt;input type="radio" name="gender" value="female"&gt;
&lt;input type="checkbox" name="skills" value="html"&gt;
&lt;select name="country"&gt;...&lt;/select&gt;
&lt;textarea name="bio"&gt;&lt;/textarea&gt;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510528"/>
            <a:ext cx="987552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876"/>
                </a:solidFill>
                <a:latin typeface="Aptos"/>
              </a:rPr>
              <a:t>Web Applications Engineering  •  HTML Essentials  •  Dr. Mohamed Ryan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876"/>
                </a:solidFill>
                <a:latin typeface="Aptos"/>
              </a:rPr>
              <a:t>18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9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881360" cy="56692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42234"/>
                </a:solidFill>
                <a:latin typeface="Aptos"/>
              </a:rPr>
              <a:t>File, Search &amp; Datalist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46920" y="896112"/>
            <a:ext cx="1920240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009184"/>
                </a:solidFill>
                <a:latin typeface="Aptos"/>
              </a:rPr>
              <a:t>FORMS &amp; ACCESSIBILITY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325880"/>
            <a:ext cx="10561320" cy="4709160"/>
          </a:xfrm>
          <a:prstGeom prst="roundRect">
            <a:avLst/>
          </a:prstGeom>
          <a:solidFill>
            <a:srgbClr val="FFFFFF"/>
          </a:solidFill>
          <a:ln>
            <a:solidFill>
              <a:srgbClr val="CD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70432" y="2278875"/>
            <a:ext cx="9398607" cy="2198551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>
              <a:spcAft>
                <a:spcPts val="1100"/>
              </a:spcAft>
              <a:defRPr sz="2100">
                <a:solidFill>
                  <a:srgbClr val="202831"/>
                </a:solidFill>
                <a:latin typeface="Aptos"/>
              </a:defRPr>
            </a:pPr>
            <a:r>
              <a:rPr dirty="0"/>
              <a:t>• &lt;input type="file"&gt; lets users choose files; accept can guide allowed types.</a:t>
            </a:r>
          </a:p>
          <a:p>
            <a:pPr>
              <a:spcAft>
                <a:spcPts val="1100"/>
              </a:spcAft>
              <a:defRPr sz="2100">
                <a:solidFill>
                  <a:srgbClr val="202831"/>
                </a:solidFill>
                <a:latin typeface="Aptos"/>
              </a:defRPr>
            </a:pPr>
            <a:r>
              <a:rPr dirty="0"/>
              <a:t>• multiple allows multiple file selection.</a:t>
            </a:r>
          </a:p>
          <a:p>
            <a:pPr>
              <a:spcAft>
                <a:spcPts val="1100"/>
              </a:spcAft>
              <a:defRPr sz="2100">
                <a:solidFill>
                  <a:srgbClr val="202831"/>
                </a:solidFill>
                <a:latin typeface="Aptos"/>
              </a:defRPr>
            </a:pPr>
            <a:r>
              <a:rPr dirty="0"/>
              <a:t>• type="search" is intended for search fields.</a:t>
            </a:r>
          </a:p>
          <a:p>
            <a:pPr>
              <a:spcAft>
                <a:spcPts val="1100"/>
              </a:spcAft>
              <a:defRPr sz="2100">
                <a:solidFill>
                  <a:srgbClr val="202831"/>
                </a:solidFill>
                <a:latin typeface="Aptos"/>
              </a:defRPr>
            </a:pPr>
            <a:r>
              <a:rPr dirty="0"/>
              <a:t>• &lt;</a:t>
            </a:r>
            <a:r>
              <a:rPr dirty="0" err="1"/>
              <a:t>datalist</a:t>
            </a:r>
            <a:r>
              <a:rPr dirty="0"/>
              <a:t>&gt; provides suggestions while typing.</a:t>
            </a:r>
          </a:p>
          <a:p>
            <a:pPr>
              <a:spcAft>
                <a:spcPts val="1100"/>
              </a:spcAft>
              <a:defRPr sz="2100">
                <a:solidFill>
                  <a:srgbClr val="202831"/>
                </a:solidFill>
                <a:latin typeface="Aptos"/>
              </a:defRPr>
            </a:pPr>
            <a:r>
              <a:rPr dirty="0"/>
              <a:t>• Server-side validation is still required.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987552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876"/>
                </a:solidFill>
                <a:latin typeface="Aptos"/>
              </a:rPr>
              <a:t>Web Applications Engineering  •  HTML Essentials  •  Dr. Mohamed Ryan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876"/>
                </a:solidFill>
                <a:latin typeface="Aptos"/>
              </a:rPr>
              <a:t>19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9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881360" cy="56692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42234"/>
                </a:solidFill>
                <a:latin typeface="Aptos"/>
              </a:rPr>
              <a:t>Buttons &amp; Submission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46920" y="896112"/>
            <a:ext cx="1920240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009184"/>
                </a:solidFill>
                <a:latin typeface="Aptos"/>
              </a:rPr>
              <a:t>FORMS &amp; ACCESSIBILITY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34440"/>
            <a:ext cx="4892040" cy="5074920"/>
          </a:xfrm>
          <a:prstGeom prst="roundRect">
            <a:avLst/>
          </a:prstGeom>
          <a:solidFill>
            <a:srgbClr val="E8F7F4"/>
          </a:solidFill>
          <a:ln>
            <a:solidFill>
              <a:srgbClr val="B1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1536192"/>
            <a:ext cx="4297680" cy="448056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02831"/>
                </a:solidFill>
                <a:latin typeface="Aptos"/>
              </a:defRPr>
            </a:pPr>
            <a:r>
              <a:rPr dirty="0"/>
              <a:t>• &lt;button type="submit"&gt; — submit</a:t>
            </a:r>
          </a:p>
          <a:p>
            <a:pPr>
              <a:spcAft>
                <a:spcPts val="1000"/>
              </a:spcAft>
              <a:defRPr sz="2000">
                <a:solidFill>
                  <a:srgbClr val="202831"/>
                </a:solidFill>
                <a:latin typeface="Aptos"/>
              </a:defRPr>
            </a:pPr>
            <a:r>
              <a:rPr dirty="0"/>
              <a:t>• &lt;button type="reset"&gt; — reset</a:t>
            </a:r>
          </a:p>
          <a:p>
            <a:pPr>
              <a:spcAft>
                <a:spcPts val="1000"/>
              </a:spcAft>
              <a:defRPr sz="2000">
                <a:solidFill>
                  <a:srgbClr val="202831"/>
                </a:solidFill>
                <a:latin typeface="Aptos"/>
              </a:defRPr>
            </a:pPr>
            <a:r>
              <a:rPr dirty="0"/>
              <a:t>• &lt;button type="button"&gt; — ordinary/scripted button</a:t>
            </a:r>
          </a:p>
          <a:p>
            <a:pPr>
              <a:spcAft>
                <a:spcPts val="1000"/>
              </a:spcAft>
              <a:defRPr sz="2000">
                <a:solidFill>
                  <a:srgbClr val="202831"/>
                </a:solidFill>
                <a:latin typeface="Aptos"/>
              </a:defRPr>
            </a:pPr>
            <a:r>
              <a:rPr dirty="0"/>
              <a:t>• Use button types explicitly inside forms.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06440" y="1207008"/>
            <a:ext cx="1828800" cy="3200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09184"/>
                </a:solidFill>
                <a:latin typeface="Aptos"/>
              </a:rPr>
              <a:t>Example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06440" y="1554480"/>
            <a:ext cx="5760720" cy="4343400"/>
          </a:xfrm>
          <a:prstGeom prst="roundRect">
            <a:avLst/>
          </a:prstGeom>
          <a:solidFill>
            <a:srgbClr val="1C2127"/>
          </a:solidFill>
          <a:ln>
            <a:solidFill>
              <a:srgbClr val="374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007607" y="1719072"/>
            <a:ext cx="5358383" cy="405079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dirty="0">
                <a:solidFill>
                  <a:srgbClr val="EFF3F6"/>
                </a:solidFill>
                <a:latin typeface="Cascadia Mono"/>
              </a:rPr>
              <a:t>&lt;button type="submit"&gt;Submit&lt;/button&gt;
&lt;button type="reset"&gt;Clear&lt;/button&gt;
&lt;button type="button"&gt;Preview&lt;/button&gt;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510528"/>
            <a:ext cx="987552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876"/>
                </a:solidFill>
                <a:latin typeface="Aptos"/>
              </a:rPr>
              <a:t>Web Applications Engineering  •  HTML Essentials  •  Dr. Mohamed Ryan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876"/>
                </a:solidFill>
                <a:latin typeface="Aptos"/>
              </a:rPr>
              <a:t>20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9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881360" cy="56692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42234"/>
                </a:solidFill>
                <a:latin typeface="Aptos"/>
              </a:rPr>
              <a:t>Complete Registration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46920" y="896112"/>
            <a:ext cx="1920240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009184"/>
                </a:solidFill>
                <a:latin typeface="Aptos"/>
              </a:rPr>
              <a:t>FORMS &amp; ACCESSIBILITY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34440"/>
            <a:ext cx="4892040" cy="5074920"/>
          </a:xfrm>
          <a:prstGeom prst="roundRect">
            <a:avLst/>
          </a:prstGeom>
          <a:solidFill>
            <a:srgbClr val="E8F7F4"/>
          </a:solidFill>
          <a:ln>
            <a:solidFill>
              <a:srgbClr val="B1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1536192"/>
            <a:ext cx="4297680" cy="448056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02831"/>
                </a:solidFill>
                <a:latin typeface="Aptos"/>
              </a:defRPr>
            </a:pPr>
            <a:r>
              <a:t>• Build a registration form with name, email, password, age, country, radio buttons, checkboxes, textarea and submit/reset buttons.</a:t>
            </a:r>
          </a:p>
          <a:p>
            <a:pPr>
              <a:spcAft>
                <a:spcPts val="1000"/>
              </a:spcAft>
              <a:defRPr sz="2000">
                <a:solidFill>
                  <a:srgbClr val="202831"/>
                </a:solidFill>
                <a:latin typeface="Aptos"/>
              </a:defRPr>
            </a:pPr>
            <a:r>
              <a:t>• Use validation attributes for immediate browser feedback.</a:t>
            </a:r>
          </a:p>
          <a:p>
            <a:pPr>
              <a:spcAft>
                <a:spcPts val="1000"/>
              </a:spcAft>
              <a:defRPr sz="2000">
                <a:solidFill>
                  <a:srgbClr val="202831"/>
                </a:solidFill>
                <a:latin typeface="Aptos"/>
              </a:defRPr>
            </a:pPr>
            <a:r>
              <a:t>• Remember: server-side validation is still required.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06440" y="1207008"/>
            <a:ext cx="1828800" cy="3200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09184"/>
                </a:solidFill>
                <a:latin typeface="Aptos"/>
              </a:rPr>
              <a:t>Example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06440" y="1554480"/>
            <a:ext cx="5760720" cy="4343400"/>
          </a:xfrm>
          <a:prstGeom prst="roundRect">
            <a:avLst/>
          </a:prstGeom>
          <a:solidFill>
            <a:srgbClr val="1C2127"/>
          </a:solidFill>
          <a:ln>
            <a:solidFill>
              <a:srgbClr val="374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007607" y="1719072"/>
            <a:ext cx="5358383" cy="405079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EFF3F6"/>
                </a:solidFill>
                <a:latin typeface="Cascadia Mono"/>
              </a:rPr>
              <a:t>&lt;form action="/register" method="POST"&gt;
  &lt;!-- fields --&gt;
  &lt;button type="submit"&gt;Register&lt;/button&gt;
  &lt;button type="reset"&gt;Clear&lt;/button&gt;
&lt;/form&gt;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510528"/>
            <a:ext cx="987552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876"/>
                </a:solidFill>
                <a:latin typeface="Aptos"/>
              </a:rPr>
              <a:t>Web Applications Engineering  •  HTML Essentials  •  Dr. Mohamed Ryan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876"/>
                </a:solidFill>
                <a:latin typeface="Aptos"/>
              </a:rPr>
              <a:t>21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9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881360" cy="56692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dirty="0">
                <a:solidFill>
                  <a:srgbClr val="142234"/>
                </a:solidFill>
                <a:latin typeface="Aptos"/>
              </a:rPr>
              <a:t>Accessibility: The POUR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46920" y="896112"/>
            <a:ext cx="1920240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009184"/>
                </a:solidFill>
                <a:latin typeface="Aptos"/>
              </a:rPr>
              <a:t>FORMS &amp; ACCESSIBILITY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325880"/>
            <a:ext cx="10561320" cy="4709160"/>
          </a:xfrm>
          <a:prstGeom prst="roundRect">
            <a:avLst/>
          </a:prstGeom>
          <a:solidFill>
            <a:srgbClr val="FFFFFF"/>
          </a:solidFill>
          <a:ln>
            <a:solidFill>
              <a:srgbClr val="CD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70432" y="1554480"/>
            <a:ext cx="9866376" cy="425196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>
              <a:spcAft>
                <a:spcPts val="1100"/>
              </a:spcAft>
              <a:defRPr sz="2200">
                <a:solidFill>
                  <a:srgbClr val="202831"/>
                </a:solidFill>
                <a:latin typeface="Aptos"/>
              </a:defRPr>
            </a:pPr>
            <a:r>
              <a:rPr dirty="0"/>
              <a:t>• Perceivable — users can perceive the content.</a:t>
            </a:r>
          </a:p>
          <a:p>
            <a:pPr>
              <a:spcAft>
                <a:spcPts val="1100"/>
              </a:spcAft>
              <a:defRPr sz="2200">
                <a:solidFill>
                  <a:srgbClr val="202831"/>
                </a:solidFill>
                <a:latin typeface="Aptos"/>
              </a:defRPr>
            </a:pPr>
            <a:r>
              <a:rPr dirty="0"/>
              <a:t>• Operable — controls can be used, including by keyboard.</a:t>
            </a:r>
          </a:p>
          <a:p>
            <a:pPr>
              <a:spcAft>
                <a:spcPts val="1100"/>
              </a:spcAft>
              <a:defRPr sz="2200">
                <a:solidFill>
                  <a:srgbClr val="202831"/>
                </a:solidFill>
                <a:latin typeface="Aptos"/>
              </a:defRPr>
            </a:pPr>
            <a:r>
              <a:rPr dirty="0"/>
              <a:t>• Understandable — content and interactions are clear.</a:t>
            </a:r>
          </a:p>
          <a:p>
            <a:pPr>
              <a:spcAft>
                <a:spcPts val="1100"/>
              </a:spcAft>
              <a:defRPr sz="2200">
                <a:solidFill>
                  <a:srgbClr val="202831"/>
                </a:solidFill>
                <a:latin typeface="Aptos"/>
              </a:defRPr>
            </a:pPr>
            <a:r>
              <a:rPr dirty="0"/>
              <a:t>• Robust — works with different browsers and assistive technologies.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987552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876"/>
                </a:solidFill>
                <a:latin typeface="Aptos"/>
              </a:rPr>
              <a:t>Web Applications Engineering  •  HTML Essentials  •  Dr. Mohamed Ryan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876"/>
                </a:solidFill>
                <a:latin typeface="Aptos"/>
              </a:rPr>
              <a:t>22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9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881360" cy="56692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42234"/>
                </a:solidFill>
                <a:latin typeface="Aptos"/>
              </a:rPr>
              <a:t>Accessibility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46920" y="896112"/>
            <a:ext cx="1920240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009184"/>
                </a:solidFill>
                <a:latin typeface="Aptos"/>
              </a:rPr>
              <a:t>REVIEW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325880"/>
            <a:ext cx="10561320" cy="679268"/>
          </a:xfrm>
          <a:prstGeom prst="roundRect">
            <a:avLst/>
          </a:prstGeom>
          <a:solidFill>
            <a:srgbClr val="E8F7F4"/>
          </a:solidFill>
          <a:ln>
            <a:solidFill>
              <a:srgbClr val="CD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24128" y="1435607"/>
            <a:ext cx="457200" cy="4963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009184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27632" y="1399032"/>
            <a:ext cx="9372600" cy="53296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202831"/>
                </a:solidFill>
                <a:latin typeface="Aptos"/>
              </a:rPr>
              <a:t>Use semantic elements.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124020"/>
            <a:ext cx="10561320" cy="679268"/>
          </a:xfrm>
          <a:prstGeom prst="roundRect">
            <a:avLst/>
          </a:prstGeom>
          <a:solidFill>
            <a:srgbClr val="EDF3F9"/>
          </a:solidFill>
          <a:ln>
            <a:solidFill>
              <a:srgbClr val="CD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24128" y="2233748"/>
            <a:ext cx="457200" cy="4963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009184"/>
                </a:solidFill>
                <a:latin typeface="Apto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27632" y="2197172"/>
            <a:ext cx="9372600" cy="53296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202831"/>
                </a:solidFill>
                <a:latin typeface="Aptos"/>
              </a:rPr>
              <a:t>Provide meaningful alt text.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922161"/>
            <a:ext cx="10561320" cy="679268"/>
          </a:xfrm>
          <a:prstGeom prst="roundRect">
            <a:avLst/>
          </a:prstGeom>
          <a:solidFill>
            <a:srgbClr val="E8F7F4"/>
          </a:solidFill>
          <a:ln>
            <a:solidFill>
              <a:srgbClr val="CD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24128" y="3031889"/>
            <a:ext cx="457200" cy="4963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009184"/>
                </a:solidFill>
                <a:latin typeface="Aptos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27632" y="2995313"/>
            <a:ext cx="9372600" cy="53296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202831"/>
                </a:solidFill>
                <a:latin typeface="Aptos"/>
              </a:rPr>
              <a:t>Label every form control.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720301"/>
            <a:ext cx="10561320" cy="679268"/>
          </a:xfrm>
          <a:prstGeom prst="roundRect">
            <a:avLst/>
          </a:prstGeom>
          <a:solidFill>
            <a:srgbClr val="EDF3F9"/>
          </a:solidFill>
          <a:ln>
            <a:solidFill>
              <a:srgbClr val="CD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24128" y="3830029"/>
            <a:ext cx="457200" cy="4963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009184"/>
                </a:solidFill>
                <a:latin typeface="Aptos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27632" y="3793453"/>
            <a:ext cx="9372600" cy="53296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202831"/>
                </a:solidFill>
                <a:latin typeface="Aptos"/>
              </a:rPr>
              <a:t>Support keyboard navigation.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518442"/>
            <a:ext cx="10561320" cy="679268"/>
          </a:xfrm>
          <a:prstGeom prst="roundRect">
            <a:avLst/>
          </a:prstGeom>
          <a:solidFill>
            <a:srgbClr val="E8F7F4"/>
          </a:solidFill>
          <a:ln>
            <a:solidFill>
              <a:srgbClr val="CD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24128" y="4628170"/>
            <a:ext cx="457200" cy="4963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009184"/>
                </a:solidFill>
                <a:latin typeface="Aptos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27632" y="4591594"/>
            <a:ext cx="9372600" cy="53296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202831"/>
                </a:solidFill>
                <a:latin typeface="Aptos"/>
              </a:rPr>
              <a:t>Do not use color alone to communicate meaning.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5316582"/>
            <a:ext cx="10561320" cy="679268"/>
          </a:xfrm>
          <a:prstGeom prst="roundRect">
            <a:avLst/>
          </a:prstGeom>
          <a:solidFill>
            <a:srgbClr val="EDF3F9"/>
          </a:solidFill>
          <a:ln>
            <a:solidFill>
              <a:srgbClr val="CD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24128" y="5426310"/>
            <a:ext cx="457200" cy="4963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009184"/>
                </a:solidFill>
                <a:latin typeface="Aptos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27632" y="5389734"/>
            <a:ext cx="9372600" cy="53296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202831"/>
                </a:solidFill>
                <a:latin typeface="Aptos"/>
              </a:rPr>
              <a:t>Maintain sufficient color contrast.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6114723"/>
            <a:ext cx="10561320" cy="679268"/>
          </a:xfrm>
          <a:prstGeom prst="roundRect">
            <a:avLst/>
          </a:prstGeom>
          <a:solidFill>
            <a:srgbClr val="E8F7F4"/>
          </a:solidFill>
          <a:ln>
            <a:solidFill>
              <a:srgbClr val="CD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24128" y="6224451"/>
            <a:ext cx="457200" cy="4963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009184"/>
                </a:solidFill>
                <a:latin typeface="Aptos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27632" y="6187875"/>
            <a:ext cx="9372600" cy="53296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202831"/>
                </a:solidFill>
                <a:latin typeface="Aptos"/>
              </a:rPr>
              <a:t>Use ARIA only when native HTML cannot express the needed semantics.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876"/>
                </a:solidFill>
                <a:latin typeface="Aptos"/>
              </a:rPr>
              <a:t>23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9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881360" cy="56692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42234"/>
                </a:solidFill>
                <a:latin typeface="Aptos"/>
              </a:rPr>
              <a:t>Capstone Activity: Accessible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46920" y="896112"/>
            <a:ext cx="1920240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009184"/>
                </a:solidFill>
                <a:latin typeface="Aptos"/>
              </a:rPr>
              <a:t>FORMS &amp; ACCESSIBILITY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325880"/>
            <a:ext cx="10561320" cy="4709160"/>
          </a:xfrm>
          <a:prstGeom prst="roundRect">
            <a:avLst/>
          </a:prstGeom>
          <a:solidFill>
            <a:srgbClr val="FFFFFF"/>
          </a:solidFill>
          <a:ln>
            <a:solidFill>
              <a:srgbClr val="CD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70432" y="1554480"/>
            <a:ext cx="9866376" cy="425196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>
              <a:spcAft>
                <a:spcPts val="1100"/>
              </a:spcAft>
              <a:defRPr sz="2200">
                <a:solidFill>
                  <a:srgbClr val="202831"/>
                </a:solidFill>
                <a:latin typeface="Aptos"/>
              </a:defRPr>
            </a:pPr>
            <a:r>
              <a:t>• Build a small portfolio page using semantic HTML.</a:t>
            </a:r>
          </a:p>
          <a:p>
            <a:pPr>
              <a:spcAft>
                <a:spcPts val="1100"/>
              </a:spcAft>
              <a:defRPr sz="2200">
                <a:solidFill>
                  <a:srgbClr val="202831"/>
                </a:solidFill>
                <a:latin typeface="Aptos"/>
              </a:defRPr>
            </a:pPr>
            <a:r>
              <a:t>• Include navigation, main content, an article/sections, an image with alt text, a skills list and a contact form.</a:t>
            </a:r>
          </a:p>
          <a:p>
            <a:pPr>
              <a:spcAft>
                <a:spcPts val="1100"/>
              </a:spcAft>
              <a:defRPr sz="2200">
                <a:solidFill>
                  <a:srgbClr val="202831"/>
                </a:solidFill>
                <a:latin typeface="Aptos"/>
              </a:defRPr>
            </a:pPr>
            <a:r>
              <a:t>• Test the page using keyboard-only navigation.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987552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876"/>
                </a:solidFill>
                <a:latin typeface="Aptos"/>
              </a:rPr>
              <a:t>Web Applications Engineering  •  HTML Essentials  •  Dr. Mohamed Ryan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876"/>
                </a:solidFill>
                <a:latin typeface="Aptos"/>
              </a:rPr>
              <a:t>24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9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881360" cy="56692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42234"/>
                </a:solidFill>
                <a:latin typeface="Aptos"/>
              </a:rPr>
              <a:t>Final HTML Mental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46920" y="896112"/>
            <a:ext cx="1920240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009184"/>
                </a:solidFill>
                <a:latin typeface="Aptos"/>
              </a:rPr>
              <a:t>FORMS &amp; ACCESSIBILITY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325880"/>
            <a:ext cx="10561320" cy="4709160"/>
          </a:xfrm>
          <a:prstGeom prst="roundRect">
            <a:avLst/>
          </a:prstGeom>
          <a:solidFill>
            <a:srgbClr val="FFFFFF"/>
          </a:solidFill>
          <a:ln>
            <a:solidFill>
              <a:srgbClr val="CD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70432" y="1554480"/>
            <a:ext cx="9866376" cy="425196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>
              <a:spcAft>
                <a:spcPts val="1100"/>
              </a:spcAft>
              <a:defRPr sz="2200">
                <a:solidFill>
                  <a:srgbClr val="202831"/>
                </a:solidFill>
                <a:latin typeface="Aptos"/>
              </a:defRPr>
            </a:pPr>
            <a:r>
              <a:t>• HTML answers: “What is this content?”</a:t>
            </a:r>
          </a:p>
          <a:p>
            <a:pPr>
              <a:spcAft>
                <a:spcPts val="1100"/>
              </a:spcAft>
              <a:defRPr sz="2200">
                <a:solidFill>
                  <a:srgbClr val="202831"/>
                </a:solidFill>
                <a:latin typeface="Aptos"/>
              </a:defRPr>
            </a:pPr>
            <a:r>
              <a:t>• CSS will answer: “How should it look?”</a:t>
            </a:r>
          </a:p>
          <a:p>
            <a:pPr>
              <a:spcAft>
                <a:spcPts val="1100"/>
              </a:spcAft>
              <a:defRPr sz="2200">
                <a:solidFill>
                  <a:srgbClr val="202831"/>
                </a:solidFill>
                <a:latin typeface="Aptos"/>
              </a:defRPr>
            </a:pPr>
            <a:r>
              <a:t>• JavaScript will answer: “How should it behave?”</a:t>
            </a:r>
          </a:p>
          <a:p>
            <a:pPr>
              <a:spcAft>
                <a:spcPts val="1100"/>
              </a:spcAft>
              <a:defRPr sz="2200">
                <a:solidFill>
                  <a:srgbClr val="202831"/>
                </a:solidFill>
                <a:latin typeface="Aptos"/>
              </a:defRPr>
            </a:pPr>
            <a:r>
              <a:t>• Good HTML gives the next layers a clear, meaningful structure.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987552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876"/>
                </a:solidFill>
                <a:latin typeface="Aptos"/>
              </a:rPr>
              <a:t>Web Applications Engineering  •  HTML Essentials  •  Dr. Mohamed Ryan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876"/>
                </a:solidFill>
                <a:latin typeface="Aptos"/>
              </a:rPr>
              <a:t>25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509</TotalTime>
  <Words>1749</Words>
  <Application>Microsoft Office PowerPoint</Application>
  <PresentationFormat>Widescreen</PresentationFormat>
  <Paragraphs>261</Paragraphs>
  <Slides>25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Aptos</vt:lpstr>
      <vt:lpstr>Arial</vt:lpstr>
      <vt:lpstr>Calibri</vt:lpstr>
      <vt:lpstr>Cascadia Mono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Microsoft account</cp:lastModifiedBy>
  <cp:revision>16</cp:revision>
  <dcterms:created xsi:type="dcterms:W3CDTF">2013-01-27T09:14:16Z</dcterms:created>
  <dcterms:modified xsi:type="dcterms:W3CDTF">2026-10-02T22:34:52Z</dcterms:modified>
  <cp:category/>
</cp:coreProperties>
</file>