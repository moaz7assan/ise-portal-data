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6" d="100"/>
          <a:sy n="76" d="100"/>
        </p:scale>
        <p:origin x="123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85425B5-DB41-4D28-90CF-518717C3868B}"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4138D5-4B66-4A7B-BADD-8016C3BDB808}" type="slidenum">
              <a:rPr lang="en-US" smtClean="0"/>
              <a:t>‹#›</a:t>
            </a:fld>
            <a:endParaRPr lang="en-US"/>
          </a:p>
        </p:txBody>
      </p:sp>
    </p:spTree>
    <p:extLst>
      <p:ext uri="{BB962C8B-B14F-4D97-AF65-F5344CB8AC3E}">
        <p14:creationId xmlns:p14="http://schemas.microsoft.com/office/powerpoint/2010/main" val="37026370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85425B5-DB41-4D28-90CF-518717C3868B}"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4138D5-4B66-4A7B-BADD-8016C3BDB808}" type="slidenum">
              <a:rPr lang="en-US" smtClean="0"/>
              <a:t>‹#›</a:t>
            </a:fld>
            <a:endParaRPr lang="en-US"/>
          </a:p>
        </p:txBody>
      </p:sp>
    </p:spTree>
    <p:extLst>
      <p:ext uri="{BB962C8B-B14F-4D97-AF65-F5344CB8AC3E}">
        <p14:creationId xmlns:p14="http://schemas.microsoft.com/office/powerpoint/2010/main" val="659105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85425B5-DB41-4D28-90CF-518717C3868B}"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4138D5-4B66-4A7B-BADD-8016C3BDB808}" type="slidenum">
              <a:rPr lang="en-US" smtClean="0"/>
              <a:t>‹#›</a:t>
            </a:fld>
            <a:endParaRPr lang="en-US"/>
          </a:p>
        </p:txBody>
      </p:sp>
    </p:spTree>
    <p:extLst>
      <p:ext uri="{BB962C8B-B14F-4D97-AF65-F5344CB8AC3E}">
        <p14:creationId xmlns:p14="http://schemas.microsoft.com/office/powerpoint/2010/main" val="1663476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85425B5-DB41-4D28-90CF-518717C3868B}"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4138D5-4B66-4A7B-BADD-8016C3BDB808}" type="slidenum">
              <a:rPr lang="en-US" smtClean="0"/>
              <a:t>‹#›</a:t>
            </a:fld>
            <a:endParaRPr lang="en-US"/>
          </a:p>
        </p:txBody>
      </p:sp>
    </p:spTree>
    <p:extLst>
      <p:ext uri="{BB962C8B-B14F-4D97-AF65-F5344CB8AC3E}">
        <p14:creationId xmlns:p14="http://schemas.microsoft.com/office/powerpoint/2010/main" val="890704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85425B5-DB41-4D28-90CF-518717C3868B}" type="datetimeFigureOut">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14138D5-4B66-4A7B-BADD-8016C3BDB808}" type="slidenum">
              <a:rPr lang="en-US" smtClean="0"/>
              <a:t>‹#›</a:t>
            </a:fld>
            <a:endParaRPr lang="en-US"/>
          </a:p>
        </p:txBody>
      </p:sp>
    </p:spTree>
    <p:extLst>
      <p:ext uri="{BB962C8B-B14F-4D97-AF65-F5344CB8AC3E}">
        <p14:creationId xmlns:p14="http://schemas.microsoft.com/office/powerpoint/2010/main" val="1310154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85425B5-DB41-4D28-90CF-518717C3868B}" type="datetimeFigureOut">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14138D5-4B66-4A7B-BADD-8016C3BDB808}" type="slidenum">
              <a:rPr lang="en-US" smtClean="0"/>
              <a:t>‹#›</a:t>
            </a:fld>
            <a:endParaRPr lang="en-US"/>
          </a:p>
        </p:txBody>
      </p:sp>
    </p:spTree>
    <p:extLst>
      <p:ext uri="{BB962C8B-B14F-4D97-AF65-F5344CB8AC3E}">
        <p14:creationId xmlns:p14="http://schemas.microsoft.com/office/powerpoint/2010/main" val="1617067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5425B5-DB41-4D28-90CF-518717C3868B}" type="datetimeFigureOut">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14138D5-4B66-4A7B-BADD-8016C3BDB808}" type="slidenum">
              <a:rPr lang="en-US" smtClean="0"/>
              <a:t>‹#›</a:t>
            </a:fld>
            <a:endParaRPr lang="en-US"/>
          </a:p>
        </p:txBody>
      </p:sp>
    </p:spTree>
    <p:extLst>
      <p:ext uri="{BB962C8B-B14F-4D97-AF65-F5344CB8AC3E}">
        <p14:creationId xmlns:p14="http://schemas.microsoft.com/office/powerpoint/2010/main" val="3948884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85425B5-DB41-4D28-90CF-518717C3868B}"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4138D5-4B66-4A7B-BADD-8016C3BDB808}" type="slidenum">
              <a:rPr lang="en-US" smtClean="0"/>
              <a:t>‹#›</a:t>
            </a:fld>
            <a:endParaRPr lang="en-US"/>
          </a:p>
        </p:txBody>
      </p:sp>
    </p:spTree>
    <p:extLst>
      <p:ext uri="{BB962C8B-B14F-4D97-AF65-F5344CB8AC3E}">
        <p14:creationId xmlns:p14="http://schemas.microsoft.com/office/powerpoint/2010/main" val="1661603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85425B5-DB41-4D28-90CF-518717C3868B}"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4138D5-4B66-4A7B-BADD-8016C3BDB808}" type="slidenum">
              <a:rPr lang="en-US" smtClean="0"/>
              <a:t>‹#›</a:t>
            </a:fld>
            <a:endParaRPr lang="en-US"/>
          </a:p>
        </p:txBody>
      </p:sp>
    </p:spTree>
    <p:extLst>
      <p:ext uri="{BB962C8B-B14F-4D97-AF65-F5344CB8AC3E}">
        <p14:creationId xmlns:p14="http://schemas.microsoft.com/office/powerpoint/2010/main" val="1971142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85425B5-DB41-4D28-90CF-518717C3868B}"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4138D5-4B66-4A7B-BADD-8016C3BDB808}" type="slidenum">
              <a:rPr lang="en-US" smtClean="0"/>
              <a:t>‹#›</a:t>
            </a:fld>
            <a:endParaRPr lang="en-US"/>
          </a:p>
        </p:txBody>
      </p:sp>
    </p:spTree>
    <p:extLst>
      <p:ext uri="{BB962C8B-B14F-4D97-AF65-F5344CB8AC3E}">
        <p14:creationId xmlns:p14="http://schemas.microsoft.com/office/powerpoint/2010/main" val="1557871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85425B5-DB41-4D28-90CF-518717C3868B}"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4138D5-4B66-4A7B-BADD-8016C3BDB808}" type="slidenum">
              <a:rPr lang="en-US" smtClean="0"/>
              <a:t>‹#›</a:t>
            </a:fld>
            <a:endParaRPr lang="en-US"/>
          </a:p>
        </p:txBody>
      </p:sp>
    </p:spTree>
    <p:extLst>
      <p:ext uri="{BB962C8B-B14F-4D97-AF65-F5344CB8AC3E}">
        <p14:creationId xmlns:p14="http://schemas.microsoft.com/office/powerpoint/2010/main" val="2785417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5425B5-DB41-4D28-90CF-518717C3868B}" type="datetimeFigureOut">
              <a:rPr lang="en-US" smtClean="0"/>
              <a:t>11/3/2025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4138D5-4B66-4A7B-BADD-8016C3BDB808}" type="slidenum">
              <a:rPr lang="en-US" smtClean="0"/>
              <a:t>‹#›</a:t>
            </a:fld>
            <a:endParaRPr lang="en-US"/>
          </a:p>
        </p:txBody>
      </p:sp>
    </p:spTree>
    <p:extLst>
      <p:ext uri="{BB962C8B-B14F-4D97-AF65-F5344CB8AC3E}">
        <p14:creationId xmlns:p14="http://schemas.microsoft.com/office/powerpoint/2010/main" val="21437030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Lecture 5</a:t>
            </a:r>
            <a:endParaRPr lang="en-US" dirty="0"/>
          </a:p>
        </p:txBody>
      </p:sp>
      <p:sp>
        <p:nvSpPr>
          <p:cNvPr id="3" name="Subtitle 2"/>
          <p:cNvSpPr>
            <a:spLocks noGrp="1"/>
          </p:cNvSpPr>
          <p:nvPr>
            <p:ph type="subTitle" idx="1"/>
          </p:nvPr>
        </p:nvSpPr>
        <p:spPr/>
        <p:txBody>
          <a:bodyPr>
            <a:normAutofit/>
          </a:bodyPr>
          <a:lstStyle/>
          <a:p>
            <a:r>
              <a:rPr lang="en-US" sz="4000" b="1" dirty="0" smtClean="0">
                <a:solidFill>
                  <a:srgbClr val="FF0000"/>
                </a:solidFill>
              </a:rPr>
              <a:t>Boolean Algebra </a:t>
            </a:r>
            <a:endParaRPr lang="en-US" sz="4000" b="1" dirty="0">
              <a:solidFill>
                <a:srgbClr val="FF0000"/>
              </a:solidFill>
            </a:endParaRPr>
          </a:p>
        </p:txBody>
      </p:sp>
    </p:spTree>
    <p:extLst>
      <p:ext uri="{BB962C8B-B14F-4D97-AF65-F5344CB8AC3E}">
        <p14:creationId xmlns:p14="http://schemas.microsoft.com/office/powerpoint/2010/main" val="3967119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Introduction</a:t>
            </a:r>
            <a:endParaRPr lang="en-US" b="1" dirty="0"/>
          </a:p>
        </p:txBody>
      </p:sp>
      <p:sp>
        <p:nvSpPr>
          <p:cNvPr id="3" name="Content Placeholder 2"/>
          <p:cNvSpPr>
            <a:spLocks noGrp="1"/>
          </p:cNvSpPr>
          <p:nvPr>
            <p:ph idx="1"/>
          </p:nvPr>
        </p:nvSpPr>
        <p:spPr/>
        <p:txBody>
          <a:bodyPr>
            <a:normAutofit lnSpcReduction="10000"/>
          </a:bodyPr>
          <a:lstStyle/>
          <a:p>
            <a:r>
              <a:rPr lang="en-US" sz="2400" dirty="0" smtClean="0"/>
              <a:t>The </a:t>
            </a:r>
            <a:r>
              <a:rPr lang="en-US" sz="2400" dirty="0"/>
              <a:t>Boolean algebra we present is an algebra dealing with binary variables and logic operations. </a:t>
            </a:r>
            <a:endParaRPr lang="en-US" sz="2400" dirty="0" smtClean="0"/>
          </a:p>
          <a:p>
            <a:r>
              <a:rPr lang="en-US" sz="2400" dirty="0" smtClean="0"/>
              <a:t>The </a:t>
            </a:r>
            <a:r>
              <a:rPr lang="en-US" sz="2400" dirty="0"/>
              <a:t>variables are designated by letters of the alphabet, and the three basic logic operations are AND, OR, and </a:t>
            </a:r>
            <a:r>
              <a:rPr lang="en-US" sz="2400" dirty="0" smtClean="0"/>
              <a:t>NOT.</a:t>
            </a:r>
          </a:p>
          <a:p>
            <a:r>
              <a:rPr lang="en-US" sz="2400" dirty="0" smtClean="0"/>
              <a:t> </a:t>
            </a:r>
            <a:r>
              <a:rPr lang="en-US" sz="2400" dirty="0"/>
              <a:t>A Boolean </a:t>
            </a:r>
            <a:r>
              <a:rPr lang="en-US" sz="2400" dirty="0" smtClean="0"/>
              <a:t>expression </a:t>
            </a:r>
            <a:r>
              <a:rPr lang="en-US" sz="2400" dirty="0"/>
              <a:t>is an algebraic expression formed by using binary variables, the constants 0 and 1, the logic operation symbols, and parentheses</a:t>
            </a:r>
            <a:r>
              <a:rPr lang="en-US" sz="2400" dirty="0" smtClean="0"/>
              <a:t>.</a:t>
            </a:r>
          </a:p>
          <a:p>
            <a:r>
              <a:rPr lang="en-US" sz="2400" dirty="0" smtClean="0"/>
              <a:t>Boolean </a:t>
            </a:r>
            <a:r>
              <a:rPr lang="en-US" sz="2400" dirty="0"/>
              <a:t>algebra is applied to reduce an expression for the purpose of obtaining a simpler circuit</a:t>
            </a:r>
            <a:r>
              <a:rPr lang="en-US" sz="2400" dirty="0" smtClean="0"/>
              <a:t>.</a:t>
            </a:r>
          </a:p>
          <a:p>
            <a:r>
              <a:rPr lang="en-US" sz="2400" dirty="0"/>
              <a:t>A Boolean function can be described by a Boolean equation consisting of a binary variable identifying the function followed by an equals sign and a Boolean expression.</a:t>
            </a:r>
          </a:p>
          <a:p>
            <a:endParaRPr lang="en-US" sz="2400" dirty="0"/>
          </a:p>
        </p:txBody>
      </p:sp>
    </p:spTree>
    <p:extLst>
      <p:ext uri="{BB962C8B-B14F-4D97-AF65-F5344CB8AC3E}">
        <p14:creationId xmlns:p14="http://schemas.microsoft.com/office/powerpoint/2010/main" val="2905797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a:t>
            </a:r>
            <a:endParaRPr lang="en-US" b="1" dirty="0"/>
          </a:p>
        </p:txBody>
      </p:sp>
      <p:sp>
        <p:nvSpPr>
          <p:cNvPr id="3" name="Content Placeholder 2"/>
          <p:cNvSpPr>
            <a:spLocks noGrp="1"/>
          </p:cNvSpPr>
          <p:nvPr>
            <p:ph idx="1"/>
          </p:nvPr>
        </p:nvSpPr>
        <p:spPr/>
        <p:txBody>
          <a:bodyPr>
            <a:normAutofit/>
          </a:bodyPr>
          <a:lstStyle/>
          <a:p>
            <a:r>
              <a:rPr lang="en-US" sz="2400" dirty="0"/>
              <a:t>Consider an example Boolean </a:t>
            </a:r>
            <a:r>
              <a:rPr lang="en-US" sz="2400" dirty="0" smtClean="0"/>
              <a:t>equation:</a:t>
            </a:r>
          </a:p>
          <a:p>
            <a:endParaRPr lang="en-US" sz="2400" dirty="0"/>
          </a:p>
          <a:p>
            <a:r>
              <a:rPr lang="en-US" sz="2400" dirty="0" smtClean="0"/>
              <a:t>Where</a:t>
            </a:r>
            <a:r>
              <a:rPr lang="en-US" sz="2400" dirty="0"/>
              <a:t>, this Boolean equation representing electrical or electronic logic for control of the lowering of the driver’s power window in a car</a:t>
            </a:r>
            <a:r>
              <a:rPr lang="en-US" sz="2400" dirty="0" smtClean="0"/>
              <a:t>.</a:t>
            </a:r>
          </a:p>
          <a:p>
            <a:r>
              <a:rPr lang="en-US" sz="2400" dirty="0"/>
              <a:t>The function </a:t>
            </a:r>
            <a:r>
              <a:rPr lang="en-US" sz="2400" b="1" dirty="0">
                <a:solidFill>
                  <a:srgbClr val="FF0000"/>
                </a:solidFill>
              </a:rPr>
              <a:t>L</a:t>
            </a:r>
            <a:r>
              <a:rPr lang="en-US" sz="2400" dirty="0">
                <a:solidFill>
                  <a:srgbClr val="FF0000"/>
                </a:solidFill>
              </a:rPr>
              <a:t> </a:t>
            </a:r>
            <a:r>
              <a:rPr lang="en-US" sz="2400" dirty="0" smtClean="0"/>
              <a:t> </a:t>
            </a:r>
            <a:r>
              <a:rPr lang="en-US" sz="2400" dirty="0"/>
              <a:t>means that the window motor is powered up to turn in the direction that lowers the window. </a:t>
            </a:r>
            <a:endParaRPr lang="en-US" sz="2400" dirty="0" smtClean="0"/>
          </a:p>
          <a:p>
            <a:r>
              <a:rPr lang="en-US" sz="2400" b="1" dirty="0">
                <a:solidFill>
                  <a:srgbClr val="FF0000"/>
                </a:solidFill>
              </a:rPr>
              <a:t>D</a:t>
            </a:r>
            <a:r>
              <a:rPr lang="en-US" sz="2400" dirty="0"/>
              <a:t> is an output produced by pushing a panel switch on the inside of the driver’s door</a:t>
            </a:r>
            <a:r>
              <a:rPr lang="en-US" sz="2400" dirty="0" smtClean="0"/>
              <a:t>.</a:t>
            </a:r>
          </a:p>
          <a:p>
            <a:r>
              <a:rPr lang="en-US" sz="2400" b="1" dirty="0">
                <a:solidFill>
                  <a:srgbClr val="FF0000"/>
                </a:solidFill>
              </a:rPr>
              <a:t>X</a:t>
            </a:r>
            <a:r>
              <a:rPr lang="en-US" sz="2400" dirty="0">
                <a:solidFill>
                  <a:srgbClr val="FF0000"/>
                </a:solidFill>
              </a:rPr>
              <a:t> </a:t>
            </a:r>
            <a:r>
              <a:rPr lang="en-US" sz="2400" dirty="0"/>
              <a:t>is the output of a </a:t>
            </a:r>
            <a:r>
              <a:rPr lang="en-US" sz="2400" dirty="0" smtClean="0"/>
              <a:t>mechanical </a:t>
            </a:r>
            <a:r>
              <a:rPr lang="en-US" sz="2400" dirty="0"/>
              <a:t>limit switch. </a:t>
            </a:r>
          </a:p>
        </p:txBody>
      </p:sp>
      <p:pic>
        <p:nvPicPr>
          <p:cNvPr id="4" name="Picture 3"/>
          <p:cNvPicPr>
            <a:picLocks noChangeAspect="1"/>
          </p:cNvPicPr>
          <p:nvPr/>
        </p:nvPicPr>
        <p:blipFill>
          <a:blip r:embed="rId2"/>
          <a:stretch>
            <a:fillRect/>
          </a:stretch>
        </p:blipFill>
        <p:spPr>
          <a:xfrm>
            <a:off x="1528175" y="2242159"/>
            <a:ext cx="3883069" cy="513567"/>
          </a:xfrm>
          <a:prstGeom prst="rect">
            <a:avLst/>
          </a:prstGeom>
        </p:spPr>
      </p:pic>
    </p:spTree>
    <p:extLst>
      <p:ext uri="{BB962C8B-B14F-4D97-AF65-F5344CB8AC3E}">
        <p14:creationId xmlns:p14="http://schemas.microsoft.com/office/powerpoint/2010/main" val="1979527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US" sz="2400" b="1" dirty="0" smtClean="0">
                    <a:solidFill>
                      <a:srgbClr val="FF0000"/>
                    </a:solidFill>
                  </a:rPr>
                  <a:t>A</a:t>
                </a:r>
                <a:r>
                  <a:rPr lang="en-US" sz="2400" dirty="0">
                    <a:solidFill>
                      <a:srgbClr val="FF0000"/>
                    </a:solidFill>
                  </a:rPr>
                  <a:t> </a:t>
                </a:r>
                <a:r>
                  <a:rPr lang="en-US" sz="2400" dirty="0"/>
                  <a:t>is a signal generated by timing logic from D and X. </a:t>
                </a:r>
                <a:endParaRPr lang="en-US" sz="2400" dirty="0" smtClean="0"/>
              </a:p>
              <a:p>
                <a:r>
                  <a:rPr lang="en-US" sz="2400" dirty="0" smtClean="0"/>
                  <a:t>Whenever </a:t>
                </a:r>
                <a:r>
                  <a:rPr lang="en-US" sz="2400" dirty="0"/>
                  <a:t>D has been 1 for at least one- half second, A becomes 1 and remains at 1 until X = 1</a:t>
                </a:r>
                <a:r>
                  <a:rPr lang="en-US" sz="2400" dirty="0" smtClean="0"/>
                  <a:t>.</a:t>
                </a:r>
              </a:p>
              <a:p>
                <a:r>
                  <a:rPr lang="en-US" sz="2400" dirty="0" smtClean="0"/>
                  <a:t>If </a:t>
                </a:r>
                <a:r>
                  <a:rPr lang="en-US" sz="2400" dirty="0"/>
                  <a:t>D = 1 for less than one- half second, A = 0. </a:t>
                </a:r>
                <a:endParaRPr lang="en-US" sz="2400" dirty="0" smtClean="0"/>
              </a:p>
              <a:p>
                <a:r>
                  <a:rPr lang="en-US" sz="2400" dirty="0" smtClean="0"/>
                  <a:t>Thus</a:t>
                </a:r>
                <a:r>
                  <a:rPr lang="en-US" sz="2400" dirty="0"/>
                  <a:t>, if the driver requests that the window be lowered for one- half second or longer, the window is to be lowered automatically to the fully down position. </a:t>
                </a:r>
                <a:endParaRPr lang="en-US" sz="2400" dirty="0" smtClean="0"/>
              </a:p>
              <a:p>
                <a:r>
                  <a:rPr lang="en-US" sz="2400" dirty="0" smtClean="0"/>
                  <a:t>The </a:t>
                </a:r>
                <a:r>
                  <a:rPr lang="en-US" sz="2400" dirty="0"/>
                  <a:t>two parts of the expression, </a:t>
                </a:r>
                <a:r>
                  <a:rPr lang="en-US" sz="2400" dirty="0">
                    <a:solidFill>
                      <a:srgbClr val="FF0000"/>
                    </a:solidFill>
                  </a:rPr>
                  <a:t>DX</a:t>
                </a:r>
                <a:r>
                  <a:rPr lang="en-US" sz="2400" dirty="0"/>
                  <a:t> and </a:t>
                </a:r>
                <a:r>
                  <a:rPr lang="en-US" sz="2400" dirty="0">
                    <a:solidFill>
                      <a:srgbClr val="FF0000"/>
                    </a:solidFill>
                  </a:rPr>
                  <a:t>A</a:t>
                </a:r>
                <a:r>
                  <a:rPr lang="en-US" sz="2400" dirty="0"/>
                  <a:t>, are called </a:t>
                </a:r>
                <a:r>
                  <a:rPr lang="en-US" sz="2400" dirty="0">
                    <a:solidFill>
                      <a:srgbClr val="FF0000"/>
                    </a:solidFill>
                  </a:rPr>
                  <a:t>terms</a:t>
                </a:r>
                <a:r>
                  <a:rPr lang="en-US" sz="2400" dirty="0"/>
                  <a:t> of the expression for L</a:t>
                </a:r>
                <a:r>
                  <a:rPr lang="en-US" sz="2400" dirty="0" smtClean="0"/>
                  <a:t>.</a:t>
                </a:r>
              </a:p>
              <a:p>
                <a:r>
                  <a:rPr lang="en-US" sz="2400" dirty="0"/>
                  <a:t>The complement operation dictates that if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𝑋</m:t>
                        </m:r>
                      </m:e>
                      <m:sup>
                        <m:r>
                          <a:rPr lang="en-US" sz="2400" b="0" i="1" smtClean="0">
                            <a:latin typeface="Cambria Math" panose="02040503050406030204" pitchFamily="18" charset="0"/>
                          </a:rPr>
                          <m:t>−</m:t>
                        </m:r>
                      </m:sup>
                    </m:sSup>
                  </m:oMath>
                </a14:m>
                <a:r>
                  <a:rPr lang="en-US" sz="2400" dirty="0" smtClean="0"/>
                  <a:t> </a:t>
                </a:r>
                <a:r>
                  <a:rPr lang="en-US" sz="2400" dirty="0"/>
                  <a:t>= 1, then X = 0. </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005" t="-1961" b="-3081"/>
                </a:stretch>
              </a:blipFill>
            </p:spPr>
            <p:txBody>
              <a:bodyPr/>
              <a:lstStyle/>
              <a:p>
                <a:r>
                  <a:rPr lang="en-US">
                    <a:noFill/>
                  </a:rPr>
                  <a:t> </a:t>
                </a:r>
              </a:p>
            </p:txBody>
          </p:sp>
        </mc:Fallback>
      </mc:AlternateContent>
    </p:spTree>
    <p:extLst>
      <p:ext uri="{BB962C8B-B14F-4D97-AF65-F5344CB8AC3E}">
        <p14:creationId xmlns:p14="http://schemas.microsoft.com/office/powerpoint/2010/main" val="3080585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28650" y="776614"/>
            <a:ext cx="7886700" cy="5536503"/>
          </a:xfrm>
          <a:prstGeom prst="rect">
            <a:avLst/>
          </a:prstGeom>
        </p:spPr>
      </p:pic>
    </p:spTree>
    <p:extLst>
      <p:ext uri="{BB962C8B-B14F-4D97-AF65-F5344CB8AC3E}">
        <p14:creationId xmlns:p14="http://schemas.microsoft.com/office/powerpoint/2010/main" val="3244226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HDL Implementation</a:t>
            </a:r>
            <a:endParaRPr lang="en-US" b="1" dirty="0"/>
          </a:p>
        </p:txBody>
      </p:sp>
      <p:pic>
        <p:nvPicPr>
          <p:cNvPr id="4" name="Content Placeholder 3"/>
          <p:cNvPicPr>
            <a:picLocks noGrp="1" noChangeAspect="1"/>
          </p:cNvPicPr>
          <p:nvPr>
            <p:ph idx="1"/>
          </p:nvPr>
        </p:nvPicPr>
        <p:blipFill>
          <a:blip r:embed="rId2"/>
          <a:stretch>
            <a:fillRect/>
          </a:stretch>
        </p:blipFill>
        <p:spPr>
          <a:xfrm>
            <a:off x="628650" y="1690689"/>
            <a:ext cx="7886700" cy="4434538"/>
          </a:xfrm>
          <a:prstGeom prst="rect">
            <a:avLst/>
          </a:prstGeom>
        </p:spPr>
      </p:pic>
    </p:spTree>
    <p:extLst>
      <p:ext uri="{BB962C8B-B14F-4D97-AF65-F5344CB8AC3E}">
        <p14:creationId xmlns:p14="http://schemas.microsoft.com/office/powerpoint/2010/main" val="2540778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26511" y="457200"/>
            <a:ext cx="7753610" cy="5943600"/>
          </a:xfrm>
          <a:prstGeom prst="rect">
            <a:avLst/>
          </a:prstGeom>
        </p:spPr>
      </p:pic>
    </p:spTree>
    <p:extLst>
      <p:ext uri="{BB962C8B-B14F-4D97-AF65-F5344CB8AC3E}">
        <p14:creationId xmlns:p14="http://schemas.microsoft.com/office/powerpoint/2010/main" val="2945906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Logic Circuits</a:t>
            </a:r>
            <a:endParaRPr lang="en-US" b="1" dirty="0"/>
          </a:p>
        </p:txBody>
      </p:sp>
      <p:sp>
        <p:nvSpPr>
          <p:cNvPr id="3" name="Content Placeholder 2"/>
          <p:cNvSpPr>
            <a:spLocks noGrp="1"/>
          </p:cNvSpPr>
          <p:nvPr>
            <p:ph idx="1"/>
          </p:nvPr>
        </p:nvSpPr>
        <p:spPr/>
        <p:txBody>
          <a:bodyPr/>
          <a:lstStyle/>
          <a:p>
            <a:r>
              <a:rPr lang="en-US" dirty="0" smtClean="0">
                <a:solidFill>
                  <a:srgbClr val="FF0000"/>
                </a:solidFill>
              </a:rPr>
              <a:t>Combinational Logic Circuits.</a:t>
            </a:r>
          </a:p>
          <a:p>
            <a:r>
              <a:rPr lang="en-US" dirty="0"/>
              <a:t>Logic circuits of this type are called combinational logic circuits, since the variables are “combined” by the logical operations.</a:t>
            </a:r>
            <a:endParaRPr lang="en-US" dirty="0" smtClean="0">
              <a:solidFill>
                <a:srgbClr val="FF0000"/>
              </a:solidFill>
            </a:endParaRPr>
          </a:p>
          <a:p>
            <a:r>
              <a:rPr lang="en-US" dirty="0" smtClean="0">
                <a:solidFill>
                  <a:srgbClr val="FF0000"/>
                </a:solidFill>
              </a:rPr>
              <a:t>Sequential Logic circuits.</a:t>
            </a:r>
          </a:p>
          <a:p>
            <a:r>
              <a:rPr lang="en-US" dirty="0"/>
              <a:t>This is in contrast to the sequential </a:t>
            </a:r>
            <a:r>
              <a:rPr lang="en-US" dirty="0" smtClean="0"/>
              <a:t>logic, </a:t>
            </a:r>
            <a:r>
              <a:rPr lang="en-US" dirty="0"/>
              <a:t>in which variables are stored over time as well as being combined.</a:t>
            </a:r>
            <a:endParaRPr lang="en-US" dirty="0">
              <a:solidFill>
                <a:srgbClr val="FF0000"/>
              </a:solidFill>
            </a:endParaRPr>
          </a:p>
        </p:txBody>
      </p:sp>
    </p:spTree>
    <p:extLst>
      <p:ext uri="{BB962C8B-B14F-4D97-AF65-F5344CB8AC3E}">
        <p14:creationId xmlns:p14="http://schemas.microsoft.com/office/powerpoint/2010/main" val="2892471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Basic Identities of Boolean Algebra </a:t>
            </a:r>
          </a:p>
        </p:txBody>
      </p:sp>
      <p:sp>
        <p:nvSpPr>
          <p:cNvPr id="3" name="Content Placeholder 2"/>
          <p:cNvSpPr>
            <a:spLocks noGrp="1"/>
          </p:cNvSpPr>
          <p:nvPr>
            <p:ph idx="1"/>
          </p:nvPr>
        </p:nvSpPr>
        <p:spPr/>
        <p:txBody>
          <a:bodyPr>
            <a:normAutofit/>
          </a:bodyPr>
          <a:lstStyle/>
          <a:p>
            <a:r>
              <a:rPr lang="en-US" sz="2400" dirty="0"/>
              <a:t>By manipulating a Boolean expression according to Boolean algebraic rules, it is often possible to obtain a </a:t>
            </a:r>
            <a:r>
              <a:rPr lang="en-US" sz="2400" dirty="0" smtClean="0"/>
              <a:t>simpler </a:t>
            </a:r>
            <a:r>
              <a:rPr lang="en-US" sz="2400" dirty="0"/>
              <a:t>expression for the same function. </a:t>
            </a:r>
            <a:endParaRPr lang="en-US" sz="2400" dirty="0" smtClean="0"/>
          </a:p>
          <a:p>
            <a:r>
              <a:rPr lang="en-US" sz="2400" dirty="0" smtClean="0"/>
              <a:t>This </a:t>
            </a:r>
            <a:r>
              <a:rPr lang="en-US" sz="2400" dirty="0"/>
              <a:t>simpler expression reduces both the number of gates in the circuit and the </a:t>
            </a:r>
            <a:r>
              <a:rPr lang="en-US" sz="2400" dirty="0" smtClean="0"/>
              <a:t>numbers </a:t>
            </a:r>
            <a:r>
              <a:rPr lang="en-US" sz="2400" dirty="0"/>
              <a:t>of inputs to the gates</a:t>
            </a:r>
            <a:r>
              <a:rPr lang="en-US" sz="2400" dirty="0" smtClean="0"/>
              <a:t>.</a:t>
            </a:r>
          </a:p>
          <a:p>
            <a:r>
              <a:rPr lang="en-US" sz="2400" dirty="0"/>
              <a:t>To see how this is done, we must first study the basic rules of Boolean algebra</a:t>
            </a:r>
            <a:r>
              <a:rPr lang="en-US" sz="2400" dirty="0" smtClean="0"/>
              <a:t>.</a:t>
            </a:r>
          </a:p>
          <a:p>
            <a:r>
              <a:rPr lang="en-US" sz="2400" dirty="0"/>
              <a:t>Table 2-6 lists the most basic identities of Boolean algebra. </a:t>
            </a:r>
          </a:p>
        </p:txBody>
      </p:sp>
    </p:spTree>
    <p:extLst>
      <p:ext uri="{BB962C8B-B14F-4D97-AF65-F5344CB8AC3E}">
        <p14:creationId xmlns:p14="http://schemas.microsoft.com/office/powerpoint/2010/main" val="2846142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13984" y="839244"/>
            <a:ext cx="7703506" cy="4872624"/>
          </a:xfrm>
          <a:prstGeom prst="rect">
            <a:avLst/>
          </a:prstGeom>
        </p:spPr>
      </p:pic>
    </p:spTree>
    <p:extLst>
      <p:ext uri="{BB962C8B-B14F-4D97-AF65-F5344CB8AC3E}">
        <p14:creationId xmlns:p14="http://schemas.microsoft.com/office/powerpoint/2010/main" val="3019746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Note:</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US" sz="2400" dirty="0"/>
                  <a:t>The </a:t>
                </a:r>
                <a:r>
                  <a:rPr lang="en-US" sz="2400" dirty="0" smtClean="0"/>
                  <a:t>first </a:t>
                </a:r>
                <a:r>
                  <a:rPr lang="en-US" sz="2400" dirty="0"/>
                  <a:t>nine identities show the relationship between a single variable X, its </a:t>
                </a:r>
                <a:r>
                  <a:rPr lang="en-US" sz="2400" dirty="0" smtClean="0"/>
                  <a:t>complement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𝑋</m:t>
                        </m:r>
                      </m:e>
                      <m:sup>
                        <m:r>
                          <a:rPr lang="en-US" sz="2400" i="1">
                            <a:latin typeface="Cambria Math" panose="02040503050406030204" pitchFamily="18" charset="0"/>
                          </a:rPr>
                          <m:t>−</m:t>
                        </m:r>
                      </m:sup>
                    </m:sSup>
                  </m:oMath>
                </a14:m>
                <a:r>
                  <a:rPr lang="en-US" sz="2400" dirty="0"/>
                  <a:t>, and the binary constants 0 and 1. </a:t>
                </a:r>
                <a:endParaRPr lang="en-US" sz="2400" dirty="0" smtClean="0"/>
              </a:p>
              <a:p>
                <a:r>
                  <a:rPr lang="en-US" sz="2400" dirty="0" smtClean="0"/>
                  <a:t>The </a:t>
                </a:r>
                <a:r>
                  <a:rPr lang="en-US" sz="2400" dirty="0"/>
                  <a:t>next five identities, 10 through 14, have counterparts in ordinary algebra. </a:t>
                </a:r>
                <a:endParaRPr lang="en-US" sz="2400" dirty="0" smtClean="0"/>
              </a:p>
              <a:p>
                <a:r>
                  <a:rPr lang="en-US" sz="2400" dirty="0" smtClean="0"/>
                  <a:t>The </a:t>
                </a:r>
                <a:r>
                  <a:rPr lang="en-US" sz="2400" dirty="0"/>
                  <a:t>last three, 15 through 17, do not apply </a:t>
                </a:r>
                <a:r>
                  <a:rPr lang="en-US" sz="2400" dirty="0" smtClean="0"/>
                  <a:t>unordinary </a:t>
                </a:r>
                <a:r>
                  <a:rPr lang="en-US" sz="2400" dirty="0"/>
                  <a:t>algebra, but are useful in manipulating Boolean expressions.</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005" t="-1961" r="-1082"/>
                </a:stretch>
              </a:blipFill>
            </p:spPr>
            <p:txBody>
              <a:bodyPr/>
              <a:lstStyle/>
              <a:p>
                <a:r>
                  <a:rPr lang="en-US">
                    <a:noFill/>
                  </a:rPr>
                  <a:t> </a:t>
                </a:r>
              </a:p>
            </p:txBody>
          </p:sp>
        </mc:Fallback>
      </mc:AlternateContent>
    </p:spTree>
    <p:extLst>
      <p:ext uri="{BB962C8B-B14F-4D97-AF65-F5344CB8AC3E}">
        <p14:creationId xmlns:p14="http://schemas.microsoft.com/office/powerpoint/2010/main" val="2028916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Duality </a:t>
            </a:r>
            <a:r>
              <a:rPr lang="en-US" b="1" dirty="0"/>
              <a:t>of Boolean </a:t>
            </a:r>
            <a:r>
              <a:rPr lang="en-US" b="1" dirty="0" smtClean="0"/>
              <a:t>Algebra</a:t>
            </a:r>
            <a:endParaRPr lang="en-US" b="1" dirty="0"/>
          </a:p>
        </p:txBody>
      </p:sp>
      <p:sp>
        <p:nvSpPr>
          <p:cNvPr id="3" name="Content Placeholder 2"/>
          <p:cNvSpPr>
            <a:spLocks noGrp="1"/>
          </p:cNvSpPr>
          <p:nvPr>
            <p:ph idx="1"/>
          </p:nvPr>
        </p:nvSpPr>
        <p:spPr/>
        <p:txBody>
          <a:bodyPr>
            <a:normAutofit lnSpcReduction="10000"/>
          </a:bodyPr>
          <a:lstStyle/>
          <a:p>
            <a:r>
              <a:rPr lang="en-US" sz="2400" dirty="0"/>
              <a:t>The dual of an algebraic expression is obtained by interchanging </a:t>
            </a:r>
            <a:r>
              <a:rPr lang="en-US" sz="2400" dirty="0">
                <a:solidFill>
                  <a:srgbClr val="FF0000"/>
                </a:solidFill>
              </a:rPr>
              <a:t>OR</a:t>
            </a:r>
            <a:r>
              <a:rPr lang="en-US" sz="2400" dirty="0"/>
              <a:t> and </a:t>
            </a:r>
            <a:r>
              <a:rPr lang="en-US" sz="2400" dirty="0">
                <a:solidFill>
                  <a:srgbClr val="FF0000"/>
                </a:solidFill>
              </a:rPr>
              <a:t>AND</a:t>
            </a:r>
            <a:r>
              <a:rPr lang="en-US" sz="2400" dirty="0">
                <a:solidFill>
                  <a:srgbClr val="FF0000"/>
                </a:solidFill>
              </a:rPr>
              <a:t> </a:t>
            </a:r>
            <a:r>
              <a:rPr lang="en-US" sz="2400" dirty="0"/>
              <a:t>operations and replacing </a:t>
            </a:r>
            <a:r>
              <a:rPr lang="en-US" sz="2400" dirty="0">
                <a:solidFill>
                  <a:srgbClr val="FF0000"/>
                </a:solidFill>
              </a:rPr>
              <a:t>1s</a:t>
            </a:r>
            <a:r>
              <a:rPr lang="en-US" sz="2400" dirty="0"/>
              <a:t> by </a:t>
            </a:r>
            <a:r>
              <a:rPr lang="en-US" sz="2400" dirty="0">
                <a:solidFill>
                  <a:srgbClr val="FF0000"/>
                </a:solidFill>
              </a:rPr>
              <a:t>0s</a:t>
            </a:r>
            <a:r>
              <a:rPr lang="en-US" sz="2400" dirty="0"/>
              <a:t> and </a:t>
            </a:r>
            <a:r>
              <a:rPr lang="en-US" sz="2400" dirty="0">
                <a:solidFill>
                  <a:srgbClr val="FF0000"/>
                </a:solidFill>
              </a:rPr>
              <a:t>0s</a:t>
            </a:r>
            <a:r>
              <a:rPr lang="en-US" sz="2400" dirty="0"/>
              <a:t> by </a:t>
            </a:r>
            <a:r>
              <a:rPr lang="en-US" sz="2400" dirty="0">
                <a:solidFill>
                  <a:srgbClr val="FF0000"/>
                </a:solidFill>
              </a:rPr>
              <a:t>1s</a:t>
            </a:r>
            <a:r>
              <a:rPr lang="en-US" sz="2400" dirty="0"/>
              <a:t>. </a:t>
            </a:r>
            <a:endParaRPr lang="en-US" sz="2400" dirty="0" smtClean="0"/>
          </a:p>
          <a:p>
            <a:r>
              <a:rPr lang="en-US" sz="2400" dirty="0" smtClean="0"/>
              <a:t>An </a:t>
            </a:r>
            <a:r>
              <a:rPr lang="en-US" sz="2400" dirty="0"/>
              <a:t>equation in one column </a:t>
            </a:r>
            <a:r>
              <a:rPr lang="en-US" sz="2400" dirty="0" smtClean="0"/>
              <a:t>of table 2.6, </a:t>
            </a:r>
            <a:r>
              <a:rPr lang="en-US" sz="2400" dirty="0"/>
              <a:t>can be obtained from the corresponding equation in the other column by taking the dual of the expressions on both sides of the equals sign. </a:t>
            </a:r>
            <a:endParaRPr lang="en-US" sz="2400" dirty="0" smtClean="0"/>
          </a:p>
          <a:p>
            <a:r>
              <a:rPr lang="en-US" sz="2400" dirty="0" smtClean="0"/>
              <a:t>For </a:t>
            </a:r>
            <a:r>
              <a:rPr lang="en-US" sz="2400" dirty="0"/>
              <a:t>example, relation 2 is the dual of relation 1 because the OR has been replaced by an AND </a:t>
            </a:r>
            <a:r>
              <a:rPr lang="en-US" sz="2400" dirty="0"/>
              <a:t>and</a:t>
            </a:r>
            <a:r>
              <a:rPr lang="en-US" sz="2400" dirty="0"/>
              <a:t> the 0 by 1. </a:t>
            </a:r>
            <a:endParaRPr lang="en-US" sz="2400" dirty="0" smtClean="0"/>
          </a:p>
          <a:p>
            <a:r>
              <a:rPr lang="en-US" sz="2400" dirty="0" smtClean="0">
                <a:solidFill>
                  <a:srgbClr val="0070C0"/>
                </a:solidFill>
              </a:rPr>
              <a:t>It </a:t>
            </a:r>
            <a:r>
              <a:rPr lang="en-US" sz="2400" dirty="0">
                <a:solidFill>
                  <a:srgbClr val="0070C0"/>
                </a:solidFill>
              </a:rPr>
              <a:t>is important to note that most of the time the dual of an expression is not equal to the original expression, so that an expression usually cannot be replaced by its dual.</a:t>
            </a:r>
          </a:p>
        </p:txBody>
      </p:sp>
    </p:spTree>
    <p:extLst>
      <p:ext uri="{BB962C8B-B14F-4D97-AF65-F5344CB8AC3E}">
        <p14:creationId xmlns:p14="http://schemas.microsoft.com/office/powerpoint/2010/main" val="2274696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Precedence of Operations</a:t>
            </a:r>
            <a:endParaRPr lang="en-US" b="1" dirty="0"/>
          </a:p>
        </p:txBody>
      </p:sp>
      <p:sp>
        <p:nvSpPr>
          <p:cNvPr id="3" name="Content Placeholder 2"/>
          <p:cNvSpPr>
            <a:spLocks noGrp="1"/>
          </p:cNvSpPr>
          <p:nvPr>
            <p:ph idx="1"/>
          </p:nvPr>
        </p:nvSpPr>
        <p:spPr/>
        <p:txBody>
          <a:bodyPr/>
          <a:lstStyle/>
          <a:p>
            <a:pPr marL="514350" indent="-514350">
              <a:buFont typeface="+mj-lt"/>
              <a:buAutoNum type="arabicPeriod"/>
            </a:pPr>
            <a:r>
              <a:rPr lang="en-US" dirty="0" smtClean="0"/>
              <a:t>Parenthesis ( )</a:t>
            </a:r>
          </a:p>
          <a:p>
            <a:pPr marL="514350" indent="-514350">
              <a:buFont typeface="+mj-lt"/>
              <a:buAutoNum type="arabicPeriod"/>
            </a:pPr>
            <a:r>
              <a:rPr lang="en-US" dirty="0" smtClean="0"/>
              <a:t>NOT</a:t>
            </a:r>
          </a:p>
          <a:p>
            <a:pPr marL="514350" indent="-514350">
              <a:buFont typeface="+mj-lt"/>
              <a:buAutoNum type="arabicPeriod"/>
            </a:pPr>
            <a:r>
              <a:rPr lang="en-US" dirty="0" smtClean="0"/>
              <a:t>AND, </a:t>
            </a:r>
          </a:p>
          <a:p>
            <a:pPr marL="514350" indent="-514350">
              <a:buFont typeface="+mj-lt"/>
              <a:buAutoNum type="arabicPeriod"/>
            </a:pPr>
            <a:r>
              <a:rPr lang="en-US" dirty="0" smtClean="0"/>
              <a:t>OR</a:t>
            </a:r>
          </a:p>
          <a:p>
            <a:pPr marL="514350" indent="-514350">
              <a:buFont typeface="+mj-lt"/>
              <a:buAutoNum type="arabicPeriod"/>
            </a:pPr>
            <a:endParaRPr lang="en-US" dirty="0"/>
          </a:p>
        </p:txBody>
      </p:sp>
    </p:spTree>
    <p:extLst>
      <p:ext uri="{BB962C8B-B14F-4D97-AF65-F5344CB8AC3E}">
        <p14:creationId xmlns:p14="http://schemas.microsoft.com/office/powerpoint/2010/main" val="3923171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Algebraic Manipulation </a:t>
            </a:r>
          </a:p>
        </p:txBody>
      </p:sp>
      <p:sp>
        <p:nvSpPr>
          <p:cNvPr id="3" name="Content Placeholder 2"/>
          <p:cNvSpPr>
            <a:spLocks noGrp="1"/>
          </p:cNvSpPr>
          <p:nvPr>
            <p:ph idx="1"/>
          </p:nvPr>
        </p:nvSpPr>
        <p:spPr/>
        <p:txBody>
          <a:bodyPr>
            <a:normAutofit/>
          </a:bodyPr>
          <a:lstStyle/>
          <a:p>
            <a:r>
              <a:rPr lang="en-US" sz="2400" dirty="0"/>
              <a:t>Boolean algebra is a useful tool for simplifying digital circuits. </a:t>
            </a:r>
            <a:endParaRPr lang="en-US" sz="2400" dirty="0" smtClean="0"/>
          </a:p>
          <a:p>
            <a:r>
              <a:rPr lang="en-US" sz="2400" dirty="0" smtClean="0"/>
              <a:t>Consider</a:t>
            </a:r>
            <a:r>
              <a:rPr lang="en-US" sz="2400" dirty="0"/>
              <a:t>, for example, the Boolean function represented </a:t>
            </a:r>
            <a:r>
              <a:rPr lang="en-US" sz="2400" dirty="0" smtClean="0"/>
              <a:t>by:</a:t>
            </a:r>
          </a:p>
          <a:p>
            <a:endParaRPr lang="en-US" sz="2400" dirty="0"/>
          </a:p>
          <a:p>
            <a:r>
              <a:rPr lang="en-US" sz="2400" dirty="0" smtClean="0"/>
              <a:t>The gate implementation without simplification:</a:t>
            </a:r>
            <a:endParaRPr lang="en-US" sz="2400" dirty="0"/>
          </a:p>
        </p:txBody>
      </p:sp>
      <p:pic>
        <p:nvPicPr>
          <p:cNvPr id="4" name="Picture 3"/>
          <p:cNvPicPr>
            <a:picLocks noChangeAspect="1"/>
          </p:cNvPicPr>
          <p:nvPr/>
        </p:nvPicPr>
        <p:blipFill>
          <a:blip r:embed="rId2"/>
          <a:stretch>
            <a:fillRect/>
          </a:stretch>
        </p:blipFill>
        <p:spPr>
          <a:xfrm>
            <a:off x="2455102" y="3118981"/>
            <a:ext cx="3293236" cy="481469"/>
          </a:xfrm>
          <a:prstGeom prst="rect">
            <a:avLst/>
          </a:prstGeom>
        </p:spPr>
      </p:pic>
      <p:pic>
        <p:nvPicPr>
          <p:cNvPr id="5" name="Picture 4"/>
          <p:cNvPicPr>
            <a:picLocks noChangeAspect="1"/>
          </p:cNvPicPr>
          <p:nvPr/>
        </p:nvPicPr>
        <p:blipFill>
          <a:blip r:embed="rId3"/>
          <a:stretch>
            <a:fillRect/>
          </a:stretch>
        </p:blipFill>
        <p:spPr>
          <a:xfrm>
            <a:off x="1763821" y="3846056"/>
            <a:ext cx="4914900" cy="2095500"/>
          </a:xfrm>
          <a:prstGeom prst="rect">
            <a:avLst/>
          </a:prstGeom>
        </p:spPr>
      </p:pic>
    </p:spTree>
    <p:extLst>
      <p:ext uri="{BB962C8B-B14F-4D97-AF65-F5344CB8AC3E}">
        <p14:creationId xmlns:p14="http://schemas.microsoft.com/office/powerpoint/2010/main" val="4749379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838829"/>
          </a:xfrm>
        </p:spPr>
        <p:txBody>
          <a:bodyPr/>
          <a:lstStyle/>
          <a:p>
            <a:r>
              <a:rPr lang="en-US" dirty="0" smtClean="0"/>
              <a:t>Cont.,</a:t>
            </a:r>
            <a:endParaRPr lang="en-US" dirty="0"/>
          </a:p>
        </p:txBody>
      </p:sp>
      <p:sp>
        <p:nvSpPr>
          <p:cNvPr id="3" name="Content Placeholder 2"/>
          <p:cNvSpPr>
            <a:spLocks noGrp="1"/>
          </p:cNvSpPr>
          <p:nvPr>
            <p:ph idx="1"/>
          </p:nvPr>
        </p:nvSpPr>
        <p:spPr>
          <a:xfrm>
            <a:off x="628650" y="1427967"/>
            <a:ext cx="7886700" cy="4748996"/>
          </a:xfrm>
        </p:spPr>
        <p:txBody>
          <a:bodyPr>
            <a:normAutofit/>
          </a:bodyPr>
          <a:lstStyle/>
          <a:p>
            <a:r>
              <a:rPr lang="en-US" sz="2400" dirty="0"/>
              <a:t>Now consider a simplification of the expression for F by applying some of the identities listed in Table 2-6</a:t>
            </a:r>
            <a:r>
              <a:rPr lang="en-US" sz="2400" dirty="0" smtClean="0"/>
              <a:t>:</a:t>
            </a:r>
          </a:p>
          <a:p>
            <a:endParaRPr lang="en-US" sz="2400" dirty="0"/>
          </a:p>
          <a:p>
            <a:endParaRPr lang="en-US" sz="2400" dirty="0" smtClean="0"/>
          </a:p>
          <a:p>
            <a:endParaRPr lang="en-US" sz="2400" dirty="0"/>
          </a:p>
          <a:p>
            <a:endParaRPr lang="en-US" sz="2400" dirty="0" smtClean="0"/>
          </a:p>
          <a:p>
            <a:r>
              <a:rPr lang="en-US" sz="2400" dirty="0" smtClean="0"/>
              <a:t>The </a:t>
            </a:r>
            <a:r>
              <a:rPr lang="en-US" sz="2400" dirty="0"/>
              <a:t>gate implementation </a:t>
            </a:r>
            <a:r>
              <a:rPr lang="en-US" sz="2400" dirty="0" smtClean="0"/>
              <a:t>with simplification:</a:t>
            </a:r>
          </a:p>
          <a:p>
            <a:endParaRPr lang="en-US" sz="2400" dirty="0"/>
          </a:p>
        </p:txBody>
      </p:sp>
      <p:pic>
        <p:nvPicPr>
          <p:cNvPr id="4" name="Picture 3"/>
          <p:cNvPicPr>
            <a:picLocks noChangeAspect="1"/>
          </p:cNvPicPr>
          <p:nvPr/>
        </p:nvPicPr>
        <p:blipFill>
          <a:blip r:embed="rId2"/>
          <a:stretch>
            <a:fillRect/>
          </a:stretch>
        </p:blipFill>
        <p:spPr>
          <a:xfrm>
            <a:off x="1164920" y="2321263"/>
            <a:ext cx="6150279" cy="1605353"/>
          </a:xfrm>
          <a:prstGeom prst="rect">
            <a:avLst/>
          </a:prstGeom>
        </p:spPr>
      </p:pic>
      <p:pic>
        <p:nvPicPr>
          <p:cNvPr id="5" name="Picture 4"/>
          <p:cNvPicPr>
            <a:picLocks noChangeAspect="1"/>
          </p:cNvPicPr>
          <p:nvPr/>
        </p:nvPicPr>
        <p:blipFill>
          <a:blip r:embed="rId3"/>
          <a:stretch>
            <a:fillRect/>
          </a:stretch>
        </p:blipFill>
        <p:spPr>
          <a:xfrm>
            <a:off x="1439709" y="4424363"/>
            <a:ext cx="5600700" cy="1752600"/>
          </a:xfrm>
          <a:prstGeom prst="rect">
            <a:avLst/>
          </a:prstGeom>
        </p:spPr>
      </p:pic>
    </p:spTree>
    <p:extLst>
      <p:ext uri="{BB962C8B-B14F-4D97-AF65-F5344CB8AC3E}">
        <p14:creationId xmlns:p14="http://schemas.microsoft.com/office/powerpoint/2010/main" val="33052612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51771" y="1014608"/>
            <a:ext cx="7002048" cy="4672208"/>
          </a:xfrm>
          <a:prstGeom prst="rect">
            <a:avLst/>
          </a:prstGeom>
        </p:spPr>
      </p:pic>
    </p:spTree>
    <p:extLst>
      <p:ext uri="{BB962C8B-B14F-4D97-AF65-F5344CB8AC3E}">
        <p14:creationId xmlns:p14="http://schemas.microsoft.com/office/powerpoint/2010/main" val="32388869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Note:</a:t>
            </a:r>
            <a:endParaRPr lang="en-US" dirty="0"/>
          </a:p>
        </p:txBody>
      </p:sp>
      <p:sp>
        <p:nvSpPr>
          <p:cNvPr id="3" name="Content Placeholder 2"/>
          <p:cNvSpPr>
            <a:spLocks noGrp="1"/>
          </p:cNvSpPr>
          <p:nvPr>
            <p:ph idx="1"/>
          </p:nvPr>
        </p:nvSpPr>
        <p:spPr/>
        <p:txBody>
          <a:bodyPr>
            <a:normAutofit/>
          </a:bodyPr>
          <a:lstStyle/>
          <a:p>
            <a:r>
              <a:rPr lang="en-US" sz="2400" dirty="0"/>
              <a:t>When a Boolean equation is implemented with logic gates, each </a:t>
            </a:r>
            <a:r>
              <a:rPr lang="en-US" sz="2400" dirty="0">
                <a:solidFill>
                  <a:srgbClr val="0070C0"/>
                </a:solidFill>
              </a:rPr>
              <a:t>term</a:t>
            </a:r>
            <a:r>
              <a:rPr lang="en-US" sz="2400" dirty="0"/>
              <a:t> requires a gate, and each variable within the term designates an input to the gate. </a:t>
            </a:r>
            <a:endParaRPr lang="en-US" sz="2400" dirty="0" smtClean="0"/>
          </a:p>
          <a:p>
            <a:r>
              <a:rPr lang="en-US" sz="2400" dirty="0" smtClean="0"/>
              <a:t>We </a:t>
            </a:r>
            <a:r>
              <a:rPr lang="en-US" sz="2400" dirty="0"/>
              <a:t>define a </a:t>
            </a:r>
            <a:r>
              <a:rPr lang="en-US" sz="2400" b="1" dirty="0">
                <a:solidFill>
                  <a:srgbClr val="0070C0"/>
                </a:solidFill>
              </a:rPr>
              <a:t>literal</a:t>
            </a:r>
            <a:r>
              <a:rPr lang="en-US" sz="2400" dirty="0"/>
              <a:t> as a single variable within a term that may or may not be complemented. </a:t>
            </a:r>
            <a:endParaRPr lang="en-US" sz="2400" dirty="0" smtClean="0"/>
          </a:p>
          <a:p>
            <a:r>
              <a:rPr lang="en-US" sz="2400" dirty="0" smtClean="0"/>
              <a:t>The </a:t>
            </a:r>
            <a:r>
              <a:rPr lang="en-US" sz="2400" dirty="0"/>
              <a:t>expression for the function in Figure 2-8(a) has three terms and eight literals; the one in Figure 2-8(b) has two terms and four literals. </a:t>
            </a:r>
            <a:endParaRPr lang="en-US" sz="2400" dirty="0" smtClean="0"/>
          </a:p>
          <a:p>
            <a:r>
              <a:rPr lang="en-US" sz="2400" dirty="0" smtClean="0"/>
              <a:t>By </a:t>
            </a:r>
            <a:r>
              <a:rPr lang="en-US" sz="2400" dirty="0"/>
              <a:t>reducing the number of terms, the number of literals, or both in a Boolean expression, it is often possible to obtain a simpler circuit. </a:t>
            </a:r>
          </a:p>
        </p:txBody>
      </p:sp>
    </p:spTree>
    <p:extLst>
      <p:ext uri="{BB962C8B-B14F-4D97-AF65-F5344CB8AC3E}">
        <p14:creationId xmlns:p14="http://schemas.microsoft.com/office/powerpoint/2010/main" val="26590898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Examples</a:t>
            </a:r>
            <a:endParaRPr lang="en-US" b="1" dirty="0"/>
          </a:p>
        </p:txBody>
      </p:sp>
      <p:sp>
        <p:nvSpPr>
          <p:cNvPr id="3" name="Content Placeholder 2"/>
          <p:cNvSpPr>
            <a:spLocks noGrp="1"/>
          </p:cNvSpPr>
          <p:nvPr>
            <p:ph idx="1"/>
          </p:nvPr>
        </p:nvSpPr>
        <p:spPr/>
        <p:txBody>
          <a:bodyPr>
            <a:normAutofit/>
          </a:bodyPr>
          <a:lstStyle/>
          <a:p>
            <a:r>
              <a:rPr lang="en-US" sz="2400" dirty="0"/>
              <a:t>The following examples use identities from Table 2-6 to illustrate a few of the possibilities:</a:t>
            </a:r>
          </a:p>
        </p:txBody>
      </p:sp>
      <p:pic>
        <p:nvPicPr>
          <p:cNvPr id="4" name="Picture 3"/>
          <p:cNvPicPr>
            <a:picLocks noChangeAspect="1"/>
          </p:cNvPicPr>
          <p:nvPr/>
        </p:nvPicPr>
        <p:blipFill>
          <a:blip r:embed="rId2"/>
          <a:stretch>
            <a:fillRect/>
          </a:stretch>
        </p:blipFill>
        <p:spPr>
          <a:xfrm>
            <a:off x="628650" y="2693096"/>
            <a:ext cx="7886700" cy="1741118"/>
          </a:xfrm>
          <a:prstGeom prst="rect">
            <a:avLst/>
          </a:prstGeom>
        </p:spPr>
      </p:pic>
      <p:pic>
        <p:nvPicPr>
          <p:cNvPr id="5" name="Picture 4"/>
          <p:cNvPicPr>
            <a:picLocks noChangeAspect="1"/>
          </p:cNvPicPr>
          <p:nvPr/>
        </p:nvPicPr>
        <p:blipFill>
          <a:blip r:embed="rId3"/>
          <a:stretch>
            <a:fillRect/>
          </a:stretch>
        </p:blipFill>
        <p:spPr>
          <a:xfrm>
            <a:off x="789140" y="4301842"/>
            <a:ext cx="7726210" cy="1397500"/>
          </a:xfrm>
          <a:prstGeom prst="rect">
            <a:avLst/>
          </a:prstGeom>
        </p:spPr>
      </p:pic>
    </p:spTree>
    <p:extLst>
      <p:ext uri="{BB962C8B-B14F-4D97-AF65-F5344CB8AC3E}">
        <p14:creationId xmlns:p14="http://schemas.microsoft.com/office/powerpoint/2010/main" val="40465794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Assignment</a:t>
            </a:r>
            <a:endParaRPr lang="en-US" b="1" dirty="0"/>
          </a:p>
        </p:txBody>
      </p:sp>
      <p:sp>
        <p:nvSpPr>
          <p:cNvPr id="3" name="Content Placeholder 2"/>
          <p:cNvSpPr>
            <a:spLocks noGrp="1"/>
          </p:cNvSpPr>
          <p:nvPr>
            <p:ph idx="1"/>
          </p:nvPr>
        </p:nvSpPr>
        <p:spPr/>
        <p:txBody>
          <a:bodyPr/>
          <a:lstStyle/>
          <a:p>
            <a:r>
              <a:rPr lang="en-US" b="1" dirty="0" smtClean="0"/>
              <a:t>Proof </a:t>
            </a:r>
            <a:r>
              <a:rPr lang="en-US" dirty="0" smtClean="0"/>
              <a:t>the following Boolean expression (</a:t>
            </a:r>
            <a:r>
              <a:rPr lang="en-US" dirty="0">
                <a:solidFill>
                  <a:srgbClr val="0070C0"/>
                </a:solidFill>
              </a:rPr>
              <a:t>consensus theorem </a:t>
            </a:r>
            <a:r>
              <a:rPr lang="en-US" dirty="0" smtClean="0">
                <a:solidFill>
                  <a:srgbClr val="0070C0"/>
                </a:solidFill>
              </a:rPr>
              <a:t>) </a:t>
            </a:r>
            <a:r>
              <a:rPr lang="en-US" dirty="0" smtClean="0"/>
              <a:t>by using </a:t>
            </a:r>
            <a:r>
              <a:rPr lang="en-US" b="1" dirty="0"/>
              <a:t>Identities </a:t>
            </a:r>
            <a:r>
              <a:rPr lang="en-US" b="1" dirty="0" smtClean="0"/>
              <a:t>(</a:t>
            </a:r>
            <a:r>
              <a:rPr lang="en-US" dirty="0" smtClean="0"/>
              <a:t>):</a:t>
            </a:r>
          </a:p>
          <a:p>
            <a:endParaRPr lang="en-US" dirty="0"/>
          </a:p>
          <a:p>
            <a:endParaRPr lang="en-US" dirty="0" smtClean="0"/>
          </a:p>
          <a:p>
            <a:r>
              <a:rPr lang="en-US" dirty="0" smtClean="0"/>
              <a:t>Also, Proof the </a:t>
            </a:r>
            <a:r>
              <a:rPr lang="en-US" dirty="0"/>
              <a:t>dual of the consensus </a:t>
            </a:r>
            <a:r>
              <a:rPr lang="en-US" dirty="0" smtClean="0"/>
              <a:t>theorem:</a:t>
            </a:r>
          </a:p>
          <a:p>
            <a:pPr marL="0" indent="0">
              <a:buNone/>
            </a:pPr>
            <a:endParaRPr lang="en-US" dirty="0"/>
          </a:p>
        </p:txBody>
      </p:sp>
      <p:pic>
        <p:nvPicPr>
          <p:cNvPr id="4" name="Picture 3"/>
          <p:cNvPicPr>
            <a:picLocks noChangeAspect="1"/>
          </p:cNvPicPr>
          <p:nvPr/>
        </p:nvPicPr>
        <p:blipFill>
          <a:blip r:embed="rId2"/>
          <a:stretch>
            <a:fillRect/>
          </a:stretch>
        </p:blipFill>
        <p:spPr>
          <a:xfrm>
            <a:off x="1365338" y="2776798"/>
            <a:ext cx="3494762" cy="705437"/>
          </a:xfrm>
          <a:prstGeom prst="rect">
            <a:avLst/>
          </a:prstGeom>
        </p:spPr>
      </p:pic>
      <p:pic>
        <p:nvPicPr>
          <p:cNvPr id="5" name="Picture 4"/>
          <p:cNvPicPr>
            <a:picLocks noChangeAspect="1"/>
          </p:cNvPicPr>
          <p:nvPr/>
        </p:nvPicPr>
        <p:blipFill>
          <a:blip r:embed="rId3"/>
          <a:stretch>
            <a:fillRect/>
          </a:stretch>
        </p:blipFill>
        <p:spPr>
          <a:xfrm>
            <a:off x="1152395" y="4297373"/>
            <a:ext cx="5098093" cy="863350"/>
          </a:xfrm>
          <a:prstGeom prst="rect">
            <a:avLst/>
          </a:prstGeom>
        </p:spPr>
      </p:pic>
    </p:spTree>
    <p:extLst>
      <p:ext uri="{BB962C8B-B14F-4D97-AF65-F5344CB8AC3E}">
        <p14:creationId xmlns:p14="http://schemas.microsoft.com/office/powerpoint/2010/main" val="34258163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Complementing Function By Using </a:t>
            </a:r>
            <a:r>
              <a:rPr lang="en-US" sz="3200" b="1" dirty="0"/>
              <a:t>DeMorgan’s theorem</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US" sz="2400" dirty="0" smtClean="0"/>
                  <a:t>The complement representation for a function F, </a:t>
                </a:r>
                <a14:m>
                  <m:oMath xmlns:m="http://schemas.openxmlformats.org/officeDocument/2006/math">
                    <m:sSup>
                      <m:sSupPr>
                        <m:ctrlPr>
                          <a:rPr lang="en-US" sz="2400" i="1"/>
                        </m:ctrlPr>
                      </m:sSupPr>
                      <m:e>
                        <m:r>
                          <a:rPr lang="en-US" sz="2400" b="0" i="1" smtClean="0"/>
                          <m:t>𝐹</m:t>
                        </m:r>
                      </m:e>
                      <m:sup>
                        <m:r>
                          <a:rPr lang="en-US" sz="2400" i="1"/>
                          <m:t>−</m:t>
                        </m:r>
                      </m:sup>
                    </m:sSup>
                  </m:oMath>
                </a14:m>
                <a:r>
                  <a:rPr lang="en-US" sz="2400" dirty="0" smtClean="0"/>
                  <a:t>, </a:t>
                </a:r>
                <a:r>
                  <a:rPr lang="en-US" sz="2400" dirty="0"/>
                  <a:t>is obtained from an interchange of 1s to 0s and 0s to 1s for the values of F in the truth table. </a:t>
                </a:r>
                <a:endParaRPr lang="en-US" sz="2400" dirty="0" smtClean="0"/>
              </a:p>
              <a:p>
                <a:r>
                  <a:rPr lang="en-US" sz="2400" dirty="0" smtClean="0"/>
                  <a:t>The </a:t>
                </a:r>
                <a:r>
                  <a:rPr lang="en-US" sz="2400" dirty="0"/>
                  <a:t>complement of a function can be derived algebraically by applying DeMorgan’s theorem. </a:t>
                </a:r>
                <a:endParaRPr lang="en-US" sz="2400" dirty="0" smtClean="0"/>
              </a:p>
              <a:p>
                <a:r>
                  <a:rPr lang="en-US" sz="2400" dirty="0" smtClean="0"/>
                  <a:t>The generalized </a:t>
                </a:r>
                <a:r>
                  <a:rPr lang="en-US" sz="2400" dirty="0"/>
                  <a:t>form of this theorem states that the complement of an expression is obtained by interchanging AND </a:t>
                </a:r>
                <a:r>
                  <a:rPr lang="en-US" sz="2400" dirty="0"/>
                  <a:t>and</a:t>
                </a:r>
                <a:r>
                  <a:rPr lang="en-US" sz="2400" dirty="0"/>
                  <a:t> OR operations and complementing each variable and </a:t>
                </a:r>
                <a:r>
                  <a:rPr lang="en-US" sz="2400" dirty="0" smtClean="0"/>
                  <a:t>constant.</a:t>
                </a:r>
                <a:endParaRPr lang="en-US" sz="24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005" t="-1961" r="-2009"/>
                </a:stretch>
              </a:blipFill>
            </p:spPr>
            <p:txBody>
              <a:bodyPr/>
              <a:lstStyle/>
              <a:p>
                <a:r>
                  <a:rPr lang="en-US">
                    <a:noFill/>
                  </a:rPr>
                  <a:t> </a:t>
                </a:r>
              </a:p>
            </p:txBody>
          </p:sp>
        </mc:Fallback>
      </mc:AlternateContent>
    </p:spTree>
    <p:extLst>
      <p:ext uri="{BB962C8B-B14F-4D97-AF65-F5344CB8AC3E}">
        <p14:creationId xmlns:p14="http://schemas.microsoft.com/office/powerpoint/2010/main" val="4743839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a:bodyPr>
          <a:lstStyle/>
          <a:p>
            <a:r>
              <a:rPr lang="en-US" sz="2400" dirty="0"/>
              <a:t>Find the complement of each of the functions represented by the </a:t>
            </a:r>
            <a:r>
              <a:rPr lang="en-US" sz="2400" dirty="0" smtClean="0"/>
              <a:t>equations:</a:t>
            </a:r>
          </a:p>
          <a:p>
            <a:endParaRPr lang="en-US" sz="2400" dirty="0"/>
          </a:p>
          <a:p>
            <a:r>
              <a:rPr lang="en-US" sz="2400" dirty="0" smtClean="0">
                <a:solidFill>
                  <a:srgbClr val="FF0000"/>
                </a:solidFill>
              </a:rPr>
              <a:t>Solution</a:t>
            </a:r>
            <a:r>
              <a:rPr lang="en-US" sz="2400" dirty="0" smtClean="0"/>
              <a:t>:</a:t>
            </a:r>
          </a:p>
          <a:p>
            <a:r>
              <a:rPr lang="en-US" sz="2400" dirty="0"/>
              <a:t>By applying DeMorgan’s </a:t>
            </a:r>
            <a:r>
              <a:rPr lang="en-US" sz="2400" dirty="0" smtClean="0"/>
              <a:t>theorem:</a:t>
            </a:r>
            <a:endParaRPr lang="en-US" sz="2400" dirty="0"/>
          </a:p>
        </p:txBody>
      </p:sp>
      <p:pic>
        <p:nvPicPr>
          <p:cNvPr id="4" name="Picture 3"/>
          <p:cNvPicPr>
            <a:picLocks noChangeAspect="1"/>
          </p:cNvPicPr>
          <p:nvPr/>
        </p:nvPicPr>
        <p:blipFill>
          <a:blip r:embed="rId2"/>
          <a:stretch>
            <a:fillRect/>
          </a:stretch>
        </p:blipFill>
        <p:spPr>
          <a:xfrm>
            <a:off x="2843212" y="2542784"/>
            <a:ext cx="4860295" cy="493473"/>
          </a:xfrm>
          <a:prstGeom prst="rect">
            <a:avLst/>
          </a:prstGeom>
        </p:spPr>
      </p:pic>
      <p:pic>
        <p:nvPicPr>
          <p:cNvPr id="5" name="Picture 4"/>
          <p:cNvPicPr>
            <a:picLocks noChangeAspect="1"/>
          </p:cNvPicPr>
          <p:nvPr/>
        </p:nvPicPr>
        <p:blipFill>
          <a:blip r:embed="rId3"/>
          <a:stretch>
            <a:fillRect/>
          </a:stretch>
        </p:blipFill>
        <p:spPr>
          <a:xfrm>
            <a:off x="2204059" y="4001294"/>
            <a:ext cx="5499448" cy="1936043"/>
          </a:xfrm>
          <a:prstGeom prst="rect">
            <a:avLst/>
          </a:prstGeom>
        </p:spPr>
      </p:pic>
    </p:spTree>
    <p:extLst>
      <p:ext uri="{BB962C8B-B14F-4D97-AF65-F5344CB8AC3E}">
        <p14:creationId xmlns:p14="http://schemas.microsoft.com/office/powerpoint/2010/main" val="1333773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Complementing Functions by using Duals</a:t>
            </a:r>
          </a:p>
        </p:txBody>
      </p:sp>
      <p:sp>
        <p:nvSpPr>
          <p:cNvPr id="3" name="Content Placeholder 2"/>
          <p:cNvSpPr>
            <a:spLocks noGrp="1"/>
          </p:cNvSpPr>
          <p:nvPr>
            <p:ph idx="1"/>
          </p:nvPr>
        </p:nvSpPr>
        <p:spPr/>
        <p:txBody>
          <a:bodyPr>
            <a:normAutofit/>
          </a:bodyPr>
          <a:lstStyle/>
          <a:p>
            <a:r>
              <a:rPr lang="en-US" sz="2400" dirty="0"/>
              <a:t>A simpler method for deriving the complement of a function is to take the dual of the function equation and complement each literal</a:t>
            </a:r>
            <a:r>
              <a:rPr lang="en-US" sz="2400" dirty="0" smtClean="0"/>
              <a:t>.</a:t>
            </a:r>
          </a:p>
          <a:p>
            <a:r>
              <a:rPr lang="en-US" sz="2400" dirty="0" smtClean="0"/>
              <a:t>This </a:t>
            </a:r>
            <a:r>
              <a:rPr lang="en-US" sz="2400" dirty="0"/>
              <a:t>method follows from the generalization of DeMorgan’s theorem</a:t>
            </a:r>
            <a:r>
              <a:rPr lang="en-US" sz="2400" dirty="0" smtClean="0"/>
              <a:t>.</a:t>
            </a:r>
          </a:p>
          <a:p>
            <a:r>
              <a:rPr lang="en-US" sz="2400" dirty="0" smtClean="0"/>
              <a:t>Remember </a:t>
            </a:r>
            <a:r>
              <a:rPr lang="en-US" sz="2400" dirty="0"/>
              <a:t>that the dual of an expression is obtained by interchanging AND </a:t>
            </a:r>
            <a:r>
              <a:rPr lang="en-US" sz="2400" dirty="0"/>
              <a:t>and</a:t>
            </a:r>
            <a:r>
              <a:rPr lang="en-US" sz="2400" dirty="0"/>
              <a:t> OR operations and 1s and 0s. </a:t>
            </a:r>
            <a:endParaRPr lang="en-US" sz="2400" dirty="0" smtClean="0"/>
          </a:p>
          <a:p>
            <a:r>
              <a:rPr lang="en-US" sz="2400" dirty="0" smtClean="0"/>
              <a:t>To </a:t>
            </a:r>
            <a:r>
              <a:rPr lang="en-US" sz="2400" dirty="0"/>
              <a:t>avoid </a:t>
            </a:r>
            <a:r>
              <a:rPr lang="en-US" sz="2400" dirty="0" smtClean="0"/>
              <a:t>confusion </a:t>
            </a:r>
            <a:r>
              <a:rPr lang="en-US" sz="2400" dirty="0"/>
              <a:t>in handling complex functions, adding parentheses around terms before taking the dual is helpful, as illustrated in the next example. </a:t>
            </a:r>
          </a:p>
        </p:txBody>
      </p:sp>
    </p:spTree>
    <p:extLst>
      <p:ext uri="{BB962C8B-B14F-4D97-AF65-F5344CB8AC3E}">
        <p14:creationId xmlns:p14="http://schemas.microsoft.com/office/powerpoint/2010/main" val="24711555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a:t>
            </a:r>
            <a:endParaRPr lang="en-US" b="1" dirty="0"/>
          </a:p>
        </p:txBody>
      </p:sp>
      <p:sp>
        <p:nvSpPr>
          <p:cNvPr id="3" name="Content Placeholder 2"/>
          <p:cNvSpPr>
            <a:spLocks noGrp="1"/>
          </p:cNvSpPr>
          <p:nvPr>
            <p:ph idx="1"/>
          </p:nvPr>
        </p:nvSpPr>
        <p:spPr/>
        <p:txBody>
          <a:bodyPr>
            <a:normAutofit/>
          </a:bodyPr>
          <a:lstStyle/>
          <a:p>
            <a:r>
              <a:rPr lang="en-US" sz="2400" dirty="0"/>
              <a:t>Find the complements of the functions in </a:t>
            </a:r>
            <a:r>
              <a:rPr lang="en-US" sz="2400" dirty="0" smtClean="0"/>
              <a:t>the above Example </a:t>
            </a:r>
            <a:r>
              <a:rPr lang="en-US" sz="2400" dirty="0"/>
              <a:t>by taking the duals of their equations and complementing each literal</a:t>
            </a:r>
            <a:r>
              <a:rPr lang="en-US" sz="2400" dirty="0" smtClean="0"/>
              <a:t>.</a:t>
            </a:r>
          </a:p>
          <a:p>
            <a:endParaRPr lang="en-US" sz="2400" dirty="0"/>
          </a:p>
          <a:p>
            <a:r>
              <a:rPr lang="en-US" sz="2400" dirty="0" smtClean="0">
                <a:solidFill>
                  <a:srgbClr val="FF0000"/>
                </a:solidFill>
              </a:rPr>
              <a:t>Solution:</a:t>
            </a:r>
          </a:p>
          <a:p>
            <a:endParaRPr lang="en-US" sz="2400" dirty="0">
              <a:solidFill>
                <a:srgbClr val="FF0000"/>
              </a:solidFill>
            </a:endParaRPr>
          </a:p>
        </p:txBody>
      </p:sp>
      <p:pic>
        <p:nvPicPr>
          <p:cNvPr id="4" name="Picture 3"/>
          <p:cNvPicPr>
            <a:picLocks noChangeAspect="1"/>
          </p:cNvPicPr>
          <p:nvPr/>
        </p:nvPicPr>
        <p:blipFill>
          <a:blip r:embed="rId2"/>
          <a:stretch>
            <a:fillRect/>
          </a:stretch>
        </p:blipFill>
        <p:spPr>
          <a:xfrm>
            <a:off x="3006050" y="2906039"/>
            <a:ext cx="4860295" cy="493473"/>
          </a:xfrm>
          <a:prstGeom prst="rect">
            <a:avLst/>
          </a:prstGeom>
        </p:spPr>
      </p:pic>
    </p:spTree>
    <p:extLst>
      <p:ext uri="{BB962C8B-B14F-4D97-AF65-F5344CB8AC3E}">
        <p14:creationId xmlns:p14="http://schemas.microsoft.com/office/powerpoint/2010/main" val="34700610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64088" y="1089764"/>
            <a:ext cx="7478038" cy="4797469"/>
          </a:xfrm>
          <a:prstGeom prst="rect">
            <a:avLst/>
          </a:prstGeom>
        </p:spPr>
      </p:pic>
    </p:spTree>
    <p:extLst>
      <p:ext uri="{BB962C8B-B14F-4D97-AF65-F5344CB8AC3E}">
        <p14:creationId xmlns:p14="http://schemas.microsoft.com/office/powerpoint/2010/main" val="2982300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Home Work</a:t>
            </a:r>
            <a:endParaRPr lang="en-US" dirty="0"/>
          </a:p>
        </p:txBody>
      </p:sp>
      <p:sp>
        <p:nvSpPr>
          <p:cNvPr id="3" name="Content Placeholder 2"/>
          <p:cNvSpPr>
            <a:spLocks noGrp="1"/>
          </p:cNvSpPr>
          <p:nvPr>
            <p:ph idx="1"/>
          </p:nvPr>
        </p:nvSpPr>
        <p:spPr/>
        <p:txBody>
          <a:bodyPr/>
          <a:lstStyle/>
          <a:p>
            <a:r>
              <a:rPr lang="en-US" dirty="0" smtClean="0"/>
              <a:t>Sheet 2, PP . 102 at text book</a:t>
            </a:r>
            <a:endParaRPr lang="en-US" dirty="0"/>
          </a:p>
        </p:txBody>
      </p:sp>
    </p:spTree>
    <p:extLst>
      <p:ext uri="{BB962C8B-B14F-4D97-AF65-F5344CB8AC3E}">
        <p14:creationId xmlns:p14="http://schemas.microsoft.com/office/powerpoint/2010/main" val="148864166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122</TotalTime>
  <Words>784</Words>
  <Application>Microsoft Office PowerPoint</Application>
  <PresentationFormat>On-screen Show (4:3)</PresentationFormat>
  <Paragraphs>91</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Cambria Math</vt:lpstr>
      <vt:lpstr>Office Theme</vt:lpstr>
      <vt:lpstr>Lecture 5</vt:lpstr>
      <vt:lpstr>Introduction</vt:lpstr>
      <vt:lpstr>Example</vt:lpstr>
      <vt:lpstr>Cont.,</vt:lpstr>
      <vt:lpstr>PowerPoint Presentation</vt:lpstr>
      <vt:lpstr>HDL Implementation</vt:lpstr>
      <vt:lpstr>PowerPoint Presentation</vt:lpstr>
      <vt:lpstr>Logic Circuits</vt:lpstr>
      <vt:lpstr>Basic Identities of Boolean Algebra </vt:lpstr>
      <vt:lpstr>PowerPoint Presentation</vt:lpstr>
      <vt:lpstr>Note:</vt:lpstr>
      <vt:lpstr>Duality of Boolean Algebra</vt:lpstr>
      <vt:lpstr>Precedence of Operations</vt:lpstr>
      <vt:lpstr>Algebraic Manipulation </vt:lpstr>
      <vt:lpstr>Cont.,</vt:lpstr>
      <vt:lpstr>PowerPoint Presentation</vt:lpstr>
      <vt:lpstr>Note:</vt:lpstr>
      <vt:lpstr>Examples</vt:lpstr>
      <vt:lpstr>Assignment</vt:lpstr>
      <vt:lpstr>Complementing Function By Using DeMorgan’s theorem</vt:lpstr>
      <vt:lpstr>Example</vt:lpstr>
      <vt:lpstr>Complementing Functions by using Duals</vt:lpstr>
      <vt:lpstr>Example</vt:lpstr>
      <vt:lpstr>PowerPoint Presentation</vt:lpstr>
      <vt:lpstr>Home Work</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5</dc:title>
  <dc:creator>Infinity</dc:creator>
  <cp:lastModifiedBy>Infinity</cp:lastModifiedBy>
  <cp:revision>29</cp:revision>
  <dcterms:created xsi:type="dcterms:W3CDTF">2025-11-03T14:48:55Z</dcterms:created>
  <dcterms:modified xsi:type="dcterms:W3CDTF">2025-11-03T16:51:37Z</dcterms:modified>
</cp:coreProperties>
</file>