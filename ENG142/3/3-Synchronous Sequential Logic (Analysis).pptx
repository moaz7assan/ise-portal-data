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18" r:id="rId2"/>
    <p:sldId id="473" r:id="rId3"/>
    <p:sldId id="475" r:id="rId4"/>
    <p:sldId id="476" r:id="rId5"/>
    <p:sldId id="478" r:id="rId6"/>
    <p:sldId id="477" r:id="rId7"/>
    <p:sldId id="434" r:id="rId8"/>
    <p:sldId id="435" r:id="rId9"/>
    <p:sldId id="436" r:id="rId10"/>
    <p:sldId id="437" r:id="rId11"/>
    <p:sldId id="487" r:id="rId12"/>
    <p:sldId id="479" r:id="rId13"/>
    <p:sldId id="480" r:id="rId14"/>
    <p:sldId id="481" r:id="rId15"/>
    <p:sldId id="482" r:id="rId16"/>
    <p:sldId id="483" r:id="rId17"/>
    <p:sldId id="439" r:id="rId18"/>
    <p:sldId id="440" r:id="rId19"/>
    <p:sldId id="441" r:id="rId20"/>
    <p:sldId id="484" r:id="rId21"/>
    <p:sldId id="486" r:id="rId22"/>
    <p:sldId id="442" r:id="rId23"/>
    <p:sldId id="443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3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33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9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91429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432" userDrawn="1">
          <p15:clr>
            <a:srgbClr val="A4A3A4"/>
          </p15:clr>
        </p15:guide>
        <p15:guide id="4" orient="horz" pos="864" userDrawn="1">
          <p15:clr>
            <a:srgbClr val="A4A3A4"/>
          </p15:clr>
        </p15:guide>
        <p15:guide id="5" orient="horz" pos="4017" userDrawn="1">
          <p15:clr>
            <a:srgbClr val="A4A3A4"/>
          </p15:clr>
        </p15:guide>
        <p15:guide id="6" pos="384" userDrawn="1">
          <p15:clr>
            <a:srgbClr val="A4A3A4"/>
          </p15:clr>
        </p15:guide>
        <p15:guide id="7" pos="72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1" autoAdjust="0"/>
    <p:restoredTop sz="95122" autoAdjust="0"/>
  </p:normalViewPr>
  <p:slideViewPr>
    <p:cSldViewPr>
      <p:cViewPr>
        <p:scale>
          <a:sx n="58" d="100"/>
          <a:sy n="58" d="100"/>
        </p:scale>
        <p:origin x="1080" y="88"/>
      </p:cViewPr>
      <p:guideLst>
        <p:guide orient="horz" pos="2160"/>
        <p:guide pos="3840"/>
        <p:guide orient="horz" pos="432"/>
        <p:guide orient="horz" pos="864"/>
        <p:guide orient="horz" pos="4017"/>
        <p:guide pos="384"/>
        <p:guide pos="7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6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3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0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6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33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9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26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72" algn="l" defTabSz="91429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490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12192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6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62004"/>
            <a:ext cx="103632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85" y="3962400"/>
            <a:ext cx="10392835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133600" y="6429349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2"/>
            <a:ext cx="109728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705600" y="1600205"/>
            <a:ext cx="48768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705600" y="3200403"/>
            <a:ext cx="48768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65339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93"/>
            <a:ext cx="1224000" cy="279915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2133600" y="6429349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816432"/>
            <a:ext cx="109728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609600" y="1600203"/>
            <a:ext cx="109728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447619" y="113072"/>
            <a:ext cx="28448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2419" y="113072"/>
            <a:ext cx="735711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228600"/>
            <a:ext cx="109728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5368162"/>
            <a:ext cx="109728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3"/>
            <a:ext cx="1224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2133600" y="6429349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609600" y="3962403"/>
            <a:ext cx="109728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447804"/>
            <a:ext cx="103632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9583" y="3962400"/>
            <a:ext cx="10392836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25292" y="6172202"/>
            <a:ext cx="1146048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3" y="6376793"/>
            <a:ext cx="1224000" cy="279915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2133600" y="6429349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5292" y="6172202"/>
            <a:ext cx="1146048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47619" y="113072"/>
            <a:ext cx="28448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419" y="113072"/>
            <a:ext cx="735711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376793"/>
            <a:ext cx="1224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133600" y="6429349"/>
            <a:ext cx="95504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>
                <a:ea typeface="Verdana" panose="020B0604030504040204" pitchFamily="34" charset="0"/>
                <a:cs typeface="Verdana" panose="020B0604030504040204" pitchFamily="34" charset="0"/>
              </a:rPr>
              <a:t>Copyright © 2018, 2013, 2007 by Pearson Education, Inc.,</a:t>
            </a: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59" r:id="rId5"/>
    <p:sldLayoutId id="2147483658" r:id="rId6"/>
    <p:sldLayoutId id="2147483660" r:id="rId7"/>
    <p:sldLayoutId id="2147483651" r:id="rId8"/>
    <p:sldLayoutId id="2147483654" r:id="rId9"/>
    <p:sldLayoutId id="2147483655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34828"/>
            <a:ext cx="8229600" cy="622828"/>
          </a:xfrm>
        </p:spPr>
        <p:txBody>
          <a:bodyPr/>
          <a:lstStyle/>
          <a:p>
            <a:r>
              <a:rPr lang="en-US" dirty="0">
                <a:latin typeface="+mj-lt"/>
              </a:rPr>
              <a:t>Digital Design</a:t>
            </a:r>
            <a:endParaRPr lang="en-US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90600" y="771294"/>
            <a:ext cx="10439400" cy="478970"/>
          </a:xfrm>
        </p:spPr>
        <p:txBody>
          <a:bodyPr/>
          <a:lstStyle/>
          <a:p>
            <a:r>
              <a:rPr lang="en-US" sz="3200" dirty="0"/>
              <a:t>With an Introduction to the Verilog HDL, VHDL, and </a:t>
            </a:r>
            <a:r>
              <a:rPr lang="en-US" sz="3200" dirty="0" err="1"/>
              <a:t>SystemVerilog</a:t>
            </a:r>
            <a:r>
              <a:rPr lang="en-US" sz="3200" dirty="0"/>
              <a:t> </a:t>
            </a:r>
            <a:r>
              <a:rPr lang="en-US" sz="3200" dirty="0">
                <a:latin typeface="+mj-lt"/>
              </a:rPr>
              <a:t>6</a:t>
            </a:r>
            <a:r>
              <a:rPr lang="en-US" sz="3200" baseline="30000" dirty="0">
                <a:latin typeface="+mj-lt"/>
              </a:rPr>
              <a:t>th</a:t>
            </a:r>
            <a:r>
              <a:rPr lang="en-US" sz="32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6477000" y="3048005"/>
            <a:ext cx="3657600" cy="533399"/>
          </a:xfrm>
        </p:spPr>
        <p:txBody>
          <a:bodyPr/>
          <a:lstStyle/>
          <a:p>
            <a:pPr algn="ctr"/>
            <a:r>
              <a:rPr lang="en-US" dirty="0"/>
              <a:t>Chapter 05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562600" y="3657599"/>
            <a:ext cx="6324600" cy="457201"/>
          </a:xfrm>
        </p:spPr>
        <p:txBody>
          <a:bodyPr/>
          <a:lstStyle/>
          <a:p>
            <a:pPr algn="ctr"/>
            <a:r>
              <a:rPr lang="en-IN" sz="3200" dirty="0"/>
              <a:t>Synchronous Sequential Logic</a:t>
            </a:r>
          </a:p>
          <a:p>
            <a:pPr algn="ctr"/>
            <a:r>
              <a:rPr lang="en-US" sz="2800" dirty="0"/>
              <a:t>Analysis of Clocked Sequential Circuits</a:t>
            </a:r>
            <a:endParaRPr lang="en-IN" sz="2800" dirty="0"/>
          </a:p>
          <a:p>
            <a:pPr algn="ctr"/>
            <a:endParaRPr lang="en-US" sz="2800" dirty="0"/>
          </a:p>
        </p:txBody>
      </p:sp>
      <p:pic>
        <p:nvPicPr>
          <p:cNvPr id="1026" name="Picture 2" descr="G:\08VOL4\Graphics\Powerpoint\PEARSON\CRAIG-PPT\Final files\Craig_final_CVR_HiRes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209800" y="1995029"/>
            <a:ext cx="3302862" cy="41418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3861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3EE4EB1-FDD2-486A-ACC9-C5C83311372F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15372"/>
            <a:ext cx="10972800" cy="927628"/>
          </a:xfrm>
        </p:spPr>
        <p:txBody>
          <a:bodyPr/>
          <a:lstStyle/>
          <a:p>
            <a:r>
              <a:rPr lang="en-US" sz="3600" dirty="0"/>
              <a:t>Analysis of Clocked Sequential Circuits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45301"/>
            <a:ext cx="10515600" cy="4804664"/>
          </a:xfrm>
        </p:spPr>
        <p:txBody>
          <a:bodyPr/>
          <a:lstStyle/>
          <a:p>
            <a:r>
              <a:rPr lang="en-US" sz="2800" dirty="0"/>
              <a:t>Goal:</a:t>
            </a:r>
          </a:p>
          <a:p>
            <a:pPr lvl="1"/>
            <a:r>
              <a:rPr lang="en-US" sz="2800" dirty="0"/>
              <a:t>to determine the </a:t>
            </a:r>
            <a:r>
              <a:rPr lang="en-US" sz="2800" dirty="0">
                <a:solidFill>
                  <a:srgbClr val="FF0000"/>
                </a:solidFill>
              </a:rPr>
              <a:t>behavior</a:t>
            </a:r>
            <a:r>
              <a:rPr lang="en-US" sz="2800" dirty="0"/>
              <a:t> of clocked sequential circuits</a:t>
            </a:r>
          </a:p>
          <a:p>
            <a:pPr lvl="2"/>
            <a:r>
              <a:rPr lang="en-US" sz="2800" dirty="0"/>
              <a:t>Inputs</a:t>
            </a:r>
          </a:p>
          <a:p>
            <a:pPr lvl="2"/>
            <a:r>
              <a:rPr lang="en-US" sz="2800" dirty="0"/>
              <a:t>Outputs </a:t>
            </a:r>
          </a:p>
          <a:p>
            <a:pPr lvl="2"/>
            <a:r>
              <a:rPr lang="en-US" sz="2800" dirty="0"/>
              <a:t>State of the flip-flops</a:t>
            </a:r>
          </a:p>
          <a:p>
            <a:pPr lvl="1"/>
            <a:r>
              <a:rPr lang="en-US" sz="2800" dirty="0"/>
              <a:t>We have to obtain</a:t>
            </a:r>
          </a:p>
          <a:p>
            <a:pPr lvl="2"/>
            <a:r>
              <a:rPr lang="en-US" sz="2800" dirty="0"/>
              <a:t>Boolean expression</a:t>
            </a:r>
            <a:r>
              <a:rPr lang="tr-TR" sz="2800" dirty="0"/>
              <a:t>s</a:t>
            </a:r>
            <a:r>
              <a:rPr lang="en-US" sz="2800" dirty="0"/>
              <a:t> for output</a:t>
            </a:r>
            <a:r>
              <a:rPr lang="tr-TR" sz="2800" dirty="0"/>
              <a:t> </a:t>
            </a:r>
            <a:r>
              <a:rPr lang="en-US" sz="2800" dirty="0"/>
              <a:t>and next state </a:t>
            </a:r>
          </a:p>
          <a:p>
            <a:pPr lvl="3"/>
            <a:r>
              <a:rPr lang="en-US" sz="2800" dirty="0"/>
              <a:t>output &amp; state equations</a:t>
            </a:r>
          </a:p>
          <a:p>
            <a:pPr lvl="2"/>
            <a:r>
              <a:rPr lang="en-US" sz="2800" dirty="0"/>
              <a:t>(state) table</a:t>
            </a:r>
          </a:p>
          <a:p>
            <a:pPr lvl="2"/>
            <a:r>
              <a:rPr lang="en-US" sz="2800" dirty="0"/>
              <a:t>(state) diagram</a:t>
            </a:r>
          </a:p>
        </p:txBody>
      </p:sp>
    </p:spTree>
    <p:extLst>
      <p:ext uri="{BB962C8B-B14F-4D97-AF65-F5344CB8AC3E}">
        <p14:creationId xmlns:p14="http://schemas.microsoft.com/office/powerpoint/2010/main" val="2013039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0C71E6-6CD2-4BC1-939D-DD088D2CA4BF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5"/>
            <a:ext cx="8763000" cy="727075"/>
          </a:xfrm>
        </p:spPr>
        <p:txBody>
          <a:bodyPr/>
          <a:lstStyle/>
          <a:p>
            <a:pPr algn="ctr"/>
            <a:r>
              <a:rPr lang="en-US" dirty="0"/>
              <a:t>Example 1</a:t>
            </a: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3797399" y="1447800"/>
            <a:ext cx="2190750" cy="46307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7602637" y="1770057"/>
            <a:ext cx="1416050" cy="367188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1999" y="922813"/>
            <a:ext cx="10744199" cy="448787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b="1" dirty="0"/>
              <a:t>A(t+1) =				B(t+1) =				y = </a:t>
            </a:r>
          </a:p>
        </p:txBody>
      </p:sp>
      <p:sp>
        <p:nvSpPr>
          <p:cNvPr id="34823" name="Text Box 6"/>
          <p:cNvSpPr txBox="1">
            <a:spLocks noChangeArrowheads="1"/>
          </p:cNvSpPr>
          <p:nvPr/>
        </p:nvSpPr>
        <p:spPr bwMode="auto">
          <a:xfrm>
            <a:off x="5988154" y="1846260"/>
            <a:ext cx="8194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A(t+1)</a:t>
            </a:r>
          </a:p>
        </p:txBody>
      </p:sp>
      <p:sp>
        <p:nvSpPr>
          <p:cNvPr id="34824" name="Text Box 7"/>
          <p:cNvSpPr txBox="1">
            <a:spLocks noChangeArrowheads="1"/>
          </p:cNvSpPr>
          <p:nvPr/>
        </p:nvSpPr>
        <p:spPr bwMode="auto">
          <a:xfrm>
            <a:off x="6132617" y="3827459"/>
            <a:ext cx="63478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B(t+1)</a:t>
            </a:r>
          </a:p>
        </p:txBody>
      </p:sp>
      <p:grpSp>
        <p:nvGrpSpPr>
          <p:cNvPr id="34825" name="Group 9"/>
          <p:cNvGrpSpPr>
            <a:grpSpLocks/>
          </p:cNvGrpSpPr>
          <p:nvPr/>
        </p:nvGrpSpPr>
        <p:grpSpPr bwMode="auto">
          <a:xfrm>
            <a:off x="3621192" y="1900232"/>
            <a:ext cx="1120775" cy="528638"/>
            <a:chOff x="3280" y="1859"/>
            <a:chExt cx="706" cy="333"/>
          </a:xfrm>
        </p:grpSpPr>
        <p:sp>
          <p:nvSpPr>
            <p:cNvPr id="34888" name="Freeform 10"/>
            <p:cNvSpPr>
              <a:spLocks noEditPoints="1"/>
            </p:cNvSpPr>
            <p:nvPr/>
          </p:nvSpPr>
          <p:spPr bwMode="auto">
            <a:xfrm>
              <a:off x="3280" y="1936"/>
              <a:ext cx="706" cy="178"/>
            </a:xfrm>
            <a:custGeom>
              <a:avLst/>
              <a:gdLst>
                <a:gd name="T0" fmla="*/ 0 w 493"/>
                <a:gd name="T1" fmla="*/ 0 h 130"/>
                <a:gd name="T2" fmla="*/ 1948310 w 493"/>
                <a:gd name="T3" fmla="*/ 0 h 130"/>
                <a:gd name="T4" fmla="*/ 0 w 493"/>
                <a:gd name="T5" fmla="*/ 335633 h 130"/>
                <a:gd name="T6" fmla="*/ 1948310 w 493"/>
                <a:gd name="T7" fmla="*/ 335633 h 130"/>
                <a:gd name="T8" fmla="*/ 3907964 w 493"/>
                <a:gd name="T9" fmla="*/ 168495 h 130"/>
                <a:gd name="T10" fmla="*/ 1948310 w 493"/>
                <a:gd name="T11" fmla="*/ 168495 h 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3"/>
                <a:gd name="T19" fmla="*/ 0 h 130"/>
                <a:gd name="T20" fmla="*/ 493 w 493"/>
                <a:gd name="T21" fmla="*/ 130 h 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3" h="130">
                  <a:moveTo>
                    <a:pt x="0" y="0"/>
                  </a:moveTo>
                  <a:lnTo>
                    <a:pt x="246" y="0"/>
                  </a:lnTo>
                  <a:moveTo>
                    <a:pt x="0" y="130"/>
                  </a:moveTo>
                  <a:lnTo>
                    <a:pt x="246" y="130"/>
                  </a:lnTo>
                  <a:moveTo>
                    <a:pt x="493" y="65"/>
                  </a:moveTo>
                  <a:lnTo>
                    <a:pt x="246" y="65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4889" name="Freeform 11"/>
            <p:cNvSpPr>
              <a:spLocks/>
            </p:cNvSpPr>
            <p:nvPr/>
          </p:nvSpPr>
          <p:spPr bwMode="auto">
            <a:xfrm>
              <a:off x="3471" y="1859"/>
              <a:ext cx="349" cy="333"/>
            </a:xfrm>
            <a:custGeom>
              <a:avLst/>
              <a:gdLst>
                <a:gd name="T0" fmla="*/ 2147483647 w 40"/>
                <a:gd name="T1" fmla="*/ 2147483647 h 30"/>
                <a:gd name="T2" fmla="*/ 2147483647 w 40"/>
                <a:gd name="T3" fmla="*/ 2147483647 h 30"/>
                <a:gd name="T4" fmla="*/ 2147483647 w 40"/>
                <a:gd name="T5" fmla="*/ 2147483647 h 30"/>
                <a:gd name="T6" fmla="*/ 0 w 40"/>
                <a:gd name="T7" fmla="*/ 2147483647 h 30"/>
                <a:gd name="T8" fmla="*/ 0 w 40"/>
                <a:gd name="T9" fmla="*/ 0 h 30"/>
                <a:gd name="T10" fmla="*/ 0 w 40"/>
                <a:gd name="T11" fmla="*/ 0 h 30"/>
                <a:gd name="T12" fmla="*/ 2147483647 w 40"/>
                <a:gd name="T13" fmla="*/ 0 h 30"/>
                <a:gd name="T14" fmla="*/ 2147483647 w 40"/>
                <a:gd name="T15" fmla="*/ 2147483647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0"/>
                <a:gd name="T25" fmla="*/ 0 h 30"/>
                <a:gd name="T26" fmla="*/ 40 w 40"/>
                <a:gd name="T27" fmla="*/ 30 h 3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0" h="30">
                  <a:moveTo>
                    <a:pt x="40" y="15"/>
                  </a:moveTo>
                  <a:cubicBezTo>
                    <a:pt x="35" y="23"/>
                    <a:pt x="25" y="28"/>
                    <a:pt x="12" y="30"/>
                  </a:cubicBezTo>
                  <a:lnTo>
                    <a:pt x="0" y="30"/>
                  </a:lnTo>
                  <a:cubicBezTo>
                    <a:pt x="8" y="21"/>
                    <a:pt x="8" y="10"/>
                    <a:pt x="0" y="0"/>
                  </a:cubicBezTo>
                  <a:lnTo>
                    <a:pt x="12" y="0"/>
                  </a:lnTo>
                  <a:cubicBezTo>
                    <a:pt x="25" y="2"/>
                    <a:pt x="35" y="8"/>
                    <a:pt x="40" y="15"/>
                  </a:cubicBez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4890" name="Freeform 12"/>
            <p:cNvSpPr>
              <a:spLocks noEditPoints="1"/>
            </p:cNvSpPr>
            <p:nvPr/>
          </p:nvSpPr>
          <p:spPr bwMode="auto">
            <a:xfrm>
              <a:off x="3436" y="1859"/>
              <a:ext cx="384" cy="333"/>
            </a:xfrm>
            <a:custGeom>
              <a:avLst/>
              <a:gdLst>
                <a:gd name="T0" fmla="*/ 2147483647 w 44"/>
                <a:gd name="T1" fmla="*/ 2147483647 h 30"/>
                <a:gd name="T2" fmla="*/ 2147483647 w 44"/>
                <a:gd name="T3" fmla="*/ 2147483647 h 30"/>
                <a:gd name="T4" fmla="*/ 2147483647 w 44"/>
                <a:gd name="T5" fmla="*/ 2147483647 h 30"/>
                <a:gd name="T6" fmla="*/ 2147483647 w 44"/>
                <a:gd name="T7" fmla="*/ 2147483647 h 30"/>
                <a:gd name="T8" fmla="*/ 2147483647 w 44"/>
                <a:gd name="T9" fmla="*/ 0 h 30"/>
                <a:gd name="T10" fmla="*/ 2147483647 w 44"/>
                <a:gd name="T11" fmla="*/ 0 h 30"/>
                <a:gd name="T12" fmla="*/ 2147483647 w 44"/>
                <a:gd name="T13" fmla="*/ 0 h 30"/>
                <a:gd name="T14" fmla="*/ 2147483647 w 44"/>
                <a:gd name="T15" fmla="*/ 2147483647 h 30"/>
                <a:gd name="T16" fmla="*/ 0 w 44"/>
                <a:gd name="T17" fmla="*/ 2147483647 h 30"/>
                <a:gd name="T18" fmla="*/ 0 w 4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4"/>
                <a:gd name="T31" fmla="*/ 0 h 30"/>
                <a:gd name="T32" fmla="*/ 44 w 44"/>
                <a:gd name="T33" fmla="*/ 30 h 3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4" h="30">
                  <a:moveTo>
                    <a:pt x="44" y="15"/>
                  </a:moveTo>
                  <a:cubicBezTo>
                    <a:pt x="39" y="23"/>
                    <a:pt x="29" y="28"/>
                    <a:pt x="16" y="30"/>
                  </a:cubicBezTo>
                  <a:lnTo>
                    <a:pt x="4" y="30"/>
                  </a:lnTo>
                  <a:cubicBezTo>
                    <a:pt x="12" y="21"/>
                    <a:pt x="12" y="10"/>
                    <a:pt x="4" y="0"/>
                  </a:cubicBezTo>
                  <a:lnTo>
                    <a:pt x="16" y="0"/>
                  </a:lnTo>
                  <a:cubicBezTo>
                    <a:pt x="29" y="2"/>
                    <a:pt x="39" y="8"/>
                    <a:pt x="44" y="15"/>
                  </a:cubicBezTo>
                  <a:moveTo>
                    <a:pt x="0" y="30"/>
                  </a:moveTo>
                  <a:cubicBezTo>
                    <a:pt x="8" y="21"/>
                    <a:pt x="8" y="10"/>
                    <a:pt x="0" y="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34826" name="Rectangle 13"/>
          <p:cNvSpPr>
            <a:spLocks noChangeArrowheads="1"/>
          </p:cNvSpPr>
          <p:nvPr/>
        </p:nvSpPr>
        <p:spPr bwMode="auto">
          <a:xfrm>
            <a:off x="7764562" y="2065332"/>
            <a:ext cx="1103312" cy="123348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tr-TR">
              <a:solidFill>
                <a:schemeClr val="bg1"/>
              </a:solidFill>
            </a:endParaRPr>
          </a:p>
        </p:txBody>
      </p:sp>
      <p:sp>
        <p:nvSpPr>
          <p:cNvPr id="34827" name="Line 14"/>
          <p:cNvSpPr>
            <a:spLocks noChangeShapeType="1"/>
          </p:cNvSpPr>
          <p:nvPr/>
        </p:nvSpPr>
        <p:spPr bwMode="auto">
          <a:xfrm flipH="1" flipV="1">
            <a:off x="7158137" y="2786057"/>
            <a:ext cx="6096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28" name="Text Box 15"/>
          <p:cNvSpPr txBox="1">
            <a:spLocks noChangeArrowheads="1"/>
          </p:cNvSpPr>
          <p:nvPr/>
        </p:nvSpPr>
        <p:spPr bwMode="auto">
          <a:xfrm>
            <a:off x="7793137" y="2185982"/>
            <a:ext cx="1651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34829" name="Line 16"/>
          <p:cNvSpPr>
            <a:spLocks noChangeShapeType="1"/>
          </p:cNvSpPr>
          <p:nvPr/>
        </p:nvSpPr>
        <p:spPr bwMode="auto">
          <a:xfrm flipH="1">
            <a:off x="8867879" y="2311395"/>
            <a:ext cx="695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0" name="Text Box 17"/>
          <p:cNvSpPr txBox="1">
            <a:spLocks noChangeArrowheads="1"/>
          </p:cNvSpPr>
          <p:nvPr/>
        </p:nvSpPr>
        <p:spPr bwMode="auto">
          <a:xfrm>
            <a:off x="8572599" y="2166937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34831" name="AutoShape 18"/>
          <p:cNvSpPr>
            <a:spLocks noChangeArrowheads="1"/>
          </p:cNvSpPr>
          <p:nvPr/>
        </p:nvSpPr>
        <p:spPr bwMode="auto">
          <a:xfrm rot="5400000">
            <a:off x="7750279" y="2690812"/>
            <a:ext cx="207963" cy="18891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endParaRPr lang="tr-TR"/>
          </a:p>
        </p:txBody>
      </p:sp>
      <p:sp>
        <p:nvSpPr>
          <p:cNvPr id="34832" name="Text Box 19"/>
          <p:cNvSpPr txBox="1">
            <a:spLocks noChangeArrowheads="1"/>
          </p:cNvSpPr>
          <p:nvPr/>
        </p:nvSpPr>
        <p:spPr bwMode="auto">
          <a:xfrm>
            <a:off x="7958237" y="2647950"/>
            <a:ext cx="1667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4833" name="Oval 20"/>
          <p:cNvSpPr>
            <a:spLocks noChangeArrowheads="1"/>
          </p:cNvSpPr>
          <p:nvPr/>
        </p:nvSpPr>
        <p:spPr bwMode="auto">
          <a:xfrm>
            <a:off x="8882162" y="3001957"/>
            <a:ext cx="131762" cy="14605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34" name="Line 21"/>
          <p:cNvSpPr>
            <a:spLocks noChangeShapeType="1"/>
          </p:cNvSpPr>
          <p:nvPr/>
        </p:nvSpPr>
        <p:spPr bwMode="auto">
          <a:xfrm flipH="1">
            <a:off x="9028217" y="3067045"/>
            <a:ext cx="534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5" name="Line 22"/>
          <p:cNvSpPr>
            <a:spLocks noChangeShapeType="1"/>
          </p:cNvSpPr>
          <p:nvPr/>
        </p:nvSpPr>
        <p:spPr bwMode="auto">
          <a:xfrm flipH="1">
            <a:off x="5543649" y="2292350"/>
            <a:ext cx="2211388" cy="7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6" name="Rectangle 23"/>
          <p:cNvSpPr>
            <a:spLocks noChangeArrowheads="1"/>
          </p:cNvSpPr>
          <p:nvPr/>
        </p:nvSpPr>
        <p:spPr bwMode="auto">
          <a:xfrm>
            <a:off x="7755037" y="3935407"/>
            <a:ext cx="1103312" cy="123348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tr-TR">
              <a:solidFill>
                <a:schemeClr val="bg1"/>
              </a:solidFill>
            </a:endParaRPr>
          </a:p>
        </p:txBody>
      </p:sp>
      <p:sp>
        <p:nvSpPr>
          <p:cNvPr id="34837" name="Text Box 24"/>
          <p:cNvSpPr txBox="1">
            <a:spLocks noChangeArrowheads="1"/>
          </p:cNvSpPr>
          <p:nvPr/>
        </p:nvSpPr>
        <p:spPr bwMode="auto">
          <a:xfrm>
            <a:off x="7797899" y="4056057"/>
            <a:ext cx="1651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34838" name="Line 25"/>
          <p:cNvSpPr>
            <a:spLocks noChangeShapeType="1"/>
          </p:cNvSpPr>
          <p:nvPr/>
        </p:nvSpPr>
        <p:spPr bwMode="auto">
          <a:xfrm flipH="1">
            <a:off x="8858354" y="4181470"/>
            <a:ext cx="695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39" name="Text Box 26"/>
          <p:cNvSpPr txBox="1">
            <a:spLocks noChangeArrowheads="1"/>
          </p:cNvSpPr>
          <p:nvPr/>
        </p:nvSpPr>
        <p:spPr bwMode="auto">
          <a:xfrm>
            <a:off x="8563074" y="4037012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34840" name="AutoShape 27"/>
          <p:cNvSpPr>
            <a:spLocks noChangeArrowheads="1"/>
          </p:cNvSpPr>
          <p:nvPr/>
        </p:nvSpPr>
        <p:spPr bwMode="auto">
          <a:xfrm rot="5400000">
            <a:off x="7755041" y="4560883"/>
            <a:ext cx="207963" cy="18891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endParaRPr lang="tr-TR"/>
          </a:p>
        </p:txBody>
      </p:sp>
      <p:sp>
        <p:nvSpPr>
          <p:cNvPr id="34841" name="Text Box 28"/>
          <p:cNvSpPr txBox="1">
            <a:spLocks noChangeArrowheads="1"/>
          </p:cNvSpPr>
          <p:nvPr/>
        </p:nvSpPr>
        <p:spPr bwMode="auto">
          <a:xfrm>
            <a:off x="7962999" y="4518025"/>
            <a:ext cx="1667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4842" name="Oval 29"/>
          <p:cNvSpPr>
            <a:spLocks noChangeArrowheads="1"/>
          </p:cNvSpPr>
          <p:nvPr/>
        </p:nvSpPr>
        <p:spPr bwMode="auto">
          <a:xfrm>
            <a:off x="8872637" y="4872032"/>
            <a:ext cx="131762" cy="14605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43" name="Line 30"/>
          <p:cNvSpPr>
            <a:spLocks noChangeShapeType="1"/>
          </p:cNvSpPr>
          <p:nvPr/>
        </p:nvSpPr>
        <p:spPr bwMode="auto">
          <a:xfrm flipH="1">
            <a:off x="9018692" y="4937120"/>
            <a:ext cx="5349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4" name="Line 31"/>
          <p:cNvSpPr>
            <a:spLocks noChangeShapeType="1"/>
          </p:cNvSpPr>
          <p:nvPr/>
        </p:nvSpPr>
        <p:spPr bwMode="auto">
          <a:xfrm flipH="1" flipV="1">
            <a:off x="5559529" y="4184650"/>
            <a:ext cx="2208213" cy="7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45" name="Text Box 32"/>
          <p:cNvSpPr txBox="1">
            <a:spLocks noChangeArrowheads="1"/>
          </p:cNvSpPr>
          <p:nvPr/>
        </p:nvSpPr>
        <p:spPr bwMode="auto">
          <a:xfrm>
            <a:off x="9675912" y="2114547"/>
            <a:ext cx="153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34846" name="Text Box 33"/>
          <p:cNvSpPr txBox="1">
            <a:spLocks noChangeArrowheads="1"/>
          </p:cNvSpPr>
          <p:nvPr/>
        </p:nvSpPr>
        <p:spPr bwMode="auto">
          <a:xfrm>
            <a:off x="9636226" y="2860672"/>
            <a:ext cx="18806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A’</a:t>
            </a:r>
          </a:p>
        </p:txBody>
      </p:sp>
      <p:sp>
        <p:nvSpPr>
          <p:cNvPr id="34847" name="Text Box 34"/>
          <p:cNvSpPr txBox="1">
            <a:spLocks noChangeArrowheads="1"/>
          </p:cNvSpPr>
          <p:nvPr/>
        </p:nvSpPr>
        <p:spPr bwMode="auto">
          <a:xfrm>
            <a:off x="9652099" y="3984622"/>
            <a:ext cx="153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34848" name="Text Box 35"/>
          <p:cNvSpPr txBox="1">
            <a:spLocks noChangeArrowheads="1"/>
          </p:cNvSpPr>
          <p:nvPr/>
        </p:nvSpPr>
        <p:spPr bwMode="auto">
          <a:xfrm>
            <a:off x="9575899" y="4711697"/>
            <a:ext cx="205184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B’</a:t>
            </a:r>
          </a:p>
        </p:txBody>
      </p:sp>
      <p:sp>
        <p:nvSpPr>
          <p:cNvPr id="34849" name="AutoShape 36"/>
          <p:cNvSpPr>
            <a:spLocks noChangeArrowheads="1"/>
          </p:cNvSpPr>
          <p:nvPr/>
        </p:nvSpPr>
        <p:spPr bwMode="auto">
          <a:xfrm>
            <a:off x="5013424" y="2033582"/>
            <a:ext cx="546100" cy="533400"/>
          </a:xfrm>
          <a:prstGeom prst="flowChartDelay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50" name="Line 37"/>
          <p:cNvSpPr>
            <a:spLocks noChangeShapeType="1"/>
          </p:cNvSpPr>
          <p:nvPr/>
        </p:nvSpPr>
        <p:spPr bwMode="auto">
          <a:xfrm flipV="1">
            <a:off x="9128224" y="1614487"/>
            <a:ext cx="0" cy="682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1" name="Line 38"/>
          <p:cNvSpPr>
            <a:spLocks noChangeShapeType="1"/>
          </p:cNvSpPr>
          <p:nvPr/>
        </p:nvSpPr>
        <p:spPr bwMode="auto">
          <a:xfrm flipH="1" flipV="1">
            <a:off x="3321149" y="1614482"/>
            <a:ext cx="58054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2" name="Oval 39"/>
          <p:cNvSpPr>
            <a:spLocks noChangeArrowheads="1"/>
          </p:cNvSpPr>
          <p:nvPr/>
        </p:nvSpPr>
        <p:spPr bwMode="auto">
          <a:xfrm>
            <a:off x="9072662" y="2257420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53" name="Line 40"/>
          <p:cNvSpPr>
            <a:spLocks noChangeShapeType="1"/>
          </p:cNvSpPr>
          <p:nvPr/>
        </p:nvSpPr>
        <p:spPr bwMode="auto">
          <a:xfrm flipH="1">
            <a:off x="3308449" y="1600200"/>
            <a:ext cx="12700" cy="3830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4" name="Line 41"/>
          <p:cNvSpPr>
            <a:spLocks noChangeShapeType="1"/>
          </p:cNvSpPr>
          <p:nvPr/>
        </p:nvSpPr>
        <p:spPr bwMode="auto">
          <a:xfrm flipV="1">
            <a:off x="3321149" y="2017707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5" name="Line 42"/>
          <p:cNvSpPr>
            <a:spLocks noChangeShapeType="1"/>
          </p:cNvSpPr>
          <p:nvPr/>
        </p:nvSpPr>
        <p:spPr bwMode="auto">
          <a:xfrm flipH="1">
            <a:off x="2140049" y="2801932"/>
            <a:ext cx="0" cy="3022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6" name="Oval 43"/>
          <p:cNvSpPr>
            <a:spLocks noChangeArrowheads="1"/>
          </p:cNvSpPr>
          <p:nvPr/>
        </p:nvSpPr>
        <p:spPr bwMode="auto">
          <a:xfrm>
            <a:off x="3276699" y="1973257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57" name="Line 44"/>
          <p:cNvSpPr>
            <a:spLocks noChangeShapeType="1"/>
          </p:cNvSpPr>
          <p:nvPr/>
        </p:nvSpPr>
        <p:spPr bwMode="auto">
          <a:xfrm flipH="1">
            <a:off x="1784454" y="2757487"/>
            <a:ext cx="2957513" cy="28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58" name="Oval 45"/>
          <p:cNvSpPr>
            <a:spLocks noChangeArrowheads="1"/>
          </p:cNvSpPr>
          <p:nvPr/>
        </p:nvSpPr>
        <p:spPr bwMode="auto">
          <a:xfrm>
            <a:off x="2095599" y="2725732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59" name="Text Box 46"/>
          <p:cNvSpPr txBox="1">
            <a:spLocks noChangeArrowheads="1"/>
          </p:cNvSpPr>
          <p:nvPr/>
        </p:nvSpPr>
        <p:spPr bwMode="auto">
          <a:xfrm>
            <a:off x="1546324" y="2568572"/>
            <a:ext cx="1154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34860" name="Oval 47"/>
          <p:cNvSpPr>
            <a:spLocks noChangeArrowheads="1"/>
          </p:cNvSpPr>
          <p:nvPr/>
        </p:nvSpPr>
        <p:spPr bwMode="auto">
          <a:xfrm>
            <a:off x="9015512" y="4140195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61" name="Line 48"/>
          <p:cNvSpPr>
            <a:spLocks noChangeShapeType="1"/>
          </p:cNvSpPr>
          <p:nvPr/>
        </p:nvSpPr>
        <p:spPr bwMode="auto">
          <a:xfrm flipV="1">
            <a:off x="9050437" y="3778245"/>
            <a:ext cx="0" cy="40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2" name="Line 49"/>
          <p:cNvSpPr>
            <a:spLocks noChangeShapeType="1"/>
          </p:cNvSpPr>
          <p:nvPr/>
        </p:nvSpPr>
        <p:spPr bwMode="auto">
          <a:xfrm flipH="1">
            <a:off x="2971899" y="3778245"/>
            <a:ext cx="60785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3" name="Line 50"/>
          <p:cNvSpPr>
            <a:spLocks noChangeShapeType="1"/>
          </p:cNvSpPr>
          <p:nvPr/>
        </p:nvSpPr>
        <p:spPr bwMode="auto">
          <a:xfrm flipV="1">
            <a:off x="2971899" y="2292350"/>
            <a:ext cx="0" cy="1400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4" name="Line 51"/>
          <p:cNvSpPr>
            <a:spLocks noChangeShapeType="1"/>
          </p:cNvSpPr>
          <p:nvPr/>
        </p:nvSpPr>
        <p:spPr bwMode="auto">
          <a:xfrm flipV="1">
            <a:off x="2971899" y="2298695"/>
            <a:ext cx="649288" cy="6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5" name="Line 52"/>
          <p:cNvSpPr>
            <a:spLocks noChangeShapeType="1"/>
          </p:cNvSpPr>
          <p:nvPr/>
        </p:nvSpPr>
        <p:spPr bwMode="auto">
          <a:xfrm flipH="1">
            <a:off x="2157512" y="5827707"/>
            <a:ext cx="26273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6" name="Line 53"/>
          <p:cNvSpPr>
            <a:spLocks noChangeShapeType="1"/>
          </p:cNvSpPr>
          <p:nvPr/>
        </p:nvSpPr>
        <p:spPr bwMode="auto">
          <a:xfrm>
            <a:off x="5559529" y="5630857"/>
            <a:ext cx="33512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67" name="Text Box 54"/>
          <p:cNvSpPr txBox="1">
            <a:spLocks noChangeArrowheads="1"/>
          </p:cNvSpPr>
          <p:nvPr/>
        </p:nvSpPr>
        <p:spPr bwMode="auto">
          <a:xfrm>
            <a:off x="8925024" y="5430834"/>
            <a:ext cx="1154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4868" name="Oval 55"/>
          <p:cNvSpPr>
            <a:spLocks noChangeArrowheads="1"/>
          </p:cNvSpPr>
          <p:nvPr/>
        </p:nvSpPr>
        <p:spPr bwMode="auto">
          <a:xfrm>
            <a:off x="2100362" y="4014782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69" name="Line 56"/>
          <p:cNvSpPr>
            <a:spLocks noChangeShapeType="1"/>
          </p:cNvSpPr>
          <p:nvPr/>
        </p:nvSpPr>
        <p:spPr bwMode="auto">
          <a:xfrm flipH="1">
            <a:off x="2971899" y="3692525"/>
            <a:ext cx="0" cy="1938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0" name="Line 57"/>
          <p:cNvSpPr>
            <a:spLocks noChangeShapeType="1"/>
          </p:cNvSpPr>
          <p:nvPr/>
        </p:nvSpPr>
        <p:spPr bwMode="auto">
          <a:xfrm>
            <a:off x="2957612" y="5630857"/>
            <a:ext cx="18272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1" name="Oval 58"/>
          <p:cNvSpPr>
            <a:spLocks noChangeArrowheads="1"/>
          </p:cNvSpPr>
          <p:nvPr/>
        </p:nvSpPr>
        <p:spPr bwMode="auto">
          <a:xfrm>
            <a:off x="2927449" y="3729032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72" name="Line 59"/>
          <p:cNvSpPr>
            <a:spLocks noChangeShapeType="1"/>
          </p:cNvSpPr>
          <p:nvPr/>
        </p:nvSpPr>
        <p:spPr bwMode="auto">
          <a:xfrm>
            <a:off x="3308454" y="5441945"/>
            <a:ext cx="14763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3" name="Line 60"/>
          <p:cNvSpPr>
            <a:spLocks noChangeShapeType="1"/>
          </p:cNvSpPr>
          <p:nvPr/>
        </p:nvSpPr>
        <p:spPr bwMode="auto">
          <a:xfrm>
            <a:off x="7158137" y="2786057"/>
            <a:ext cx="0" cy="3263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4" name="Oval 61"/>
          <p:cNvSpPr>
            <a:spLocks noChangeArrowheads="1"/>
          </p:cNvSpPr>
          <p:nvPr/>
        </p:nvSpPr>
        <p:spPr bwMode="auto">
          <a:xfrm>
            <a:off x="7107337" y="4611682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75" name="Text Box 62"/>
          <p:cNvSpPr txBox="1">
            <a:spLocks noChangeArrowheads="1"/>
          </p:cNvSpPr>
          <p:nvPr/>
        </p:nvSpPr>
        <p:spPr bwMode="auto">
          <a:xfrm>
            <a:off x="7196242" y="5867397"/>
            <a:ext cx="282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clk</a:t>
            </a:r>
          </a:p>
        </p:txBody>
      </p:sp>
      <p:sp>
        <p:nvSpPr>
          <p:cNvPr id="34876" name="AutoShape 63"/>
          <p:cNvSpPr>
            <a:spLocks noChangeArrowheads="1"/>
          </p:cNvSpPr>
          <p:nvPr/>
        </p:nvSpPr>
        <p:spPr bwMode="auto">
          <a:xfrm>
            <a:off x="4784824" y="5249857"/>
            <a:ext cx="774700" cy="762000"/>
          </a:xfrm>
          <a:prstGeom prst="flowChartDelay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77" name="Line 64"/>
          <p:cNvSpPr>
            <a:spLocks noChangeShapeType="1"/>
          </p:cNvSpPr>
          <p:nvPr/>
        </p:nvSpPr>
        <p:spPr bwMode="auto">
          <a:xfrm>
            <a:off x="4741962" y="2166932"/>
            <a:ext cx="271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8" name="Line 65"/>
          <p:cNvSpPr>
            <a:spLocks noChangeShapeType="1"/>
          </p:cNvSpPr>
          <p:nvPr/>
        </p:nvSpPr>
        <p:spPr bwMode="auto">
          <a:xfrm flipV="1">
            <a:off x="4741962" y="2441570"/>
            <a:ext cx="0" cy="3159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79" name="Line 66"/>
          <p:cNvSpPr>
            <a:spLocks noChangeShapeType="1"/>
          </p:cNvSpPr>
          <p:nvPr/>
        </p:nvSpPr>
        <p:spPr bwMode="auto">
          <a:xfrm>
            <a:off x="4741962" y="2460620"/>
            <a:ext cx="271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0" name="AutoShape 67"/>
          <p:cNvSpPr>
            <a:spLocks noChangeArrowheads="1"/>
          </p:cNvSpPr>
          <p:nvPr/>
        </p:nvSpPr>
        <p:spPr bwMode="auto">
          <a:xfrm>
            <a:off x="5013424" y="3914770"/>
            <a:ext cx="546100" cy="533400"/>
          </a:xfrm>
          <a:prstGeom prst="flowChartDelay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81" name="Line 68"/>
          <p:cNvSpPr>
            <a:spLocks noChangeShapeType="1"/>
          </p:cNvSpPr>
          <p:nvPr/>
        </p:nvSpPr>
        <p:spPr bwMode="auto">
          <a:xfrm>
            <a:off x="2157512" y="4056057"/>
            <a:ext cx="28559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2" name="Oval 69"/>
          <p:cNvSpPr>
            <a:spLocks noChangeArrowheads="1"/>
          </p:cNvSpPr>
          <p:nvPr/>
        </p:nvSpPr>
        <p:spPr bwMode="auto">
          <a:xfrm>
            <a:off x="9283799" y="4879970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4883" name="Line 70"/>
          <p:cNvSpPr>
            <a:spLocks noChangeShapeType="1"/>
          </p:cNvSpPr>
          <p:nvPr/>
        </p:nvSpPr>
        <p:spPr bwMode="auto">
          <a:xfrm flipV="1">
            <a:off x="9318724" y="3529012"/>
            <a:ext cx="0" cy="13954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4" name="Line 71"/>
          <p:cNvSpPr>
            <a:spLocks noChangeShapeType="1"/>
          </p:cNvSpPr>
          <p:nvPr/>
        </p:nvSpPr>
        <p:spPr bwMode="auto">
          <a:xfrm flipH="1">
            <a:off x="4741967" y="3530595"/>
            <a:ext cx="45418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5" name="Line 72"/>
          <p:cNvSpPr>
            <a:spLocks noChangeShapeType="1"/>
          </p:cNvSpPr>
          <p:nvPr/>
        </p:nvSpPr>
        <p:spPr bwMode="auto">
          <a:xfrm>
            <a:off x="4741962" y="3530595"/>
            <a:ext cx="0" cy="781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6" name="Line 73"/>
          <p:cNvSpPr>
            <a:spLocks noChangeShapeType="1"/>
          </p:cNvSpPr>
          <p:nvPr/>
        </p:nvSpPr>
        <p:spPr bwMode="auto">
          <a:xfrm>
            <a:off x="4741962" y="4311645"/>
            <a:ext cx="271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4887" name="Line 74"/>
          <p:cNvSpPr>
            <a:spLocks noChangeShapeType="1"/>
          </p:cNvSpPr>
          <p:nvPr/>
        </p:nvSpPr>
        <p:spPr bwMode="auto">
          <a:xfrm>
            <a:off x="7188299" y="4654545"/>
            <a:ext cx="5667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10BF33-43AE-EC5A-0278-91EF1F965A26}"/>
              </a:ext>
            </a:extLst>
          </p:cNvPr>
          <p:cNvSpPr txBox="1"/>
          <p:nvPr/>
        </p:nvSpPr>
        <p:spPr>
          <a:xfrm>
            <a:off x="7848600" y="308631"/>
            <a:ext cx="2743200" cy="52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10000"/>
              </a:lnSpc>
            </a:pPr>
            <a:r>
              <a:rPr lang="en-US" sz="2800" b="1" dirty="0"/>
              <a:t>Q(t+1) = D</a:t>
            </a:r>
            <a:endParaRPr lang="en-US" sz="2800" b="1" baseline="-25000" dirty="0"/>
          </a:p>
        </p:txBody>
      </p:sp>
    </p:spTree>
    <p:extLst>
      <p:ext uri="{BB962C8B-B14F-4D97-AF65-F5344CB8AC3E}">
        <p14:creationId xmlns:p14="http://schemas.microsoft.com/office/powerpoint/2010/main" val="119227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945F9D-D889-4A77-93BC-11F1D3DFE5C3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2"/>
            <a:ext cx="8229600" cy="502178"/>
          </a:xfrm>
        </p:spPr>
        <p:txBody>
          <a:bodyPr/>
          <a:lstStyle/>
          <a:p>
            <a:r>
              <a:rPr lang="en-US" dirty="0"/>
              <a:t>Example 1: State (Transition) Table</a:t>
            </a:r>
          </a:p>
        </p:txBody>
      </p:sp>
      <p:grpSp>
        <p:nvGrpSpPr>
          <p:cNvPr id="3" name="Group 375"/>
          <p:cNvGrpSpPr>
            <a:grpSpLocks/>
          </p:cNvGrpSpPr>
          <p:nvPr/>
        </p:nvGrpSpPr>
        <p:grpSpPr bwMode="auto">
          <a:xfrm>
            <a:off x="2584455" y="3186113"/>
            <a:ext cx="3503613" cy="2552700"/>
            <a:chOff x="668" y="2007"/>
            <a:chExt cx="2207" cy="1608"/>
          </a:xfrm>
        </p:grpSpPr>
        <p:sp>
          <p:nvSpPr>
            <p:cNvPr id="36915" name="Rectangle 70"/>
            <p:cNvSpPr>
              <a:spLocks noChangeArrowheads="1"/>
            </p:cNvSpPr>
            <p:nvPr/>
          </p:nvSpPr>
          <p:spPr bwMode="auto">
            <a:xfrm>
              <a:off x="2139" y="334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6" name="Rectangle 69"/>
            <p:cNvSpPr>
              <a:spLocks noChangeArrowheads="1"/>
            </p:cNvSpPr>
            <p:nvPr/>
          </p:nvSpPr>
          <p:spPr bwMode="auto">
            <a:xfrm>
              <a:off x="1404" y="3347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7" name="Rectangle 68"/>
            <p:cNvSpPr>
              <a:spLocks noChangeArrowheads="1"/>
            </p:cNvSpPr>
            <p:nvPr/>
          </p:nvSpPr>
          <p:spPr bwMode="auto">
            <a:xfrm>
              <a:off x="668" y="334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8" name="Rectangle 63"/>
            <p:cNvSpPr>
              <a:spLocks noChangeArrowheads="1"/>
            </p:cNvSpPr>
            <p:nvPr/>
          </p:nvSpPr>
          <p:spPr bwMode="auto">
            <a:xfrm>
              <a:off x="2139" y="307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19" name="Rectangle 62"/>
            <p:cNvSpPr>
              <a:spLocks noChangeArrowheads="1"/>
            </p:cNvSpPr>
            <p:nvPr/>
          </p:nvSpPr>
          <p:spPr bwMode="auto">
            <a:xfrm>
              <a:off x="1404" y="3079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0" name="Rectangle 61"/>
            <p:cNvSpPr>
              <a:spLocks noChangeArrowheads="1"/>
            </p:cNvSpPr>
            <p:nvPr/>
          </p:nvSpPr>
          <p:spPr bwMode="auto">
            <a:xfrm>
              <a:off x="668" y="307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1" name="Rectangle 56"/>
            <p:cNvSpPr>
              <a:spLocks noChangeArrowheads="1"/>
            </p:cNvSpPr>
            <p:nvPr/>
          </p:nvSpPr>
          <p:spPr bwMode="auto">
            <a:xfrm>
              <a:off x="2139" y="281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2" name="Rectangle 55"/>
            <p:cNvSpPr>
              <a:spLocks noChangeArrowheads="1"/>
            </p:cNvSpPr>
            <p:nvPr/>
          </p:nvSpPr>
          <p:spPr bwMode="auto">
            <a:xfrm>
              <a:off x="1404" y="2811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23" name="Rectangle 54"/>
            <p:cNvSpPr>
              <a:spLocks noChangeArrowheads="1"/>
            </p:cNvSpPr>
            <p:nvPr/>
          </p:nvSpPr>
          <p:spPr bwMode="auto">
            <a:xfrm>
              <a:off x="668" y="281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4" name="Rectangle 49"/>
            <p:cNvSpPr>
              <a:spLocks noChangeArrowheads="1"/>
            </p:cNvSpPr>
            <p:nvPr/>
          </p:nvSpPr>
          <p:spPr bwMode="auto">
            <a:xfrm>
              <a:off x="2139" y="254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25" name="Rectangle 48"/>
            <p:cNvSpPr>
              <a:spLocks noChangeArrowheads="1"/>
            </p:cNvSpPr>
            <p:nvPr/>
          </p:nvSpPr>
          <p:spPr bwMode="auto">
            <a:xfrm>
              <a:off x="1404" y="2543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26" name="Rectangle 47"/>
            <p:cNvSpPr>
              <a:spLocks noChangeArrowheads="1"/>
            </p:cNvSpPr>
            <p:nvPr/>
          </p:nvSpPr>
          <p:spPr bwMode="auto">
            <a:xfrm>
              <a:off x="668" y="254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7" name="Rectangle 42"/>
            <p:cNvSpPr>
              <a:spLocks noChangeArrowheads="1"/>
            </p:cNvSpPr>
            <p:nvPr/>
          </p:nvSpPr>
          <p:spPr bwMode="auto">
            <a:xfrm>
              <a:off x="2139" y="2275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8" name="Rectangle 41"/>
            <p:cNvSpPr>
              <a:spLocks noChangeArrowheads="1"/>
            </p:cNvSpPr>
            <p:nvPr/>
          </p:nvSpPr>
          <p:spPr bwMode="auto">
            <a:xfrm>
              <a:off x="1404" y="2275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9" name="Rectangle 40"/>
            <p:cNvSpPr>
              <a:spLocks noChangeArrowheads="1"/>
            </p:cNvSpPr>
            <p:nvPr/>
          </p:nvSpPr>
          <p:spPr bwMode="auto">
            <a:xfrm>
              <a:off x="668" y="2275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0" name="Rectangle 35"/>
            <p:cNvSpPr>
              <a:spLocks noChangeArrowheads="1"/>
            </p:cNvSpPr>
            <p:nvPr/>
          </p:nvSpPr>
          <p:spPr bwMode="auto">
            <a:xfrm>
              <a:off x="2139" y="200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1" name="Rectangle 34"/>
            <p:cNvSpPr>
              <a:spLocks noChangeArrowheads="1"/>
            </p:cNvSpPr>
            <p:nvPr/>
          </p:nvSpPr>
          <p:spPr bwMode="auto">
            <a:xfrm>
              <a:off x="1404" y="2007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32" name="Rectangle 33"/>
            <p:cNvSpPr>
              <a:spLocks noChangeArrowheads="1"/>
            </p:cNvSpPr>
            <p:nvPr/>
          </p:nvSpPr>
          <p:spPr bwMode="auto">
            <a:xfrm>
              <a:off x="668" y="200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</p:grpSp>
      <p:grpSp>
        <p:nvGrpSpPr>
          <p:cNvPr id="4" name="Group 374"/>
          <p:cNvGrpSpPr>
            <a:grpSpLocks/>
          </p:cNvGrpSpPr>
          <p:nvPr/>
        </p:nvGrpSpPr>
        <p:grpSpPr bwMode="auto">
          <a:xfrm>
            <a:off x="2584455" y="2760663"/>
            <a:ext cx="3503613" cy="425450"/>
            <a:chOff x="668" y="1739"/>
            <a:chExt cx="2207" cy="268"/>
          </a:xfrm>
        </p:grpSpPr>
        <p:sp>
          <p:nvSpPr>
            <p:cNvPr id="36912" name="Rectangle 28"/>
            <p:cNvSpPr>
              <a:spLocks noChangeArrowheads="1"/>
            </p:cNvSpPr>
            <p:nvPr/>
          </p:nvSpPr>
          <p:spPr bwMode="auto">
            <a:xfrm>
              <a:off x="2139" y="173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3" name="Rectangle 27"/>
            <p:cNvSpPr>
              <a:spLocks noChangeArrowheads="1"/>
            </p:cNvSpPr>
            <p:nvPr/>
          </p:nvSpPr>
          <p:spPr bwMode="auto">
            <a:xfrm>
              <a:off x="1404" y="1739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14" name="Rectangle 26"/>
            <p:cNvSpPr>
              <a:spLocks noChangeArrowheads="1"/>
            </p:cNvSpPr>
            <p:nvPr/>
          </p:nvSpPr>
          <p:spPr bwMode="auto">
            <a:xfrm>
              <a:off x="668" y="173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</p:grpSp>
      <p:grpSp>
        <p:nvGrpSpPr>
          <p:cNvPr id="6" name="Group 372"/>
          <p:cNvGrpSpPr>
            <a:grpSpLocks/>
          </p:cNvGrpSpPr>
          <p:nvPr/>
        </p:nvGrpSpPr>
        <p:grpSpPr bwMode="auto">
          <a:xfrm>
            <a:off x="2584455" y="2335213"/>
            <a:ext cx="3503613" cy="425450"/>
            <a:chOff x="668" y="1471"/>
            <a:chExt cx="2207" cy="268"/>
          </a:xfrm>
        </p:grpSpPr>
        <p:sp>
          <p:nvSpPr>
            <p:cNvPr id="36903" name="Rectangle 21"/>
            <p:cNvSpPr>
              <a:spLocks noChangeArrowheads="1"/>
            </p:cNvSpPr>
            <p:nvPr/>
          </p:nvSpPr>
          <p:spPr bwMode="auto">
            <a:xfrm>
              <a:off x="2139" y="147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04" name="Rectangle 20"/>
            <p:cNvSpPr>
              <a:spLocks noChangeArrowheads="1"/>
            </p:cNvSpPr>
            <p:nvPr/>
          </p:nvSpPr>
          <p:spPr bwMode="auto">
            <a:xfrm>
              <a:off x="1404" y="1471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05" name="Rectangle 19"/>
            <p:cNvSpPr>
              <a:spLocks noChangeArrowheads="1"/>
            </p:cNvSpPr>
            <p:nvPr/>
          </p:nvSpPr>
          <p:spPr bwMode="auto">
            <a:xfrm>
              <a:off x="668" y="147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</p:grpSp>
      <p:grpSp>
        <p:nvGrpSpPr>
          <p:cNvPr id="7" name="Group 371"/>
          <p:cNvGrpSpPr>
            <a:grpSpLocks/>
          </p:cNvGrpSpPr>
          <p:nvPr/>
        </p:nvGrpSpPr>
        <p:grpSpPr bwMode="auto">
          <a:xfrm>
            <a:off x="2584450" y="1460500"/>
            <a:ext cx="7004050" cy="4254500"/>
            <a:chOff x="668" y="935"/>
            <a:chExt cx="4412" cy="2680"/>
          </a:xfrm>
        </p:grpSpPr>
        <p:sp>
          <p:nvSpPr>
            <p:cNvPr id="36885" name="Rectangle 17"/>
            <p:cNvSpPr>
              <a:spLocks noChangeArrowheads="1"/>
            </p:cNvSpPr>
            <p:nvPr/>
          </p:nvSpPr>
          <p:spPr bwMode="auto">
            <a:xfrm>
              <a:off x="4345" y="1203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y</a:t>
              </a:r>
            </a:p>
          </p:txBody>
        </p:sp>
        <p:sp>
          <p:nvSpPr>
            <p:cNvPr id="36886" name="Rectangle 16"/>
            <p:cNvSpPr>
              <a:spLocks noChangeArrowheads="1"/>
            </p:cNvSpPr>
            <p:nvPr/>
          </p:nvSpPr>
          <p:spPr bwMode="auto">
            <a:xfrm>
              <a:off x="3609" y="120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B</a:t>
              </a:r>
            </a:p>
          </p:txBody>
        </p:sp>
        <p:sp>
          <p:nvSpPr>
            <p:cNvPr id="36887" name="Rectangle 15"/>
            <p:cNvSpPr>
              <a:spLocks noChangeArrowheads="1"/>
            </p:cNvSpPr>
            <p:nvPr/>
          </p:nvSpPr>
          <p:spPr bwMode="auto">
            <a:xfrm>
              <a:off x="2875" y="1203"/>
              <a:ext cx="7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A</a:t>
              </a:r>
            </a:p>
          </p:txBody>
        </p:sp>
        <p:sp>
          <p:nvSpPr>
            <p:cNvPr id="36888" name="Rectangle 14"/>
            <p:cNvSpPr>
              <a:spLocks noChangeArrowheads="1"/>
            </p:cNvSpPr>
            <p:nvPr/>
          </p:nvSpPr>
          <p:spPr bwMode="auto">
            <a:xfrm>
              <a:off x="2139" y="120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x</a:t>
              </a:r>
            </a:p>
          </p:txBody>
        </p:sp>
        <p:sp>
          <p:nvSpPr>
            <p:cNvPr id="36889" name="Rectangle 13"/>
            <p:cNvSpPr>
              <a:spLocks noChangeArrowheads="1"/>
            </p:cNvSpPr>
            <p:nvPr/>
          </p:nvSpPr>
          <p:spPr bwMode="auto">
            <a:xfrm>
              <a:off x="1404" y="1203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B</a:t>
              </a:r>
            </a:p>
          </p:txBody>
        </p:sp>
        <p:sp>
          <p:nvSpPr>
            <p:cNvPr id="36890" name="Rectangle 12"/>
            <p:cNvSpPr>
              <a:spLocks noChangeArrowheads="1"/>
            </p:cNvSpPr>
            <p:nvPr/>
          </p:nvSpPr>
          <p:spPr bwMode="auto">
            <a:xfrm>
              <a:off x="668" y="120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A</a:t>
              </a:r>
            </a:p>
          </p:txBody>
        </p:sp>
        <p:sp>
          <p:nvSpPr>
            <p:cNvPr id="36891" name="Rectangle 10"/>
            <p:cNvSpPr>
              <a:spLocks noChangeArrowheads="1"/>
            </p:cNvSpPr>
            <p:nvPr/>
          </p:nvSpPr>
          <p:spPr bwMode="auto">
            <a:xfrm>
              <a:off x="4345" y="935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output</a:t>
              </a:r>
            </a:p>
          </p:txBody>
        </p:sp>
        <p:sp>
          <p:nvSpPr>
            <p:cNvPr id="36892" name="Rectangle 8"/>
            <p:cNvSpPr>
              <a:spLocks noChangeArrowheads="1"/>
            </p:cNvSpPr>
            <p:nvPr/>
          </p:nvSpPr>
          <p:spPr bwMode="auto">
            <a:xfrm>
              <a:off x="2875" y="935"/>
              <a:ext cx="1470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Next state</a:t>
              </a:r>
            </a:p>
          </p:txBody>
        </p:sp>
        <p:sp>
          <p:nvSpPr>
            <p:cNvPr id="36893" name="Rectangle 7"/>
            <p:cNvSpPr>
              <a:spLocks noChangeArrowheads="1"/>
            </p:cNvSpPr>
            <p:nvPr/>
          </p:nvSpPr>
          <p:spPr bwMode="auto">
            <a:xfrm>
              <a:off x="2139" y="935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input</a:t>
              </a:r>
            </a:p>
          </p:txBody>
        </p:sp>
        <p:sp>
          <p:nvSpPr>
            <p:cNvPr id="36894" name="Rectangle 5"/>
            <p:cNvSpPr>
              <a:spLocks noChangeArrowheads="1"/>
            </p:cNvSpPr>
            <p:nvPr/>
          </p:nvSpPr>
          <p:spPr bwMode="auto">
            <a:xfrm>
              <a:off x="668" y="935"/>
              <a:ext cx="1471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Present state</a:t>
              </a:r>
            </a:p>
          </p:txBody>
        </p:sp>
        <p:sp>
          <p:nvSpPr>
            <p:cNvPr id="36895" name="Line 85"/>
            <p:cNvSpPr>
              <a:spLocks noChangeShapeType="1"/>
            </p:cNvSpPr>
            <p:nvPr/>
          </p:nvSpPr>
          <p:spPr bwMode="auto">
            <a:xfrm>
              <a:off x="668" y="3615"/>
              <a:ext cx="44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Line 88"/>
            <p:cNvSpPr>
              <a:spLocks noChangeShapeType="1"/>
            </p:cNvSpPr>
            <p:nvPr/>
          </p:nvSpPr>
          <p:spPr bwMode="auto">
            <a:xfrm>
              <a:off x="2139" y="935"/>
              <a:ext cx="0" cy="2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89"/>
            <p:cNvSpPr>
              <a:spLocks noChangeShapeType="1"/>
            </p:cNvSpPr>
            <p:nvPr/>
          </p:nvSpPr>
          <p:spPr bwMode="auto">
            <a:xfrm>
              <a:off x="2875" y="935"/>
              <a:ext cx="0" cy="2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Line 91"/>
            <p:cNvSpPr>
              <a:spLocks noChangeShapeType="1"/>
            </p:cNvSpPr>
            <p:nvPr/>
          </p:nvSpPr>
          <p:spPr bwMode="auto">
            <a:xfrm>
              <a:off x="4345" y="935"/>
              <a:ext cx="0" cy="2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Line 93"/>
            <p:cNvSpPr>
              <a:spLocks noChangeShapeType="1"/>
            </p:cNvSpPr>
            <p:nvPr/>
          </p:nvSpPr>
          <p:spPr bwMode="auto">
            <a:xfrm>
              <a:off x="5080" y="935"/>
              <a:ext cx="0" cy="2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Line 86"/>
            <p:cNvSpPr>
              <a:spLocks noChangeShapeType="1"/>
            </p:cNvSpPr>
            <p:nvPr/>
          </p:nvSpPr>
          <p:spPr bwMode="auto">
            <a:xfrm>
              <a:off x="668" y="935"/>
              <a:ext cx="0" cy="2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Line 161"/>
            <p:cNvSpPr>
              <a:spLocks noChangeShapeType="1"/>
            </p:cNvSpPr>
            <p:nvPr/>
          </p:nvSpPr>
          <p:spPr bwMode="auto">
            <a:xfrm>
              <a:off x="668" y="1471"/>
              <a:ext cx="4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75"/>
            <p:cNvSpPr>
              <a:spLocks noChangeShapeType="1"/>
            </p:cNvSpPr>
            <p:nvPr/>
          </p:nvSpPr>
          <p:spPr bwMode="auto">
            <a:xfrm>
              <a:off x="668" y="935"/>
              <a:ext cx="44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70"/>
          <p:cNvGrpSpPr>
            <a:grpSpLocks/>
          </p:cNvGrpSpPr>
          <p:nvPr/>
        </p:nvGrpSpPr>
        <p:grpSpPr bwMode="auto">
          <a:xfrm>
            <a:off x="1752600" y="811216"/>
            <a:ext cx="8415338" cy="466726"/>
            <a:chOff x="144" y="511"/>
            <a:chExt cx="5301" cy="294"/>
          </a:xfrm>
        </p:grpSpPr>
        <p:sp>
          <p:nvSpPr>
            <p:cNvPr id="36882" name="Rectangle 332"/>
            <p:cNvSpPr>
              <a:spLocks noChangeArrowheads="1"/>
            </p:cNvSpPr>
            <p:nvPr/>
          </p:nvSpPr>
          <p:spPr bwMode="auto">
            <a:xfrm>
              <a:off x="144" y="534"/>
              <a:ext cx="1847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lvl="1"/>
              <a:r>
                <a:rPr lang="en-US" sz="2800"/>
                <a:t>A(t+1) = </a:t>
              </a:r>
              <a:r>
                <a:rPr lang="en-US" sz="280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36883" name="Rectangle 333"/>
            <p:cNvSpPr>
              <a:spLocks noChangeArrowheads="1"/>
            </p:cNvSpPr>
            <p:nvPr/>
          </p:nvSpPr>
          <p:spPr bwMode="auto">
            <a:xfrm>
              <a:off x="2274" y="534"/>
              <a:ext cx="1340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lvl="1"/>
              <a:r>
                <a:rPr lang="en-US" sz="2800" dirty="0"/>
                <a:t>B(t+1) = </a:t>
              </a:r>
              <a:r>
                <a:rPr lang="en-US" sz="2800" dirty="0">
                  <a:solidFill>
                    <a:srgbClr val="FF0000"/>
                  </a:solidFill>
                </a:rPr>
                <a:t>?</a:t>
              </a:r>
            </a:p>
          </p:txBody>
        </p:sp>
        <p:sp>
          <p:nvSpPr>
            <p:cNvPr id="36884" name="Rectangle 334"/>
            <p:cNvSpPr>
              <a:spLocks noChangeArrowheads="1"/>
            </p:cNvSpPr>
            <p:nvPr/>
          </p:nvSpPr>
          <p:spPr bwMode="auto">
            <a:xfrm>
              <a:off x="4027" y="511"/>
              <a:ext cx="1418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lvl="1"/>
              <a:r>
                <a:rPr lang="en-US" sz="2800"/>
                <a:t>y = </a:t>
              </a:r>
              <a:r>
                <a:rPr lang="en-US" sz="2800">
                  <a:solidFill>
                    <a:srgbClr val="FF0000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5643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945F9D-D889-4A77-93BC-11F1D3DFE5C3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399" y="215372"/>
            <a:ext cx="10378017" cy="502178"/>
          </a:xfrm>
        </p:spPr>
        <p:txBody>
          <a:bodyPr/>
          <a:lstStyle/>
          <a:p>
            <a:pPr algn="ctr"/>
            <a:r>
              <a:rPr lang="en-US" dirty="0"/>
              <a:t>Example 1: State (Transition) Table</a:t>
            </a:r>
          </a:p>
        </p:txBody>
      </p:sp>
      <p:grpSp>
        <p:nvGrpSpPr>
          <p:cNvPr id="2" name="Group 376"/>
          <p:cNvGrpSpPr>
            <a:grpSpLocks/>
          </p:cNvGrpSpPr>
          <p:nvPr/>
        </p:nvGrpSpPr>
        <p:grpSpPr bwMode="auto">
          <a:xfrm>
            <a:off x="4265618" y="4037013"/>
            <a:ext cx="3500437" cy="1701800"/>
            <a:chOff x="2875" y="2543"/>
            <a:chExt cx="2205" cy="1072"/>
          </a:xfrm>
        </p:grpSpPr>
        <p:sp>
          <p:nvSpPr>
            <p:cNvPr id="36933" name="Rectangle 73"/>
            <p:cNvSpPr>
              <a:spLocks noChangeArrowheads="1"/>
            </p:cNvSpPr>
            <p:nvPr/>
          </p:nvSpPr>
          <p:spPr bwMode="auto">
            <a:xfrm>
              <a:off x="4345" y="3347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34" name="Rectangle 72"/>
            <p:cNvSpPr>
              <a:spLocks noChangeArrowheads="1"/>
            </p:cNvSpPr>
            <p:nvPr/>
          </p:nvSpPr>
          <p:spPr bwMode="auto">
            <a:xfrm>
              <a:off x="3609" y="334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5" name="Rectangle 71"/>
            <p:cNvSpPr>
              <a:spLocks noChangeArrowheads="1"/>
            </p:cNvSpPr>
            <p:nvPr/>
          </p:nvSpPr>
          <p:spPr bwMode="auto">
            <a:xfrm>
              <a:off x="2875" y="3347"/>
              <a:ext cx="7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6" name="Rectangle 66"/>
            <p:cNvSpPr>
              <a:spLocks noChangeArrowheads="1"/>
            </p:cNvSpPr>
            <p:nvPr/>
          </p:nvSpPr>
          <p:spPr bwMode="auto">
            <a:xfrm>
              <a:off x="4345" y="3079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7" name="Rectangle 65"/>
            <p:cNvSpPr>
              <a:spLocks noChangeArrowheads="1"/>
            </p:cNvSpPr>
            <p:nvPr/>
          </p:nvSpPr>
          <p:spPr bwMode="auto">
            <a:xfrm>
              <a:off x="3609" y="307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8" name="Rectangle 64"/>
            <p:cNvSpPr>
              <a:spLocks noChangeArrowheads="1"/>
            </p:cNvSpPr>
            <p:nvPr/>
          </p:nvSpPr>
          <p:spPr bwMode="auto">
            <a:xfrm>
              <a:off x="2875" y="3079"/>
              <a:ext cx="7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9" name="Rectangle 59"/>
            <p:cNvSpPr>
              <a:spLocks noChangeArrowheads="1"/>
            </p:cNvSpPr>
            <p:nvPr/>
          </p:nvSpPr>
          <p:spPr bwMode="auto">
            <a:xfrm>
              <a:off x="4345" y="2811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40" name="Rectangle 58"/>
            <p:cNvSpPr>
              <a:spLocks noChangeArrowheads="1"/>
            </p:cNvSpPr>
            <p:nvPr/>
          </p:nvSpPr>
          <p:spPr bwMode="auto">
            <a:xfrm>
              <a:off x="3609" y="281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41" name="Rectangle 57"/>
            <p:cNvSpPr>
              <a:spLocks noChangeArrowheads="1"/>
            </p:cNvSpPr>
            <p:nvPr/>
          </p:nvSpPr>
          <p:spPr bwMode="auto">
            <a:xfrm>
              <a:off x="2875" y="2811"/>
              <a:ext cx="7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42" name="Rectangle 52"/>
            <p:cNvSpPr>
              <a:spLocks noChangeArrowheads="1"/>
            </p:cNvSpPr>
            <p:nvPr/>
          </p:nvSpPr>
          <p:spPr bwMode="auto">
            <a:xfrm>
              <a:off x="4345" y="2543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43" name="Rectangle 51"/>
            <p:cNvSpPr>
              <a:spLocks noChangeArrowheads="1"/>
            </p:cNvSpPr>
            <p:nvPr/>
          </p:nvSpPr>
          <p:spPr bwMode="auto">
            <a:xfrm>
              <a:off x="3609" y="254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44" name="Rectangle 50"/>
            <p:cNvSpPr>
              <a:spLocks noChangeArrowheads="1"/>
            </p:cNvSpPr>
            <p:nvPr/>
          </p:nvSpPr>
          <p:spPr bwMode="auto">
            <a:xfrm>
              <a:off x="2875" y="2543"/>
              <a:ext cx="7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</p:grpSp>
      <p:sp>
        <p:nvSpPr>
          <p:cNvPr id="231469" name="Rectangle 45"/>
          <p:cNvSpPr>
            <a:spLocks noChangeArrowheads="1"/>
          </p:cNvSpPr>
          <p:nvPr/>
        </p:nvSpPr>
        <p:spPr bwMode="auto">
          <a:xfrm>
            <a:off x="6599238" y="3611563"/>
            <a:ext cx="116681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2200"/>
              <a:t>0</a:t>
            </a:r>
          </a:p>
        </p:txBody>
      </p:sp>
      <p:sp>
        <p:nvSpPr>
          <p:cNvPr id="231468" name="Rectangle 44"/>
          <p:cNvSpPr>
            <a:spLocks noChangeArrowheads="1"/>
          </p:cNvSpPr>
          <p:nvPr/>
        </p:nvSpPr>
        <p:spPr bwMode="auto">
          <a:xfrm>
            <a:off x="5430838" y="3611563"/>
            <a:ext cx="116840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2200"/>
              <a:t>0</a:t>
            </a:r>
          </a:p>
        </p:txBody>
      </p:sp>
      <p:sp>
        <p:nvSpPr>
          <p:cNvPr id="231467" name="Rectangle 43"/>
          <p:cNvSpPr>
            <a:spLocks noChangeArrowheads="1"/>
          </p:cNvSpPr>
          <p:nvPr/>
        </p:nvSpPr>
        <p:spPr bwMode="auto">
          <a:xfrm>
            <a:off x="4265618" y="3611563"/>
            <a:ext cx="11652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2200"/>
              <a:t>1</a:t>
            </a:r>
          </a:p>
        </p:txBody>
      </p:sp>
      <p:sp>
        <p:nvSpPr>
          <p:cNvPr id="231462" name="Rectangle 38"/>
          <p:cNvSpPr>
            <a:spLocks noChangeArrowheads="1"/>
          </p:cNvSpPr>
          <p:nvPr/>
        </p:nvSpPr>
        <p:spPr bwMode="auto">
          <a:xfrm>
            <a:off x="6599238" y="3186113"/>
            <a:ext cx="1166812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2200"/>
              <a:t>0</a:t>
            </a:r>
          </a:p>
        </p:txBody>
      </p:sp>
      <p:sp>
        <p:nvSpPr>
          <p:cNvPr id="231461" name="Rectangle 37"/>
          <p:cNvSpPr>
            <a:spLocks noChangeArrowheads="1"/>
          </p:cNvSpPr>
          <p:nvPr/>
        </p:nvSpPr>
        <p:spPr bwMode="auto">
          <a:xfrm>
            <a:off x="5430838" y="3186113"/>
            <a:ext cx="116840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2200"/>
              <a:t>0</a:t>
            </a:r>
          </a:p>
        </p:txBody>
      </p:sp>
      <p:sp>
        <p:nvSpPr>
          <p:cNvPr id="231460" name="Rectangle 36"/>
          <p:cNvSpPr>
            <a:spLocks noChangeArrowheads="1"/>
          </p:cNvSpPr>
          <p:nvPr/>
        </p:nvSpPr>
        <p:spPr bwMode="auto">
          <a:xfrm>
            <a:off x="4265618" y="3186113"/>
            <a:ext cx="11652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2200"/>
              <a:t>0</a:t>
            </a:r>
          </a:p>
        </p:txBody>
      </p:sp>
      <p:grpSp>
        <p:nvGrpSpPr>
          <p:cNvPr id="3" name="Group 375"/>
          <p:cNvGrpSpPr>
            <a:grpSpLocks/>
          </p:cNvGrpSpPr>
          <p:nvPr/>
        </p:nvGrpSpPr>
        <p:grpSpPr bwMode="auto">
          <a:xfrm>
            <a:off x="762005" y="3186113"/>
            <a:ext cx="3503613" cy="2552700"/>
            <a:chOff x="668" y="2007"/>
            <a:chExt cx="2207" cy="1608"/>
          </a:xfrm>
        </p:grpSpPr>
        <p:sp>
          <p:nvSpPr>
            <p:cNvPr id="36915" name="Rectangle 70"/>
            <p:cNvSpPr>
              <a:spLocks noChangeArrowheads="1"/>
            </p:cNvSpPr>
            <p:nvPr/>
          </p:nvSpPr>
          <p:spPr bwMode="auto">
            <a:xfrm>
              <a:off x="2139" y="334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6" name="Rectangle 69"/>
            <p:cNvSpPr>
              <a:spLocks noChangeArrowheads="1"/>
            </p:cNvSpPr>
            <p:nvPr/>
          </p:nvSpPr>
          <p:spPr bwMode="auto">
            <a:xfrm>
              <a:off x="1404" y="3347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7" name="Rectangle 68"/>
            <p:cNvSpPr>
              <a:spLocks noChangeArrowheads="1"/>
            </p:cNvSpPr>
            <p:nvPr/>
          </p:nvSpPr>
          <p:spPr bwMode="auto">
            <a:xfrm>
              <a:off x="668" y="334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8" name="Rectangle 63"/>
            <p:cNvSpPr>
              <a:spLocks noChangeArrowheads="1"/>
            </p:cNvSpPr>
            <p:nvPr/>
          </p:nvSpPr>
          <p:spPr bwMode="auto">
            <a:xfrm>
              <a:off x="2139" y="307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19" name="Rectangle 62"/>
            <p:cNvSpPr>
              <a:spLocks noChangeArrowheads="1"/>
            </p:cNvSpPr>
            <p:nvPr/>
          </p:nvSpPr>
          <p:spPr bwMode="auto">
            <a:xfrm>
              <a:off x="1404" y="3079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0" name="Rectangle 61"/>
            <p:cNvSpPr>
              <a:spLocks noChangeArrowheads="1"/>
            </p:cNvSpPr>
            <p:nvPr/>
          </p:nvSpPr>
          <p:spPr bwMode="auto">
            <a:xfrm>
              <a:off x="668" y="307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1" name="Rectangle 56"/>
            <p:cNvSpPr>
              <a:spLocks noChangeArrowheads="1"/>
            </p:cNvSpPr>
            <p:nvPr/>
          </p:nvSpPr>
          <p:spPr bwMode="auto">
            <a:xfrm>
              <a:off x="2139" y="281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2" name="Rectangle 55"/>
            <p:cNvSpPr>
              <a:spLocks noChangeArrowheads="1"/>
            </p:cNvSpPr>
            <p:nvPr/>
          </p:nvSpPr>
          <p:spPr bwMode="auto">
            <a:xfrm>
              <a:off x="1404" y="2811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23" name="Rectangle 54"/>
            <p:cNvSpPr>
              <a:spLocks noChangeArrowheads="1"/>
            </p:cNvSpPr>
            <p:nvPr/>
          </p:nvSpPr>
          <p:spPr bwMode="auto">
            <a:xfrm>
              <a:off x="668" y="281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4" name="Rectangle 49"/>
            <p:cNvSpPr>
              <a:spLocks noChangeArrowheads="1"/>
            </p:cNvSpPr>
            <p:nvPr/>
          </p:nvSpPr>
          <p:spPr bwMode="auto">
            <a:xfrm>
              <a:off x="2139" y="254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25" name="Rectangle 48"/>
            <p:cNvSpPr>
              <a:spLocks noChangeArrowheads="1"/>
            </p:cNvSpPr>
            <p:nvPr/>
          </p:nvSpPr>
          <p:spPr bwMode="auto">
            <a:xfrm>
              <a:off x="1404" y="2543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26" name="Rectangle 47"/>
            <p:cNvSpPr>
              <a:spLocks noChangeArrowheads="1"/>
            </p:cNvSpPr>
            <p:nvPr/>
          </p:nvSpPr>
          <p:spPr bwMode="auto">
            <a:xfrm>
              <a:off x="668" y="254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7" name="Rectangle 42"/>
            <p:cNvSpPr>
              <a:spLocks noChangeArrowheads="1"/>
            </p:cNvSpPr>
            <p:nvPr/>
          </p:nvSpPr>
          <p:spPr bwMode="auto">
            <a:xfrm>
              <a:off x="2139" y="2275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8" name="Rectangle 41"/>
            <p:cNvSpPr>
              <a:spLocks noChangeArrowheads="1"/>
            </p:cNvSpPr>
            <p:nvPr/>
          </p:nvSpPr>
          <p:spPr bwMode="auto">
            <a:xfrm>
              <a:off x="1404" y="2275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29" name="Rectangle 40"/>
            <p:cNvSpPr>
              <a:spLocks noChangeArrowheads="1"/>
            </p:cNvSpPr>
            <p:nvPr/>
          </p:nvSpPr>
          <p:spPr bwMode="auto">
            <a:xfrm>
              <a:off x="668" y="2275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0" name="Rectangle 35"/>
            <p:cNvSpPr>
              <a:spLocks noChangeArrowheads="1"/>
            </p:cNvSpPr>
            <p:nvPr/>
          </p:nvSpPr>
          <p:spPr bwMode="auto">
            <a:xfrm>
              <a:off x="2139" y="200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31" name="Rectangle 34"/>
            <p:cNvSpPr>
              <a:spLocks noChangeArrowheads="1"/>
            </p:cNvSpPr>
            <p:nvPr/>
          </p:nvSpPr>
          <p:spPr bwMode="auto">
            <a:xfrm>
              <a:off x="1404" y="2007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32" name="Rectangle 33"/>
            <p:cNvSpPr>
              <a:spLocks noChangeArrowheads="1"/>
            </p:cNvSpPr>
            <p:nvPr/>
          </p:nvSpPr>
          <p:spPr bwMode="auto">
            <a:xfrm>
              <a:off x="668" y="2007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</p:grpSp>
      <p:grpSp>
        <p:nvGrpSpPr>
          <p:cNvPr id="4" name="Group 374"/>
          <p:cNvGrpSpPr>
            <a:grpSpLocks/>
          </p:cNvGrpSpPr>
          <p:nvPr/>
        </p:nvGrpSpPr>
        <p:grpSpPr bwMode="auto">
          <a:xfrm>
            <a:off x="762000" y="2760663"/>
            <a:ext cx="7004050" cy="425450"/>
            <a:chOff x="668" y="1739"/>
            <a:chExt cx="4412" cy="268"/>
          </a:xfrm>
        </p:grpSpPr>
        <p:sp>
          <p:nvSpPr>
            <p:cNvPr id="36909" name="Rectangle 31"/>
            <p:cNvSpPr>
              <a:spLocks noChangeArrowheads="1"/>
            </p:cNvSpPr>
            <p:nvPr/>
          </p:nvSpPr>
          <p:spPr bwMode="auto">
            <a:xfrm>
              <a:off x="4345" y="1739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10" name="Rectangle 30"/>
            <p:cNvSpPr>
              <a:spLocks noChangeArrowheads="1"/>
            </p:cNvSpPr>
            <p:nvPr/>
          </p:nvSpPr>
          <p:spPr bwMode="auto">
            <a:xfrm>
              <a:off x="3609" y="173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1" name="Rectangle 29"/>
            <p:cNvSpPr>
              <a:spLocks noChangeArrowheads="1"/>
            </p:cNvSpPr>
            <p:nvPr/>
          </p:nvSpPr>
          <p:spPr bwMode="auto">
            <a:xfrm>
              <a:off x="2875" y="1739"/>
              <a:ext cx="7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12" name="Rectangle 28"/>
            <p:cNvSpPr>
              <a:spLocks noChangeArrowheads="1"/>
            </p:cNvSpPr>
            <p:nvPr/>
          </p:nvSpPr>
          <p:spPr bwMode="auto">
            <a:xfrm>
              <a:off x="2139" y="173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6913" name="Rectangle 27"/>
            <p:cNvSpPr>
              <a:spLocks noChangeArrowheads="1"/>
            </p:cNvSpPr>
            <p:nvPr/>
          </p:nvSpPr>
          <p:spPr bwMode="auto">
            <a:xfrm>
              <a:off x="1404" y="1739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14" name="Rectangle 26"/>
            <p:cNvSpPr>
              <a:spLocks noChangeArrowheads="1"/>
            </p:cNvSpPr>
            <p:nvPr/>
          </p:nvSpPr>
          <p:spPr bwMode="auto">
            <a:xfrm>
              <a:off x="668" y="1739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</p:grpSp>
      <p:grpSp>
        <p:nvGrpSpPr>
          <p:cNvPr id="5" name="Group 373"/>
          <p:cNvGrpSpPr>
            <a:grpSpLocks/>
          </p:cNvGrpSpPr>
          <p:nvPr/>
        </p:nvGrpSpPr>
        <p:grpSpPr bwMode="auto">
          <a:xfrm>
            <a:off x="4265618" y="2335213"/>
            <a:ext cx="3500437" cy="425450"/>
            <a:chOff x="2875" y="1471"/>
            <a:chExt cx="2205" cy="268"/>
          </a:xfrm>
        </p:grpSpPr>
        <p:sp>
          <p:nvSpPr>
            <p:cNvPr id="36906" name="Rectangle 24"/>
            <p:cNvSpPr>
              <a:spLocks noChangeArrowheads="1"/>
            </p:cNvSpPr>
            <p:nvPr/>
          </p:nvSpPr>
          <p:spPr bwMode="auto">
            <a:xfrm>
              <a:off x="4345" y="1471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07" name="Rectangle 23"/>
            <p:cNvSpPr>
              <a:spLocks noChangeArrowheads="1"/>
            </p:cNvSpPr>
            <p:nvPr/>
          </p:nvSpPr>
          <p:spPr bwMode="auto">
            <a:xfrm>
              <a:off x="3609" y="147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08" name="Rectangle 22"/>
            <p:cNvSpPr>
              <a:spLocks noChangeArrowheads="1"/>
            </p:cNvSpPr>
            <p:nvPr/>
          </p:nvSpPr>
          <p:spPr bwMode="auto">
            <a:xfrm>
              <a:off x="2875" y="1471"/>
              <a:ext cx="7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</p:grpSp>
      <p:grpSp>
        <p:nvGrpSpPr>
          <p:cNvPr id="6" name="Group 372"/>
          <p:cNvGrpSpPr>
            <a:grpSpLocks/>
          </p:cNvGrpSpPr>
          <p:nvPr/>
        </p:nvGrpSpPr>
        <p:grpSpPr bwMode="auto">
          <a:xfrm>
            <a:off x="762005" y="2335213"/>
            <a:ext cx="3503613" cy="425450"/>
            <a:chOff x="668" y="1471"/>
            <a:chExt cx="2207" cy="268"/>
          </a:xfrm>
        </p:grpSpPr>
        <p:sp>
          <p:nvSpPr>
            <p:cNvPr id="36903" name="Rectangle 21"/>
            <p:cNvSpPr>
              <a:spLocks noChangeArrowheads="1"/>
            </p:cNvSpPr>
            <p:nvPr/>
          </p:nvSpPr>
          <p:spPr bwMode="auto">
            <a:xfrm>
              <a:off x="2139" y="147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04" name="Rectangle 20"/>
            <p:cNvSpPr>
              <a:spLocks noChangeArrowheads="1"/>
            </p:cNvSpPr>
            <p:nvPr/>
          </p:nvSpPr>
          <p:spPr bwMode="auto">
            <a:xfrm>
              <a:off x="1404" y="1471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  <p:sp>
          <p:nvSpPr>
            <p:cNvPr id="36905" name="Rectangle 19"/>
            <p:cNvSpPr>
              <a:spLocks noChangeArrowheads="1"/>
            </p:cNvSpPr>
            <p:nvPr/>
          </p:nvSpPr>
          <p:spPr bwMode="auto">
            <a:xfrm>
              <a:off x="668" y="1471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0</a:t>
              </a:r>
            </a:p>
          </p:txBody>
        </p:sp>
      </p:grpSp>
      <p:grpSp>
        <p:nvGrpSpPr>
          <p:cNvPr id="7" name="Group 371"/>
          <p:cNvGrpSpPr>
            <a:grpSpLocks/>
          </p:cNvGrpSpPr>
          <p:nvPr/>
        </p:nvGrpSpPr>
        <p:grpSpPr bwMode="auto">
          <a:xfrm>
            <a:off x="774700" y="1484313"/>
            <a:ext cx="7004050" cy="4254500"/>
            <a:chOff x="668" y="935"/>
            <a:chExt cx="4412" cy="2680"/>
          </a:xfrm>
        </p:grpSpPr>
        <p:sp>
          <p:nvSpPr>
            <p:cNvPr id="36885" name="Rectangle 17"/>
            <p:cNvSpPr>
              <a:spLocks noChangeArrowheads="1"/>
            </p:cNvSpPr>
            <p:nvPr/>
          </p:nvSpPr>
          <p:spPr bwMode="auto">
            <a:xfrm>
              <a:off x="4345" y="1203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y</a:t>
              </a:r>
            </a:p>
          </p:txBody>
        </p:sp>
        <p:sp>
          <p:nvSpPr>
            <p:cNvPr id="36886" name="Rectangle 16"/>
            <p:cNvSpPr>
              <a:spLocks noChangeArrowheads="1"/>
            </p:cNvSpPr>
            <p:nvPr/>
          </p:nvSpPr>
          <p:spPr bwMode="auto">
            <a:xfrm>
              <a:off x="3609" y="120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B</a:t>
              </a:r>
            </a:p>
          </p:txBody>
        </p:sp>
        <p:sp>
          <p:nvSpPr>
            <p:cNvPr id="36887" name="Rectangle 15"/>
            <p:cNvSpPr>
              <a:spLocks noChangeArrowheads="1"/>
            </p:cNvSpPr>
            <p:nvPr/>
          </p:nvSpPr>
          <p:spPr bwMode="auto">
            <a:xfrm>
              <a:off x="2875" y="1203"/>
              <a:ext cx="734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A</a:t>
              </a:r>
            </a:p>
          </p:txBody>
        </p:sp>
        <p:sp>
          <p:nvSpPr>
            <p:cNvPr id="36888" name="Rectangle 14"/>
            <p:cNvSpPr>
              <a:spLocks noChangeArrowheads="1"/>
            </p:cNvSpPr>
            <p:nvPr/>
          </p:nvSpPr>
          <p:spPr bwMode="auto">
            <a:xfrm>
              <a:off x="2139" y="120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x</a:t>
              </a:r>
            </a:p>
          </p:txBody>
        </p:sp>
        <p:sp>
          <p:nvSpPr>
            <p:cNvPr id="36889" name="Rectangle 13"/>
            <p:cNvSpPr>
              <a:spLocks noChangeArrowheads="1"/>
            </p:cNvSpPr>
            <p:nvPr/>
          </p:nvSpPr>
          <p:spPr bwMode="auto">
            <a:xfrm>
              <a:off x="1404" y="1203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B</a:t>
              </a:r>
            </a:p>
          </p:txBody>
        </p:sp>
        <p:sp>
          <p:nvSpPr>
            <p:cNvPr id="36890" name="Rectangle 12"/>
            <p:cNvSpPr>
              <a:spLocks noChangeArrowheads="1"/>
            </p:cNvSpPr>
            <p:nvPr/>
          </p:nvSpPr>
          <p:spPr bwMode="auto">
            <a:xfrm>
              <a:off x="668" y="1203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A</a:t>
              </a:r>
            </a:p>
          </p:txBody>
        </p:sp>
        <p:sp>
          <p:nvSpPr>
            <p:cNvPr id="36891" name="Rectangle 10"/>
            <p:cNvSpPr>
              <a:spLocks noChangeArrowheads="1"/>
            </p:cNvSpPr>
            <p:nvPr/>
          </p:nvSpPr>
          <p:spPr bwMode="auto">
            <a:xfrm>
              <a:off x="4345" y="935"/>
              <a:ext cx="735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output</a:t>
              </a:r>
            </a:p>
          </p:txBody>
        </p:sp>
        <p:sp>
          <p:nvSpPr>
            <p:cNvPr id="36892" name="Rectangle 8"/>
            <p:cNvSpPr>
              <a:spLocks noChangeArrowheads="1"/>
            </p:cNvSpPr>
            <p:nvPr/>
          </p:nvSpPr>
          <p:spPr bwMode="auto">
            <a:xfrm>
              <a:off x="2875" y="935"/>
              <a:ext cx="1470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Next state</a:t>
              </a:r>
            </a:p>
          </p:txBody>
        </p:sp>
        <p:sp>
          <p:nvSpPr>
            <p:cNvPr id="36893" name="Rectangle 7"/>
            <p:cNvSpPr>
              <a:spLocks noChangeArrowheads="1"/>
            </p:cNvSpPr>
            <p:nvPr/>
          </p:nvSpPr>
          <p:spPr bwMode="auto">
            <a:xfrm>
              <a:off x="2139" y="935"/>
              <a:ext cx="736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input</a:t>
              </a:r>
            </a:p>
          </p:txBody>
        </p:sp>
        <p:sp>
          <p:nvSpPr>
            <p:cNvPr id="36894" name="Rectangle 5"/>
            <p:cNvSpPr>
              <a:spLocks noChangeArrowheads="1"/>
            </p:cNvSpPr>
            <p:nvPr/>
          </p:nvSpPr>
          <p:spPr bwMode="auto">
            <a:xfrm>
              <a:off x="668" y="935"/>
              <a:ext cx="1471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200"/>
                <a:t>Present state</a:t>
              </a:r>
            </a:p>
          </p:txBody>
        </p:sp>
        <p:sp>
          <p:nvSpPr>
            <p:cNvPr id="36895" name="Line 85"/>
            <p:cNvSpPr>
              <a:spLocks noChangeShapeType="1"/>
            </p:cNvSpPr>
            <p:nvPr/>
          </p:nvSpPr>
          <p:spPr bwMode="auto">
            <a:xfrm>
              <a:off x="668" y="3615"/>
              <a:ext cx="44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Line 88"/>
            <p:cNvSpPr>
              <a:spLocks noChangeShapeType="1"/>
            </p:cNvSpPr>
            <p:nvPr/>
          </p:nvSpPr>
          <p:spPr bwMode="auto">
            <a:xfrm>
              <a:off x="2139" y="935"/>
              <a:ext cx="0" cy="2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89"/>
            <p:cNvSpPr>
              <a:spLocks noChangeShapeType="1"/>
            </p:cNvSpPr>
            <p:nvPr/>
          </p:nvSpPr>
          <p:spPr bwMode="auto">
            <a:xfrm>
              <a:off x="2875" y="935"/>
              <a:ext cx="0" cy="26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Line 91"/>
            <p:cNvSpPr>
              <a:spLocks noChangeShapeType="1"/>
            </p:cNvSpPr>
            <p:nvPr/>
          </p:nvSpPr>
          <p:spPr bwMode="auto">
            <a:xfrm>
              <a:off x="4345" y="935"/>
              <a:ext cx="0" cy="2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Line 93"/>
            <p:cNvSpPr>
              <a:spLocks noChangeShapeType="1"/>
            </p:cNvSpPr>
            <p:nvPr/>
          </p:nvSpPr>
          <p:spPr bwMode="auto">
            <a:xfrm>
              <a:off x="5080" y="935"/>
              <a:ext cx="0" cy="2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Line 86"/>
            <p:cNvSpPr>
              <a:spLocks noChangeShapeType="1"/>
            </p:cNvSpPr>
            <p:nvPr/>
          </p:nvSpPr>
          <p:spPr bwMode="auto">
            <a:xfrm>
              <a:off x="668" y="935"/>
              <a:ext cx="0" cy="2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Line 161"/>
            <p:cNvSpPr>
              <a:spLocks noChangeShapeType="1"/>
            </p:cNvSpPr>
            <p:nvPr/>
          </p:nvSpPr>
          <p:spPr bwMode="auto">
            <a:xfrm>
              <a:off x="668" y="1471"/>
              <a:ext cx="4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75"/>
            <p:cNvSpPr>
              <a:spLocks noChangeShapeType="1"/>
            </p:cNvSpPr>
            <p:nvPr/>
          </p:nvSpPr>
          <p:spPr bwMode="auto">
            <a:xfrm>
              <a:off x="668" y="935"/>
              <a:ext cx="44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70"/>
          <p:cNvGrpSpPr>
            <a:grpSpLocks/>
          </p:cNvGrpSpPr>
          <p:nvPr/>
        </p:nvGrpSpPr>
        <p:grpSpPr bwMode="auto">
          <a:xfrm>
            <a:off x="787395" y="811214"/>
            <a:ext cx="10629901" cy="898525"/>
            <a:chOff x="144" y="511"/>
            <a:chExt cx="5301" cy="566"/>
          </a:xfrm>
        </p:grpSpPr>
        <p:sp>
          <p:nvSpPr>
            <p:cNvPr id="36882" name="Rectangle 332"/>
            <p:cNvSpPr>
              <a:spLocks noChangeArrowheads="1"/>
            </p:cNvSpPr>
            <p:nvPr/>
          </p:nvSpPr>
          <p:spPr bwMode="auto">
            <a:xfrm>
              <a:off x="144" y="534"/>
              <a:ext cx="1847" cy="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lvl="1"/>
              <a:r>
                <a:rPr lang="en-US" sz="2800" dirty="0"/>
                <a:t>A(t+1) = </a:t>
              </a:r>
              <a:r>
                <a:rPr lang="en-US" sz="2800" dirty="0">
                  <a:solidFill>
                    <a:srgbClr val="FF0000"/>
                  </a:solidFill>
                </a:rPr>
                <a:t>X(A</a:t>
              </a:r>
              <a:r>
                <a:rPr lang="en-US" sz="2800" dirty="0">
                  <a:solidFill>
                    <a:srgbClr val="FF0000"/>
                  </a:solidFill>
                  <a:sym typeface="Symbol" panose="05050102010706020507" pitchFamily="18" charset="2"/>
                </a:rPr>
                <a:t>B)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  <p:sp>
          <p:nvSpPr>
            <p:cNvPr id="36883" name="Rectangle 333"/>
            <p:cNvSpPr>
              <a:spLocks noChangeArrowheads="1"/>
            </p:cNvSpPr>
            <p:nvPr/>
          </p:nvSpPr>
          <p:spPr bwMode="auto">
            <a:xfrm>
              <a:off x="2274" y="534"/>
              <a:ext cx="1340" cy="5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lvl="1"/>
              <a:r>
                <a:rPr lang="en-US" sz="2800" dirty="0"/>
                <a:t>B(t+1) =</a:t>
              </a:r>
              <a:r>
                <a:rPr lang="en-US" sz="2800" dirty="0">
                  <a:solidFill>
                    <a:srgbClr val="FF0000"/>
                  </a:solidFill>
                </a:rPr>
                <a:t>X B’</a:t>
              </a:r>
            </a:p>
          </p:txBody>
        </p:sp>
        <p:sp>
          <p:nvSpPr>
            <p:cNvPr id="36884" name="Rectangle 334"/>
            <p:cNvSpPr>
              <a:spLocks noChangeArrowheads="1"/>
            </p:cNvSpPr>
            <p:nvPr/>
          </p:nvSpPr>
          <p:spPr bwMode="auto">
            <a:xfrm>
              <a:off x="4027" y="511"/>
              <a:ext cx="1418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lvl="1"/>
              <a:r>
                <a:rPr lang="en-US" sz="2800" dirty="0"/>
                <a:t>y = </a:t>
              </a:r>
              <a:r>
                <a:rPr lang="en-US" sz="2800" dirty="0">
                  <a:solidFill>
                    <a:srgbClr val="FF0000"/>
                  </a:solidFill>
                </a:rPr>
                <a:t>X A B</a:t>
              </a:r>
              <a:r>
                <a:rPr lang="en-US" sz="2800" dirty="0"/>
                <a:t> </a:t>
              </a:r>
              <a:endParaRPr lang="en-US" sz="28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9012B4E-B415-429D-5CE0-25B0F6594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394" y="2229661"/>
            <a:ext cx="4480560" cy="233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1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69" grpId="0"/>
      <p:bldP spid="231468" grpId="0"/>
      <p:bldP spid="231467" grpId="0"/>
      <p:bldP spid="231462" grpId="0"/>
      <p:bldP spid="231461" grpId="0"/>
      <p:bldP spid="2314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45F497-3861-4E6D-ADC7-80392819F0EC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2"/>
            <a:ext cx="8229600" cy="495828"/>
          </a:xfrm>
        </p:spPr>
        <p:txBody>
          <a:bodyPr/>
          <a:lstStyle/>
          <a:p>
            <a:pPr algn="l"/>
            <a:r>
              <a:rPr lang="en-US" dirty="0"/>
              <a:t>Example 1: State Diagram</a:t>
            </a:r>
          </a:p>
        </p:txBody>
      </p:sp>
      <p:sp>
        <p:nvSpPr>
          <p:cNvPr id="232452" name="Oval 4"/>
          <p:cNvSpPr>
            <a:spLocks noChangeArrowheads="1"/>
          </p:cNvSpPr>
          <p:nvPr/>
        </p:nvSpPr>
        <p:spPr bwMode="auto">
          <a:xfrm>
            <a:off x="2325688" y="1649413"/>
            <a:ext cx="1008062" cy="9715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232454" name="Text Box 6"/>
          <p:cNvSpPr txBox="1">
            <a:spLocks noChangeArrowheads="1"/>
          </p:cNvSpPr>
          <p:nvPr/>
        </p:nvSpPr>
        <p:spPr bwMode="auto">
          <a:xfrm>
            <a:off x="2527300" y="1893891"/>
            <a:ext cx="4411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00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325688" y="4078288"/>
            <a:ext cx="1008062" cy="971550"/>
            <a:chOff x="1020" y="2341"/>
            <a:chExt cx="635" cy="612"/>
          </a:xfrm>
        </p:grpSpPr>
        <p:sp>
          <p:nvSpPr>
            <p:cNvPr id="38003" name="Oval 7"/>
            <p:cNvSpPr>
              <a:spLocks noChangeArrowheads="1"/>
            </p:cNvSpPr>
            <p:nvPr/>
          </p:nvSpPr>
          <p:spPr bwMode="auto">
            <a:xfrm>
              <a:off x="1020" y="2341"/>
              <a:ext cx="635" cy="61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8004" name="Text Box 8"/>
            <p:cNvSpPr txBox="1">
              <a:spLocks noChangeArrowheads="1"/>
            </p:cNvSpPr>
            <p:nvPr/>
          </p:nvSpPr>
          <p:spPr bwMode="auto">
            <a:xfrm>
              <a:off x="1147" y="2500"/>
              <a:ext cx="2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710238" y="4078288"/>
            <a:ext cx="1008062" cy="971550"/>
            <a:chOff x="1020" y="2341"/>
            <a:chExt cx="635" cy="612"/>
          </a:xfrm>
        </p:grpSpPr>
        <p:sp>
          <p:nvSpPr>
            <p:cNvPr id="38001" name="Oval 11"/>
            <p:cNvSpPr>
              <a:spLocks noChangeArrowheads="1"/>
            </p:cNvSpPr>
            <p:nvPr/>
          </p:nvSpPr>
          <p:spPr bwMode="auto">
            <a:xfrm>
              <a:off x="1020" y="2341"/>
              <a:ext cx="635" cy="61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8002" name="Text Box 12"/>
            <p:cNvSpPr txBox="1">
              <a:spLocks noChangeArrowheads="1"/>
            </p:cNvSpPr>
            <p:nvPr/>
          </p:nvSpPr>
          <p:spPr bwMode="auto">
            <a:xfrm>
              <a:off x="1147" y="2500"/>
              <a:ext cx="2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10</a:t>
              </a:r>
            </a:p>
          </p:txBody>
        </p:sp>
      </p:grpSp>
      <p:sp>
        <p:nvSpPr>
          <p:cNvPr id="232467" name="Freeform 19"/>
          <p:cNvSpPr>
            <a:spLocks/>
          </p:cNvSpPr>
          <p:nvPr/>
        </p:nvSpPr>
        <p:spPr bwMode="auto">
          <a:xfrm>
            <a:off x="2301880" y="1196980"/>
            <a:ext cx="930275" cy="576263"/>
          </a:xfrm>
          <a:custGeom>
            <a:avLst/>
            <a:gdLst>
              <a:gd name="T0" fmla="*/ 2147483647 w 586"/>
              <a:gd name="T1" fmla="*/ 2147483647 h 510"/>
              <a:gd name="T2" fmla="*/ 2147483647 w 586"/>
              <a:gd name="T3" fmla="*/ 2147483647 h 510"/>
              <a:gd name="T4" fmla="*/ 2147483647 w 586"/>
              <a:gd name="T5" fmla="*/ 2147483647 h 510"/>
              <a:gd name="T6" fmla="*/ 2147483647 w 586"/>
              <a:gd name="T7" fmla="*/ 2147483647 h 510"/>
              <a:gd name="T8" fmla="*/ 2147483647 w 586"/>
              <a:gd name="T9" fmla="*/ 2147483647 h 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6"/>
              <a:gd name="T16" fmla="*/ 0 h 510"/>
              <a:gd name="T17" fmla="*/ 586 w 586"/>
              <a:gd name="T18" fmla="*/ 510 h 5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6" h="510">
                <a:moveTo>
                  <a:pt x="129" y="510"/>
                </a:moveTo>
                <a:cubicBezTo>
                  <a:pt x="64" y="381"/>
                  <a:pt x="0" y="253"/>
                  <a:pt x="38" y="170"/>
                </a:cubicBezTo>
                <a:cubicBezTo>
                  <a:pt x="76" y="87"/>
                  <a:pt x="268" y="0"/>
                  <a:pt x="355" y="11"/>
                </a:cubicBezTo>
                <a:cubicBezTo>
                  <a:pt x="442" y="22"/>
                  <a:pt x="534" y="159"/>
                  <a:pt x="560" y="238"/>
                </a:cubicBezTo>
                <a:cubicBezTo>
                  <a:pt x="586" y="317"/>
                  <a:pt x="550" y="402"/>
                  <a:pt x="514" y="48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232468" name="Text Box 20"/>
          <p:cNvSpPr txBox="1">
            <a:spLocks noChangeArrowheads="1"/>
          </p:cNvSpPr>
          <p:nvPr/>
        </p:nvSpPr>
        <p:spPr bwMode="auto">
          <a:xfrm>
            <a:off x="1714505" y="1162055"/>
            <a:ext cx="35586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/>
              <a:t>0</a:t>
            </a:r>
            <a:r>
              <a:rPr lang="en-US" sz="2000">
                <a:solidFill>
                  <a:schemeClr val="accent2"/>
                </a:solidFill>
              </a:rPr>
              <a:t>/</a:t>
            </a:r>
            <a:r>
              <a:rPr lang="en-US" sz="200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1822450" y="2600325"/>
            <a:ext cx="755650" cy="1549400"/>
            <a:chOff x="703" y="1638"/>
            <a:chExt cx="476" cy="976"/>
          </a:xfrm>
        </p:grpSpPr>
        <p:sp>
          <p:nvSpPr>
            <p:cNvPr id="37999" name="Freeform 21"/>
            <p:cNvSpPr>
              <a:spLocks/>
            </p:cNvSpPr>
            <p:nvPr/>
          </p:nvSpPr>
          <p:spPr bwMode="auto">
            <a:xfrm>
              <a:off x="1039" y="1638"/>
              <a:ext cx="140" cy="976"/>
            </a:xfrm>
            <a:custGeom>
              <a:avLst/>
              <a:gdLst>
                <a:gd name="T0" fmla="*/ 140 w 140"/>
                <a:gd name="T1" fmla="*/ 0 h 976"/>
                <a:gd name="T2" fmla="*/ 4 w 140"/>
                <a:gd name="T3" fmla="*/ 454 h 976"/>
                <a:gd name="T4" fmla="*/ 117 w 140"/>
                <a:gd name="T5" fmla="*/ 976 h 976"/>
                <a:gd name="T6" fmla="*/ 0 60000 65536"/>
                <a:gd name="T7" fmla="*/ 0 60000 65536"/>
                <a:gd name="T8" fmla="*/ 0 60000 65536"/>
                <a:gd name="T9" fmla="*/ 0 w 140"/>
                <a:gd name="T10" fmla="*/ 0 h 976"/>
                <a:gd name="T11" fmla="*/ 140 w 140"/>
                <a:gd name="T12" fmla="*/ 976 h 9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" h="976">
                  <a:moveTo>
                    <a:pt x="140" y="0"/>
                  </a:moveTo>
                  <a:cubicBezTo>
                    <a:pt x="74" y="145"/>
                    <a:pt x="8" y="291"/>
                    <a:pt x="4" y="454"/>
                  </a:cubicBezTo>
                  <a:cubicBezTo>
                    <a:pt x="0" y="617"/>
                    <a:pt x="58" y="796"/>
                    <a:pt x="117" y="97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8000" name="Text Box 22"/>
            <p:cNvSpPr txBox="1">
              <a:spLocks noChangeArrowheads="1"/>
            </p:cNvSpPr>
            <p:nvPr/>
          </p:nvSpPr>
          <p:spPr bwMode="auto">
            <a:xfrm>
              <a:off x="703" y="1933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1</a:t>
              </a:r>
              <a:r>
                <a:rPr lang="en-US" sz="2000">
                  <a:solidFill>
                    <a:schemeClr val="accent2"/>
                  </a:solidFill>
                </a:rPr>
                <a:t>/</a:t>
              </a:r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2938468" y="2565405"/>
            <a:ext cx="479425" cy="1547813"/>
            <a:chOff x="1406" y="1616"/>
            <a:chExt cx="302" cy="975"/>
          </a:xfrm>
        </p:grpSpPr>
        <p:sp>
          <p:nvSpPr>
            <p:cNvPr id="37997" name="Freeform 24"/>
            <p:cNvSpPr>
              <a:spLocks/>
            </p:cNvSpPr>
            <p:nvPr/>
          </p:nvSpPr>
          <p:spPr bwMode="auto">
            <a:xfrm>
              <a:off x="1474" y="1616"/>
              <a:ext cx="234" cy="975"/>
            </a:xfrm>
            <a:custGeom>
              <a:avLst/>
              <a:gdLst>
                <a:gd name="T0" fmla="*/ 45 w 234"/>
                <a:gd name="T1" fmla="*/ 975 h 975"/>
                <a:gd name="T2" fmla="*/ 227 w 234"/>
                <a:gd name="T3" fmla="*/ 476 h 975"/>
                <a:gd name="T4" fmla="*/ 0 w 234"/>
                <a:gd name="T5" fmla="*/ 0 h 975"/>
                <a:gd name="T6" fmla="*/ 0 60000 65536"/>
                <a:gd name="T7" fmla="*/ 0 60000 65536"/>
                <a:gd name="T8" fmla="*/ 0 60000 65536"/>
                <a:gd name="T9" fmla="*/ 0 w 234"/>
                <a:gd name="T10" fmla="*/ 0 h 975"/>
                <a:gd name="T11" fmla="*/ 234 w 234"/>
                <a:gd name="T12" fmla="*/ 975 h 9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4" h="975">
                  <a:moveTo>
                    <a:pt x="45" y="975"/>
                  </a:moveTo>
                  <a:cubicBezTo>
                    <a:pt x="139" y="806"/>
                    <a:pt x="234" y="638"/>
                    <a:pt x="227" y="476"/>
                  </a:cubicBezTo>
                  <a:cubicBezTo>
                    <a:pt x="220" y="314"/>
                    <a:pt x="110" y="157"/>
                    <a:pt x="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7998" name="Text Box 25"/>
            <p:cNvSpPr txBox="1">
              <a:spLocks noChangeArrowheads="1"/>
            </p:cNvSpPr>
            <p:nvPr/>
          </p:nvSpPr>
          <p:spPr bwMode="auto">
            <a:xfrm>
              <a:off x="1406" y="1979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</a:rPr>
                <a:t>0/</a:t>
              </a:r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3225800" y="4868868"/>
            <a:ext cx="2592388" cy="668337"/>
            <a:chOff x="1587" y="3067"/>
            <a:chExt cx="1633" cy="421"/>
          </a:xfrm>
        </p:grpSpPr>
        <p:sp>
          <p:nvSpPr>
            <p:cNvPr id="37995" name="Freeform 27"/>
            <p:cNvSpPr>
              <a:spLocks/>
            </p:cNvSpPr>
            <p:nvPr/>
          </p:nvSpPr>
          <p:spPr bwMode="auto">
            <a:xfrm>
              <a:off x="1587" y="3067"/>
              <a:ext cx="1633" cy="204"/>
            </a:xfrm>
            <a:custGeom>
              <a:avLst/>
              <a:gdLst>
                <a:gd name="T0" fmla="*/ 0 w 1633"/>
                <a:gd name="T1" fmla="*/ 0 h 204"/>
                <a:gd name="T2" fmla="*/ 862 w 1633"/>
                <a:gd name="T3" fmla="*/ 204 h 204"/>
                <a:gd name="T4" fmla="*/ 1633 w 1633"/>
                <a:gd name="T5" fmla="*/ 0 h 204"/>
                <a:gd name="T6" fmla="*/ 0 60000 65536"/>
                <a:gd name="T7" fmla="*/ 0 60000 65536"/>
                <a:gd name="T8" fmla="*/ 0 60000 65536"/>
                <a:gd name="T9" fmla="*/ 0 w 1633"/>
                <a:gd name="T10" fmla="*/ 0 h 204"/>
                <a:gd name="T11" fmla="*/ 1633 w 1633"/>
                <a:gd name="T12" fmla="*/ 204 h 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3" h="204">
                  <a:moveTo>
                    <a:pt x="0" y="0"/>
                  </a:moveTo>
                  <a:cubicBezTo>
                    <a:pt x="295" y="102"/>
                    <a:pt x="590" y="204"/>
                    <a:pt x="862" y="204"/>
                  </a:cubicBezTo>
                  <a:cubicBezTo>
                    <a:pt x="1134" y="204"/>
                    <a:pt x="1383" y="102"/>
                    <a:pt x="1633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7996" name="Text Box 28"/>
            <p:cNvSpPr txBox="1">
              <a:spLocks noChangeArrowheads="1"/>
            </p:cNvSpPr>
            <p:nvPr/>
          </p:nvSpPr>
          <p:spPr bwMode="auto">
            <a:xfrm>
              <a:off x="2268" y="3294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1</a:t>
              </a:r>
              <a:r>
                <a:rPr lang="en-US" sz="2000">
                  <a:solidFill>
                    <a:schemeClr val="accent2"/>
                  </a:solidFill>
                </a:rPr>
                <a:t>/</a:t>
              </a:r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3354388" y="1073155"/>
            <a:ext cx="2413000" cy="879475"/>
            <a:chOff x="1655" y="676"/>
            <a:chExt cx="1520" cy="554"/>
          </a:xfrm>
        </p:grpSpPr>
        <p:sp>
          <p:nvSpPr>
            <p:cNvPr id="37993" name="Text Box 32"/>
            <p:cNvSpPr txBox="1">
              <a:spLocks noChangeArrowheads="1"/>
            </p:cNvSpPr>
            <p:nvPr/>
          </p:nvSpPr>
          <p:spPr bwMode="auto">
            <a:xfrm>
              <a:off x="2320" y="676"/>
              <a:ext cx="22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1</a:t>
              </a:r>
              <a:r>
                <a:rPr lang="en-US" sz="2000">
                  <a:solidFill>
                    <a:schemeClr val="accent2"/>
                  </a:solidFill>
                </a:rPr>
                <a:t>/</a:t>
              </a:r>
              <a:r>
                <a:rPr lang="en-US" sz="20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37994" name="Freeform 33"/>
            <p:cNvSpPr>
              <a:spLocks/>
            </p:cNvSpPr>
            <p:nvPr/>
          </p:nvSpPr>
          <p:spPr bwMode="auto">
            <a:xfrm>
              <a:off x="1655" y="924"/>
              <a:ext cx="1520" cy="306"/>
            </a:xfrm>
            <a:custGeom>
              <a:avLst/>
              <a:gdLst>
                <a:gd name="T0" fmla="*/ 1520 w 1520"/>
                <a:gd name="T1" fmla="*/ 965584313 h 163"/>
                <a:gd name="T2" fmla="*/ 794 w 1520"/>
                <a:gd name="T3" fmla="*/ 29271949 h 163"/>
                <a:gd name="T4" fmla="*/ 0 w 1520"/>
                <a:gd name="T5" fmla="*/ 1123284474 h 163"/>
                <a:gd name="T6" fmla="*/ 0 60000 65536"/>
                <a:gd name="T7" fmla="*/ 0 60000 65536"/>
                <a:gd name="T8" fmla="*/ 0 60000 65536"/>
                <a:gd name="T9" fmla="*/ 0 w 1520"/>
                <a:gd name="T10" fmla="*/ 0 h 163"/>
                <a:gd name="T11" fmla="*/ 1520 w 1520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0" h="163">
                  <a:moveTo>
                    <a:pt x="1520" y="140"/>
                  </a:moveTo>
                  <a:cubicBezTo>
                    <a:pt x="1283" y="70"/>
                    <a:pt x="1047" y="0"/>
                    <a:pt x="794" y="4"/>
                  </a:cubicBezTo>
                  <a:cubicBezTo>
                    <a:pt x="541" y="8"/>
                    <a:pt x="270" y="85"/>
                    <a:pt x="0" y="16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3232150" y="2359025"/>
            <a:ext cx="2679700" cy="1790700"/>
            <a:chOff x="1591" y="1486"/>
            <a:chExt cx="1688" cy="1128"/>
          </a:xfrm>
        </p:grpSpPr>
        <p:sp>
          <p:nvSpPr>
            <p:cNvPr id="37991" name="Line 35"/>
            <p:cNvSpPr>
              <a:spLocks noChangeShapeType="1"/>
            </p:cNvSpPr>
            <p:nvPr/>
          </p:nvSpPr>
          <p:spPr bwMode="auto">
            <a:xfrm flipH="1" flipV="1">
              <a:off x="1591" y="1486"/>
              <a:ext cx="1688" cy="11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92" name="Text Box 36"/>
            <p:cNvSpPr txBox="1">
              <a:spLocks noChangeArrowheads="1"/>
            </p:cNvSpPr>
            <p:nvPr/>
          </p:nvSpPr>
          <p:spPr bwMode="auto">
            <a:xfrm>
              <a:off x="2142" y="2029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0</a:t>
              </a:r>
              <a:r>
                <a:rPr lang="en-US" sz="2000">
                  <a:solidFill>
                    <a:schemeClr val="accent2"/>
                  </a:solidFill>
                </a:rPr>
                <a:t>/</a:t>
              </a:r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grpSp>
        <p:nvGrpSpPr>
          <p:cNvPr id="9" name="Group 41"/>
          <p:cNvGrpSpPr>
            <a:grpSpLocks/>
          </p:cNvGrpSpPr>
          <p:nvPr/>
        </p:nvGrpSpPr>
        <p:grpSpPr bwMode="auto">
          <a:xfrm>
            <a:off x="5710238" y="1649413"/>
            <a:ext cx="1008062" cy="971550"/>
            <a:chOff x="3152" y="1039"/>
            <a:chExt cx="635" cy="612"/>
          </a:xfrm>
        </p:grpSpPr>
        <p:sp>
          <p:nvSpPr>
            <p:cNvPr id="37989" name="Oval 15"/>
            <p:cNvSpPr>
              <a:spLocks noChangeArrowheads="1"/>
            </p:cNvSpPr>
            <p:nvPr/>
          </p:nvSpPr>
          <p:spPr bwMode="auto">
            <a:xfrm>
              <a:off x="3152" y="1039"/>
              <a:ext cx="635" cy="61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7990" name="Text Box 16"/>
            <p:cNvSpPr txBox="1">
              <a:spLocks noChangeArrowheads="1"/>
            </p:cNvSpPr>
            <p:nvPr/>
          </p:nvSpPr>
          <p:spPr bwMode="auto">
            <a:xfrm>
              <a:off x="3279" y="1198"/>
              <a:ext cx="26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11</a:t>
              </a:r>
            </a:p>
          </p:txBody>
        </p:sp>
      </p:grpSp>
      <p:grpSp>
        <p:nvGrpSpPr>
          <p:cNvPr id="10" name="Group 47"/>
          <p:cNvGrpSpPr>
            <a:grpSpLocks/>
          </p:cNvGrpSpPr>
          <p:nvPr/>
        </p:nvGrpSpPr>
        <p:grpSpPr bwMode="auto">
          <a:xfrm>
            <a:off x="5638800" y="2620968"/>
            <a:ext cx="539750" cy="1457325"/>
            <a:chOff x="3107" y="1651"/>
            <a:chExt cx="340" cy="918"/>
          </a:xfrm>
        </p:grpSpPr>
        <p:sp>
          <p:nvSpPr>
            <p:cNvPr id="37987" name="Line 37"/>
            <p:cNvSpPr>
              <a:spLocks noChangeShapeType="1"/>
            </p:cNvSpPr>
            <p:nvPr/>
          </p:nvSpPr>
          <p:spPr bwMode="auto">
            <a:xfrm flipV="1">
              <a:off x="3447" y="1651"/>
              <a:ext cx="0" cy="9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88" name="Text Box 38"/>
            <p:cNvSpPr txBox="1">
              <a:spLocks noChangeArrowheads="1"/>
            </p:cNvSpPr>
            <p:nvPr/>
          </p:nvSpPr>
          <p:spPr bwMode="auto">
            <a:xfrm>
              <a:off x="3107" y="2029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1</a:t>
              </a:r>
              <a:r>
                <a:rPr lang="en-US" sz="2000">
                  <a:solidFill>
                    <a:schemeClr val="accent2"/>
                  </a:solidFill>
                </a:rPr>
                <a:t>/</a:t>
              </a:r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</p:grpSp>
      <p:sp>
        <p:nvSpPr>
          <p:cNvPr id="232488" name="Text Box 40"/>
          <p:cNvSpPr txBox="1">
            <a:spLocks noChangeArrowheads="1"/>
          </p:cNvSpPr>
          <p:nvPr/>
        </p:nvSpPr>
        <p:spPr bwMode="auto">
          <a:xfrm>
            <a:off x="1666875" y="5830891"/>
            <a:ext cx="87137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State diagram provides the same information as state table</a:t>
            </a:r>
          </a:p>
        </p:txBody>
      </p:sp>
      <p:grpSp>
        <p:nvGrpSpPr>
          <p:cNvPr id="11" name="Group 45"/>
          <p:cNvGrpSpPr>
            <a:grpSpLocks/>
          </p:cNvGrpSpPr>
          <p:nvPr/>
        </p:nvGrpSpPr>
        <p:grpSpPr bwMode="auto">
          <a:xfrm>
            <a:off x="3379788" y="1893893"/>
            <a:ext cx="2330450" cy="312737"/>
            <a:chOff x="1684" y="1193"/>
            <a:chExt cx="1468" cy="197"/>
          </a:xfrm>
        </p:grpSpPr>
        <p:sp>
          <p:nvSpPr>
            <p:cNvPr id="37985" name="Text Box 34"/>
            <p:cNvSpPr txBox="1">
              <a:spLocks noChangeArrowheads="1"/>
            </p:cNvSpPr>
            <p:nvPr/>
          </p:nvSpPr>
          <p:spPr bwMode="auto">
            <a:xfrm>
              <a:off x="2294" y="1193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/>
                <a:t>0</a:t>
              </a:r>
              <a:r>
                <a:rPr lang="en-US" sz="2000">
                  <a:solidFill>
                    <a:schemeClr val="accent2"/>
                  </a:solidFill>
                </a:rPr>
                <a:t>/</a:t>
              </a:r>
              <a:r>
                <a:rPr lang="en-US" sz="200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7986" name="Line 42"/>
            <p:cNvSpPr>
              <a:spLocks noChangeShapeType="1"/>
            </p:cNvSpPr>
            <p:nvPr/>
          </p:nvSpPr>
          <p:spPr bwMode="auto">
            <a:xfrm flipH="1">
              <a:off x="1684" y="1390"/>
              <a:ext cx="14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951552"/>
              </p:ext>
            </p:extLst>
          </p:nvPr>
        </p:nvGraphicFramePr>
        <p:xfrm>
          <a:off x="6972298" y="914399"/>
          <a:ext cx="4686300" cy="480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9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7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4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72978">
                <a:tc gridSpan="2">
                  <a:txBody>
                    <a:bodyPr/>
                    <a:lstStyle/>
                    <a:p>
                      <a:pPr algn="ctr"/>
                      <a:r>
                        <a:rPr lang="tr-TR" sz="2000" b="0" dirty="0"/>
                        <a:t>Present state</a:t>
                      </a:r>
                      <a:endParaRPr lang="en-US" sz="20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0" dirty="0"/>
                        <a:t>input</a:t>
                      </a:r>
                      <a:endParaRPr lang="en-US" sz="2000" b="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tr-TR" sz="2000" b="0" dirty="0"/>
                        <a:t>Next state</a:t>
                      </a:r>
                      <a:endParaRPr lang="en-US" sz="200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b="0" dirty="0"/>
                        <a:t>output</a:t>
                      </a:r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x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7514"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0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2000" dirty="0"/>
                        <a:t>1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80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3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3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2" grpId="0" animBg="1"/>
      <p:bldP spid="232454" grpId="0"/>
      <p:bldP spid="232467" grpId="0" animBg="1"/>
      <p:bldP spid="232468" grpId="0"/>
      <p:bldP spid="23248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r>
              <a:rPr lang="en-IN"/>
              <a:t>Example 2 </a:t>
            </a:r>
            <a:endParaRPr lang="en-US"/>
          </a:p>
        </p:txBody>
      </p:sp>
      <p:pic>
        <p:nvPicPr>
          <p:cNvPr id="16386" name="Picture 2" descr="The circuit includes two D flip flops. Input x enters two and gates with outputs merging at an or gate. The output of the or gate enters the D terminal of the first flip flop. The Q terminal of the flip flop produces Ay, which feeds back to the first and gate, and the second and gate receives B, which is the Q-terminal output of the second flip flop. At the same time, the clock sends input to the first and second flip flops, producing outputs Ay prime and B prime. Ay prime becomes input for a third and gate leading to the D terminal of the second flip flop, which also receives x. In addition, Ay and B enter a second or gate, and the output of the or gate combines with the complement of x at an and gate, producing y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7000" y="762001"/>
            <a:ext cx="6858000" cy="5691984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277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r>
              <a:rPr lang="en-IN"/>
              <a:t>State Table for the Circuit of Example 2</a:t>
            </a:r>
            <a:endParaRPr lang="en-US"/>
          </a:p>
        </p:txBody>
      </p:sp>
      <p:pic>
        <p:nvPicPr>
          <p:cNvPr id="17410" name="Picture 2" descr="Z:\NewMedia\Ebook-Novella\Wiley\jira\Mano_Ciletti6e\Work\Images\ch05\ciletti_6e_table_05_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28157" y="1600203"/>
            <a:ext cx="6535686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068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br>
              <a:rPr lang="en-US"/>
            </a:br>
            <a:r>
              <a:rPr lang="en-IN"/>
              <a:t>Second Form of the State Table.</a:t>
            </a:r>
            <a:endParaRPr lang="en-US"/>
          </a:p>
        </p:txBody>
      </p:sp>
      <p:pic>
        <p:nvPicPr>
          <p:cNvPr id="18434" name="Picture 2" descr="Z:\NewMedia\Ebook-Novella\Wiley\jira\Mano_Ciletti6e\Work\Images\ch05\ciletti_6e_table_05_0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1709772"/>
            <a:ext cx="10972800" cy="4306824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25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br>
              <a:rPr lang="en-US"/>
            </a:br>
            <a:r>
              <a:rPr lang="en-IN"/>
              <a:t>State diagram of the circuit of Example 2.</a:t>
            </a:r>
            <a:endParaRPr lang="en-US"/>
          </a:p>
        </p:txBody>
      </p:sp>
      <p:pic>
        <p:nvPicPr>
          <p:cNvPr id="19458" name="Picture 2" descr="The state diagram is a directed graph with states 0 0, 0 1, 1 0, and 1 1. The following list provides each path, followed by its value: 00 to 00, 0 slash 0; 0 0 to 0 1, 1 slash 0; 0 1 to 0 0, 0 slash 1; 0 1 to 1 1, 1 slash 0; 1 1 to 0 0, 0 slash 1; 1 1 to 1 0, 1 slash 0; 1 0 to 1 0, 1 slash 0; 1 0 to 0 0, 0 slash 1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74994" y="1600203"/>
            <a:ext cx="4642011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88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r>
              <a:rPr lang="en-US"/>
              <a:t>Example 3</a:t>
            </a:r>
            <a:br>
              <a:rPr lang="en-US"/>
            </a:br>
            <a:r>
              <a:rPr lang="en-IN"/>
              <a:t>Sequential circuit with </a:t>
            </a:r>
            <a:r>
              <a:rPr lang="en-IN" i="1"/>
              <a:t>D</a:t>
            </a:r>
            <a:r>
              <a:rPr lang="en-IN"/>
              <a:t> flip-flop.</a:t>
            </a:r>
            <a:endParaRPr lang="en-US"/>
          </a:p>
        </p:txBody>
      </p:sp>
      <p:pic>
        <p:nvPicPr>
          <p:cNvPr id="20483" name="Picture 3" descr="Part ay: circuit diagram. Inputs x and y enter an x or gate, which outputs to a second x or gate, leading to the D terminal of the D flip flop. The flip flop also receives input from the cock, while outputting Ay, which feedback back to the second x or gate. Part b: state table. The table has columns for the following values: present state Ay, inputs x and y, next state Ay. The row entries are as follows: row 1, 0, 0 and 0, 0; row 2, 0, 0 and 1, 0; row 3, 0, 1 and 0, 1; row 4,0, 1 and 1, 0; row 5,1 0 and 0, 1; row 6, 1, 0 and 1, 0; row 7, 1, 1 and 0, 0; row 8, 1, 1 and 1, 1. Part c: state diagram. The diagram has states 0 and 1. The following list provides each path, followed by its value: 0 to 0, 0 0, 1 1; 0 to 1, 0 1, 1 0; 1 to 1, 0 0, 1 1; 1 to 0, 0 1, 1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54203" y="1600203"/>
            <a:ext cx="6883593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982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97D901-B750-4F38-B11A-E8C83BEC9D0B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2"/>
            <a:ext cx="8229600" cy="699028"/>
          </a:xfrm>
        </p:spPr>
        <p:txBody>
          <a:bodyPr/>
          <a:lstStyle/>
          <a:p>
            <a:r>
              <a:rPr lang="en-US" dirty="0"/>
              <a:t>Analysis with JK Flip-Flops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5"/>
            <a:ext cx="10744200" cy="5580063"/>
          </a:xfrm>
        </p:spPr>
        <p:txBody>
          <a:bodyPr/>
          <a:lstStyle/>
          <a:p>
            <a:pPr marL="533400" indent="-533400" algn="just">
              <a:lnSpc>
                <a:spcPct val="110000"/>
              </a:lnSpc>
            </a:pPr>
            <a:r>
              <a:rPr lang="en-US" sz="2800" dirty="0"/>
              <a:t>For a D flip-flop, the state equation is the same as the flip-flop input equation</a:t>
            </a:r>
          </a:p>
          <a:p>
            <a:pPr marL="914400" lvl="1" indent="-457200" algn="just">
              <a:lnSpc>
                <a:spcPct val="110000"/>
              </a:lnSpc>
            </a:pPr>
            <a:r>
              <a:rPr lang="en-US" sz="2800" dirty="0"/>
              <a:t>Q(t+1) = D</a:t>
            </a:r>
            <a:endParaRPr lang="en-US" sz="2800" baseline="-25000" dirty="0"/>
          </a:p>
          <a:p>
            <a:pPr marL="533400" indent="-533400" algn="just">
              <a:lnSpc>
                <a:spcPct val="110000"/>
              </a:lnSpc>
            </a:pPr>
            <a:r>
              <a:rPr lang="en-US" sz="2800" dirty="0"/>
              <a:t>For JK flip-flops, situation is different</a:t>
            </a:r>
          </a:p>
          <a:p>
            <a:pPr marL="914400" lvl="1" indent="-457200" algn="just">
              <a:lnSpc>
                <a:spcPct val="110000"/>
              </a:lnSpc>
            </a:pPr>
            <a:r>
              <a:rPr lang="en-US" sz="2800" dirty="0"/>
              <a:t>Goal is to find state equations</a:t>
            </a:r>
          </a:p>
          <a:p>
            <a:pPr marL="914400" lvl="1" indent="-457200" algn="just">
              <a:lnSpc>
                <a:spcPct val="110000"/>
              </a:lnSpc>
            </a:pPr>
            <a:r>
              <a:rPr lang="en-US" sz="2800" dirty="0"/>
              <a:t>Method</a:t>
            </a:r>
          </a:p>
          <a:p>
            <a:pPr marL="1371600" lvl="2" indent="-457200" algn="just">
              <a:lnSpc>
                <a:spcPct val="110000"/>
              </a:lnSpc>
              <a:buFontTx/>
              <a:buAutoNum type="arabicPeriod"/>
            </a:pPr>
            <a:r>
              <a:rPr lang="en-US" sz="2800" dirty="0"/>
              <a:t>determine flip-flop input equations</a:t>
            </a:r>
          </a:p>
          <a:p>
            <a:pPr marL="1371600" lvl="2" indent="-457200" algn="just">
              <a:lnSpc>
                <a:spcPct val="110000"/>
              </a:lnSpc>
              <a:buFontTx/>
              <a:buAutoNum type="arabicPeriod"/>
            </a:pPr>
            <a:r>
              <a:rPr lang="en-US" sz="2800" dirty="0"/>
              <a:t>List the binary values of each input equation</a:t>
            </a:r>
          </a:p>
          <a:p>
            <a:pPr marL="1371600" lvl="2" indent="-457200" algn="just">
              <a:lnSpc>
                <a:spcPct val="110000"/>
              </a:lnSpc>
              <a:buFontTx/>
              <a:buAutoNum type="arabicPeriod"/>
            </a:pPr>
            <a:r>
              <a:rPr lang="en-US" sz="2800" dirty="0"/>
              <a:t>Use the corresponding flip-flop characteristic table to determine the next state values in the state table</a:t>
            </a:r>
          </a:p>
        </p:txBody>
      </p:sp>
    </p:spTree>
    <p:extLst>
      <p:ext uri="{BB962C8B-B14F-4D97-AF65-F5344CB8AC3E}">
        <p14:creationId xmlns:p14="http://schemas.microsoft.com/office/powerpoint/2010/main" val="210889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D8D3154-241F-4A30-B194-422232C3EC1D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7"/>
            <a:ext cx="8229600" cy="491067"/>
          </a:xfrm>
        </p:spPr>
        <p:txBody>
          <a:bodyPr/>
          <a:lstStyle/>
          <a:p>
            <a:r>
              <a:rPr lang="en-US" dirty="0"/>
              <a:t>Example 4: Analysis with JK FFs</a:t>
            </a:r>
          </a:p>
        </p:txBody>
      </p:sp>
      <p:sp>
        <p:nvSpPr>
          <p:cNvPr id="237686" name="Rectangle 118"/>
          <p:cNvSpPr>
            <a:spLocks noGrp="1" noChangeArrowheads="1"/>
          </p:cNvSpPr>
          <p:nvPr>
            <p:ph type="body" idx="1"/>
          </p:nvPr>
        </p:nvSpPr>
        <p:spPr>
          <a:xfrm>
            <a:off x="1066800" y="5287963"/>
            <a:ext cx="9348788" cy="1530350"/>
          </a:xfrm>
          <a:noFill/>
        </p:spPr>
        <p:txBody>
          <a:bodyPr/>
          <a:lstStyle/>
          <a:p>
            <a:r>
              <a:rPr lang="en-US" sz="2400" dirty="0"/>
              <a:t>Flip-flop input equations</a:t>
            </a:r>
          </a:p>
          <a:p>
            <a:pPr lvl="1"/>
            <a:r>
              <a:rPr lang="en-US" sz="2400" dirty="0"/>
              <a:t>J</a:t>
            </a:r>
            <a:r>
              <a:rPr lang="en-US" sz="2400" baseline="-25000" dirty="0"/>
              <a:t>A</a:t>
            </a:r>
            <a:r>
              <a:rPr lang="en-US" sz="2400" dirty="0"/>
              <a:t> =       </a:t>
            </a:r>
            <a:r>
              <a:rPr lang="ar-EG" sz="2400" dirty="0"/>
              <a:t>	</a:t>
            </a:r>
            <a:r>
              <a:rPr lang="tr-TR" sz="2400" dirty="0"/>
              <a:t>    </a:t>
            </a:r>
            <a:r>
              <a:rPr lang="en-US" sz="2400" dirty="0"/>
              <a:t>and K</a:t>
            </a:r>
            <a:r>
              <a:rPr lang="en-US" sz="2400" baseline="-25000" dirty="0"/>
              <a:t>A</a:t>
            </a:r>
            <a:r>
              <a:rPr lang="en-US" sz="2400" dirty="0"/>
              <a:t> =</a:t>
            </a:r>
          </a:p>
          <a:p>
            <a:pPr lvl="1"/>
            <a:r>
              <a:rPr lang="en-US" sz="2400" dirty="0"/>
              <a:t>J</a:t>
            </a:r>
            <a:r>
              <a:rPr lang="en-US" sz="2400" baseline="-25000" dirty="0"/>
              <a:t>B</a:t>
            </a:r>
            <a:r>
              <a:rPr lang="en-US" sz="2400" dirty="0"/>
              <a:t> =       </a:t>
            </a:r>
            <a:r>
              <a:rPr lang="tr-TR" sz="2400" dirty="0"/>
              <a:t> </a:t>
            </a:r>
            <a:r>
              <a:rPr lang="ar-EG" sz="2400" dirty="0"/>
              <a:t>	 </a:t>
            </a:r>
            <a:r>
              <a:rPr lang="tr-TR" sz="2400" dirty="0"/>
              <a:t>   </a:t>
            </a:r>
            <a:r>
              <a:rPr lang="en-US" sz="2400" dirty="0"/>
              <a:t>and K</a:t>
            </a:r>
            <a:r>
              <a:rPr lang="en-US" sz="2400" baseline="-25000" dirty="0"/>
              <a:t>B</a:t>
            </a:r>
            <a:r>
              <a:rPr lang="en-US" sz="2400" dirty="0"/>
              <a:t> =</a:t>
            </a:r>
          </a:p>
        </p:txBody>
      </p:sp>
      <p:grpSp>
        <p:nvGrpSpPr>
          <p:cNvPr id="2" name="Group 184"/>
          <p:cNvGrpSpPr>
            <a:grpSpLocks/>
          </p:cNvGrpSpPr>
          <p:nvPr/>
        </p:nvGrpSpPr>
        <p:grpSpPr bwMode="auto">
          <a:xfrm>
            <a:off x="6275398" y="946155"/>
            <a:ext cx="506413" cy="3554413"/>
            <a:chOff x="2993" y="785"/>
            <a:chExt cx="319" cy="2239"/>
          </a:xfrm>
        </p:grpSpPr>
        <p:sp>
          <p:nvSpPr>
            <p:cNvPr id="40007" name="Rectangle 119"/>
            <p:cNvSpPr>
              <a:spLocks noChangeArrowheads="1"/>
            </p:cNvSpPr>
            <p:nvPr/>
          </p:nvSpPr>
          <p:spPr bwMode="auto">
            <a:xfrm>
              <a:off x="3007" y="785"/>
              <a:ext cx="26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J</a:t>
              </a:r>
              <a:r>
                <a:rPr lang="en-US" sz="2000" baseline="-2500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40008" name="Rectangle 120"/>
            <p:cNvSpPr>
              <a:spLocks noChangeArrowheads="1"/>
            </p:cNvSpPr>
            <p:nvPr/>
          </p:nvSpPr>
          <p:spPr bwMode="auto">
            <a:xfrm>
              <a:off x="3016" y="1275"/>
              <a:ext cx="2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K</a:t>
              </a:r>
              <a:r>
                <a:rPr lang="en-US" sz="2000" baseline="-25000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40009" name="Rectangle 121"/>
            <p:cNvSpPr>
              <a:spLocks noChangeArrowheads="1"/>
            </p:cNvSpPr>
            <p:nvPr/>
          </p:nvSpPr>
          <p:spPr bwMode="auto">
            <a:xfrm>
              <a:off x="3021" y="1971"/>
              <a:ext cx="26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J</a:t>
              </a:r>
              <a:r>
                <a:rPr lang="en-US" sz="2000" baseline="-250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40010" name="Rectangle 122"/>
            <p:cNvSpPr>
              <a:spLocks noChangeArrowheads="1"/>
            </p:cNvSpPr>
            <p:nvPr/>
          </p:nvSpPr>
          <p:spPr bwMode="auto">
            <a:xfrm>
              <a:off x="2993" y="2772"/>
              <a:ext cx="29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K</a:t>
              </a:r>
              <a:r>
                <a:rPr lang="en-US" sz="2000" baseline="-25000">
                  <a:solidFill>
                    <a:srgbClr val="FF0000"/>
                  </a:solidFill>
                </a:rPr>
                <a:t>B</a:t>
              </a:r>
            </a:p>
          </p:txBody>
        </p:sp>
      </p:grpSp>
      <p:sp>
        <p:nvSpPr>
          <p:cNvPr id="39942" name="Rectangle 127"/>
          <p:cNvSpPr>
            <a:spLocks noChangeArrowheads="1"/>
          </p:cNvSpPr>
          <p:nvPr/>
        </p:nvSpPr>
        <p:spPr bwMode="auto">
          <a:xfrm>
            <a:off x="7265988" y="1109668"/>
            <a:ext cx="1103312" cy="123348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tr-TR">
              <a:solidFill>
                <a:schemeClr val="bg1"/>
              </a:solidFill>
            </a:endParaRPr>
          </a:p>
        </p:txBody>
      </p:sp>
      <p:sp>
        <p:nvSpPr>
          <p:cNvPr id="39943" name="Line 128"/>
          <p:cNvSpPr>
            <a:spLocks noChangeShapeType="1"/>
          </p:cNvSpPr>
          <p:nvPr/>
        </p:nvSpPr>
        <p:spPr bwMode="auto">
          <a:xfrm flipH="1">
            <a:off x="6831018" y="1744663"/>
            <a:ext cx="434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4" name="Text Box 129"/>
          <p:cNvSpPr txBox="1">
            <a:spLocks noChangeArrowheads="1"/>
          </p:cNvSpPr>
          <p:nvPr/>
        </p:nvSpPr>
        <p:spPr bwMode="auto">
          <a:xfrm>
            <a:off x="7308850" y="1230318"/>
            <a:ext cx="1154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39945" name="Line 130"/>
          <p:cNvSpPr>
            <a:spLocks noChangeShapeType="1"/>
          </p:cNvSpPr>
          <p:nvPr/>
        </p:nvSpPr>
        <p:spPr bwMode="auto">
          <a:xfrm flipH="1">
            <a:off x="8369305" y="1355725"/>
            <a:ext cx="695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46" name="Text Box 131"/>
          <p:cNvSpPr txBox="1">
            <a:spLocks noChangeArrowheads="1"/>
          </p:cNvSpPr>
          <p:nvPr/>
        </p:nvSpPr>
        <p:spPr bwMode="auto">
          <a:xfrm>
            <a:off x="8074025" y="1211268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39947" name="AutoShape 132"/>
          <p:cNvSpPr>
            <a:spLocks noChangeArrowheads="1"/>
          </p:cNvSpPr>
          <p:nvPr/>
        </p:nvSpPr>
        <p:spPr bwMode="auto">
          <a:xfrm rot="5400000">
            <a:off x="7265988" y="1646238"/>
            <a:ext cx="207962" cy="18891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48" name="Text Box 133"/>
          <p:cNvSpPr txBox="1">
            <a:spLocks noChangeArrowheads="1"/>
          </p:cNvSpPr>
          <p:nvPr/>
        </p:nvSpPr>
        <p:spPr bwMode="auto">
          <a:xfrm>
            <a:off x="7473950" y="1600205"/>
            <a:ext cx="1667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9949" name="Line 134"/>
          <p:cNvSpPr>
            <a:spLocks noChangeShapeType="1"/>
          </p:cNvSpPr>
          <p:nvPr/>
        </p:nvSpPr>
        <p:spPr bwMode="auto">
          <a:xfrm flipH="1" flipV="1">
            <a:off x="6297618" y="1341438"/>
            <a:ext cx="973137" cy="17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0" name="Line 135"/>
          <p:cNvSpPr>
            <a:spLocks noChangeShapeType="1"/>
          </p:cNvSpPr>
          <p:nvPr/>
        </p:nvSpPr>
        <p:spPr bwMode="auto">
          <a:xfrm flipH="1">
            <a:off x="6508755" y="3581400"/>
            <a:ext cx="7477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1" name="Text Box 136"/>
          <p:cNvSpPr txBox="1">
            <a:spLocks noChangeArrowheads="1"/>
          </p:cNvSpPr>
          <p:nvPr/>
        </p:nvSpPr>
        <p:spPr bwMode="auto">
          <a:xfrm>
            <a:off x="7299325" y="3100393"/>
            <a:ext cx="1651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39952" name="Line 137"/>
          <p:cNvSpPr>
            <a:spLocks noChangeShapeType="1"/>
          </p:cNvSpPr>
          <p:nvPr/>
        </p:nvSpPr>
        <p:spPr bwMode="auto">
          <a:xfrm flipH="1">
            <a:off x="8359780" y="3225800"/>
            <a:ext cx="695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3" name="Text Box 138"/>
          <p:cNvSpPr txBox="1">
            <a:spLocks noChangeArrowheads="1"/>
          </p:cNvSpPr>
          <p:nvPr/>
        </p:nvSpPr>
        <p:spPr bwMode="auto">
          <a:xfrm>
            <a:off x="8064500" y="3081343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39954" name="AutoShape 139"/>
          <p:cNvSpPr>
            <a:spLocks noChangeArrowheads="1"/>
          </p:cNvSpPr>
          <p:nvPr/>
        </p:nvSpPr>
        <p:spPr bwMode="auto">
          <a:xfrm rot="5400000">
            <a:off x="7256463" y="3605213"/>
            <a:ext cx="207962" cy="18891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55" name="Text Box 140"/>
          <p:cNvSpPr txBox="1">
            <a:spLocks noChangeArrowheads="1"/>
          </p:cNvSpPr>
          <p:nvPr/>
        </p:nvSpPr>
        <p:spPr bwMode="auto">
          <a:xfrm>
            <a:off x="7464425" y="3562355"/>
            <a:ext cx="1667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9956" name="Line 141"/>
          <p:cNvSpPr>
            <a:spLocks noChangeShapeType="1"/>
          </p:cNvSpPr>
          <p:nvPr/>
        </p:nvSpPr>
        <p:spPr bwMode="auto">
          <a:xfrm flipH="1">
            <a:off x="3381375" y="3228975"/>
            <a:ext cx="3879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57" name="Text Box 142"/>
          <p:cNvSpPr txBox="1">
            <a:spLocks noChangeArrowheads="1"/>
          </p:cNvSpPr>
          <p:nvPr/>
        </p:nvSpPr>
        <p:spPr bwMode="auto">
          <a:xfrm>
            <a:off x="9177338" y="1158877"/>
            <a:ext cx="153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39958" name="Text Box 143"/>
          <p:cNvSpPr txBox="1">
            <a:spLocks noChangeArrowheads="1"/>
          </p:cNvSpPr>
          <p:nvPr/>
        </p:nvSpPr>
        <p:spPr bwMode="auto">
          <a:xfrm>
            <a:off x="9153525" y="3028952"/>
            <a:ext cx="153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B</a:t>
            </a:r>
          </a:p>
        </p:txBody>
      </p:sp>
      <p:grpSp>
        <p:nvGrpSpPr>
          <p:cNvPr id="39959" name="Group 144"/>
          <p:cNvGrpSpPr>
            <a:grpSpLocks/>
          </p:cNvGrpSpPr>
          <p:nvPr/>
        </p:nvGrpSpPr>
        <p:grpSpPr bwMode="auto">
          <a:xfrm>
            <a:off x="3381380" y="1866905"/>
            <a:ext cx="842963" cy="346075"/>
            <a:chOff x="960" y="1824"/>
            <a:chExt cx="1015" cy="457"/>
          </a:xfrm>
        </p:grpSpPr>
        <p:sp>
          <p:nvSpPr>
            <p:cNvPr id="40003" name="AutoShape 145"/>
            <p:cNvSpPr>
              <a:spLocks noChangeArrowheads="1"/>
            </p:cNvSpPr>
            <p:nvPr/>
          </p:nvSpPr>
          <p:spPr bwMode="auto">
            <a:xfrm rot="5400000">
              <a:off x="1186" y="1870"/>
              <a:ext cx="457" cy="366"/>
            </a:xfrm>
            <a:prstGeom prst="flowChartExtract">
              <a:avLst/>
            </a:prstGeom>
            <a:solidFill>
              <a:srgbClr val="FF33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40004" name="Oval 146"/>
            <p:cNvSpPr>
              <a:spLocks noChangeArrowheads="1"/>
            </p:cNvSpPr>
            <p:nvPr/>
          </p:nvSpPr>
          <p:spPr bwMode="auto">
            <a:xfrm>
              <a:off x="1584" y="1980"/>
              <a:ext cx="128" cy="14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40005" name="Line 147"/>
            <p:cNvSpPr>
              <a:spLocks noChangeShapeType="1"/>
            </p:cNvSpPr>
            <p:nvPr/>
          </p:nvSpPr>
          <p:spPr bwMode="auto">
            <a:xfrm>
              <a:off x="960" y="2059"/>
              <a:ext cx="2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006" name="Line 148"/>
            <p:cNvSpPr>
              <a:spLocks noChangeShapeType="1"/>
            </p:cNvSpPr>
            <p:nvPr/>
          </p:nvSpPr>
          <p:spPr bwMode="auto">
            <a:xfrm>
              <a:off x="1702" y="2047"/>
              <a:ext cx="2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960" name="Line 154"/>
          <p:cNvSpPr>
            <a:spLocks noChangeShapeType="1"/>
          </p:cNvSpPr>
          <p:nvPr/>
        </p:nvSpPr>
        <p:spPr bwMode="auto">
          <a:xfrm flipH="1" flipV="1">
            <a:off x="4187830" y="2032000"/>
            <a:ext cx="1577975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1" name="Text Box 155"/>
          <p:cNvSpPr txBox="1">
            <a:spLocks noChangeArrowheads="1"/>
          </p:cNvSpPr>
          <p:nvPr/>
        </p:nvSpPr>
        <p:spPr bwMode="auto">
          <a:xfrm>
            <a:off x="2108200" y="1028702"/>
            <a:ext cx="1154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x</a:t>
            </a:r>
          </a:p>
        </p:txBody>
      </p:sp>
      <p:sp>
        <p:nvSpPr>
          <p:cNvPr id="39962" name="Oval 156"/>
          <p:cNvSpPr>
            <a:spLocks noChangeArrowheads="1"/>
          </p:cNvSpPr>
          <p:nvPr/>
        </p:nvSpPr>
        <p:spPr bwMode="auto">
          <a:xfrm>
            <a:off x="8616950" y="3184525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63" name="Line 157"/>
          <p:cNvSpPr>
            <a:spLocks noChangeShapeType="1"/>
          </p:cNvSpPr>
          <p:nvPr/>
        </p:nvSpPr>
        <p:spPr bwMode="auto">
          <a:xfrm flipV="1">
            <a:off x="8651875" y="2736855"/>
            <a:ext cx="0" cy="492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4" name="Line 158"/>
          <p:cNvSpPr>
            <a:spLocks noChangeShapeType="1"/>
          </p:cNvSpPr>
          <p:nvPr/>
        </p:nvSpPr>
        <p:spPr bwMode="auto">
          <a:xfrm flipH="1">
            <a:off x="5124450" y="2736850"/>
            <a:ext cx="3505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5" name="Line 160"/>
          <p:cNvSpPr>
            <a:spLocks noChangeShapeType="1"/>
          </p:cNvSpPr>
          <p:nvPr/>
        </p:nvSpPr>
        <p:spPr bwMode="auto">
          <a:xfrm>
            <a:off x="6816725" y="1744668"/>
            <a:ext cx="0" cy="1836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66" name="Oval 161"/>
          <p:cNvSpPr>
            <a:spLocks noChangeArrowheads="1"/>
          </p:cNvSpPr>
          <p:nvPr/>
        </p:nvSpPr>
        <p:spPr bwMode="auto">
          <a:xfrm>
            <a:off x="6780213" y="3527425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67" name="Text Box 162"/>
          <p:cNvSpPr txBox="1">
            <a:spLocks noChangeArrowheads="1"/>
          </p:cNvSpPr>
          <p:nvPr/>
        </p:nvSpPr>
        <p:spPr bwMode="auto">
          <a:xfrm>
            <a:off x="6049968" y="3436940"/>
            <a:ext cx="28212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clk</a:t>
            </a:r>
          </a:p>
        </p:txBody>
      </p:sp>
      <p:sp>
        <p:nvSpPr>
          <p:cNvPr id="39968" name="Text Box 163"/>
          <p:cNvSpPr txBox="1">
            <a:spLocks noChangeArrowheads="1"/>
          </p:cNvSpPr>
          <p:nvPr/>
        </p:nvSpPr>
        <p:spPr bwMode="auto">
          <a:xfrm>
            <a:off x="7283450" y="1973268"/>
            <a:ext cx="153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39969" name="Rectangle 164"/>
          <p:cNvSpPr>
            <a:spLocks noChangeArrowheads="1"/>
          </p:cNvSpPr>
          <p:nvPr/>
        </p:nvSpPr>
        <p:spPr bwMode="auto">
          <a:xfrm>
            <a:off x="7248530" y="2968625"/>
            <a:ext cx="1103313" cy="1233488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/>
            <a:endParaRPr lang="tr-TR">
              <a:solidFill>
                <a:schemeClr val="bg1"/>
              </a:solidFill>
            </a:endParaRPr>
          </a:p>
        </p:txBody>
      </p:sp>
      <p:sp>
        <p:nvSpPr>
          <p:cNvPr id="39970" name="Text Box 165"/>
          <p:cNvSpPr txBox="1">
            <a:spLocks noChangeArrowheads="1"/>
          </p:cNvSpPr>
          <p:nvPr/>
        </p:nvSpPr>
        <p:spPr bwMode="auto">
          <a:xfrm>
            <a:off x="7291388" y="3089280"/>
            <a:ext cx="1154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J</a:t>
            </a:r>
          </a:p>
        </p:txBody>
      </p:sp>
      <p:sp>
        <p:nvSpPr>
          <p:cNvPr id="39971" name="Text Box 166"/>
          <p:cNvSpPr txBox="1">
            <a:spLocks noChangeArrowheads="1"/>
          </p:cNvSpPr>
          <p:nvPr/>
        </p:nvSpPr>
        <p:spPr bwMode="auto">
          <a:xfrm>
            <a:off x="8056563" y="3070230"/>
            <a:ext cx="17953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Q</a:t>
            </a:r>
          </a:p>
        </p:txBody>
      </p:sp>
      <p:sp>
        <p:nvSpPr>
          <p:cNvPr id="39972" name="AutoShape 167"/>
          <p:cNvSpPr>
            <a:spLocks noChangeArrowheads="1"/>
          </p:cNvSpPr>
          <p:nvPr/>
        </p:nvSpPr>
        <p:spPr bwMode="auto">
          <a:xfrm rot="5400000">
            <a:off x="7248530" y="3505205"/>
            <a:ext cx="207963" cy="188913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73" name="Text Box 168"/>
          <p:cNvSpPr txBox="1">
            <a:spLocks noChangeArrowheads="1"/>
          </p:cNvSpPr>
          <p:nvPr/>
        </p:nvSpPr>
        <p:spPr bwMode="auto">
          <a:xfrm>
            <a:off x="7456488" y="3459168"/>
            <a:ext cx="16671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39974" name="Text Box 169"/>
          <p:cNvSpPr txBox="1">
            <a:spLocks noChangeArrowheads="1"/>
          </p:cNvSpPr>
          <p:nvPr/>
        </p:nvSpPr>
        <p:spPr bwMode="auto">
          <a:xfrm>
            <a:off x="7265988" y="3832230"/>
            <a:ext cx="1538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K</a:t>
            </a:r>
          </a:p>
        </p:txBody>
      </p:sp>
      <p:sp>
        <p:nvSpPr>
          <p:cNvPr id="39975" name="Line 170"/>
          <p:cNvSpPr>
            <a:spLocks noChangeShapeType="1"/>
          </p:cNvSpPr>
          <p:nvPr/>
        </p:nvSpPr>
        <p:spPr bwMode="auto">
          <a:xfrm>
            <a:off x="6246813" y="2141538"/>
            <a:ext cx="10017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6" name="Line 175"/>
          <p:cNvSpPr>
            <a:spLocks noChangeShapeType="1"/>
          </p:cNvSpPr>
          <p:nvPr/>
        </p:nvSpPr>
        <p:spPr bwMode="auto">
          <a:xfrm flipV="1">
            <a:off x="5124450" y="1485900"/>
            <a:ext cx="0" cy="125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7" name="Line 176"/>
          <p:cNvSpPr>
            <a:spLocks noChangeShapeType="1"/>
          </p:cNvSpPr>
          <p:nvPr/>
        </p:nvSpPr>
        <p:spPr bwMode="auto">
          <a:xfrm>
            <a:off x="5124450" y="2284413"/>
            <a:ext cx="641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8" name="Line 177"/>
          <p:cNvSpPr>
            <a:spLocks noChangeShapeType="1"/>
          </p:cNvSpPr>
          <p:nvPr/>
        </p:nvSpPr>
        <p:spPr bwMode="auto">
          <a:xfrm>
            <a:off x="2387600" y="4013200"/>
            <a:ext cx="4883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79" name="Line 180"/>
          <p:cNvSpPr>
            <a:spLocks noChangeShapeType="1"/>
          </p:cNvSpPr>
          <p:nvPr/>
        </p:nvSpPr>
        <p:spPr bwMode="auto">
          <a:xfrm>
            <a:off x="3381375" y="2032000"/>
            <a:ext cx="0" cy="1193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0" name="Freeform 197"/>
          <p:cNvSpPr>
            <a:spLocks/>
          </p:cNvSpPr>
          <p:nvPr/>
        </p:nvSpPr>
        <p:spPr bwMode="auto">
          <a:xfrm>
            <a:off x="5700713" y="1882775"/>
            <a:ext cx="539750" cy="515938"/>
          </a:xfrm>
          <a:custGeom>
            <a:avLst/>
            <a:gdLst>
              <a:gd name="T0" fmla="*/ 2147483647 w 40"/>
              <a:gd name="T1" fmla="*/ 2147483647 h 30"/>
              <a:gd name="T2" fmla="*/ 2147483647 w 40"/>
              <a:gd name="T3" fmla="*/ 2147483647 h 30"/>
              <a:gd name="T4" fmla="*/ 2147483647 w 40"/>
              <a:gd name="T5" fmla="*/ 2147483647 h 30"/>
              <a:gd name="T6" fmla="*/ 0 w 40"/>
              <a:gd name="T7" fmla="*/ 2147483647 h 30"/>
              <a:gd name="T8" fmla="*/ 0 w 40"/>
              <a:gd name="T9" fmla="*/ 0 h 30"/>
              <a:gd name="T10" fmla="*/ 0 w 40"/>
              <a:gd name="T11" fmla="*/ 0 h 30"/>
              <a:gd name="T12" fmla="*/ 2147483647 w 40"/>
              <a:gd name="T13" fmla="*/ 0 h 30"/>
              <a:gd name="T14" fmla="*/ 2147483647 w 40"/>
              <a:gd name="T15" fmla="*/ 2147483647 h 3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0"/>
              <a:gd name="T25" fmla="*/ 0 h 30"/>
              <a:gd name="T26" fmla="*/ 40 w 40"/>
              <a:gd name="T27" fmla="*/ 30 h 3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0" h="30">
                <a:moveTo>
                  <a:pt x="40" y="15"/>
                </a:moveTo>
                <a:cubicBezTo>
                  <a:pt x="35" y="23"/>
                  <a:pt x="25" y="28"/>
                  <a:pt x="12" y="30"/>
                </a:cubicBezTo>
                <a:lnTo>
                  <a:pt x="0" y="30"/>
                </a:lnTo>
                <a:cubicBezTo>
                  <a:pt x="8" y="21"/>
                  <a:pt x="8" y="10"/>
                  <a:pt x="0" y="0"/>
                </a:cubicBezTo>
                <a:lnTo>
                  <a:pt x="12" y="0"/>
                </a:lnTo>
                <a:cubicBezTo>
                  <a:pt x="25" y="2"/>
                  <a:pt x="35" y="8"/>
                  <a:pt x="40" y="15"/>
                </a:cubicBezTo>
                <a:close/>
              </a:path>
            </a:pathLst>
          </a:custGeom>
          <a:solidFill>
            <a:schemeClr val="accent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tr-TR"/>
          </a:p>
        </p:txBody>
      </p:sp>
      <p:sp>
        <p:nvSpPr>
          <p:cNvPr id="39981" name="AutoShape 208"/>
          <p:cNvSpPr>
            <a:spLocks noChangeArrowheads="1"/>
          </p:cNvSpPr>
          <p:nvPr/>
        </p:nvSpPr>
        <p:spPr bwMode="auto">
          <a:xfrm>
            <a:off x="5765800" y="1076325"/>
            <a:ext cx="546100" cy="533400"/>
          </a:xfrm>
          <a:prstGeom prst="flowChartDelay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82" name="Line 210"/>
          <p:cNvSpPr>
            <a:spLocks noChangeShapeType="1"/>
          </p:cNvSpPr>
          <p:nvPr/>
        </p:nvSpPr>
        <p:spPr bwMode="auto">
          <a:xfrm flipV="1">
            <a:off x="2387600" y="1223963"/>
            <a:ext cx="3378200" cy="6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3" name="Line 211"/>
          <p:cNvSpPr>
            <a:spLocks noChangeShapeType="1"/>
          </p:cNvSpPr>
          <p:nvPr/>
        </p:nvSpPr>
        <p:spPr bwMode="auto">
          <a:xfrm>
            <a:off x="5124450" y="1485900"/>
            <a:ext cx="641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4" name="Line 212"/>
          <p:cNvSpPr>
            <a:spLocks noChangeShapeType="1"/>
          </p:cNvSpPr>
          <p:nvPr/>
        </p:nvSpPr>
        <p:spPr bwMode="auto">
          <a:xfrm>
            <a:off x="3381375" y="1211263"/>
            <a:ext cx="0" cy="8239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85" name="Oval 213"/>
          <p:cNvSpPr>
            <a:spLocks noChangeArrowheads="1"/>
          </p:cNvSpPr>
          <p:nvPr/>
        </p:nvSpPr>
        <p:spPr bwMode="auto">
          <a:xfrm>
            <a:off x="3335338" y="1187450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86" name="Text Box 214"/>
          <p:cNvSpPr txBox="1">
            <a:spLocks noChangeArrowheads="1"/>
          </p:cNvSpPr>
          <p:nvPr/>
        </p:nvSpPr>
        <p:spPr bwMode="auto">
          <a:xfrm>
            <a:off x="2154238" y="3802065"/>
            <a:ext cx="12824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39987" name="Oval 215"/>
          <p:cNvSpPr>
            <a:spLocks noChangeArrowheads="1"/>
          </p:cNvSpPr>
          <p:nvPr/>
        </p:nvSpPr>
        <p:spPr bwMode="auto">
          <a:xfrm>
            <a:off x="3352800" y="2003425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88" name="AutoShape 216"/>
          <p:cNvSpPr>
            <a:spLocks noChangeArrowheads="1"/>
          </p:cNvSpPr>
          <p:nvPr/>
        </p:nvSpPr>
        <p:spPr bwMode="auto">
          <a:xfrm>
            <a:off x="7256463" y="4497393"/>
            <a:ext cx="742950" cy="790575"/>
          </a:xfrm>
          <a:prstGeom prst="flowChartDelay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89" name="Line 217"/>
          <p:cNvSpPr>
            <a:spLocks noChangeShapeType="1"/>
          </p:cNvSpPr>
          <p:nvPr/>
        </p:nvSpPr>
        <p:spPr bwMode="auto">
          <a:xfrm>
            <a:off x="3381375" y="3225800"/>
            <a:ext cx="0" cy="1428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0" name="Line 218"/>
          <p:cNvSpPr>
            <a:spLocks noChangeShapeType="1"/>
          </p:cNvSpPr>
          <p:nvPr/>
        </p:nvSpPr>
        <p:spPr bwMode="auto">
          <a:xfrm>
            <a:off x="3381375" y="4654550"/>
            <a:ext cx="38671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1" name="Oval 219"/>
          <p:cNvSpPr>
            <a:spLocks noChangeArrowheads="1"/>
          </p:cNvSpPr>
          <p:nvPr/>
        </p:nvSpPr>
        <p:spPr bwMode="auto">
          <a:xfrm>
            <a:off x="3338513" y="3184525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39992" name="Line 220"/>
          <p:cNvSpPr>
            <a:spLocks noChangeShapeType="1"/>
          </p:cNvSpPr>
          <p:nvPr/>
        </p:nvSpPr>
        <p:spPr bwMode="auto">
          <a:xfrm flipH="1">
            <a:off x="7999418" y="4899025"/>
            <a:ext cx="11080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3" name="Text Box 221"/>
          <p:cNvSpPr txBox="1">
            <a:spLocks noChangeArrowheads="1"/>
          </p:cNvSpPr>
          <p:nvPr/>
        </p:nvSpPr>
        <p:spPr bwMode="auto">
          <a:xfrm>
            <a:off x="9207500" y="4654552"/>
            <a:ext cx="11541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y</a:t>
            </a:r>
          </a:p>
        </p:txBody>
      </p:sp>
      <p:sp>
        <p:nvSpPr>
          <p:cNvPr id="39994" name="Line 222"/>
          <p:cNvSpPr>
            <a:spLocks noChangeShapeType="1"/>
          </p:cNvSpPr>
          <p:nvPr/>
        </p:nvSpPr>
        <p:spPr bwMode="auto">
          <a:xfrm>
            <a:off x="5124450" y="2736855"/>
            <a:ext cx="0" cy="2354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5" name="Line 223"/>
          <p:cNvSpPr>
            <a:spLocks noChangeShapeType="1"/>
          </p:cNvSpPr>
          <p:nvPr/>
        </p:nvSpPr>
        <p:spPr bwMode="auto">
          <a:xfrm>
            <a:off x="5124450" y="5091113"/>
            <a:ext cx="2146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6" name="Line 224"/>
          <p:cNvSpPr>
            <a:spLocks noChangeShapeType="1"/>
          </p:cNvSpPr>
          <p:nvPr/>
        </p:nvSpPr>
        <p:spPr bwMode="auto">
          <a:xfrm flipV="1">
            <a:off x="8651875" y="914405"/>
            <a:ext cx="0" cy="4413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7" name="Line 225"/>
          <p:cNvSpPr>
            <a:spLocks noChangeShapeType="1"/>
          </p:cNvSpPr>
          <p:nvPr/>
        </p:nvSpPr>
        <p:spPr bwMode="auto">
          <a:xfrm flipH="1">
            <a:off x="4224343" y="914400"/>
            <a:ext cx="44275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8" name="Line 226"/>
          <p:cNvSpPr>
            <a:spLocks noChangeShapeType="1"/>
          </p:cNvSpPr>
          <p:nvPr/>
        </p:nvSpPr>
        <p:spPr bwMode="auto">
          <a:xfrm>
            <a:off x="4224338" y="914405"/>
            <a:ext cx="0" cy="3984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9999" name="Line 227"/>
          <p:cNvSpPr>
            <a:spLocks noChangeShapeType="1"/>
          </p:cNvSpPr>
          <p:nvPr/>
        </p:nvSpPr>
        <p:spPr bwMode="auto">
          <a:xfrm>
            <a:off x="4224343" y="4899025"/>
            <a:ext cx="30241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000" name="Oval 228"/>
          <p:cNvSpPr>
            <a:spLocks noChangeArrowheads="1"/>
          </p:cNvSpPr>
          <p:nvPr/>
        </p:nvSpPr>
        <p:spPr bwMode="auto">
          <a:xfrm>
            <a:off x="8613775" y="1314450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40001" name="Oval 229"/>
          <p:cNvSpPr>
            <a:spLocks noChangeArrowheads="1"/>
          </p:cNvSpPr>
          <p:nvPr/>
        </p:nvSpPr>
        <p:spPr bwMode="auto">
          <a:xfrm>
            <a:off x="5087938" y="2232025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40002" name="Oval 230"/>
          <p:cNvSpPr>
            <a:spLocks noChangeArrowheads="1"/>
          </p:cNvSpPr>
          <p:nvPr/>
        </p:nvSpPr>
        <p:spPr bwMode="auto">
          <a:xfrm>
            <a:off x="5070475" y="2692400"/>
            <a:ext cx="88900" cy="889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924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7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7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7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68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FC1E4C-EB79-430B-AFAB-F994E3109C2E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7"/>
            <a:ext cx="8229600" cy="536191"/>
          </a:xfrm>
        </p:spPr>
        <p:txBody>
          <a:bodyPr/>
          <a:lstStyle/>
          <a:p>
            <a:r>
              <a:rPr lang="en-US" dirty="0"/>
              <a:t>Example 4: Analysis with JK FFs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5" y="827087"/>
            <a:ext cx="8153395" cy="8493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J</a:t>
            </a:r>
            <a:r>
              <a:rPr lang="en-US" sz="2800" baseline="-25000" dirty="0"/>
              <a:t>A</a:t>
            </a:r>
            <a:r>
              <a:rPr lang="en-US" sz="2800" dirty="0"/>
              <a:t> = Bx and K</a:t>
            </a:r>
            <a:r>
              <a:rPr lang="en-US" sz="2800" baseline="-25000" dirty="0"/>
              <a:t>A</a:t>
            </a:r>
            <a:r>
              <a:rPr lang="en-US" sz="2800" dirty="0"/>
              <a:t> = </a:t>
            </a:r>
            <a:r>
              <a:rPr lang="en-US" sz="2800" dirty="0" err="1"/>
              <a:t>x’+B</a:t>
            </a: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J</a:t>
            </a:r>
            <a:r>
              <a:rPr lang="en-US" sz="2800" baseline="-25000" dirty="0"/>
              <a:t>B</a:t>
            </a:r>
            <a:r>
              <a:rPr lang="en-US" sz="2800" dirty="0"/>
              <a:t> = x and K</a:t>
            </a:r>
            <a:r>
              <a:rPr lang="en-US" sz="2800" baseline="-25000" dirty="0"/>
              <a:t>B</a:t>
            </a:r>
            <a:r>
              <a:rPr lang="en-US" sz="2800" dirty="0"/>
              <a:t> = 1</a:t>
            </a:r>
          </a:p>
        </p:txBody>
      </p:sp>
      <p:sp>
        <p:nvSpPr>
          <p:cNvPr id="238750" name="Rectangle 158"/>
          <p:cNvSpPr>
            <a:spLocks noChangeArrowheads="1"/>
          </p:cNvSpPr>
          <p:nvPr/>
        </p:nvSpPr>
        <p:spPr bwMode="auto">
          <a:xfrm>
            <a:off x="5478462" y="5945192"/>
            <a:ext cx="93503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8740" name="Rectangle 148"/>
          <p:cNvSpPr>
            <a:spLocks noChangeArrowheads="1"/>
          </p:cNvSpPr>
          <p:nvPr/>
        </p:nvSpPr>
        <p:spPr bwMode="auto">
          <a:xfrm>
            <a:off x="5478462" y="5489575"/>
            <a:ext cx="935038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8730" name="Rectangle 138"/>
          <p:cNvSpPr>
            <a:spLocks noChangeArrowheads="1"/>
          </p:cNvSpPr>
          <p:nvPr/>
        </p:nvSpPr>
        <p:spPr bwMode="auto">
          <a:xfrm>
            <a:off x="5478462" y="5033967"/>
            <a:ext cx="93503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8720" name="Rectangle 128"/>
          <p:cNvSpPr>
            <a:spLocks noChangeArrowheads="1"/>
          </p:cNvSpPr>
          <p:nvPr/>
        </p:nvSpPr>
        <p:spPr bwMode="auto">
          <a:xfrm>
            <a:off x="5478462" y="4578350"/>
            <a:ext cx="935038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8710" name="Rectangle 118"/>
          <p:cNvSpPr>
            <a:spLocks noChangeArrowheads="1"/>
          </p:cNvSpPr>
          <p:nvPr/>
        </p:nvSpPr>
        <p:spPr bwMode="auto">
          <a:xfrm>
            <a:off x="5478462" y="4122742"/>
            <a:ext cx="93503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8700" name="Rectangle 108"/>
          <p:cNvSpPr>
            <a:spLocks noChangeArrowheads="1"/>
          </p:cNvSpPr>
          <p:nvPr/>
        </p:nvSpPr>
        <p:spPr bwMode="auto">
          <a:xfrm>
            <a:off x="5478462" y="3667125"/>
            <a:ext cx="935038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8690" name="Rectangle 98"/>
          <p:cNvSpPr>
            <a:spLocks noChangeArrowheads="1"/>
          </p:cNvSpPr>
          <p:nvPr/>
        </p:nvSpPr>
        <p:spPr bwMode="auto">
          <a:xfrm>
            <a:off x="5478462" y="3211517"/>
            <a:ext cx="93503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2" name="Group 600"/>
          <p:cNvGrpSpPr>
            <a:grpSpLocks/>
          </p:cNvGrpSpPr>
          <p:nvPr/>
        </p:nvGrpSpPr>
        <p:grpSpPr bwMode="auto">
          <a:xfrm>
            <a:off x="6413505" y="2755900"/>
            <a:ext cx="936625" cy="3644900"/>
            <a:chOff x="2971" y="1759"/>
            <a:chExt cx="590" cy="2296"/>
          </a:xfrm>
        </p:grpSpPr>
        <p:sp>
          <p:nvSpPr>
            <p:cNvPr id="41063" name="Rectangle 159"/>
            <p:cNvSpPr>
              <a:spLocks noChangeArrowheads="1"/>
            </p:cNvSpPr>
            <p:nvPr/>
          </p:nvSpPr>
          <p:spPr bwMode="auto">
            <a:xfrm>
              <a:off x="2971" y="3768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064" name="Rectangle 149"/>
            <p:cNvSpPr>
              <a:spLocks noChangeArrowheads="1"/>
            </p:cNvSpPr>
            <p:nvPr/>
          </p:nvSpPr>
          <p:spPr bwMode="auto">
            <a:xfrm>
              <a:off x="2971" y="3481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065" name="Rectangle 139"/>
            <p:cNvSpPr>
              <a:spLocks noChangeArrowheads="1"/>
            </p:cNvSpPr>
            <p:nvPr/>
          </p:nvSpPr>
          <p:spPr bwMode="auto">
            <a:xfrm>
              <a:off x="2971" y="3194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1066" name="Rectangle 129"/>
            <p:cNvSpPr>
              <a:spLocks noChangeArrowheads="1"/>
            </p:cNvSpPr>
            <p:nvPr/>
          </p:nvSpPr>
          <p:spPr bwMode="auto">
            <a:xfrm>
              <a:off x="2971" y="2907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067" name="Rectangle 119"/>
            <p:cNvSpPr>
              <a:spLocks noChangeArrowheads="1"/>
            </p:cNvSpPr>
            <p:nvPr/>
          </p:nvSpPr>
          <p:spPr bwMode="auto">
            <a:xfrm>
              <a:off x="2971" y="2620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068" name="Rectangle 109"/>
            <p:cNvSpPr>
              <a:spLocks noChangeArrowheads="1"/>
            </p:cNvSpPr>
            <p:nvPr/>
          </p:nvSpPr>
          <p:spPr bwMode="auto">
            <a:xfrm>
              <a:off x="2971" y="2333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069" name="Rectangle 99"/>
            <p:cNvSpPr>
              <a:spLocks noChangeArrowheads="1"/>
            </p:cNvSpPr>
            <p:nvPr/>
          </p:nvSpPr>
          <p:spPr bwMode="auto">
            <a:xfrm>
              <a:off x="2971" y="2046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1070" name="Rectangle 89"/>
            <p:cNvSpPr>
              <a:spLocks noChangeArrowheads="1"/>
            </p:cNvSpPr>
            <p:nvPr/>
          </p:nvSpPr>
          <p:spPr bwMode="auto">
            <a:xfrm>
              <a:off x="2971" y="1759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>
                  <a:solidFill>
                    <a:srgbClr val="FF0000"/>
                  </a:solidFill>
                </a:rPr>
                <a:t>0</a:t>
              </a:r>
            </a:p>
          </p:txBody>
        </p:sp>
      </p:grpSp>
      <p:sp>
        <p:nvSpPr>
          <p:cNvPr id="238680" name="Rectangle 88"/>
          <p:cNvSpPr>
            <a:spLocks noChangeArrowheads="1"/>
          </p:cNvSpPr>
          <p:nvPr/>
        </p:nvSpPr>
        <p:spPr bwMode="auto">
          <a:xfrm>
            <a:off x="5478462" y="2755900"/>
            <a:ext cx="935038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3" name="Group 599"/>
          <p:cNvGrpSpPr>
            <a:grpSpLocks/>
          </p:cNvGrpSpPr>
          <p:nvPr/>
        </p:nvGrpSpPr>
        <p:grpSpPr bwMode="auto">
          <a:xfrm>
            <a:off x="7350130" y="2755900"/>
            <a:ext cx="2555875" cy="3644900"/>
            <a:chOff x="3561" y="1759"/>
            <a:chExt cx="1610" cy="2296"/>
          </a:xfrm>
        </p:grpSpPr>
        <p:sp>
          <p:nvSpPr>
            <p:cNvPr id="41030" name="Rectangle 163"/>
            <p:cNvSpPr>
              <a:spLocks noChangeArrowheads="1"/>
            </p:cNvSpPr>
            <p:nvPr/>
          </p:nvSpPr>
          <p:spPr bwMode="auto">
            <a:xfrm>
              <a:off x="4786" y="3768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31" name="Rectangle 162"/>
            <p:cNvSpPr>
              <a:spLocks noChangeArrowheads="1"/>
            </p:cNvSpPr>
            <p:nvPr/>
          </p:nvSpPr>
          <p:spPr bwMode="auto">
            <a:xfrm>
              <a:off x="4378" y="3768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32" name="Rectangle 161"/>
            <p:cNvSpPr>
              <a:spLocks noChangeArrowheads="1"/>
            </p:cNvSpPr>
            <p:nvPr/>
          </p:nvSpPr>
          <p:spPr bwMode="auto">
            <a:xfrm>
              <a:off x="3969" y="3768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33" name="Rectangle 153"/>
            <p:cNvSpPr>
              <a:spLocks noChangeArrowheads="1"/>
            </p:cNvSpPr>
            <p:nvPr/>
          </p:nvSpPr>
          <p:spPr bwMode="auto">
            <a:xfrm>
              <a:off x="4786" y="3481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34" name="Rectangle 152"/>
            <p:cNvSpPr>
              <a:spLocks noChangeArrowheads="1"/>
            </p:cNvSpPr>
            <p:nvPr/>
          </p:nvSpPr>
          <p:spPr bwMode="auto">
            <a:xfrm>
              <a:off x="4378" y="3481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35" name="Rectangle 151"/>
            <p:cNvSpPr>
              <a:spLocks noChangeArrowheads="1"/>
            </p:cNvSpPr>
            <p:nvPr/>
          </p:nvSpPr>
          <p:spPr bwMode="auto">
            <a:xfrm>
              <a:off x="3969" y="3481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36" name="Rectangle 143"/>
            <p:cNvSpPr>
              <a:spLocks noChangeArrowheads="1"/>
            </p:cNvSpPr>
            <p:nvPr/>
          </p:nvSpPr>
          <p:spPr bwMode="auto">
            <a:xfrm>
              <a:off x="4786" y="3194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37" name="Rectangle 142"/>
            <p:cNvSpPr>
              <a:spLocks noChangeArrowheads="1"/>
            </p:cNvSpPr>
            <p:nvPr/>
          </p:nvSpPr>
          <p:spPr bwMode="auto">
            <a:xfrm>
              <a:off x="4378" y="3194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38" name="Rectangle 141"/>
            <p:cNvSpPr>
              <a:spLocks noChangeArrowheads="1"/>
            </p:cNvSpPr>
            <p:nvPr/>
          </p:nvSpPr>
          <p:spPr bwMode="auto">
            <a:xfrm>
              <a:off x="3969" y="3194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39" name="Rectangle 133"/>
            <p:cNvSpPr>
              <a:spLocks noChangeArrowheads="1"/>
            </p:cNvSpPr>
            <p:nvPr/>
          </p:nvSpPr>
          <p:spPr bwMode="auto">
            <a:xfrm>
              <a:off x="4786" y="2907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40" name="Rectangle 132"/>
            <p:cNvSpPr>
              <a:spLocks noChangeArrowheads="1"/>
            </p:cNvSpPr>
            <p:nvPr/>
          </p:nvSpPr>
          <p:spPr bwMode="auto">
            <a:xfrm>
              <a:off x="4378" y="2907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41" name="Rectangle 131"/>
            <p:cNvSpPr>
              <a:spLocks noChangeArrowheads="1"/>
            </p:cNvSpPr>
            <p:nvPr/>
          </p:nvSpPr>
          <p:spPr bwMode="auto">
            <a:xfrm>
              <a:off x="3969" y="2907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42" name="Rectangle 123"/>
            <p:cNvSpPr>
              <a:spLocks noChangeArrowheads="1"/>
            </p:cNvSpPr>
            <p:nvPr/>
          </p:nvSpPr>
          <p:spPr bwMode="auto">
            <a:xfrm>
              <a:off x="4786" y="2620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43" name="Rectangle 122"/>
            <p:cNvSpPr>
              <a:spLocks noChangeArrowheads="1"/>
            </p:cNvSpPr>
            <p:nvPr/>
          </p:nvSpPr>
          <p:spPr bwMode="auto">
            <a:xfrm>
              <a:off x="4378" y="2620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44" name="Rectangle 121"/>
            <p:cNvSpPr>
              <a:spLocks noChangeArrowheads="1"/>
            </p:cNvSpPr>
            <p:nvPr/>
          </p:nvSpPr>
          <p:spPr bwMode="auto">
            <a:xfrm>
              <a:off x="3969" y="2620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45" name="Rectangle 113"/>
            <p:cNvSpPr>
              <a:spLocks noChangeArrowheads="1"/>
            </p:cNvSpPr>
            <p:nvPr/>
          </p:nvSpPr>
          <p:spPr bwMode="auto">
            <a:xfrm>
              <a:off x="4786" y="2333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46" name="Rectangle 112"/>
            <p:cNvSpPr>
              <a:spLocks noChangeArrowheads="1"/>
            </p:cNvSpPr>
            <p:nvPr/>
          </p:nvSpPr>
          <p:spPr bwMode="auto">
            <a:xfrm>
              <a:off x="4378" y="2333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47" name="Rectangle 111"/>
            <p:cNvSpPr>
              <a:spLocks noChangeArrowheads="1"/>
            </p:cNvSpPr>
            <p:nvPr/>
          </p:nvSpPr>
          <p:spPr bwMode="auto">
            <a:xfrm>
              <a:off x="3969" y="2333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48" name="Rectangle 103"/>
            <p:cNvSpPr>
              <a:spLocks noChangeArrowheads="1"/>
            </p:cNvSpPr>
            <p:nvPr/>
          </p:nvSpPr>
          <p:spPr bwMode="auto">
            <a:xfrm>
              <a:off x="4786" y="2046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49" name="Rectangle 102"/>
            <p:cNvSpPr>
              <a:spLocks noChangeArrowheads="1"/>
            </p:cNvSpPr>
            <p:nvPr/>
          </p:nvSpPr>
          <p:spPr bwMode="auto">
            <a:xfrm>
              <a:off x="4378" y="2046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50" name="Rectangle 101"/>
            <p:cNvSpPr>
              <a:spLocks noChangeArrowheads="1"/>
            </p:cNvSpPr>
            <p:nvPr/>
          </p:nvSpPr>
          <p:spPr bwMode="auto">
            <a:xfrm>
              <a:off x="3969" y="2046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51" name="Rectangle 93"/>
            <p:cNvSpPr>
              <a:spLocks noChangeArrowheads="1"/>
            </p:cNvSpPr>
            <p:nvPr/>
          </p:nvSpPr>
          <p:spPr bwMode="auto">
            <a:xfrm>
              <a:off x="4786" y="1759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52" name="Rectangle 92"/>
            <p:cNvSpPr>
              <a:spLocks noChangeArrowheads="1"/>
            </p:cNvSpPr>
            <p:nvPr/>
          </p:nvSpPr>
          <p:spPr bwMode="auto">
            <a:xfrm>
              <a:off x="4378" y="1759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53" name="Rectangle 91"/>
            <p:cNvSpPr>
              <a:spLocks noChangeArrowheads="1"/>
            </p:cNvSpPr>
            <p:nvPr/>
          </p:nvSpPr>
          <p:spPr bwMode="auto">
            <a:xfrm>
              <a:off x="3969" y="1759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grpSp>
          <p:nvGrpSpPr>
            <p:cNvPr id="41054" name="Group 598"/>
            <p:cNvGrpSpPr>
              <a:grpSpLocks/>
            </p:cNvGrpSpPr>
            <p:nvPr/>
          </p:nvGrpSpPr>
          <p:grpSpPr bwMode="auto">
            <a:xfrm>
              <a:off x="3561" y="1759"/>
              <a:ext cx="408" cy="2296"/>
              <a:chOff x="3561" y="1759"/>
              <a:chExt cx="408" cy="2296"/>
            </a:xfrm>
          </p:grpSpPr>
          <p:sp>
            <p:nvSpPr>
              <p:cNvPr id="41055" name="Rectangle 160"/>
              <p:cNvSpPr>
                <a:spLocks noChangeArrowheads="1"/>
              </p:cNvSpPr>
              <p:nvPr/>
            </p:nvSpPr>
            <p:spPr bwMode="auto">
              <a:xfrm>
                <a:off x="3561" y="3768"/>
                <a:ext cx="408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41056" name="Rectangle 150"/>
              <p:cNvSpPr>
                <a:spLocks noChangeArrowheads="1"/>
              </p:cNvSpPr>
              <p:nvPr/>
            </p:nvSpPr>
            <p:spPr bwMode="auto">
              <a:xfrm>
                <a:off x="3561" y="3481"/>
                <a:ext cx="408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41057" name="Rectangle 140"/>
              <p:cNvSpPr>
                <a:spLocks noChangeArrowheads="1"/>
              </p:cNvSpPr>
              <p:nvPr/>
            </p:nvSpPr>
            <p:spPr bwMode="auto">
              <a:xfrm>
                <a:off x="3561" y="3194"/>
                <a:ext cx="408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41058" name="Rectangle 130"/>
              <p:cNvSpPr>
                <a:spLocks noChangeArrowheads="1"/>
              </p:cNvSpPr>
              <p:nvPr/>
            </p:nvSpPr>
            <p:spPr bwMode="auto">
              <a:xfrm>
                <a:off x="3561" y="2907"/>
                <a:ext cx="408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41059" name="Rectangle 120"/>
              <p:cNvSpPr>
                <a:spLocks noChangeArrowheads="1"/>
              </p:cNvSpPr>
              <p:nvPr/>
            </p:nvSpPr>
            <p:spPr bwMode="auto">
              <a:xfrm>
                <a:off x="3561" y="2620"/>
                <a:ext cx="408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1</a:t>
                </a:r>
              </a:p>
            </p:txBody>
          </p:sp>
          <p:sp>
            <p:nvSpPr>
              <p:cNvPr id="41060" name="Rectangle 110"/>
              <p:cNvSpPr>
                <a:spLocks noChangeArrowheads="1"/>
              </p:cNvSpPr>
              <p:nvPr/>
            </p:nvSpPr>
            <p:spPr bwMode="auto">
              <a:xfrm>
                <a:off x="3561" y="2333"/>
                <a:ext cx="408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41061" name="Rectangle 100"/>
              <p:cNvSpPr>
                <a:spLocks noChangeArrowheads="1"/>
              </p:cNvSpPr>
              <p:nvPr/>
            </p:nvSpPr>
            <p:spPr bwMode="auto">
              <a:xfrm>
                <a:off x="3561" y="2046"/>
                <a:ext cx="408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  <p:sp>
            <p:nvSpPr>
              <p:cNvPr id="41062" name="Rectangle 90"/>
              <p:cNvSpPr>
                <a:spLocks noChangeArrowheads="1"/>
              </p:cNvSpPr>
              <p:nvPr/>
            </p:nvSpPr>
            <p:spPr bwMode="auto">
              <a:xfrm>
                <a:off x="3561" y="1759"/>
                <a:ext cx="408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0</a:t>
                </a:r>
              </a:p>
            </p:txBody>
          </p:sp>
        </p:grpSp>
      </p:grpSp>
      <p:grpSp>
        <p:nvGrpSpPr>
          <p:cNvPr id="5" name="Group 596"/>
          <p:cNvGrpSpPr>
            <a:grpSpLocks/>
          </p:cNvGrpSpPr>
          <p:nvPr/>
        </p:nvGrpSpPr>
        <p:grpSpPr bwMode="auto">
          <a:xfrm>
            <a:off x="1998662" y="2755900"/>
            <a:ext cx="3479800" cy="3644900"/>
            <a:chOff x="190" y="1759"/>
            <a:chExt cx="2192" cy="2296"/>
          </a:xfrm>
        </p:grpSpPr>
        <p:sp>
          <p:nvSpPr>
            <p:cNvPr id="41006" name="Rectangle 157"/>
            <p:cNvSpPr>
              <a:spLocks noChangeArrowheads="1"/>
            </p:cNvSpPr>
            <p:nvPr/>
          </p:nvSpPr>
          <p:spPr bwMode="auto">
            <a:xfrm>
              <a:off x="1769" y="3768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07" name="Rectangle 156"/>
            <p:cNvSpPr>
              <a:spLocks noChangeArrowheads="1"/>
            </p:cNvSpPr>
            <p:nvPr/>
          </p:nvSpPr>
          <p:spPr bwMode="auto">
            <a:xfrm>
              <a:off x="998" y="3768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08" name="Rectangle 155"/>
            <p:cNvSpPr>
              <a:spLocks noChangeArrowheads="1"/>
            </p:cNvSpPr>
            <p:nvPr/>
          </p:nvSpPr>
          <p:spPr bwMode="auto">
            <a:xfrm>
              <a:off x="190" y="3768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09" name="Rectangle 147"/>
            <p:cNvSpPr>
              <a:spLocks noChangeArrowheads="1"/>
            </p:cNvSpPr>
            <p:nvPr/>
          </p:nvSpPr>
          <p:spPr bwMode="auto">
            <a:xfrm>
              <a:off x="1769" y="3481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10" name="Rectangle 146"/>
            <p:cNvSpPr>
              <a:spLocks noChangeArrowheads="1"/>
            </p:cNvSpPr>
            <p:nvPr/>
          </p:nvSpPr>
          <p:spPr bwMode="auto">
            <a:xfrm>
              <a:off x="998" y="3481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11" name="Rectangle 145"/>
            <p:cNvSpPr>
              <a:spLocks noChangeArrowheads="1"/>
            </p:cNvSpPr>
            <p:nvPr/>
          </p:nvSpPr>
          <p:spPr bwMode="auto">
            <a:xfrm>
              <a:off x="190" y="3481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12" name="Rectangle 137"/>
            <p:cNvSpPr>
              <a:spLocks noChangeArrowheads="1"/>
            </p:cNvSpPr>
            <p:nvPr/>
          </p:nvSpPr>
          <p:spPr bwMode="auto">
            <a:xfrm>
              <a:off x="1769" y="3194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13" name="Rectangle 136"/>
            <p:cNvSpPr>
              <a:spLocks noChangeArrowheads="1"/>
            </p:cNvSpPr>
            <p:nvPr/>
          </p:nvSpPr>
          <p:spPr bwMode="auto">
            <a:xfrm>
              <a:off x="998" y="3194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14" name="Rectangle 135"/>
            <p:cNvSpPr>
              <a:spLocks noChangeArrowheads="1"/>
            </p:cNvSpPr>
            <p:nvPr/>
          </p:nvSpPr>
          <p:spPr bwMode="auto">
            <a:xfrm>
              <a:off x="190" y="3194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15" name="Rectangle 127"/>
            <p:cNvSpPr>
              <a:spLocks noChangeArrowheads="1"/>
            </p:cNvSpPr>
            <p:nvPr/>
          </p:nvSpPr>
          <p:spPr bwMode="auto">
            <a:xfrm>
              <a:off x="1769" y="2907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16" name="Rectangle 126"/>
            <p:cNvSpPr>
              <a:spLocks noChangeArrowheads="1"/>
            </p:cNvSpPr>
            <p:nvPr/>
          </p:nvSpPr>
          <p:spPr bwMode="auto">
            <a:xfrm>
              <a:off x="998" y="2907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17" name="Rectangle 125"/>
            <p:cNvSpPr>
              <a:spLocks noChangeArrowheads="1"/>
            </p:cNvSpPr>
            <p:nvPr/>
          </p:nvSpPr>
          <p:spPr bwMode="auto">
            <a:xfrm>
              <a:off x="190" y="2907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18" name="Rectangle 117"/>
            <p:cNvSpPr>
              <a:spLocks noChangeArrowheads="1"/>
            </p:cNvSpPr>
            <p:nvPr/>
          </p:nvSpPr>
          <p:spPr bwMode="auto">
            <a:xfrm>
              <a:off x="1769" y="2620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19" name="Rectangle 116"/>
            <p:cNvSpPr>
              <a:spLocks noChangeArrowheads="1"/>
            </p:cNvSpPr>
            <p:nvPr/>
          </p:nvSpPr>
          <p:spPr bwMode="auto">
            <a:xfrm>
              <a:off x="998" y="2620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20" name="Rectangle 115"/>
            <p:cNvSpPr>
              <a:spLocks noChangeArrowheads="1"/>
            </p:cNvSpPr>
            <p:nvPr/>
          </p:nvSpPr>
          <p:spPr bwMode="auto">
            <a:xfrm>
              <a:off x="190" y="2620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21" name="Rectangle 107"/>
            <p:cNvSpPr>
              <a:spLocks noChangeArrowheads="1"/>
            </p:cNvSpPr>
            <p:nvPr/>
          </p:nvSpPr>
          <p:spPr bwMode="auto">
            <a:xfrm>
              <a:off x="1769" y="2333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22" name="Rectangle 106"/>
            <p:cNvSpPr>
              <a:spLocks noChangeArrowheads="1"/>
            </p:cNvSpPr>
            <p:nvPr/>
          </p:nvSpPr>
          <p:spPr bwMode="auto">
            <a:xfrm>
              <a:off x="998" y="2333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23" name="Rectangle 105"/>
            <p:cNvSpPr>
              <a:spLocks noChangeArrowheads="1"/>
            </p:cNvSpPr>
            <p:nvPr/>
          </p:nvSpPr>
          <p:spPr bwMode="auto">
            <a:xfrm>
              <a:off x="190" y="2333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24" name="Rectangle 97"/>
            <p:cNvSpPr>
              <a:spLocks noChangeArrowheads="1"/>
            </p:cNvSpPr>
            <p:nvPr/>
          </p:nvSpPr>
          <p:spPr bwMode="auto">
            <a:xfrm>
              <a:off x="1769" y="2046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41025" name="Rectangle 96"/>
            <p:cNvSpPr>
              <a:spLocks noChangeArrowheads="1"/>
            </p:cNvSpPr>
            <p:nvPr/>
          </p:nvSpPr>
          <p:spPr bwMode="auto">
            <a:xfrm>
              <a:off x="998" y="2046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26" name="Rectangle 95"/>
            <p:cNvSpPr>
              <a:spLocks noChangeArrowheads="1"/>
            </p:cNvSpPr>
            <p:nvPr/>
          </p:nvSpPr>
          <p:spPr bwMode="auto">
            <a:xfrm>
              <a:off x="190" y="2046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27" name="Rectangle 87"/>
            <p:cNvSpPr>
              <a:spLocks noChangeArrowheads="1"/>
            </p:cNvSpPr>
            <p:nvPr/>
          </p:nvSpPr>
          <p:spPr bwMode="auto">
            <a:xfrm>
              <a:off x="1769" y="1759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28" name="Rectangle 86"/>
            <p:cNvSpPr>
              <a:spLocks noChangeArrowheads="1"/>
            </p:cNvSpPr>
            <p:nvPr/>
          </p:nvSpPr>
          <p:spPr bwMode="auto">
            <a:xfrm>
              <a:off x="998" y="1759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41029" name="Rectangle 85"/>
            <p:cNvSpPr>
              <a:spLocks noChangeArrowheads="1"/>
            </p:cNvSpPr>
            <p:nvPr/>
          </p:nvSpPr>
          <p:spPr bwMode="auto">
            <a:xfrm>
              <a:off x="190" y="1759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0</a:t>
              </a:r>
            </a:p>
          </p:txBody>
        </p:sp>
      </p:grpSp>
      <p:grpSp>
        <p:nvGrpSpPr>
          <p:cNvPr id="6" name="Group 595"/>
          <p:cNvGrpSpPr>
            <a:grpSpLocks/>
          </p:cNvGrpSpPr>
          <p:nvPr/>
        </p:nvGrpSpPr>
        <p:grpSpPr bwMode="auto">
          <a:xfrm>
            <a:off x="1998662" y="1844680"/>
            <a:ext cx="7907338" cy="4556125"/>
            <a:chOff x="190" y="1185"/>
            <a:chExt cx="4981" cy="2870"/>
          </a:xfrm>
        </p:grpSpPr>
        <p:sp>
          <p:nvSpPr>
            <p:cNvPr id="40977" name="Rectangle 83"/>
            <p:cNvSpPr>
              <a:spLocks noChangeArrowheads="1"/>
            </p:cNvSpPr>
            <p:nvPr/>
          </p:nvSpPr>
          <p:spPr bwMode="auto">
            <a:xfrm>
              <a:off x="4786" y="1472"/>
              <a:ext cx="38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K</a:t>
              </a:r>
              <a:r>
                <a:rPr lang="en-US" baseline="-25000"/>
                <a:t>B</a:t>
              </a:r>
              <a:endParaRPr lang="en-US"/>
            </a:p>
          </p:txBody>
        </p:sp>
        <p:sp>
          <p:nvSpPr>
            <p:cNvPr id="40978" name="Rectangle 82"/>
            <p:cNvSpPr>
              <a:spLocks noChangeArrowheads="1"/>
            </p:cNvSpPr>
            <p:nvPr/>
          </p:nvSpPr>
          <p:spPr bwMode="auto">
            <a:xfrm>
              <a:off x="4378" y="1472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J</a:t>
              </a:r>
              <a:r>
                <a:rPr lang="en-US" baseline="-25000"/>
                <a:t>B</a:t>
              </a:r>
              <a:endParaRPr lang="en-US"/>
            </a:p>
          </p:txBody>
        </p:sp>
        <p:sp>
          <p:nvSpPr>
            <p:cNvPr id="40979" name="Rectangle 81"/>
            <p:cNvSpPr>
              <a:spLocks noChangeArrowheads="1"/>
            </p:cNvSpPr>
            <p:nvPr/>
          </p:nvSpPr>
          <p:spPr bwMode="auto">
            <a:xfrm>
              <a:off x="3969" y="1472"/>
              <a:ext cx="40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K</a:t>
              </a:r>
              <a:r>
                <a:rPr lang="en-US" baseline="-25000"/>
                <a:t>A</a:t>
              </a:r>
              <a:endParaRPr lang="en-US"/>
            </a:p>
          </p:txBody>
        </p:sp>
        <p:sp>
          <p:nvSpPr>
            <p:cNvPr id="40980" name="Rectangle 80"/>
            <p:cNvSpPr>
              <a:spLocks noChangeArrowheads="1"/>
            </p:cNvSpPr>
            <p:nvPr/>
          </p:nvSpPr>
          <p:spPr bwMode="auto">
            <a:xfrm>
              <a:off x="3561" y="1472"/>
              <a:ext cx="4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J</a:t>
              </a:r>
              <a:r>
                <a:rPr lang="en-US" baseline="-25000"/>
                <a:t>A</a:t>
              </a:r>
            </a:p>
          </p:txBody>
        </p:sp>
        <p:sp>
          <p:nvSpPr>
            <p:cNvPr id="40981" name="Rectangle 79"/>
            <p:cNvSpPr>
              <a:spLocks noChangeArrowheads="1"/>
            </p:cNvSpPr>
            <p:nvPr/>
          </p:nvSpPr>
          <p:spPr bwMode="auto">
            <a:xfrm>
              <a:off x="2971" y="1472"/>
              <a:ext cx="59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B</a:t>
              </a:r>
            </a:p>
          </p:txBody>
        </p:sp>
        <p:sp>
          <p:nvSpPr>
            <p:cNvPr id="40982" name="Rectangle 78"/>
            <p:cNvSpPr>
              <a:spLocks noChangeArrowheads="1"/>
            </p:cNvSpPr>
            <p:nvPr/>
          </p:nvSpPr>
          <p:spPr bwMode="auto">
            <a:xfrm>
              <a:off x="2382" y="1472"/>
              <a:ext cx="58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A</a:t>
              </a:r>
            </a:p>
          </p:txBody>
        </p:sp>
        <p:sp>
          <p:nvSpPr>
            <p:cNvPr id="40983" name="Rectangle 77"/>
            <p:cNvSpPr>
              <a:spLocks noChangeArrowheads="1"/>
            </p:cNvSpPr>
            <p:nvPr/>
          </p:nvSpPr>
          <p:spPr bwMode="auto">
            <a:xfrm>
              <a:off x="1769" y="1472"/>
              <a:ext cx="613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x</a:t>
              </a:r>
            </a:p>
          </p:txBody>
        </p:sp>
        <p:sp>
          <p:nvSpPr>
            <p:cNvPr id="40984" name="Rectangle 76"/>
            <p:cNvSpPr>
              <a:spLocks noChangeArrowheads="1"/>
            </p:cNvSpPr>
            <p:nvPr/>
          </p:nvSpPr>
          <p:spPr bwMode="auto">
            <a:xfrm>
              <a:off x="998" y="1472"/>
              <a:ext cx="771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B</a:t>
              </a:r>
            </a:p>
          </p:txBody>
        </p:sp>
        <p:sp>
          <p:nvSpPr>
            <p:cNvPr id="40985" name="Rectangle 75"/>
            <p:cNvSpPr>
              <a:spLocks noChangeArrowheads="1"/>
            </p:cNvSpPr>
            <p:nvPr/>
          </p:nvSpPr>
          <p:spPr bwMode="auto">
            <a:xfrm>
              <a:off x="190" y="1472"/>
              <a:ext cx="80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/>
                <a:t>A</a:t>
              </a:r>
            </a:p>
          </p:txBody>
        </p:sp>
        <p:grpSp>
          <p:nvGrpSpPr>
            <p:cNvPr id="40986" name="Group 594"/>
            <p:cNvGrpSpPr>
              <a:grpSpLocks/>
            </p:cNvGrpSpPr>
            <p:nvPr/>
          </p:nvGrpSpPr>
          <p:grpSpPr bwMode="auto">
            <a:xfrm>
              <a:off x="190" y="1185"/>
              <a:ext cx="4981" cy="2870"/>
              <a:chOff x="190" y="1185"/>
              <a:chExt cx="4981" cy="2870"/>
            </a:xfrm>
          </p:grpSpPr>
          <p:sp>
            <p:nvSpPr>
              <p:cNvPr id="40987" name="Rectangle 70"/>
              <p:cNvSpPr>
                <a:spLocks noChangeArrowheads="1"/>
              </p:cNvSpPr>
              <p:nvPr/>
            </p:nvSpPr>
            <p:spPr bwMode="auto">
              <a:xfrm>
                <a:off x="3561" y="1185"/>
                <a:ext cx="1610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FF inputs</a:t>
                </a:r>
              </a:p>
            </p:txBody>
          </p:sp>
          <p:sp>
            <p:nvSpPr>
              <p:cNvPr id="40988" name="Rectangle 68"/>
              <p:cNvSpPr>
                <a:spLocks noChangeArrowheads="1"/>
              </p:cNvSpPr>
              <p:nvPr/>
            </p:nvSpPr>
            <p:spPr bwMode="auto">
              <a:xfrm>
                <a:off x="2382" y="1185"/>
                <a:ext cx="1179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next state</a:t>
                </a:r>
              </a:p>
            </p:txBody>
          </p:sp>
          <p:sp>
            <p:nvSpPr>
              <p:cNvPr id="40989" name="Rectangle 67"/>
              <p:cNvSpPr>
                <a:spLocks noChangeArrowheads="1"/>
              </p:cNvSpPr>
              <p:nvPr/>
            </p:nvSpPr>
            <p:spPr bwMode="auto">
              <a:xfrm>
                <a:off x="1769" y="1185"/>
                <a:ext cx="613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input</a:t>
                </a:r>
              </a:p>
            </p:txBody>
          </p:sp>
          <p:sp>
            <p:nvSpPr>
              <p:cNvPr id="40990" name="Rectangle 65"/>
              <p:cNvSpPr>
                <a:spLocks noChangeArrowheads="1"/>
              </p:cNvSpPr>
              <p:nvPr/>
            </p:nvSpPr>
            <p:spPr bwMode="auto">
              <a:xfrm>
                <a:off x="190" y="1185"/>
                <a:ext cx="1579" cy="2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</a:pPr>
                <a:r>
                  <a:rPr lang="en-US"/>
                  <a:t>present State</a:t>
                </a:r>
              </a:p>
            </p:txBody>
          </p:sp>
          <p:sp>
            <p:nvSpPr>
              <p:cNvPr id="40991" name="Line 165"/>
              <p:cNvSpPr>
                <a:spLocks noChangeShapeType="1"/>
              </p:cNvSpPr>
              <p:nvPr/>
            </p:nvSpPr>
            <p:spPr bwMode="auto">
              <a:xfrm>
                <a:off x="190" y="1198"/>
                <a:ext cx="49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2" name="Line 167"/>
              <p:cNvSpPr>
                <a:spLocks noChangeShapeType="1"/>
              </p:cNvSpPr>
              <p:nvPr/>
            </p:nvSpPr>
            <p:spPr bwMode="auto">
              <a:xfrm>
                <a:off x="190" y="1759"/>
                <a:ext cx="4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3" name="Line 168"/>
              <p:cNvSpPr>
                <a:spLocks noChangeShapeType="1"/>
              </p:cNvSpPr>
              <p:nvPr/>
            </p:nvSpPr>
            <p:spPr bwMode="auto">
              <a:xfrm>
                <a:off x="190" y="2046"/>
                <a:ext cx="4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4" name="Line 169"/>
              <p:cNvSpPr>
                <a:spLocks noChangeShapeType="1"/>
              </p:cNvSpPr>
              <p:nvPr/>
            </p:nvSpPr>
            <p:spPr bwMode="auto">
              <a:xfrm>
                <a:off x="190" y="2333"/>
                <a:ext cx="4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5" name="Line 170"/>
              <p:cNvSpPr>
                <a:spLocks noChangeShapeType="1"/>
              </p:cNvSpPr>
              <p:nvPr/>
            </p:nvSpPr>
            <p:spPr bwMode="auto">
              <a:xfrm>
                <a:off x="190" y="2620"/>
                <a:ext cx="4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6" name="Line 171"/>
              <p:cNvSpPr>
                <a:spLocks noChangeShapeType="1"/>
              </p:cNvSpPr>
              <p:nvPr/>
            </p:nvSpPr>
            <p:spPr bwMode="auto">
              <a:xfrm>
                <a:off x="190" y="2907"/>
                <a:ext cx="4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7" name="Line 172"/>
              <p:cNvSpPr>
                <a:spLocks noChangeShapeType="1"/>
              </p:cNvSpPr>
              <p:nvPr/>
            </p:nvSpPr>
            <p:spPr bwMode="auto">
              <a:xfrm>
                <a:off x="190" y="3194"/>
                <a:ext cx="4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8" name="Line 173"/>
              <p:cNvSpPr>
                <a:spLocks noChangeShapeType="1"/>
              </p:cNvSpPr>
              <p:nvPr/>
            </p:nvSpPr>
            <p:spPr bwMode="auto">
              <a:xfrm>
                <a:off x="190" y="3481"/>
                <a:ext cx="4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99" name="Line 174"/>
              <p:cNvSpPr>
                <a:spLocks noChangeShapeType="1"/>
              </p:cNvSpPr>
              <p:nvPr/>
            </p:nvSpPr>
            <p:spPr bwMode="auto">
              <a:xfrm>
                <a:off x="190" y="3768"/>
                <a:ext cx="498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0" name="Line 176"/>
              <p:cNvSpPr>
                <a:spLocks noChangeShapeType="1"/>
              </p:cNvSpPr>
              <p:nvPr/>
            </p:nvSpPr>
            <p:spPr bwMode="auto">
              <a:xfrm>
                <a:off x="190" y="1185"/>
                <a:ext cx="0" cy="28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1" name="Line 179"/>
              <p:cNvSpPr>
                <a:spLocks noChangeShapeType="1"/>
              </p:cNvSpPr>
              <p:nvPr/>
            </p:nvSpPr>
            <p:spPr bwMode="auto">
              <a:xfrm>
                <a:off x="2382" y="1185"/>
                <a:ext cx="0" cy="287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2" name="Line 181"/>
              <p:cNvSpPr>
                <a:spLocks noChangeShapeType="1"/>
              </p:cNvSpPr>
              <p:nvPr/>
            </p:nvSpPr>
            <p:spPr bwMode="auto">
              <a:xfrm>
                <a:off x="3561" y="1185"/>
                <a:ext cx="0" cy="28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3" name="Line 186"/>
              <p:cNvSpPr>
                <a:spLocks noChangeShapeType="1"/>
              </p:cNvSpPr>
              <p:nvPr/>
            </p:nvSpPr>
            <p:spPr bwMode="auto">
              <a:xfrm>
                <a:off x="5171" y="1185"/>
                <a:ext cx="0" cy="28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4" name="Line 257"/>
              <p:cNvSpPr>
                <a:spLocks noChangeShapeType="1"/>
              </p:cNvSpPr>
              <p:nvPr/>
            </p:nvSpPr>
            <p:spPr bwMode="auto">
              <a:xfrm>
                <a:off x="1769" y="1185"/>
                <a:ext cx="0" cy="28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5" name="Line 175"/>
              <p:cNvSpPr>
                <a:spLocks noChangeShapeType="1"/>
              </p:cNvSpPr>
              <p:nvPr/>
            </p:nvSpPr>
            <p:spPr bwMode="auto">
              <a:xfrm>
                <a:off x="190" y="4055"/>
                <a:ext cx="498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097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750" grpId="0"/>
      <p:bldP spid="238740" grpId="0"/>
      <p:bldP spid="238730" grpId="0"/>
      <p:bldP spid="238720" grpId="0"/>
      <p:bldP spid="238710" grpId="0"/>
      <p:bldP spid="238700" grpId="0"/>
      <p:bldP spid="238690" grpId="0"/>
      <p:bldP spid="23868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2810EE2-16ED-4C1C-ADE7-052F8226B1AC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4: Analysis with JK FFs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Characteristic equations</a:t>
            </a:r>
          </a:p>
          <a:p>
            <a:pPr lvl="1"/>
            <a:r>
              <a:rPr lang="en-US" sz="2400" dirty="0"/>
              <a:t>A(t+1) = J</a:t>
            </a:r>
            <a:r>
              <a:rPr lang="en-US" sz="2400" baseline="-25000" dirty="0"/>
              <a:t>A</a:t>
            </a:r>
            <a:r>
              <a:rPr lang="en-US" sz="2400" dirty="0"/>
              <a:t>A’ + K’</a:t>
            </a:r>
            <a:r>
              <a:rPr lang="en-US" sz="2400" baseline="-25000" dirty="0"/>
              <a:t>A</a:t>
            </a:r>
            <a:r>
              <a:rPr lang="en-US" sz="2400" dirty="0"/>
              <a:t>A</a:t>
            </a:r>
          </a:p>
          <a:p>
            <a:pPr lvl="1"/>
            <a:r>
              <a:rPr lang="en-US" sz="2400" dirty="0"/>
              <a:t>B(t+1) = J</a:t>
            </a:r>
            <a:r>
              <a:rPr lang="en-US" sz="2400" baseline="-25000" dirty="0"/>
              <a:t>B</a:t>
            </a:r>
            <a:r>
              <a:rPr lang="en-US" sz="2400" dirty="0"/>
              <a:t>B’ + K’</a:t>
            </a:r>
            <a:r>
              <a:rPr lang="en-US" sz="2400" baseline="-25000" dirty="0"/>
              <a:t>B</a:t>
            </a:r>
            <a:r>
              <a:rPr lang="en-US" sz="2400" dirty="0"/>
              <a:t>B</a:t>
            </a:r>
          </a:p>
          <a:p>
            <a:r>
              <a:rPr lang="en-US" sz="2400" dirty="0"/>
              <a:t>Input equations</a:t>
            </a:r>
          </a:p>
          <a:p>
            <a:pPr lvl="1"/>
            <a:r>
              <a:rPr lang="en-US" sz="2400" dirty="0"/>
              <a:t>J</a:t>
            </a:r>
            <a:r>
              <a:rPr lang="en-US" sz="2400" baseline="-25000" dirty="0"/>
              <a:t>A</a:t>
            </a:r>
            <a:r>
              <a:rPr lang="en-US" sz="2400" dirty="0"/>
              <a:t> = B</a:t>
            </a:r>
            <a:r>
              <a:rPr lang="tr-TR" sz="2400" dirty="0"/>
              <a:t>x</a:t>
            </a:r>
            <a:r>
              <a:rPr lang="en-US" sz="2400" dirty="0"/>
              <a:t> and K</a:t>
            </a:r>
            <a:r>
              <a:rPr lang="en-US" sz="2400" baseline="-25000" dirty="0"/>
              <a:t>A</a:t>
            </a:r>
            <a:r>
              <a:rPr lang="en-US" sz="2400" dirty="0"/>
              <a:t> = </a:t>
            </a:r>
            <a:r>
              <a:rPr lang="en-US" sz="2400" dirty="0" err="1"/>
              <a:t>x’+B</a:t>
            </a:r>
            <a:endParaRPr lang="en-US" sz="2400" dirty="0"/>
          </a:p>
          <a:p>
            <a:pPr lvl="1"/>
            <a:r>
              <a:rPr lang="en-US" sz="2400" dirty="0"/>
              <a:t>J</a:t>
            </a:r>
            <a:r>
              <a:rPr lang="en-US" sz="2400" baseline="-25000" dirty="0"/>
              <a:t>B</a:t>
            </a:r>
            <a:r>
              <a:rPr lang="en-US" sz="2400" dirty="0"/>
              <a:t> = x and K</a:t>
            </a:r>
            <a:r>
              <a:rPr lang="en-US" sz="2400" baseline="-25000" dirty="0"/>
              <a:t>B</a:t>
            </a:r>
            <a:r>
              <a:rPr lang="en-US" sz="2400" dirty="0"/>
              <a:t> = 1</a:t>
            </a:r>
          </a:p>
          <a:p>
            <a:r>
              <a:rPr lang="en-US" sz="2400" dirty="0"/>
              <a:t>State equations</a:t>
            </a:r>
          </a:p>
          <a:p>
            <a:pPr lvl="1"/>
            <a:r>
              <a:rPr lang="en-US" sz="2400" dirty="0"/>
              <a:t>A(t+1) 	=</a:t>
            </a:r>
          </a:p>
          <a:p>
            <a:pPr lvl="1">
              <a:buFontTx/>
              <a:buNone/>
            </a:pPr>
            <a:r>
              <a:rPr lang="en-US" sz="2400" dirty="0"/>
              <a:t> 			=</a:t>
            </a:r>
          </a:p>
          <a:p>
            <a:pPr lvl="1"/>
            <a:r>
              <a:rPr lang="en-US" sz="2400" dirty="0"/>
              <a:t>B(t+1) 	=</a:t>
            </a:r>
          </a:p>
        </p:txBody>
      </p:sp>
    </p:spTree>
    <p:extLst>
      <p:ext uri="{BB962C8B-B14F-4D97-AF65-F5344CB8AC3E}">
        <p14:creationId xmlns:p14="http://schemas.microsoft.com/office/powerpoint/2010/main" val="19843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9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9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96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96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96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96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027018D-BB6B-4990-9F04-F7E4C977C24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7"/>
            <a:ext cx="8229600" cy="595841"/>
          </a:xfrm>
        </p:spPr>
        <p:txBody>
          <a:bodyPr/>
          <a:lstStyle/>
          <a:p>
            <a:r>
              <a:rPr lang="en-US" dirty="0"/>
              <a:t>State Diagram</a:t>
            </a:r>
          </a:p>
        </p:txBody>
      </p:sp>
      <p:sp>
        <p:nvSpPr>
          <p:cNvPr id="43012" name="Oval 41"/>
          <p:cNvSpPr>
            <a:spLocks noChangeArrowheads="1"/>
          </p:cNvSpPr>
          <p:nvPr/>
        </p:nvSpPr>
        <p:spPr bwMode="auto">
          <a:xfrm>
            <a:off x="2325688" y="1649413"/>
            <a:ext cx="1008062" cy="9715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tr-TR"/>
          </a:p>
        </p:txBody>
      </p:sp>
      <p:sp>
        <p:nvSpPr>
          <p:cNvPr id="43013" name="Text Box 42"/>
          <p:cNvSpPr txBox="1">
            <a:spLocks noChangeArrowheads="1"/>
          </p:cNvSpPr>
          <p:nvPr/>
        </p:nvSpPr>
        <p:spPr bwMode="auto">
          <a:xfrm>
            <a:off x="2527300" y="1893891"/>
            <a:ext cx="44114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00</a:t>
            </a:r>
          </a:p>
        </p:txBody>
      </p:sp>
      <p:grpSp>
        <p:nvGrpSpPr>
          <p:cNvPr id="43014" name="Group 43"/>
          <p:cNvGrpSpPr>
            <a:grpSpLocks/>
          </p:cNvGrpSpPr>
          <p:nvPr/>
        </p:nvGrpSpPr>
        <p:grpSpPr bwMode="auto">
          <a:xfrm>
            <a:off x="2325688" y="4078288"/>
            <a:ext cx="1008062" cy="971550"/>
            <a:chOff x="1020" y="2341"/>
            <a:chExt cx="635" cy="612"/>
          </a:xfrm>
        </p:grpSpPr>
        <p:sp>
          <p:nvSpPr>
            <p:cNvPr id="43122" name="Oval 44"/>
            <p:cNvSpPr>
              <a:spLocks noChangeArrowheads="1"/>
            </p:cNvSpPr>
            <p:nvPr/>
          </p:nvSpPr>
          <p:spPr bwMode="auto">
            <a:xfrm>
              <a:off x="1020" y="2341"/>
              <a:ext cx="635" cy="61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43123" name="Text Box 45"/>
            <p:cNvSpPr txBox="1">
              <a:spLocks noChangeArrowheads="1"/>
            </p:cNvSpPr>
            <p:nvPr/>
          </p:nvSpPr>
          <p:spPr bwMode="auto">
            <a:xfrm>
              <a:off x="1147" y="2500"/>
              <a:ext cx="2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43015" name="Group 46"/>
          <p:cNvGrpSpPr>
            <a:grpSpLocks/>
          </p:cNvGrpSpPr>
          <p:nvPr/>
        </p:nvGrpSpPr>
        <p:grpSpPr bwMode="auto">
          <a:xfrm>
            <a:off x="5710238" y="4078288"/>
            <a:ext cx="1008062" cy="971550"/>
            <a:chOff x="1020" y="2341"/>
            <a:chExt cx="635" cy="612"/>
          </a:xfrm>
        </p:grpSpPr>
        <p:sp>
          <p:nvSpPr>
            <p:cNvPr id="43120" name="Oval 47"/>
            <p:cNvSpPr>
              <a:spLocks noChangeArrowheads="1"/>
            </p:cNvSpPr>
            <p:nvPr/>
          </p:nvSpPr>
          <p:spPr bwMode="auto">
            <a:xfrm>
              <a:off x="1020" y="2341"/>
              <a:ext cx="635" cy="61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43121" name="Text Box 48"/>
            <p:cNvSpPr txBox="1">
              <a:spLocks noChangeArrowheads="1"/>
            </p:cNvSpPr>
            <p:nvPr/>
          </p:nvSpPr>
          <p:spPr bwMode="auto">
            <a:xfrm>
              <a:off x="1147" y="2500"/>
              <a:ext cx="27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10</a:t>
              </a:r>
            </a:p>
          </p:txBody>
        </p:sp>
      </p:grpSp>
      <p:sp>
        <p:nvSpPr>
          <p:cNvPr id="43016" name="Freeform 49"/>
          <p:cNvSpPr>
            <a:spLocks/>
          </p:cNvSpPr>
          <p:nvPr/>
        </p:nvSpPr>
        <p:spPr bwMode="auto">
          <a:xfrm>
            <a:off x="2301880" y="1196980"/>
            <a:ext cx="930275" cy="576263"/>
          </a:xfrm>
          <a:custGeom>
            <a:avLst/>
            <a:gdLst>
              <a:gd name="T0" fmla="*/ 2147483647 w 586"/>
              <a:gd name="T1" fmla="*/ 2147483647 h 510"/>
              <a:gd name="T2" fmla="*/ 2147483647 w 586"/>
              <a:gd name="T3" fmla="*/ 2147483647 h 510"/>
              <a:gd name="T4" fmla="*/ 2147483647 w 586"/>
              <a:gd name="T5" fmla="*/ 2147483647 h 510"/>
              <a:gd name="T6" fmla="*/ 2147483647 w 586"/>
              <a:gd name="T7" fmla="*/ 2147483647 h 510"/>
              <a:gd name="T8" fmla="*/ 2147483647 w 586"/>
              <a:gd name="T9" fmla="*/ 2147483647 h 5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6"/>
              <a:gd name="T16" fmla="*/ 0 h 510"/>
              <a:gd name="T17" fmla="*/ 586 w 586"/>
              <a:gd name="T18" fmla="*/ 510 h 5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6" h="510">
                <a:moveTo>
                  <a:pt x="129" y="510"/>
                </a:moveTo>
                <a:cubicBezTo>
                  <a:pt x="64" y="381"/>
                  <a:pt x="0" y="253"/>
                  <a:pt x="38" y="170"/>
                </a:cubicBezTo>
                <a:cubicBezTo>
                  <a:pt x="76" y="87"/>
                  <a:pt x="268" y="0"/>
                  <a:pt x="355" y="11"/>
                </a:cubicBezTo>
                <a:cubicBezTo>
                  <a:pt x="442" y="22"/>
                  <a:pt x="534" y="159"/>
                  <a:pt x="560" y="238"/>
                </a:cubicBezTo>
                <a:cubicBezTo>
                  <a:pt x="586" y="317"/>
                  <a:pt x="550" y="402"/>
                  <a:pt x="514" y="487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tr-TR"/>
          </a:p>
        </p:txBody>
      </p:sp>
      <p:sp>
        <p:nvSpPr>
          <p:cNvPr id="43017" name="Text Box 50"/>
          <p:cNvSpPr txBox="1">
            <a:spLocks noChangeArrowheads="1"/>
          </p:cNvSpPr>
          <p:nvPr/>
        </p:nvSpPr>
        <p:spPr bwMode="auto">
          <a:xfrm>
            <a:off x="1714505" y="1162055"/>
            <a:ext cx="35586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000">
                <a:solidFill>
                  <a:schemeClr val="accent2"/>
                </a:solidFill>
              </a:rPr>
              <a:t>0/0</a:t>
            </a:r>
          </a:p>
        </p:txBody>
      </p:sp>
      <p:grpSp>
        <p:nvGrpSpPr>
          <p:cNvPr id="43018" name="Group 51"/>
          <p:cNvGrpSpPr>
            <a:grpSpLocks/>
          </p:cNvGrpSpPr>
          <p:nvPr/>
        </p:nvGrpSpPr>
        <p:grpSpPr bwMode="auto">
          <a:xfrm>
            <a:off x="1822450" y="2600325"/>
            <a:ext cx="755650" cy="1549400"/>
            <a:chOff x="703" y="1638"/>
            <a:chExt cx="476" cy="976"/>
          </a:xfrm>
        </p:grpSpPr>
        <p:sp>
          <p:nvSpPr>
            <p:cNvPr id="43118" name="Freeform 52"/>
            <p:cNvSpPr>
              <a:spLocks/>
            </p:cNvSpPr>
            <p:nvPr/>
          </p:nvSpPr>
          <p:spPr bwMode="auto">
            <a:xfrm>
              <a:off x="1039" y="1638"/>
              <a:ext cx="140" cy="976"/>
            </a:xfrm>
            <a:custGeom>
              <a:avLst/>
              <a:gdLst>
                <a:gd name="T0" fmla="*/ 140 w 140"/>
                <a:gd name="T1" fmla="*/ 0 h 976"/>
                <a:gd name="T2" fmla="*/ 4 w 140"/>
                <a:gd name="T3" fmla="*/ 454 h 976"/>
                <a:gd name="T4" fmla="*/ 117 w 140"/>
                <a:gd name="T5" fmla="*/ 976 h 976"/>
                <a:gd name="T6" fmla="*/ 0 60000 65536"/>
                <a:gd name="T7" fmla="*/ 0 60000 65536"/>
                <a:gd name="T8" fmla="*/ 0 60000 65536"/>
                <a:gd name="T9" fmla="*/ 0 w 140"/>
                <a:gd name="T10" fmla="*/ 0 h 976"/>
                <a:gd name="T11" fmla="*/ 140 w 140"/>
                <a:gd name="T12" fmla="*/ 976 h 9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" h="976">
                  <a:moveTo>
                    <a:pt x="140" y="0"/>
                  </a:moveTo>
                  <a:cubicBezTo>
                    <a:pt x="74" y="145"/>
                    <a:pt x="8" y="291"/>
                    <a:pt x="4" y="454"/>
                  </a:cubicBezTo>
                  <a:cubicBezTo>
                    <a:pt x="0" y="617"/>
                    <a:pt x="58" y="796"/>
                    <a:pt x="117" y="97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3119" name="Text Box 53"/>
            <p:cNvSpPr txBox="1">
              <a:spLocks noChangeArrowheads="1"/>
            </p:cNvSpPr>
            <p:nvPr/>
          </p:nvSpPr>
          <p:spPr bwMode="auto">
            <a:xfrm>
              <a:off x="703" y="1933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</a:rPr>
                <a:t>1/0</a:t>
              </a:r>
            </a:p>
          </p:txBody>
        </p:sp>
      </p:grpSp>
      <p:grpSp>
        <p:nvGrpSpPr>
          <p:cNvPr id="43019" name="Group 54"/>
          <p:cNvGrpSpPr>
            <a:grpSpLocks/>
          </p:cNvGrpSpPr>
          <p:nvPr/>
        </p:nvGrpSpPr>
        <p:grpSpPr bwMode="auto">
          <a:xfrm>
            <a:off x="2938468" y="2565405"/>
            <a:ext cx="479425" cy="1547813"/>
            <a:chOff x="1406" y="1616"/>
            <a:chExt cx="302" cy="975"/>
          </a:xfrm>
        </p:grpSpPr>
        <p:sp>
          <p:nvSpPr>
            <p:cNvPr id="43116" name="Freeform 55"/>
            <p:cNvSpPr>
              <a:spLocks/>
            </p:cNvSpPr>
            <p:nvPr/>
          </p:nvSpPr>
          <p:spPr bwMode="auto">
            <a:xfrm>
              <a:off x="1474" y="1616"/>
              <a:ext cx="234" cy="975"/>
            </a:xfrm>
            <a:custGeom>
              <a:avLst/>
              <a:gdLst>
                <a:gd name="T0" fmla="*/ 45 w 234"/>
                <a:gd name="T1" fmla="*/ 975 h 975"/>
                <a:gd name="T2" fmla="*/ 227 w 234"/>
                <a:gd name="T3" fmla="*/ 476 h 975"/>
                <a:gd name="T4" fmla="*/ 0 w 234"/>
                <a:gd name="T5" fmla="*/ 0 h 975"/>
                <a:gd name="T6" fmla="*/ 0 60000 65536"/>
                <a:gd name="T7" fmla="*/ 0 60000 65536"/>
                <a:gd name="T8" fmla="*/ 0 60000 65536"/>
                <a:gd name="T9" fmla="*/ 0 w 234"/>
                <a:gd name="T10" fmla="*/ 0 h 975"/>
                <a:gd name="T11" fmla="*/ 234 w 234"/>
                <a:gd name="T12" fmla="*/ 975 h 9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4" h="975">
                  <a:moveTo>
                    <a:pt x="45" y="975"/>
                  </a:moveTo>
                  <a:cubicBezTo>
                    <a:pt x="139" y="806"/>
                    <a:pt x="234" y="638"/>
                    <a:pt x="227" y="476"/>
                  </a:cubicBezTo>
                  <a:cubicBezTo>
                    <a:pt x="220" y="314"/>
                    <a:pt x="110" y="157"/>
                    <a:pt x="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3117" name="Text Box 56"/>
            <p:cNvSpPr txBox="1">
              <a:spLocks noChangeArrowheads="1"/>
            </p:cNvSpPr>
            <p:nvPr/>
          </p:nvSpPr>
          <p:spPr bwMode="auto">
            <a:xfrm>
              <a:off x="1406" y="1979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</a:rPr>
                <a:t>0/0</a:t>
              </a:r>
            </a:p>
          </p:txBody>
        </p:sp>
      </p:grpSp>
      <p:grpSp>
        <p:nvGrpSpPr>
          <p:cNvPr id="43020" name="Group 57"/>
          <p:cNvGrpSpPr>
            <a:grpSpLocks/>
          </p:cNvGrpSpPr>
          <p:nvPr/>
        </p:nvGrpSpPr>
        <p:grpSpPr bwMode="auto">
          <a:xfrm>
            <a:off x="3225800" y="4868868"/>
            <a:ext cx="2592388" cy="668337"/>
            <a:chOff x="1587" y="3067"/>
            <a:chExt cx="1633" cy="421"/>
          </a:xfrm>
        </p:grpSpPr>
        <p:sp>
          <p:nvSpPr>
            <p:cNvPr id="43114" name="Freeform 58"/>
            <p:cNvSpPr>
              <a:spLocks/>
            </p:cNvSpPr>
            <p:nvPr/>
          </p:nvSpPr>
          <p:spPr bwMode="auto">
            <a:xfrm>
              <a:off x="1587" y="3067"/>
              <a:ext cx="1633" cy="204"/>
            </a:xfrm>
            <a:custGeom>
              <a:avLst/>
              <a:gdLst>
                <a:gd name="T0" fmla="*/ 0 w 1633"/>
                <a:gd name="T1" fmla="*/ 0 h 204"/>
                <a:gd name="T2" fmla="*/ 862 w 1633"/>
                <a:gd name="T3" fmla="*/ 204 h 204"/>
                <a:gd name="T4" fmla="*/ 1633 w 1633"/>
                <a:gd name="T5" fmla="*/ 0 h 204"/>
                <a:gd name="T6" fmla="*/ 0 60000 65536"/>
                <a:gd name="T7" fmla="*/ 0 60000 65536"/>
                <a:gd name="T8" fmla="*/ 0 60000 65536"/>
                <a:gd name="T9" fmla="*/ 0 w 1633"/>
                <a:gd name="T10" fmla="*/ 0 h 204"/>
                <a:gd name="T11" fmla="*/ 1633 w 1633"/>
                <a:gd name="T12" fmla="*/ 204 h 2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3" h="204">
                  <a:moveTo>
                    <a:pt x="0" y="0"/>
                  </a:moveTo>
                  <a:cubicBezTo>
                    <a:pt x="295" y="102"/>
                    <a:pt x="590" y="204"/>
                    <a:pt x="862" y="204"/>
                  </a:cubicBezTo>
                  <a:cubicBezTo>
                    <a:pt x="1134" y="204"/>
                    <a:pt x="1383" y="102"/>
                    <a:pt x="1633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3115" name="Text Box 59"/>
            <p:cNvSpPr txBox="1">
              <a:spLocks noChangeArrowheads="1"/>
            </p:cNvSpPr>
            <p:nvPr/>
          </p:nvSpPr>
          <p:spPr bwMode="auto">
            <a:xfrm>
              <a:off x="2268" y="3294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</a:rPr>
                <a:t>1/0</a:t>
              </a:r>
            </a:p>
          </p:txBody>
        </p:sp>
      </p:grpSp>
      <p:grpSp>
        <p:nvGrpSpPr>
          <p:cNvPr id="43021" name="Group 60"/>
          <p:cNvGrpSpPr>
            <a:grpSpLocks/>
          </p:cNvGrpSpPr>
          <p:nvPr/>
        </p:nvGrpSpPr>
        <p:grpSpPr bwMode="auto">
          <a:xfrm>
            <a:off x="3333750" y="1073155"/>
            <a:ext cx="2413000" cy="879475"/>
            <a:chOff x="1655" y="676"/>
            <a:chExt cx="1520" cy="554"/>
          </a:xfrm>
        </p:grpSpPr>
        <p:sp>
          <p:nvSpPr>
            <p:cNvPr id="43112" name="Text Box 61"/>
            <p:cNvSpPr txBox="1">
              <a:spLocks noChangeArrowheads="1"/>
            </p:cNvSpPr>
            <p:nvPr/>
          </p:nvSpPr>
          <p:spPr bwMode="auto">
            <a:xfrm>
              <a:off x="2320" y="676"/>
              <a:ext cx="22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</a:rPr>
                <a:t>1/1</a:t>
              </a:r>
            </a:p>
          </p:txBody>
        </p:sp>
        <p:sp>
          <p:nvSpPr>
            <p:cNvPr id="43113" name="Freeform 62"/>
            <p:cNvSpPr>
              <a:spLocks/>
            </p:cNvSpPr>
            <p:nvPr/>
          </p:nvSpPr>
          <p:spPr bwMode="auto">
            <a:xfrm>
              <a:off x="1655" y="924"/>
              <a:ext cx="1520" cy="306"/>
            </a:xfrm>
            <a:custGeom>
              <a:avLst/>
              <a:gdLst>
                <a:gd name="T0" fmla="*/ 1520 w 1520"/>
                <a:gd name="T1" fmla="*/ 965584313 h 163"/>
                <a:gd name="T2" fmla="*/ 794 w 1520"/>
                <a:gd name="T3" fmla="*/ 29271949 h 163"/>
                <a:gd name="T4" fmla="*/ 0 w 1520"/>
                <a:gd name="T5" fmla="*/ 1123284474 h 163"/>
                <a:gd name="T6" fmla="*/ 0 60000 65536"/>
                <a:gd name="T7" fmla="*/ 0 60000 65536"/>
                <a:gd name="T8" fmla="*/ 0 60000 65536"/>
                <a:gd name="T9" fmla="*/ 0 w 1520"/>
                <a:gd name="T10" fmla="*/ 0 h 163"/>
                <a:gd name="T11" fmla="*/ 1520 w 1520"/>
                <a:gd name="T12" fmla="*/ 163 h 1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0" h="163">
                  <a:moveTo>
                    <a:pt x="1520" y="140"/>
                  </a:moveTo>
                  <a:cubicBezTo>
                    <a:pt x="1283" y="70"/>
                    <a:pt x="1047" y="0"/>
                    <a:pt x="794" y="4"/>
                  </a:cubicBezTo>
                  <a:cubicBezTo>
                    <a:pt x="541" y="8"/>
                    <a:pt x="270" y="85"/>
                    <a:pt x="0" y="16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43022" name="Group 63"/>
          <p:cNvGrpSpPr>
            <a:grpSpLocks/>
          </p:cNvGrpSpPr>
          <p:nvPr/>
        </p:nvGrpSpPr>
        <p:grpSpPr bwMode="auto">
          <a:xfrm>
            <a:off x="3232150" y="2359025"/>
            <a:ext cx="2679700" cy="1790700"/>
            <a:chOff x="1591" y="1486"/>
            <a:chExt cx="1688" cy="1128"/>
          </a:xfrm>
        </p:grpSpPr>
        <p:sp>
          <p:nvSpPr>
            <p:cNvPr id="43110" name="Line 64"/>
            <p:cNvSpPr>
              <a:spLocks noChangeShapeType="1"/>
            </p:cNvSpPr>
            <p:nvPr/>
          </p:nvSpPr>
          <p:spPr bwMode="auto">
            <a:xfrm flipH="1" flipV="1">
              <a:off x="1591" y="1486"/>
              <a:ext cx="1688" cy="11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11" name="Text Box 65"/>
            <p:cNvSpPr txBox="1">
              <a:spLocks noChangeArrowheads="1"/>
            </p:cNvSpPr>
            <p:nvPr/>
          </p:nvSpPr>
          <p:spPr bwMode="auto">
            <a:xfrm>
              <a:off x="2142" y="2029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</a:rPr>
                <a:t>0/0</a:t>
              </a:r>
            </a:p>
          </p:txBody>
        </p:sp>
      </p:grpSp>
      <p:grpSp>
        <p:nvGrpSpPr>
          <p:cNvPr id="43023" name="Group 66"/>
          <p:cNvGrpSpPr>
            <a:grpSpLocks/>
          </p:cNvGrpSpPr>
          <p:nvPr/>
        </p:nvGrpSpPr>
        <p:grpSpPr bwMode="auto">
          <a:xfrm>
            <a:off x="5710238" y="1649413"/>
            <a:ext cx="1008062" cy="971550"/>
            <a:chOff x="3152" y="1039"/>
            <a:chExt cx="635" cy="612"/>
          </a:xfrm>
        </p:grpSpPr>
        <p:sp>
          <p:nvSpPr>
            <p:cNvPr id="43108" name="Oval 67"/>
            <p:cNvSpPr>
              <a:spLocks noChangeArrowheads="1"/>
            </p:cNvSpPr>
            <p:nvPr/>
          </p:nvSpPr>
          <p:spPr bwMode="auto">
            <a:xfrm>
              <a:off x="3152" y="1039"/>
              <a:ext cx="635" cy="61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43109" name="Text Box 68"/>
            <p:cNvSpPr txBox="1">
              <a:spLocks noChangeArrowheads="1"/>
            </p:cNvSpPr>
            <p:nvPr/>
          </p:nvSpPr>
          <p:spPr bwMode="auto">
            <a:xfrm>
              <a:off x="3279" y="1198"/>
              <a:ext cx="26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bg1"/>
                  </a:solidFill>
                </a:rPr>
                <a:t>11</a:t>
              </a:r>
            </a:p>
          </p:txBody>
        </p:sp>
      </p:grpSp>
      <p:grpSp>
        <p:nvGrpSpPr>
          <p:cNvPr id="43024" name="Group 69"/>
          <p:cNvGrpSpPr>
            <a:grpSpLocks/>
          </p:cNvGrpSpPr>
          <p:nvPr/>
        </p:nvGrpSpPr>
        <p:grpSpPr bwMode="auto">
          <a:xfrm>
            <a:off x="5638800" y="2620968"/>
            <a:ext cx="539750" cy="1457325"/>
            <a:chOff x="3107" y="1651"/>
            <a:chExt cx="340" cy="918"/>
          </a:xfrm>
        </p:grpSpPr>
        <p:sp>
          <p:nvSpPr>
            <p:cNvPr id="43106" name="Line 70"/>
            <p:cNvSpPr>
              <a:spLocks noChangeShapeType="1"/>
            </p:cNvSpPr>
            <p:nvPr/>
          </p:nvSpPr>
          <p:spPr bwMode="auto">
            <a:xfrm flipV="1">
              <a:off x="3447" y="1651"/>
              <a:ext cx="0" cy="9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07" name="Text Box 71"/>
            <p:cNvSpPr txBox="1">
              <a:spLocks noChangeArrowheads="1"/>
            </p:cNvSpPr>
            <p:nvPr/>
          </p:nvSpPr>
          <p:spPr bwMode="auto">
            <a:xfrm>
              <a:off x="3107" y="2029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</a:rPr>
                <a:t>1/0</a:t>
              </a:r>
            </a:p>
          </p:txBody>
        </p:sp>
      </p:grpSp>
      <p:grpSp>
        <p:nvGrpSpPr>
          <p:cNvPr id="43025" name="Group 72"/>
          <p:cNvGrpSpPr>
            <a:grpSpLocks/>
          </p:cNvGrpSpPr>
          <p:nvPr/>
        </p:nvGrpSpPr>
        <p:grpSpPr bwMode="auto">
          <a:xfrm>
            <a:off x="3379788" y="1893893"/>
            <a:ext cx="2330450" cy="312737"/>
            <a:chOff x="1684" y="1193"/>
            <a:chExt cx="1468" cy="197"/>
          </a:xfrm>
        </p:grpSpPr>
        <p:sp>
          <p:nvSpPr>
            <p:cNvPr id="43104" name="Text Box 73"/>
            <p:cNvSpPr txBox="1">
              <a:spLocks noChangeArrowheads="1"/>
            </p:cNvSpPr>
            <p:nvPr/>
          </p:nvSpPr>
          <p:spPr bwMode="auto">
            <a:xfrm>
              <a:off x="2294" y="1193"/>
              <a:ext cx="224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chemeClr val="accent2"/>
                  </a:solidFill>
                </a:rPr>
                <a:t>0/0</a:t>
              </a:r>
            </a:p>
          </p:txBody>
        </p:sp>
        <p:sp>
          <p:nvSpPr>
            <p:cNvPr id="43105" name="Line 74"/>
            <p:cNvSpPr>
              <a:spLocks noChangeShapeType="1"/>
            </p:cNvSpPr>
            <p:nvPr/>
          </p:nvSpPr>
          <p:spPr bwMode="auto">
            <a:xfrm flipH="1">
              <a:off x="1684" y="1390"/>
              <a:ext cx="14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6972300" y="1727200"/>
          <a:ext cx="3543288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6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8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3838">
                <a:tc gridSpan="2">
                  <a:txBody>
                    <a:bodyPr/>
                    <a:lstStyle/>
                    <a:p>
                      <a:r>
                        <a:rPr lang="tr-TR" sz="1600" b="0" dirty="0"/>
                        <a:t>Present state</a:t>
                      </a:r>
                      <a:endParaRPr lang="en-US" sz="16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b="0" dirty="0"/>
                        <a:t>input</a:t>
                      </a:r>
                      <a:endParaRPr lang="en-US" sz="1600" b="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tr-TR" sz="1600" b="0" dirty="0"/>
                        <a:t>Next state</a:t>
                      </a:r>
                      <a:endParaRPr lang="en-US" sz="16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b="0" dirty="0"/>
                        <a:t>output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y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838"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8047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r>
              <a:rPr lang="en-US"/>
              <a:t>Example 5</a:t>
            </a:r>
            <a:br>
              <a:rPr lang="en-US"/>
            </a:br>
            <a:r>
              <a:rPr lang="en-IN"/>
              <a:t>Sequential circuit with </a:t>
            </a:r>
            <a:r>
              <a:rPr lang="en-IN" i="1"/>
              <a:t>JK</a:t>
            </a:r>
            <a:r>
              <a:rPr lang="en-IN"/>
              <a:t> flip-flop.</a:t>
            </a:r>
            <a:endParaRPr lang="en-US"/>
          </a:p>
        </p:txBody>
      </p:sp>
      <p:pic>
        <p:nvPicPr>
          <p:cNvPr id="21506" name="Picture 2" descr="Input x flows through an inverter to an and gate wired to the K terminal of the first J K flip flop, and to the J terminal of the second J K flip flop. Input x flows directly to an x or gate wired to the K terminal of the second J K flip flop. The second flip flop produces output B, which feeds back to the and gate and to the J terminal of the first J K flip flop. The first flip flop in turn produces output Ay, which feeds back to the x or gate. Both flip flops receive clock inpu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60688" y="1600203"/>
            <a:ext cx="7270623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250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r>
              <a:rPr lang="en-US"/>
              <a:t>Example 5</a:t>
            </a:r>
            <a:br>
              <a:rPr lang="en-US"/>
            </a:br>
            <a:r>
              <a:rPr lang="en-IN"/>
              <a:t>State Table for Sequential Circuit with JK Flip-Flops.</a:t>
            </a:r>
            <a:endParaRPr lang="en-US"/>
          </a:p>
        </p:txBody>
      </p:sp>
      <p:pic>
        <p:nvPicPr>
          <p:cNvPr id="22530" name="Picture 2" descr="Z:\NewMedia\Ebook-Novella\Wiley\jira\Mano_Ciletti6e\Work\Images\ch05\ciletti_6e_table_05_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9058" y="1600203"/>
            <a:ext cx="10113883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030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br>
              <a:rPr lang="en-US"/>
            </a:br>
            <a:r>
              <a:rPr lang="en-IN"/>
              <a:t>State diagram of the circuit of </a:t>
            </a:r>
            <a:r>
              <a:rPr lang="en-US"/>
              <a:t>Example 5</a:t>
            </a:r>
            <a:r>
              <a:rPr lang="en-IN"/>
              <a:t>.</a:t>
            </a:r>
            <a:endParaRPr lang="en-US"/>
          </a:p>
        </p:txBody>
      </p:sp>
      <p:pic>
        <p:nvPicPr>
          <p:cNvPr id="23554" name="Picture 2" descr="A state diagram for a circuit. The circuit has the following four states: S 0 = 0 0, S 1 = 0 1, S 2 = 1 0, and S 3 = 1 1. The paths with value 0 are as follows: S 0 to S 1, S 1 to S 3, S 2 to S 3, S 3 to S 0. The paths with value 1 are as follows: S 0 to S 0, S 1 to S 2, S 2 to S 2, S 3 to S 3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5891" y="1600203"/>
            <a:ext cx="3960217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908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BF2EA1-2E54-4F28-BFB5-3D604DE90CFE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7"/>
            <a:ext cx="8229600" cy="595841"/>
          </a:xfrm>
        </p:spPr>
        <p:txBody>
          <a:bodyPr/>
          <a:lstStyle/>
          <a:p>
            <a:r>
              <a:rPr lang="en-US" dirty="0"/>
              <a:t>Analysis with T Flip-Flops</a:t>
            </a:r>
          </a:p>
        </p:txBody>
      </p:sp>
      <p:sp>
        <p:nvSpPr>
          <p:cNvPr id="241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763000" cy="10302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Method is the same</a:t>
            </a:r>
          </a:p>
          <a:p>
            <a:pPr>
              <a:lnSpc>
                <a:spcPct val="90000"/>
              </a:lnSpc>
            </a:pPr>
            <a:r>
              <a:rPr lang="en-US" dirty="0"/>
              <a:t>Example 6</a:t>
            </a:r>
          </a:p>
        </p:txBody>
      </p:sp>
      <p:sp>
        <p:nvSpPr>
          <p:cNvPr id="241745" name="Text Box 81"/>
          <p:cNvSpPr txBox="1">
            <a:spLocks noChangeArrowheads="1"/>
          </p:cNvSpPr>
          <p:nvPr/>
        </p:nvSpPr>
        <p:spPr bwMode="auto">
          <a:xfrm>
            <a:off x="7556505" y="1066805"/>
            <a:ext cx="66563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T</a:t>
            </a:r>
            <a:r>
              <a:rPr lang="en-US" baseline="-25000"/>
              <a:t>A</a:t>
            </a:r>
            <a:r>
              <a:rPr lang="en-US"/>
              <a:t> = </a:t>
            </a:r>
          </a:p>
          <a:p>
            <a:r>
              <a:rPr lang="en-US"/>
              <a:t>T</a:t>
            </a:r>
            <a:r>
              <a:rPr lang="en-US" baseline="-25000"/>
              <a:t>B</a:t>
            </a:r>
            <a:r>
              <a:rPr lang="en-US"/>
              <a:t> =</a:t>
            </a:r>
          </a:p>
        </p:txBody>
      </p:sp>
      <p:sp>
        <p:nvSpPr>
          <p:cNvPr id="241752" name="Text Box 88"/>
          <p:cNvSpPr txBox="1">
            <a:spLocks noChangeArrowheads="1"/>
          </p:cNvSpPr>
          <p:nvPr/>
        </p:nvSpPr>
        <p:spPr bwMode="auto">
          <a:xfrm>
            <a:off x="8213725" y="5210177"/>
            <a:ext cx="60439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y</a:t>
            </a:r>
            <a:r>
              <a:rPr lang="en-US" baseline="-25000"/>
              <a:t>1</a:t>
            </a:r>
            <a:r>
              <a:rPr lang="en-US"/>
              <a:t> = A</a:t>
            </a:r>
          </a:p>
        </p:txBody>
      </p:sp>
      <p:sp>
        <p:nvSpPr>
          <p:cNvPr id="241755" name="Text Box 91"/>
          <p:cNvSpPr txBox="1">
            <a:spLocks noChangeArrowheads="1"/>
          </p:cNvSpPr>
          <p:nvPr/>
        </p:nvSpPr>
        <p:spPr bwMode="auto">
          <a:xfrm>
            <a:off x="8213730" y="5800727"/>
            <a:ext cx="61715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/>
              <a:t>y</a:t>
            </a:r>
            <a:r>
              <a:rPr lang="en-US" baseline="-25000"/>
              <a:t>0</a:t>
            </a:r>
            <a:r>
              <a:rPr lang="en-US"/>
              <a:t> = B</a:t>
            </a:r>
          </a:p>
        </p:txBody>
      </p:sp>
      <p:grpSp>
        <p:nvGrpSpPr>
          <p:cNvPr id="2" name="Group 93"/>
          <p:cNvGrpSpPr>
            <a:grpSpLocks/>
          </p:cNvGrpSpPr>
          <p:nvPr/>
        </p:nvGrpSpPr>
        <p:grpSpPr bwMode="auto">
          <a:xfrm>
            <a:off x="1882777" y="2060575"/>
            <a:ext cx="7877175" cy="3767138"/>
            <a:chOff x="226" y="1298"/>
            <a:chExt cx="4962" cy="2373"/>
          </a:xfrm>
        </p:grpSpPr>
        <p:grpSp>
          <p:nvGrpSpPr>
            <p:cNvPr id="44041" name="Group 89"/>
            <p:cNvGrpSpPr>
              <a:grpSpLocks/>
            </p:cNvGrpSpPr>
            <p:nvPr/>
          </p:nvGrpSpPr>
          <p:grpSpPr bwMode="auto">
            <a:xfrm>
              <a:off x="226" y="1298"/>
              <a:ext cx="4962" cy="2373"/>
              <a:chOff x="226" y="1298"/>
              <a:chExt cx="4962" cy="2373"/>
            </a:xfrm>
          </p:grpSpPr>
          <p:grpSp>
            <p:nvGrpSpPr>
              <p:cNvPr id="44044" name="Group 80"/>
              <p:cNvGrpSpPr>
                <a:grpSpLocks/>
              </p:cNvGrpSpPr>
              <p:nvPr/>
            </p:nvGrpSpPr>
            <p:grpSpPr bwMode="auto">
              <a:xfrm>
                <a:off x="2267" y="1298"/>
                <a:ext cx="324" cy="1434"/>
                <a:chOff x="2517" y="1548"/>
                <a:chExt cx="324" cy="1434"/>
              </a:xfrm>
            </p:grpSpPr>
            <p:sp>
              <p:nvSpPr>
                <p:cNvPr id="44090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2517" y="1548"/>
                  <a:ext cx="259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FF0000"/>
                      </a:solidFill>
                    </a:rPr>
                    <a:t>T</a:t>
                  </a:r>
                  <a:r>
                    <a:rPr lang="en-US" baseline="-25000">
                      <a:solidFill>
                        <a:srgbClr val="FF0000"/>
                      </a:solidFill>
                    </a:rPr>
                    <a:t>A</a:t>
                  </a:r>
                </a:p>
              </p:txBody>
            </p:sp>
            <p:sp>
              <p:nvSpPr>
                <p:cNvPr id="44091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2571" y="2749"/>
                  <a:ext cx="270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>
                      <a:solidFill>
                        <a:srgbClr val="FF0000"/>
                      </a:solidFill>
                    </a:rPr>
                    <a:t>T</a:t>
                  </a:r>
                  <a:r>
                    <a:rPr lang="en-US" baseline="-25000">
                      <a:solidFill>
                        <a:srgbClr val="FF0000"/>
                      </a:solidFill>
                    </a:rPr>
                    <a:t>B</a:t>
                  </a:r>
                </a:p>
              </p:txBody>
            </p:sp>
          </p:grpSp>
          <p:sp>
            <p:nvSpPr>
              <p:cNvPr id="44045" name="Rectangle 10"/>
              <p:cNvSpPr>
                <a:spLocks noChangeArrowheads="1"/>
              </p:cNvSpPr>
              <p:nvPr/>
            </p:nvSpPr>
            <p:spPr bwMode="auto">
              <a:xfrm>
                <a:off x="2673" y="1472"/>
                <a:ext cx="695" cy="777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/>
                <a:endParaRPr lang="tr-TR">
                  <a:solidFill>
                    <a:schemeClr val="bg1"/>
                  </a:solidFill>
                </a:endParaRPr>
              </a:p>
            </p:txBody>
          </p:sp>
          <p:sp>
            <p:nvSpPr>
              <p:cNvPr id="44046" name="Line 11"/>
              <p:cNvSpPr>
                <a:spLocks noChangeShapeType="1"/>
              </p:cNvSpPr>
              <p:nvPr/>
            </p:nvSpPr>
            <p:spPr bwMode="auto">
              <a:xfrm flipH="1">
                <a:off x="1972" y="1872"/>
                <a:ext cx="70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47" name="Text Box 12"/>
              <p:cNvSpPr txBox="1">
                <a:spLocks noChangeArrowheads="1"/>
              </p:cNvSpPr>
              <p:nvPr/>
            </p:nvSpPr>
            <p:spPr bwMode="auto">
              <a:xfrm>
                <a:off x="2700" y="1548"/>
                <a:ext cx="89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44048" name="Line 13"/>
              <p:cNvSpPr>
                <a:spLocks noChangeShapeType="1"/>
              </p:cNvSpPr>
              <p:nvPr/>
            </p:nvSpPr>
            <p:spPr bwMode="auto">
              <a:xfrm flipH="1">
                <a:off x="3368" y="1627"/>
                <a:ext cx="59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49" name="Text Box 14"/>
              <p:cNvSpPr txBox="1">
                <a:spLocks noChangeArrowheads="1"/>
              </p:cNvSpPr>
              <p:nvPr/>
            </p:nvSpPr>
            <p:spPr bwMode="auto">
              <a:xfrm>
                <a:off x="3182" y="1536"/>
                <a:ext cx="113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44050" name="AutoShape 15"/>
              <p:cNvSpPr>
                <a:spLocks noChangeArrowheads="1"/>
              </p:cNvSpPr>
              <p:nvPr/>
            </p:nvSpPr>
            <p:spPr bwMode="auto">
              <a:xfrm rot="5400000">
                <a:off x="2673" y="1810"/>
                <a:ext cx="131" cy="11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51" name="Text Box 16"/>
              <p:cNvSpPr txBox="1">
                <a:spLocks noChangeArrowheads="1"/>
              </p:cNvSpPr>
              <p:nvPr/>
            </p:nvSpPr>
            <p:spPr bwMode="auto">
              <a:xfrm>
                <a:off x="2804" y="1781"/>
                <a:ext cx="10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44052" name="Line 17"/>
              <p:cNvSpPr>
                <a:spLocks noChangeShapeType="1"/>
              </p:cNvSpPr>
              <p:nvPr/>
            </p:nvSpPr>
            <p:spPr bwMode="auto">
              <a:xfrm flipH="1">
                <a:off x="2053" y="1629"/>
                <a:ext cx="62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53" name="Line 18"/>
              <p:cNvSpPr>
                <a:spLocks noChangeShapeType="1"/>
              </p:cNvSpPr>
              <p:nvPr/>
            </p:nvSpPr>
            <p:spPr bwMode="auto">
              <a:xfrm flipH="1">
                <a:off x="1719" y="3029"/>
                <a:ext cx="9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54" name="Text Box 19"/>
              <p:cNvSpPr txBox="1">
                <a:spLocks noChangeArrowheads="1"/>
              </p:cNvSpPr>
              <p:nvPr/>
            </p:nvSpPr>
            <p:spPr bwMode="auto">
              <a:xfrm>
                <a:off x="2694" y="2726"/>
                <a:ext cx="10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D</a:t>
                </a:r>
              </a:p>
            </p:txBody>
          </p:sp>
          <p:sp>
            <p:nvSpPr>
              <p:cNvPr id="44055" name="Line 20"/>
              <p:cNvSpPr>
                <a:spLocks noChangeShapeType="1"/>
              </p:cNvSpPr>
              <p:nvPr/>
            </p:nvSpPr>
            <p:spPr bwMode="auto">
              <a:xfrm flipH="1">
                <a:off x="3362" y="2805"/>
                <a:ext cx="16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56" name="Text Box 21"/>
              <p:cNvSpPr txBox="1">
                <a:spLocks noChangeArrowheads="1"/>
              </p:cNvSpPr>
              <p:nvPr/>
            </p:nvSpPr>
            <p:spPr bwMode="auto">
              <a:xfrm>
                <a:off x="3176" y="2714"/>
                <a:ext cx="113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44057" name="AutoShape 22"/>
              <p:cNvSpPr>
                <a:spLocks noChangeArrowheads="1"/>
              </p:cNvSpPr>
              <p:nvPr/>
            </p:nvSpPr>
            <p:spPr bwMode="auto">
              <a:xfrm rot="5400000">
                <a:off x="2667" y="3044"/>
                <a:ext cx="131" cy="11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58" name="Text Box 23"/>
              <p:cNvSpPr txBox="1">
                <a:spLocks noChangeArrowheads="1"/>
              </p:cNvSpPr>
              <p:nvPr/>
            </p:nvSpPr>
            <p:spPr bwMode="auto">
              <a:xfrm>
                <a:off x="2798" y="3017"/>
                <a:ext cx="10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44059" name="Line 24"/>
              <p:cNvSpPr>
                <a:spLocks noChangeShapeType="1"/>
              </p:cNvSpPr>
              <p:nvPr/>
            </p:nvSpPr>
            <p:spPr bwMode="auto">
              <a:xfrm flipH="1">
                <a:off x="1051" y="2807"/>
                <a:ext cx="161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60" name="Text Box 25"/>
              <p:cNvSpPr txBox="1">
                <a:spLocks noChangeArrowheads="1"/>
              </p:cNvSpPr>
              <p:nvPr/>
            </p:nvSpPr>
            <p:spPr bwMode="auto">
              <a:xfrm>
                <a:off x="3660" y="1399"/>
                <a:ext cx="97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/>
                  <a:t>A</a:t>
                </a:r>
              </a:p>
            </p:txBody>
          </p:sp>
          <p:sp>
            <p:nvSpPr>
              <p:cNvPr id="44061" name="Text Box 26"/>
              <p:cNvSpPr txBox="1">
                <a:spLocks noChangeArrowheads="1"/>
              </p:cNvSpPr>
              <p:nvPr/>
            </p:nvSpPr>
            <p:spPr bwMode="auto">
              <a:xfrm>
                <a:off x="3685" y="2808"/>
                <a:ext cx="97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/>
                  <a:t>B</a:t>
                </a:r>
              </a:p>
            </p:txBody>
          </p:sp>
          <p:sp>
            <p:nvSpPr>
              <p:cNvPr id="44062" name="AutoShape 32"/>
              <p:cNvSpPr>
                <a:spLocks noChangeArrowheads="1"/>
              </p:cNvSpPr>
              <p:nvPr/>
            </p:nvSpPr>
            <p:spPr bwMode="auto">
              <a:xfrm>
                <a:off x="1719" y="1468"/>
                <a:ext cx="344" cy="336"/>
              </a:xfrm>
              <a:prstGeom prst="flowChartDelay">
                <a:avLst/>
              </a:pr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63" name="Text Box 38"/>
              <p:cNvSpPr txBox="1">
                <a:spLocks noChangeArrowheads="1"/>
              </p:cNvSpPr>
              <p:nvPr/>
            </p:nvSpPr>
            <p:spPr bwMode="auto">
              <a:xfrm>
                <a:off x="226" y="1433"/>
                <a:ext cx="73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/>
                  <a:t>x</a:t>
                </a:r>
              </a:p>
            </p:txBody>
          </p:sp>
          <p:sp>
            <p:nvSpPr>
              <p:cNvPr id="44064" name="Oval 39"/>
              <p:cNvSpPr>
                <a:spLocks noChangeArrowheads="1"/>
              </p:cNvSpPr>
              <p:nvPr/>
            </p:nvSpPr>
            <p:spPr bwMode="auto">
              <a:xfrm>
                <a:off x="3524" y="2779"/>
                <a:ext cx="56" cy="5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65" name="Line 40"/>
              <p:cNvSpPr>
                <a:spLocks noChangeShapeType="1"/>
              </p:cNvSpPr>
              <p:nvPr/>
            </p:nvSpPr>
            <p:spPr bwMode="auto">
              <a:xfrm flipV="1">
                <a:off x="3546" y="2497"/>
                <a:ext cx="0" cy="31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66" name="Line 41"/>
              <p:cNvSpPr>
                <a:spLocks noChangeShapeType="1"/>
              </p:cNvSpPr>
              <p:nvPr/>
            </p:nvSpPr>
            <p:spPr bwMode="auto">
              <a:xfrm flipH="1">
                <a:off x="1324" y="2497"/>
                <a:ext cx="22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67" name="Line 43"/>
              <p:cNvSpPr>
                <a:spLocks noChangeShapeType="1"/>
              </p:cNvSpPr>
              <p:nvPr/>
            </p:nvSpPr>
            <p:spPr bwMode="auto">
              <a:xfrm>
                <a:off x="1972" y="1872"/>
                <a:ext cx="0" cy="115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68" name="Oval 44"/>
              <p:cNvSpPr>
                <a:spLocks noChangeArrowheads="1"/>
              </p:cNvSpPr>
              <p:nvPr/>
            </p:nvSpPr>
            <p:spPr bwMode="auto">
              <a:xfrm>
                <a:off x="1939" y="2995"/>
                <a:ext cx="56" cy="5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69" name="Text Box 45"/>
              <p:cNvSpPr txBox="1">
                <a:spLocks noChangeArrowheads="1"/>
              </p:cNvSpPr>
              <p:nvPr/>
            </p:nvSpPr>
            <p:spPr bwMode="auto">
              <a:xfrm>
                <a:off x="1360" y="2905"/>
                <a:ext cx="178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/>
                  <a:t>clk</a:t>
                </a:r>
              </a:p>
            </p:txBody>
          </p:sp>
          <p:sp>
            <p:nvSpPr>
              <p:cNvPr id="44070" name="Rectangle 47"/>
              <p:cNvSpPr>
                <a:spLocks noChangeArrowheads="1"/>
              </p:cNvSpPr>
              <p:nvPr/>
            </p:nvSpPr>
            <p:spPr bwMode="auto">
              <a:xfrm>
                <a:off x="2662" y="2643"/>
                <a:ext cx="695" cy="777"/>
              </a:xfrm>
              <a:prstGeom prst="rect">
                <a:avLst/>
              </a:prstGeom>
              <a:solidFill>
                <a:schemeClr val="bg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/>
              <a:lstStyle/>
              <a:p>
                <a:pPr algn="ctr"/>
                <a:endParaRPr lang="tr-TR">
                  <a:solidFill>
                    <a:schemeClr val="bg1"/>
                  </a:solidFill>
                </a:endParaRPr>
              </a:p>
            </p:txBody>
          </p:sp>
          <p:sp>
            <p:nvSpPr>
              <p:cNvPr id="44071" name="Text Box 48"/>
              <p:cNvSpPr txBox="1">
                <a:spLocks noChangeArrowheads="1"/>
              </p:cNvSpPr>
              <p:nvPr/>
            </p:nvSpPr>
            <p:spPr bwMode="auto">
              <a:xfrm>
                <a:off x="2689" y="2719"/>
                <a:ext cx="89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T</a:t>
                </a:r>
              </a:p>
            </p:txBody>
          </p:sp>
          <p:sp>
            <p:nvSpPr>
              <p:cNvPr id="44072" name="Text Box 49"/>
              <p:cNvSpPr txBox="1">
                <a:spLocks noChangeArrowheads="1"/>
              </p:cNvSpPr>
              <p:nvPr/>
            </p:nvSpPr>
            <p:spPr bwMode="auto">
              <a:xfrm>
                <a:off x="3171" y="2707"/>
                <a:ext cx="113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Q</a:t>
                </a:r>
              </a:p>
            </p:txBody>
          </p:sp>
          <p:sp>
            <p:nvSpPr>
              <p:cNvPr id="44073" name="AutoShape 50"/>
              <p:cNvSpPr>
                <a:spLocks noChangeArrowheads="1"/>
              </p:cNvSpPr>
              <p:nvPr/>
            </p:nvSpPr>
            <p:spPr bwMode="auto">
              <a:xfrm rot="5400000">
                <a:off x="2662" y="2981"/>
                <a:ext cx="131" cy="11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74" name="Text Box 51"/>
              <p:cNvSpPr txBox="1">
                <a:spLocks noChangeArrowheads="1"/>
              </p:cNvSpPr>
              <p:nvPr/>
            </p:nvSpPr>
            <p:spPr bwMode="auto">
              <a:xfrm>
                <a:off x="2793" y="2952"/>
                <a:ext cx="105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>
                    <a:solidFill>
                      <a:schemeClr val="bg1"/>
                    </a:solidFill>
                  </a:rPr>
                  <a:t>C</a:t>
                </a:r>
              </a:p>
            </p:txBody>
          </p:sp>
          <p:sp>
            <p:nvSpPr>
              <p:cNvPr id="44075" name="Line 58"/>
              <p:cNvSpPr>
                <a:spLocks noChangeShapeType="1"/>
              </p:cNvSpPr>
              <p:nvPr/>
            </p:nvSpPr>
            <p:spPr bwMode="auto">
              <a:xfrm flipV="1">
                <a:off x="1324" y="1721"/>
                <a:ext cx="0" cy="7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76" name="Line 59"/>
              <p:cNvSpPr>
                <a:spLocks noChangeShapeType="1"/>
              </p:cNvSpPr>
              <p:nvPr/>
            </p:nvSpPr>
            <p:spPr bwMode="auto">
              <a:xfrm>
                <a:off x="1331" y="1736"/>
                <a:ext cx="3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77" name="Line 61"/>
              <p:cNvSpPr>
                <a:spLocks noChangeShapeType="1"/>
              </p:cNvSpPr>
              <p:nvPr/>
            </p:nvSpPr>
            <p:spPr bwMode="auto">
              <a:xfrm flipH="1">
                <a:off x="369" y="1548"/>
                <a:ext cx="13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78" name="Line 65"/>
              <p:cNvSpPr>
                <a:spLocks noChangeShapeType="1"/>
              </p:cNvSpPr>
              <p:nvPr/>
            </p:nvSpPr>
            <p:spPr bwMode="auto">
              <a:xfrm>
                <a:off x="1051" y="1548"/>
                <a:ext cx="0" cy="125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79" name="Oval 67"/>
              <p:cNvSpPr>
                <a:spLocks noChangeArrowheads="1"/>
              </p:cNvSpPr>
              <p:nvPr/>
            </p:nvSpPr>
            <p:spPr bwMode="auto">
              <a:xfrm>
                <a:off x="1023" y="1514"/>
                <a:ext cx="56" cy="5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80" name="Oval 68"/>
              <p:cNvSpPr>
                <a:spLocks noChangeArrowheads="1"/>
              </p:cNvSpPr>
              <p:nvPr/>
            </p:nvSpPr>
            <p:spPr bwMode="auto">
              <a:xfrm>
                <a:off x="2993" y="3420"/>
                <a:ext cx="83" cy="9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81" name="Line 69"/>
              <p:cNvSpPr>
                <a:spLocks noChangeShapeType="1"/>
              </p:cNvSpPr>
              <p:nvPr/>
            </p:nvSpPr>
            <p:spPr bwMode="auto">
              <a:xfrm>
                <a:off x="3032" y="3514"/>
                <a:ext cx="0" cy="11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2" name="Line 70"/>
              <p:cNvSpPr>
                <a:spLocks noChangeShapeType="1"/>
              </p:cNvSpPr>
              <p:nvPr/>
            </p:nvSpPr>
            <p:spPr bwMode="auto">
              <a:xfrm flipH="1">
                <a:off x="1719" y="3626"/>
                <a:ext cx="131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3" name="Text Box 71"/>
              <p:cNvSpPr txBox="1">
                <a:spLocks noChangeArrowheads="1"/>
              </p:cNvSpPr>
              <p:nvPr/>
            </p:nvSpPr>
            <p:spPr bwMode="auto">
              <a:xfrm>
                <a:off x="1088" y="3438"/>
                <a:ext cx="439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reset</a:t>
                </a:r>
              </a:p>
            </p:txBody>
          </p:sp>
          <p:sp>
            <p:nvSpPr>
              <p:cNvPr id="44084" name="Line 72"/>
              <p:cNvSpPr>
                <a:spLocks noChangeShapeType="1"/>
              </p:cNvSpPr>
              <p:nvPr/>
            </p:nvSpPr>
            <p:spPr bwMode="auto">
              <a:xfrm flipV="1">
                <a:off x="2244" y="2409"/>
                <a:ext cx="0" cy="12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5" name="Oval 73"/>
              <p:cNvSpPr>
                <a:spLocks noChangeArrowheads="1"/>
              </p:cNvSpPr>
              <p:nvPr/>
            </p:nvSpPr>
            <p:spPr bwMode="auto">
              <a:xfrm>
                <a:off x="2993" y="2249"/>
                <a:ext cx="83" cy="9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86" name="Line 74"/>
              <p:cNvSpPr>
                <a:spLocks noChangeShapeType="1"/>
              </p:cNvSpPr>
              <p:nvPr/>
            </p:nvSpPr>
            <p:spPr bwMode="auto">
              <a:xfrm>
                <a:off x="3032" y="2343"/>
                <a:ext cx="0" cy="6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7" name="Line 75"/>
              <p:cNvSpPr>
                <a:spLocks noChangeShapeType="1"/>
              </p:cNvSpPr>
              <p:nvPr/>
            </p:nvSpPr>
            <p:spPr bwMode="auto">
              <a:xfrm flipH="1">
                <a:off x="2244" y="2409"/>
                <a:ext cx="7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88" name="Oval 76"/>
              <p:cNvSpPr>
                <a:spLocks noChangeArrowheads="1"/>
              </p:cNvSpPr>
              <p:nvPr/>
            </p:nvSpPr>
            <p:spPr bwMode="auto">
              <a:xfrm>
                <a:off x="2216" y="3598"/>
                <a:ext cx="56" cy="5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tr-TR"/>
              </a:p>
            </p:txBody>
          </p:sp>
          <p:sp>
            <p:nvSpPr>
              <p:cNvPr id="44089" name="Text Box 86"/>
              <p:cNvSpPr txBox="1">
                <a:spLocks noChangeArrowheads="1"/>
              </p:cNvSpPr>
              <p:nvPr/>
            </p:nvSpPr>
            <p:spPr bwMode="auto">
              <a:xfrm>
                <a:off x="5062" y="2643"/>
                <a:ext cx="126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/>
                  <a:t>y</a:t>
                </a:r>
                <a:r>
                  <a:rPr lang="en-US" baseline="-25000"/>
                  <a:t>0</a:t>
                </a:r>
              </a:p>
            </p:txBody>
          </p:sp>
        </p:grpSp>
        <p:sp>
          <p:nvSpPr>
            <p:cNvPr id="44042" name="Line 90"/>
            <p:cNvSpPr>
              <a:spLocks noChangeShapeType="1"/>
            </p:cNvSpPr>
            <p:nvPr/>
          </p:nvSpPr>
          <p:spPr bwMode="auto">
            <a:xfrm>
              <a:off x="3959" y="1629"/>
              <a:ext cx="10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Text Box 92"/>
            <p:cNvSpPr txBox="1">
              <a:spLocks noChangeArrowheads="1"/>
            </p:cNvSpPr>
            <p:nvPr/>
          </p:nvSpPr>
          <p:spPr bwMode="auto">
            <a:xfrm>
              <a:off x="5062" y="1491"/>
              <a:ext cx="126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/>
                <a:t>y</a:t>
              </a:r>
              <a:r>
                <a:rPr lang="en-US" baseline="-2500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668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1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1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417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build="p"/>
      <p:bldP spid="241752" grpId="0"/>
      <p:bldP spid="24175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83DB48-5114-4EAC-BFB7-032058EC35DB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15377"/>
            <a:ext cx="8229600" cy="441855"/>
          </a:xfrm>
        </p:spPr>
        <p:txBody>
          <a:bodyPr/>
          <a:lstStyle/>
          <a:p>
            <a:pPr algn="ctr"/>
            <a:r>
              <a:rPr lang="en-US" dirty="0"/>
              <a:t>State Table &amp; State Diagram</a:t>
            </a:r>
          </a:p>
        </p:txBody>
      </p:sp>
      <p:graphicFrame>
        <p:nvGraphicFramePr>
          <p:cNvPr id="244131" name="Group 4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897579"/>
              </p:ext>
            </p:extLst>
          </p:nvPr>
        </p:nvGraphicFramePr>
        <p:xfrm>
          <a:off x="1884362" y="1920240"/>
          <a:ext cx="4440238" cy="4328160"/>
        </p:xfrm>
        <a:graphic>
          <a:graphicData uri="http://schemas.openxmlformats.org/drawingml/2006/table">
            <a:tbl>
              <a:tblPr/>
              <a:tblGrid>
                <a:gridCol w="56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0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32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Present state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input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Next state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T</a:t>
                      </a:r>
                      <a:r>
                        <a:rPr kumimoji="0" lang="en-US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4064" name="Rectangle 352"/>
          <p:cNvSpPr>
            <a:spLocks noChangeArrowheads="1"/>
          </p:cNvSpPr>
          <p:nvPr/>
        </p:nvSpPr>
        <p:spPr bwMode="auto">
          <a:xfrm>
            <a:off x="1143000" y="801688"/>
            <a:ext cx="5167307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</a:t>
            </a:r>
            <a:r>
              <a:rPr lang="en-US" sz="2000" baseline="-25000" dirty="0"/>
              <a:t>A</a:t>
            </a:r>
            <a:r>
              <a:rPr lang="en-US" sz="2000" dirty="0"/>
              <a:t> = </a:t>
            </a:r>
            <a:r>
              <a:rPr lang="en-US" sz="2000" dirty="0" err="1"/>
              <a:t>xB</a:t>
            </a:r>
            <a:r>
              <a:rPr lang="en-US" sz="2000" dirty="0"/>
              <a:t>              T</a:t>
            </a:r>
            <a:r>
              <a:rPr lang="en-US" sz="2000" baseline="-25000" dirty="0"/>
              <a:t>B</a:t>
            </a:r>
            <a:r>
              <a:rPr lang="en-US" sz="2000" dirty="0"/>
              <a:t> = x</a:t>
            </a:r>
          </a:p>
          <a:p>
            <a:pPr marL="231775" indent="-231775">
              <a:buFontTx/>
              <a:buChar char="•"/>
            </a:pPr>
            <a:r>
              <a:rPr lang="en-US" sz="2000" dirty="0"/>
              <a:t>A(t+1) = </a:t>
            </a:r>
            <a:r>
              <a:rPr lang="en-US" sz="2000" dirty="0" err="1"/>
              <a:t>xB</a:t>
            </a:r>
            <a:r>
              <a:rPr lang="en-US" sz="2000" dirty="0"/>
              <a:t> </a:t>
            </a:r>
            <a:r>
              <a:rPr lang="en-US" sz="2000" dirty="0">
                <a:sym typeface="Symbol" pitchFamily="18" charset="2"/>
              </a:rPr>
              <a:t> </a:t>
            </a:r>
            <a:r>
              <a:rPr lang="en-US" sz="2000" dirty="0"/>
              <a:t>A</a:t>
            </a:r>
          </a:p>
          <a:p>
            <a:pPr marL="231775" indent="-231775">
              <a:buFontTx/>
              <a:buChar char="•"/>
            </a:pPr>
            <a:r>
              <a:rPr lang="en-US" sz="2000" dirty="0"/>
              <a:t>B(t+1) = x </a:t>
            </a:r>
            <a:r>
              <a:rPr lang="en-US" sz="2000" dirty="0">
                <a:sym typeface="Symbol" pitchFamily="18" charset="2"/>
              </a:rPr>
              <a:t> B</a:t>
            </a:r>
            <a:endParaRPr lang="en-US" sz="2000" dirty="0"/>
          </a:p>
        </p:txBody>
      </p:sp>
      <p:sp>
        <p:nvSpPr>
          <p:cNvPr id="244065" name="Oval 353"/>
          <p:cNvSpPr>
            <a:spLocks noChangeArrowheads="1"/>
          </p:cNvSpPr>
          <p:nvPr/>
        </p:nvSpPr>
        <p:spPr bwMode="auto">
          <a:xfrm>
            <a:off x="6527805" y="2032000"/>
            <a:ext cx="1019175" cy="928688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00</a:t>
            </a:r>
          </a:p>
        </p:txBody>
      </p:sp>
      <p:grpSp>
        <p:nvGrpSpPr>
          <p:cNvPr id="2" name="Group 377"/>
          <p:cNvGrpSpPr>
            <a:grpSpLocks/>
          </p:cNvGrpSpPr>
          <p:nvPr/>
        </p:nvGrpSpPr>
        <p:grpSpPr bwMode="auto">
          <a:xfrm>
            <a:off x="6640513" y="1125543"/>
            <a:ext cx="576262" cy="1025525"/>
            <a:chOff x="3129" y="947"/>
            <a:chExt cx="363" cy="646"/>
          </a:xfrm>
        </p:grpSpPr>
        <p:sp>
          <p:nvSpPr>
            <p:cNvPr id="46189" name="Freeform 360"/>
            <p:cNvSpPr>
              <a:spLocks/>
            </p:cNvSpPr>
            <p:nvPr/>
          </p:nvSpPr>
          <p:spPr bwMode="auto">
            <a:xfrm>
              <a:off x="3148" y="1094"/>
              <a:ext cx="344" cy="499"/>
            </a:xfrm>
            <a:custGeom>
              <a:avLst/>
              <a:gdLst>
                <a:gd name="T0" fmla="*/ 30 w 344"/>
                <a:gd name="T1" fmla="*/ 499 h 499"/>
                <a:gd name="T2" fmla="*/ 30 w 344"/>
                <a:gd name="T3" fmla="*/ 136 h 499"/>
                <a:gd name="T4" fmla="*/ 211 w 344"/>
                <a:gd name="T5" fmla="*/ 0 h 499"/>
                <a:gd name="T6" fmla="*/ 325 w 344"/>
                <a:gd name="T7" fmla="*/ 136 h 499"/>
                <a:gd name="T8" fmla="*/ 325 w 344"/>
                <a:gd name="T9" fmla="*/ 431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4"/>
                <a:gd name="T16" fmla="*/ 0 h 499"/>
                <a:gd name="T17" fmla="*/ 344 w 344"/>
                <a:gd name="T18" fmla="*/ 499 h 4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4" h="499">
                  <a:moveTo>
                    <a:pt x="30" y="499"/>
                  </a:moveTo>
                  <a:cubicBezTo>
                    <a:pt x="15" y="359"/>
                    <a:pt x="0" y="219"/>
                    <a:pt x="30" y="136"/>
                  </a:cubicBezTo>
                  <a:cubicBezTo>
                    <a:pt x="60" y="53"/>
                    <a:pt x="162" y="0"/>
                    <a:pt x="211" y="0"/>
                  </a:cubicBezTo>
                  <a:cubicBezTo>
                    <a:pt x="260" y="0"/>
                    <a:pt x="306" y="64"/>
                    <a:pt x="325" y="136"/>
                  </a:cubicBezTo>
                  <a:cubicBezTo>
                    <a:pt x="344" y="208"/>
                    <a:pt x="334" y="319"/>
                    <a:pt x="325" y="431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6190" name="Rectangle 364"/>
            <p:cNvSpPr>
              <a:spLocks noChangeArrowheads="1"/>
            </p:cNvSpPr>
            <p:nvPr/>
          </p:nvSpPr>
          <p:spPr bwMode="auto">
            <a:xfrm>
              <a:off x="3129" y="947"/>
              <a:ext cx="9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0</a:t>
              </a:r>
            </a:p>
          </p:txBody>
        </p:sp>
      </p:grpSp>
      <p:grpSp>
        <p:nvGrpSpPr>
          <p:cNvPr id="3" name="Group 379"/>
          <p:cNvGrpSpPr>
            <a:grpSpLocks/>
          </p:cNvGrpSpPr>
          <p:nvPr/>
        </p:nvGrpSpPr>
        <p:grpSpPr bwMode="auto">
          <a:xfrm>
            <a:off x="9485313" y="1125543"/>
            <a:ext cx="546100" cy="1044575"/>
            <a:chOff x="4762" y="958"/>
            <a:chExt cx="344" cy="658"/>
          </a:xfrm>
        </p:grpSpPr>
        <p:sp>
          <p:nvSpPr>
            <p:cNvPr id="46187" name="Freeform 361"/>
            <p:cNvSpPr>
              <a:spLocks/>
            </p:cNvSpPr>
            <p:nvPr/>
          </p:nvSpPr>
          <p:spPr bwMode="auto">
            <a:xfrm>
              <a:off x="4762" y="1117"/>
              <a:ext cx="344" cy="499"/>
            </a:xfrm>
            <a:custGeom>
              <a:avLst/>
              <a:gdLst>
                <a:gd name="T0" fmla="*/ 30 w 344"/>
                <a:gd name="T1" fmla="*/ 499 h 499"/>
                <a:gd name="T2" fmla="*/ 30 w 344"/>
                <a:gd name="T3" fmla="*/ 136 h 499"/>
                <a:gd name="T4" fmla="*/ 211 w 344"/>
                <a:gd name="T5" fmla="*/ 0 h 499"/>
                <a:gd name="T6" fmla="*/ 325 w 344"/>
                <a:gd name="T7" fmla="*/ 136 h 499"/>
                <a:gd name="T8" fmla="*/ 325 w 344"/>
                <a:gd name="T9" fmla="*/ 431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4"/>
                <a:gd name="T16" fmla="*/ 0 h 499"/>
                <a:gd name="T17" fmla="*/ 344 w 344"/>
                <a:gd name="T18" fmla="*/ 499 h 4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4" h="499">
                  <a:moveTo>
                    <a:pt x="30" y="499"/>
                  </a:moveTo>
                  <a:cubicBezTo>
                    <a:pt x="15" y="359"/>
                    <a:pt x="0" y="219"/>
                    <a:pt x="30" y="136"/>
                  </a:cubicBezTo>
                  <a:cubicBezTo>
                    <a:pt x="60" y="53"/>
                    <a:pt x="162" y="0"/>
                    <a:pt x="211" y="0"/>
                  </a:cubicBezTo>
                  <a:cubicBezTo>
                    <a:pt x="260" y="0"/>
                    <a:pt x="306" y="64"/>
                    <a:pt x="325" y="136"/>
                  </a:cubicBezTo>
                  <a:cubicBezTo>
                    <a:pt x="344" y="208"/>
                    <a:pt x="334" y="319"/>
                    <a:pt x="325" y="431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6188" name="Rectangle 365"/>
            <p:cNvSpPr>
              <a:spLocks noChangeArrowheads="1"/>
            </p:cNvSpPr>
            <p:nvPr/>
          </p:nvSpPr>
          <p:spPr bwMode="auto">
            <a:xfrm>
              <a:off x="4808" y="958"/>
              <a:ext cx="9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0</a:t>
              </a:r>
            </a:p>
          </p:txBody>
        </p:sp>
      </p:grpSp>
      <p:grpSp>
        <p:nvGrpSpPr>
          <p:cNvPr id="4" name="Group 383"/>
          <p:cNvGrpSpPr>
            <a:grpSpLocks/>
          </p:cNvGrpSpPr>
          <p:nvPr/>
        </p:nvGrpSpPr>
        <p:grpSpPr bwMode="auto">
          <a:xfrm>
            <a:off x="6527800" y="5362575"/>
            <a:ext cx="654050" cy="920750"/>
            <a:chOff x="3061" y="3430"/>
            <a:chExt cx="412" cy="580"/>
          </a:xfrm>
        </p:grpSpPr>
        <p:sp>
          <p:nvSpPr>
            <p:cNvPr id="46185" name="Freeform 362"/>
            <p:cNvSpPr>
              <a:spLocks/>
            </p:cNvSpPr>
            <p:nvPr/>
          </p:nvSpPr>
          <p:spPr bwMode="auto">
            <a:xfrm flipV="1">
              <a:off x="3129" y="3430"/>
              <a:ext cx="344" cy="499"/>
            </a:xfrm>
            <a:custGeom>
              <a:avLst/>
              <a:gdLst>
                <a:gd name="T0" fmla="*/ 30 w 344"/>
                <a:gd name="T1" fmla="*/ 499 h 499"/>
                <a:gd name="T2" fmla="*/ 30 w 344"/>
                <a:gd name="T3" fmla="*/ 136 h 499"/>
                <a:gd name="T4" fmla="*/ 211 w 344"/>
                <a:gd name="T5" fmla="*/ 0 h 499"/>
                <a:gd name="T6" fmla="*/ 325 w 344"/>
                <a:gd name="T7" fmla="*/ 136 h 499"/>
                <a:gd name="T8" fmla="*/ 325 w 344"/>
                <a:gd name="T9" fmla="*/ 431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4"/>
                <a:gd name="T16" fmla="*/ 0 h 499"/>
                <a:gd name="T17" fmla="*/ 344 w 344"/>
                <a:gd name="T18" fmla="*/ 499 h 4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4" h="499">
                  <a:moveTo>
                    <a:pt x="30" y="499"/>
                  </a:moveTo>
                  <a:cubicBezTo>
                    <a:pt x="15" y="359"/>
                    <a:pt x="0" y="219"/>
                    <a:pt x="30" y="136"/>
                  </a:cubicBezTo>
                  <a:cubicBezTo>
                    <a:pt x="60" y="53"/>
                    <a:pt x="162" y="0"/>
                    <a:pt x="211" y="0"/>
                  </a:cubicBezTo>
                  <a:cubicBezTo>
                    <a:pt x="260" y="0"/>
                    <a:pt x="306" y="64"/>
                    <a:pt x="325" y="136"/>
                  </a:cubicBezTo>
                  <a:cubicBezTo>
                    <a:pt x="344" y="208"/>
                    <a:pt x="334" y="319"/>
                    <a:pt x="325" y="431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6186" name="Rectangle 366"/>
            <p:cNvSpPr>
              <a:spLocks noChangeArrowheads="1"/>
            </p:cNvSpPr>
            <p:nvPr/>
          </p:nvSpPr>
          <p:spPr bwMode="auto">
            <a:xfrm>
              <a:off x="3061" y="3816"/>
              <a:ext cx="9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0</a:t>
              </a:r>
            </a:p>
          </p:txBody>
        </p:sp>
      </p:grpSp>
      <p:grpSp>
        <p:nvGrpSpPr>
          <p:cNvPr id="5" name="Group 381"/>
          <p:cNvGrpSpPr>
            <a:grpSpLocks/>
          </p:cNvGrpSpPr>
          <p:nvPr/>
        </p:nvGrpSpPr>
        <p:grpSpPr bwMode="auto">
          <a:xfrm>
            <a:off x="9485313" y="5362580"/>
            <a:ext cx="755650" cy="792163"/>
            <a:chOff x="4762" y="3430"/>
            <a:chExt cx="476" cy="499"/>
          </a:xfrm>
        </p:grpSpPr>
        <p:sp>
          <p:nvSpPr>
            <p:cNvPr id="46183" name="Freeform 363"/>
            <p:cNvSpPr>
              <a:spLocks/>
            </p:cNvSpPr>
            <p:nvPr/>
          </p:nvSpPr>
          <p:spPr bwMode="auto">
            <a:xfrm flipV="1">
              <a:off x="4762" y="3430"/>
              <a:ext cx="344" cy="499"/>
            </a:xfrm>
            <a:custGeom>
              <a:avLst/>
              <a:gdLst>
                <a:gd name="T0" fmla="*/ 30 w 344"/>
                <a:gd name="T1" fmla="*/ 499 h 499"/>
                <a:gd name="T2" fmla="*/ 30 w 344"/>
                <a:gd name="T3" fmla="*/ 136 h 499"/>
                <a:gd name="T4" fmla="*/ 211 w 344"/>
                <a:gd name="T5" fmla="*/ 0 h 499"/>
                <a:gd name="T6" fmla="*/ 325 w 344"/>
                <a:gd name="T7" fmla="*/ 136 h 499"/>
                <a:gd name="T8" fmla="*/ 325 w 344"/>
                <a:gd name="T9" fmla="*/ 431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4"/>
                <a:gd name="T16" fmla="*/ 0 h 499"/>
                <a:gd name="T17" fmla="*/ 344 w 344"/>
                <a:gd name="T18" fmla="*/ 499 h 4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4" h="499">
                  <a:moveTo>
                    <a:pt x="30" y="499"/>
                  </a:moveTo>
                  <a:cubicBezTo>
                    <a:pt x="15" y="359"/>
                    <a:pt x="0" y="219"/>
                    <a:pt x="30" y="136"/>
                  </a:cubicBezTo>
                  <a:cubicBezTo>
                    <a:pt x="60" y="53"/>
                    <a:pt x="162" y="0"/>
                    <a:pt x="211" y="0"/>
                  </a:cubicBezTo>
                  <a:cubicBezTo>
                    <a:pt x="260" y="0"/>
                    <a:pt x="306" y="64"/>
                    <a:pt x="325" y="136"/>
                  </a:cubicBezTo>
                  <a:cubicBezTo>
                    <a:pt x="344" y="208"/>
                    <a:pt x="334" y="319"/>
                    <a:pt x="325" y="431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46184" name="Rectangle 367"/>
            <p:cNvSpPr>
              <a:spLocks noChangeArrowheads="1"/>
            </p:cNvSpPr>
            <p:nvPr/>
          </p:nvSpPr>
          <p:spPr bwMode="auto">
            <a:xfrm>
              <a:off x="5148" y="3680"/>
              <a:ext cx="9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0</a:t>
              </a:r>
            </a:p>
          </p:txBody>
        </p:sp>
      </p:grpSp>
      <p:grpSp>
        <p:nvGrpSpPr>
          <p:cNvPr id="6" name="Group 384"/>
          <p:cNvGrpSpPr>
            <a:grpSpLocks/>
          </p:cNvGrpSpPr>
          <p:nvPr/>
        </p:nvGrpSpPr>
        <p:grpSpPr bwMode="auto">
          <a:xfrm>
            <a:off x="7031040" y="2954338"/>
            <a:ext cx="214312" cy="1581150"/>
            <a:chOff x="3356" y="2015"/>
            <a:chExt cx="135" cy="996"/>
          </a:xfrm>
        </p:grpSpPr>
        <p:sp>
          <p:nvSpPr>
            <p:cNvPr id="46181" name="Line 371"/>
            <p:cNvSpPr>
              <a:spLocks noChangeShapeType="1"/>
            </p:cNvSpPr>
            <p:nvPr/>
          </p:nvSpPr>
          <p:spPr bwMode="auto">
            <a:xfrm flipV="1">
              <a:off x="3356" y="2015"/>
              <a:ext cx="0" cy="9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82" name="Rectangle 375"/>
            <p:cNvSpPr>
              <a:spLocks noChangeArrowheads="1"/>
            </p:cNvSpPr>
            <p:nvPr/>
          </p:nvSpPr>
          <p:spPr bwMode="auto">
            <a:xfrm>
              <a:off x="3401" y="2397"/>
              <a:ext cx="9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1</a:t>
              </a:r>
            </a:p>
          </p:txBody>
        </p:sp>
      </p:grpSp>
      <p:grpSp>
        <p:nvGrpSpPr>
          <p:cNvPr id="7" name="Group 423"/>
          <p:cNvGrpSpPr>
            <a:grpSpLocks/>
          </p:cNvGrpSpPr>
          <p:nvPr/>
        </p:nvGrpSpPr>
        <p:grpSpPr bwMode="auto">
          <a:xfrm>
            <a:off x="7535863" y="2032000"/>
            <a:ext cx="2819400" cy="928688"/>
            <a:chOff x="3787" y="1280"/>
            <a:chExt cx="1776" cy="585"/>
          </a:xfrm>
        </p:grpSpPr>
        <p:sp>
          <p:nvSpPr>
            <p:cNvPr id="46178" name="Line 368"/>
            <p:cNvSpPr>
              <a:spLocks noChangeShapeType="1"/>
            </p:cNvSpPr>
            <p:nvPr/>
          </p:nvSpPr>
          <p:spPr bwMode="auto">
            <a:xfrm>
              <a:off x="3787" y="1575"/>
              <a:ext cx="1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79" name="Rectangle 372"/>
            <p:cNvSpPr>
              <a:spLocks noChangeArrowheads="1"/>
            </p:cNvSpPr>
            <p:nvPr/>
          </p:nvSpPr>
          <p:spPr bwMode="auto">
            <a:xfrm>
              <a:off x="4195" y="1366"/>
              <a:ext cx="9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1</a:t>
              </a:r>
            </a:p>
          </p:txBody>
        </p:sp>
        <p:sp>
          <p:nvSpPr>
            <p:cNvPr id="46180" name="Oval 420"/>
            <p:cNvSpPr>
              <a:spLocks noChangeArrowheads="1"/>
            </p:cNvSpPr>
            <p:nvPr/>
          </p:nvSpPr>
          <p:spPr bwMode="auto">
            <a:xfrm>
              <a:off x="4921" y="1280"/>
              <a:ext cx="642" cy="58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8" name="Group 424"/>
          <p:cNvGrpSpPr>
            <a:grpSpLocks/>
          </p:cNvGrpSpPr>
          <p:nvPr/>
        </p:nvGrpSpPr>
        <p:grpSpPr bwMode="auto">
          <a:xfrm>
            <a:off x="9324980" y="2954338"/>
            <a:ext cx="1019175" cy="2527300"/>
            <a:chOff x="4914" y="1861"/>
            <a:chExt cx="642" cy="1592"/>
          </a:xfrm>
        </p:grpSpPr>
        <p:sp>
          <p:nvSpPr>
            <p:cNvPr id="46175" name="Line 369"/>
            <p:cNvSpPr>
              <a:spLocks noChangeShapeType="1"/>
            </p:cNvSpPr>
            <p:nvPr/>
          </p:nvSpPr>
          <p:spPr bwMode="auto">
            <a:xfrm>
              <a:off x="5239" y="1861"/>
              <a:ext cx="0" cy="9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76" name="Rectangle 373"/>
            <p:cNvSpPr>
              <a:spLocks noChangeArrowheads="1"/>
            </p:cNvSpPr>
            <p:nvPr/>
          </p:nvSpPr>
          <p:spPr bwMode="auto">
            <a:xfrm>
              <a:off x="5125" y="2147"/>
              <a:ext cx="9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1</a:t>
              </a:r>
            </a:p>
          </p:txBody>
        </p:sp>
        <p:sp>
          <p:nvSpPr>
            <p:cNvPr id="46177" name="Oval 421"/>
            <p:cNvSpPr>
              <a:spLocks noChangeArrowheads="1"/>
            </p:cNvSpPr>
            <p:nvPr/>
          </p:nvSpPr>
          <p:spPr bwMode="auto">
            <a:xfrm>
              <a:off x="4914" y="2868"/>
              <a:ext cx="642" cy="58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10</a:t>
              </a:r>
            </a:p>
          </p:txBody>
        </p:sp>
      </p:grpSp>
      <p:grpSp>
        <p:nvGrpSpPr>
          <p:cNvPr id="9" name="Group 425"/>
          <p:cNvGrpSpPr>
            <a:grpSpLocks/>
          </p:cNvGrpSpPr>
          <p:nvPr/>
        </p:nvGrpSpPr>
        <p:grpSpPr bwMode="auto">
          <a:xfrm>
            <a:off x="6491293" y="4560893"/>
            <a:ext cx="2808287" cy="928687"/>
            <a:chOff x="3129" y="2873"/>
            <a:chExt cx="1769" cy="585"/>
          </a:xfrm>
        </p:grpSpPr>
        <p:sp>
          <p:nvSpPr>
            <p:cNvPr id="46172" name="Line 370"/>
            <p:cNvSpPr>
              <a:spLocks noChangeShapeType="1"/>
            </p:cNvSpPr>
            <p:nvPr/>
          </p:nvSpPr>
          <p:spPr bwMode="auto">
            <a:xfrm flipH="1">
              <a:off x="3764" y="3163"/>
              <a:ext cx="11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73" name="Rectangle 374"/>
            <p:cNvSpPr>
              <a:spLocks noChangeArrowheads="1"/>
            </p:cNvSpPr>
            <p:nvPr/>
          </p:nvSpPr>
          <p:spPr bwMode="auto">
            <a:xfrm>
              <a:off x="4236" y="3175"/>
              <a:ext cx="9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ym typeface="Symbol" pitchFamily="18" charset="2"/>
                </a:rPr>
                <a:t>1</a:t>
              </a:r>
            </a:p>
          </p:txBody>
        </p:sp>
        <p:sp>
          <p:nvSpPr>
            <p:cNvPr id="46174" name="Oval 422"/>
            <p:cNvSpPr>
              <a:spLocks noChangeArrowheads="1"/>
            </p:cNvSpPr>
            <p:nvPr/>
          </p:nvSpPr>
          <p:spPr bwMode="auto">
            <a:xfrm>
              <a:off x="3129" y="2873"/>
              <a:ext cx="642" cy="58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544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4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064" grpId="0"/>
      <p:bldP spid="24406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r>
              <a:rPr lang="en-US"/>
              <a:t>Example 7</a:t>
            </a:r>
            <a:br>
              <a:rPr lang="en-US"/>
            </a:br>
            <a:r>
              <a:rPr lang="en-IN"/>
              <a:t>Sequential circuit with T flip-flops (Binary Counter).</a:t>
            </a:r>
            <a:endParaRPr lang="en-US"/>
          </a:p>
        </p:txBody>
      </p:sp>
      <p:pic>
        <p:nvPicPr>
          <p:cNvPr id="24578" name="Picture 2" descr="Part ay: circuit diagram. Input x flows into an and gate wired to the T terminal of the first flip flop, and x flows into the T terminal of the second flip flop. Each flip flop also receives clock input at C l k, and reset input at R. The first and second flip flops send outputs Ay and B to a second and gate, which outputs y. B also feeds back to the first and gate. Part b: state diagram. The circuit has four states: 0 0 slash 0, 0 1 slash 0, 1 0 slash 0, 1 1 slash 1. Each looping path from one state to itself has value 0, all other paths have value 1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63171" y="1600203"/>
            <a:ext cx="6465658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2549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215372"/>
            <a:ext cx="10972800" cy="1097280"/>
          </a:xfrm>
        </p:spPr>
        <p:txBody>
          <a:bodyPr anchor="b">
            <a:normAutofit/>
          </a:bodyPr>
          <a:lstStyle/>
          <a:p>
            <a:r>
              <a:rPr lang="en-US"/>
              <a:t>Example 7</a:t>
            </a:r>
            <a:br>
              <a:rPr lang="en-US"/>
            </a:br>
            <a:r>
              <a:rPr lang="en-IN"/>
              <a:t>State Table for Sequential Circuit with T Flip-Flops.</a:t>
            </a:r>
            <a:endParaRPr lang="en-US"/>
          </a:p>
        </p:txBody>
      </p:sp>
      <p:pic>
        <p:nvPicPr>
          <p:cNvPr id="25602" name="Picture 2" descr="Z:\NewMedia\Ebook-Novella\Wiley\jira\Mano_Ciletti6e\Work\Images\ch05\ciletti_6e_table_05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3194" y="1600203"/>
            <a:ext cx="7905612" cy="452596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0988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Introduction to Robotics&amp;quot;&quot;/&gt;&lt;property id=&quot;20307&quot; value=&quot;318&quot;/&gt;&lt;/object&gt;&lt;object type=&quot;3&quot; unique_id=&quot;10005&quot;&gt;&lt;property id=&quot;20148&quot; value=&quot;5&quot;/&gt;&lt;property id=&quot;20300&quot; value=&quot;Slide 2 - &amp;quot;Figure 2.1&amp;#x0D;&amp;#x0A;Vector relative to frame (example).&amp;quot;&quot;/&gt;&lt;property id=&quot;20307&quot; value=&quot;328&quot;/&gt;&lt;/object&gt;&lt;object type=&quot;3&quot; unique_id=&quot;10718&quot;&gt;&lt;property id=&quot;20148&quot; value=&quot;5&quot;/&gt;&lt;property id=&quot;20300&quot; value=&quot;Slide 3 - &amp;quot;Figure 2.2&amp;#x0D;&amp;#x0A;Locating an object in position and orientation.&amp;#x0D;&amp;#x0A;&amp;quot;&quot;/&gt;&lt;property id=&quot;20307&quot; value=&quot;329&quot;/&gt;&lt;/object&gt;&lt;object type=&quot;3&quot; unique_id=&quot;10744&quot;&gt;&lt;property id=&quot;20148&quot; value=&quot;5&quot;/&gt;&lt;property id=&quot;20300&quot; value=&quot;Slide 4 - &amp;quot;Figure 2.3&amp;#x0D;&amp;#x0A;Example of several frames.&amp;#x0D;&amp;#x0A;&amp;quot;&quot;/&gt;&lt;property id=&quot;20307&quot; value=&quot;330&quot;/&gt;&lt;/object&gt;&lt;object type=&quot;3&quot; unique_id=&quot;10763&quot;&gt;&lt;property id=&quot;20148&quot; value=&quot;5&quot;/&gt;&lt;property id=&quot;20300&quot; value=&quot;Slide 5 - &amp;quot;Figure 2.4&amp;#x0D;&amp;#x0A;Translational mapping.&amp;quot;&quot;/&gt;&lt;property id=&quot;20307&quot; value=&quot;331&quot;/&gt;&lt;/object&gt;&lt;object type=&quot;3&quot; unique_id=&quot;10813&quot;&gt;&lt;property id=&quot;20148&quot; value=&quot;5&quot;/&gt;&lt;property id=&quot;20300&quot; value=&quot;Slide 6 - &amp;quot;Figure 2.5&amp;#x0D;&amp;#x0A;Rotating the description of a vector.&amp;quot;&quot;/&gt;&lt;property id=&quot;20307&quot; value=&quot;332&quot;/&gt;&lt;/object&gt;&lt;object type=&quot;3&quot; unique_id=&quot;10838&quot;&gt;&lt;property id=&quot;20148&quot; value=&quot;5&quot;/&gt;&lt;property id=&quot;20300&quot; value=&quot;Slide 7 - &amp;quot;Figure 2.6&amp;#x0D;&amp;#x0A;{B} rotated 30 degrees about Ẑ.&amp;quot;&quot;/&gt;&lt;property id=&quot;20307&quot; value=&quot;333&quot;/&gt;&lt;/object&gt;&lt;object type=&quot;3&quot; unique_id=&quot;10875&quot;&gt;&lt;property id=&quot;20148&quot; value=&quot;5&quot;/&gt;&lt;property id=&quot;20300&quot; value=&quot;Slide 8 - &amp;quot;Figure 2.7&amp;#x0D;&amp;#x0A;General transform of a vector.&amp;quot;&quot;/&gt;&lt;property id=&quot;20307&quot; value=&quot;334&quot;/&gt;&lt;/object&gt;&lt;object type=&quot;3&quot; unique_id=&quot;10876&quot;&gt;&lt;property id=&quot;20148&quot; value=&quot;5&quot;/&gt;&lt;property id=&quot;20300&quot; value=&quot;Slide 9 - &amp;quot;Figure 2.8&amp;#x0D;&amp;#x0A;Frame {B} rotated and translated.&amp;quot;&quot;/&gt;&lt;property id=&quot;20307&quot; value=&quot;335&quot;/&gt;&lt;/object&gt;&lt;object type=&quot;3&quot; unique_id=&quot;10910&quot;&gt;&lt;property id=&quot;20148&quot; value=&quot;5&quot;/&gt;&lt;property id=&quot;20300&quot; value=&quot;Slide 10 - &amp;quot;Figure 2.9&amp;#x0D;&amp;#x0A;Translation operator.&amp;quot;&quot;/&gt;&lt;property id=&quot;20307&quot; value=&quot;336&quot;/&gt;&lt;/object&gt;&lt;object type=&quot;3&quot; unique_id=&quot;10959&quot;&gt;&lt;property id=&quot;20148&quot; value=&quot;5&quot;/&gt;&lt;property id=&quot;20300&quot; value=&quot;Slide 11 - &amp;quot;Figure 2.10&amp;#x0D;&amp;#x0A;The vector AP1 rotated 30 degrees about Ẑ.&amp;quot;&quot;/&gt;&lt;property id=&quot;20307&quot; value=&quot;337&quot;/&gt;&lt;/object&gt;&lt;object type=&quot;3&quot; unique_id=&quot;10960&quot;&gt;&lt;property id=&quot;20148&quot; value=&quot;5&quot;/&gt;&lt;property id=&quot;20300&quot; value=&quot;Slide 12 - &amp;quot;Figure 2.11&amp;#x0D;&amp;#x0A;The vector AP1 rotated and translated to form AP2.&amp;quot;&quot;/&gt;&lt;property id=&quot;20307&quot; value=&quot;338&quot;/&gt;&lt;/object&gt;&lt;object type=&quot;3&quot; unique_id=&quot;11143&quot;&gt;&lt;property id=&quot;20148&quot; value=&quot;5&quot;/&gt;&lt;property id=&quot;20300&quot; value=&quot;Slide 13 - &amp;quot;Figure 2.12&amp;#x0D;&amp;#x0A;Compound frames: each is known relative to the previous one.&amp;quot;&quot;/&gt;&lt;property id=&quot;20307&quot; value=&quot;339&quot;/&gt;&lt;/object&gt;&lt;object type=&quot;3&quot; unique_id=&quot;11189&quot;&gt;&lt;property id=&quot;20148&quot; value=&quot;5&quot;/&gt;&lt;property id=&quot;20300&quot; value=&quot;Slide 14 - &amp;quot;Figure 2.13&amp;#x0D;&amp;#x0A;{B} relative to {A}.&amp;quot;&quot;/&gt;&lt;property id=&quot;20307&quot; value=&quot;340&quot;/&gt;&lt;/object&gt;&lt;object type=&quot;3&quot; unique_id=&quot;11238&quot;&gt;&lt;property id=&quot;20148&quot; value=&quot;5&quot;/&gt;&lt;property id=&quot;20300&quot; value=&quot;Slide 15 - &amp;quot;Figure 2.14&amp;#x0D;&amp;#x0A;Set of transforms forming a loop.&amp;quot;&quot;/&gt;&lt;property id=&quot;20307&quot; value=&quot;341&quot;/&gt;&lt;/object&gt;&lt;object type=&quot;3&quot; unique_id=&quot;11341&quot;&gt;&lt;property id=&quot;20148&quot; value=&quot;5&quot;/&gt;&lt;property id=&quot;20300&quot; value=&quot;Slide 16 - &amp;quot;Figure 2.15&amp;#x0D;&amp;#x0A;Example of a transform equation.&amp;quot;&quot;/&gt;&lt;property id=&quot;20307&quot; value=&quot;342&quot;/&gt;&lt;/object&gt;&lt;object type=&quot;3&quot; unique_id=&quot;11342&quot;&gt;&lt;property id=&quot;20148&quot; value=&quot;5&quot;/&gt;&lt;property id=&quot;20300&quot; value=&quot;Slide 17 - &amp;quot;Figure 2.16&amp;#x0D;&amp;#x0A;Manipulator reaching for a bolt.&amp;quot;&quot;/&gt;&lt;property id=&quot;20307&quot; value=&quot;343&quot;/&gt;&lt;/object&gt;&lt;object type=&quot;3&quot; unique_id=&quot;11343&quot;&gt;&lt;property id=&quot;20148&quot; value=&quot;5&quot;/&gt;&lt;property id=&quot;20300&quot; value=&quot;Slide 18 - &amp;quot;Figure 2.17&amp;#x0D;&amp;#x0A;X–Y–Z fixed angles. Rotations are performed in the order&amp;#x0D;&amp;#x0A;RX(g) RY (β), RZ(α).&amp;quot;&quot;/&gt;&lt;property id=&quot;20307&quot; value=&quot;344&quot;/&gt;&lt;/object&gt;&lt;object type=&quot;3&quot; unique_id=&quot;11444&quot;&gt;&lt;property id=&quot;20148&quot; value=&quot;5&quot;/&gt;&lt;property id=&quot;20300&quot; value=&quot;Slide 19 - &amp;quot;Figure 2.18&amp;#x0D;&amp;#x0A;Z–Y–X Euler angles.&amp;quot;&quot;/&gt;&lt;property id=&quot;20307&quot; value=&quot;345&quot;/&gt;&lt;/object&gt;&lt;object type=&quot;3&quot; unique_id=&quot;11445&quot;&gt;&lt;property id=&quot;20148&quot; value=&quot;5&quot;/&gt;&lt;property id=&quot;20300&quot; value=&quot;Slide 20 - &amp;quot;Figure 2.19&amp;#x0D;&amp;#x0A;Equivalent angle–axis representation.&amp;quot;&quot;/&gt;&lt;property id=&quot;20307&quot; value=&quot;346&quot;/&gt;&lt;/object&gt;&lt;object type=&quot;3&quot; unique_id=&quot;11446&quot;&gt;&lt;property id=&quot;20148&quot; value=&quot;5&quot;/&gt;&lt;property id=&quot;20300&quot; value=&quot;Slide 21 - &amp;quot;Figure 2.20&amp;#x0D;&amp;#x0A;Rotation about an axis that does not pass through the origin of {A}. Initially, {B} was coincident wit&quot;/&gt;&lt;property id=&quot;20307&quot; value=&quot;347&quot;/&gt;&lt;/object&gt;&lt;object type=&quot;3&quot; unique_id=&quot;11516&quot;&gt;&lt;property id=&quot;20148&quot; value=&quot;5&quot;/&gt;&lt;property id=&quot;20300&quot; value=&quot;Slide 22 - &amp;quot;Figure 2.21&amp;#x0D;&amp;#x0A;Equal velocity vectors.&amp;quot;&quot;/&gt;&lt;property id=&quot;20307&quot; value=&quot;348&quot;/&gt;&lt;/object&gt;&lt;object type=&quot;3&quot; unique_id=&quot;11589&quot;&gt;&lt;property id=&quot;20148&quot; value=&quot;5&quot;/&gt;&lt;property id=&quot;20300&quot; value=&quot;Slide 23 - &amp;quot;Figure 2.22&amp;#x0D;&amp;#x0A;Transforming velocities.&amp;quot;&quot;/&gt;&lt;property id=&quot;20307&quot; value=&quot;349&quot;/&gt;&lt;/object&gt;&lt;object type=&quot;3&quot; unique_id=&quot;11665&quot;&gt;&lt;property id=&quot;20148&quot; value=&quot;5&quot;/&gt;&lt;property id=&quot;20300&quot; value=&quot;Slide 24 - &amp;quot;Figure 2.23&amp;#x0D;&amp;#x0A;Cylindrical coordinates.&amp;quot;&quot;/&gt;&lt;property id=&quot;20307&quot; value=&quot;350&quot;/&gt;&lt;/object&gt;&lt;object type=&quot;3&quot; unique_id=&quot;11744&quot;&gt;&lt;property id=&quot;20148&quot; value=&quot;5&quot;/&gt;&lt;property id=&quot;20300&quot; value=&quot;Slide 25 - &amp;quot;Figure 2.24&amp;#x0D;&amp;#x0A;Spherical coordinates.&amp;quot;&quot;/&gt;&lt;property id=&quot;20307&quot; value=&quot;351&quot;/&gt;&lt;/object&gt;&lt;object type=&quot;3&quot; unique_id=&quot;11880&quot;&gt;&lt;property id=&quot;20148&quot; value=&quot;5&quot;/&gt;&lt;property id=&quot;20300&quot; value=&quot;Slide 26 - &amp;quot;Figure 2.25&amp;#x0D;&amp;#x0A;Frames at the corners of a wedge.&amp;quot;&quot;/&gt;&lt;property id=&quot;20307&quot; value=&quot;352&quot;/&gt;&lt;/object&gt;&lt;object type=&quot;3&quot; unique_id=&quot;11965&quot;&gt;&lt;property id=&quot;20148&quot; value=&quot;5&quot;/&gt;&lt;property id=&quot;20300&quot; value=&quot;Slide 27 - &amp;quot;Figure 2.26&amp;#x0D;&amp;#x0A;Frames at the corners of a wedge.&amp;quot;&quot;/&gt;&lt;property id=&quot;20307&quot; value=&quot;353&quot;/&gt;&lt;/object&gt;&lt;/object&gt;&lt;/object&gt;&lt;/database&gt;"/>
</p:tagLst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1450</TotalTime>
  <Words>1014</Words>
  <Application>Microsoft Office PowerPoint</Application>
  <PresentationFormat>Widescreen</PresentationFormat>
  <Paragraphs>552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Comic Sans MS</vt:lpstr>
      <vt:lpstr>Symbol</vt:lpstr>
      <vt:lpstr>Times New Roman</vt:lpstr>
      <vt:lpstr>Verdana</vt:lpstr>
      <vt:lpstr>Wingdings</vt:lpstr>
      <vt:lpstr>508 Lecture</vt:lpstr>
      <vt:lpstr>Digital Design</vt:lpstr>
      <vt:lpstr>Analysis of Clocked Sequential Circuits</vt:lpstr>
      <vt:lpstr>Example 1</vt:lpstr>
      <vt:lpstr>Example 1: State (Transition) Table</vt:lpstr>
      <vt:lpstr>Example 1: State (Transition) Table</vt:lpstr>
      <vt:lpstr>Example 1: State Diagram</vt:lpstr>
      <vt:lpstr>Example 2 </vt:lpstr>
      <vt:lpstr>State Table for the Circuit of Example 2</vt:lpstr>
      <vt:lpstr> Second Form of the State Table.</vt:lpstr>
      <vt:lpstr> State diagram of the circuit of Example 2.</vt:lpstr>
      <vt:lpstr>Example 3 Sequential circuit with D flip-flop.</vt:lpstr>
      <vt:lpstr>Analysis with JK Flip-Flops</vt:lpstr>
      <vt:lpstr>Example 4: Analysis with JK FFs</vt:lpstr>
      <vt:lpstr>Example 4: Analysis with JK FFs</vt:lpstr>
      <vt:lpstr>Example 4: Analysis with JK FFs</vt:lpstr>
      <vt:lpstr>State Diagram</vt:lpstr>
      <vt:lpstr>Example 5 Sequential circuit with JK flip-flop.</vt:lpstr>
      <vt:lpstr>Example 5 State Table for Sequential Circuit with JK Flip-Flops.</vt:lpstr>
      <vt:lpstr> State diagram of the circuit of Example 5.</vt:lpstr>
      <vt:lpstr>Analysis with T Flip-Flops</vt:lpstr>
      <vt:lpstr>State Table &amp; State Diagram</vt:lpstr>
      <vt:lpstr>Example 7 Sequential circuit with T flip-flops (Binary Counter).</vt:lpstr>
      <vt:lpstr>Example 7 State Table for Sequential Circuit with T Flip-Flops.</vt:lpstr>
    </vt:vector>
  </TitlesOfParts>
  <Company>echosvoice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Lecture PowerPoint</dc:title>
  <dc:subject>Introduction to Psychology</dc:subject>
  <dc:creator>Echo Swinford</dc:creator>
  <cp:lastModifiedBy>Ahmed khedr</cp:lastModifiedBy>
  <cp:revision>416</cp:revision>
  <dcterms:created xsi:type="dcterms:W3CDTF">2014-07-14T20:04:21Z</dcterms:created>
  <dcterms:modified xsi:type="dcterms:W3CDTF">2026-02-27T13:00:32Z</dcterms:modified>
</cp:coreProperties>
</file>