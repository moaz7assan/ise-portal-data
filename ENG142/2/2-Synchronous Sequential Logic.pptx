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433" r:id="rId3"/>
    <p:sldId id="383" r:id="rId4"/>
    <p:sldId id="1064" r:id="rId5"/>
    <p:sldId id="437" r:id="rId6"/>
    <p:sldId id="438" r:id="rId7"/>
    <p:sldId id="439" r:id="rId8"/>
    <p:sldId id="444" r:id="rId9"/>
    <p:sldId id="445" r:id="rId10"/>
    <p:sldId id="450" r:id="rId11"/>
    <p:sldId id="446" r:id="rId12"/>
    <p:sldId id="447" r:id="rId13"/>
    <p:sldId id="451" r:id="rId14"/>
    <p:sldId id="452" r:id="rId15"/>
    <p:sldId id="456" r:id="rId16"/>
    <p:sldId id="429" r:id="rId17"/>
    <p:sldId id="430" r:id="rId18"/>
    <p:sldId id="457" r:id="rId19"/>
  </p:sldIdLst>
  <p:sldSz cx="12192000" cy="6858000"/>
  <p:notesSz cx="7026275" cy="93122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CC"/>
    <a:srgbClr val="CCFF33"/>
    <a:srgbClr val="009900"/>
    <a:srgbClr val="FFFF00"/>
    <a:srgbClr val="CCFFFF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Objects="1">
      <p:cViewPr varScale="1">
        <p:scale>
          <a:sx n="60" d="100"/>
          <a:sy n="60" d="100"/>
        </p:scale>
        <p:origin x="816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13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4825" cy="465138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9863" y="0"/>
            <a:ext cx="3044825" cy="465138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r">
              <a:defRPr sz="1200"/>
            </a:lvl1pPr>
          </a:lstStyle>
          <a:p>
            <a:pPr>
              <a:defRPr/>
            </a:pPr>
            <a:fld id="{54691465-93AC-4282-A02C-0AC5BBCA3F40}" type="datetimeFigureOut">
              <a:rPr lang="en-US"/>
              <a:pPr>
                <a:defRPr/>
              </a:pPr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5550"/>
            <a:ext cx="3044825" cy="465138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9863" y="8845550"/>
            <a:ext cx="3044825" cy="465138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r">
              <a:defRPr sz="1200"/>
            </a:lvl1pPr>
          </a:lstStyle>
          <a:p>
            <a:pPr>
              <a:defRPr/>
            </a:pPr>
            <a:fld id="{93303ECF-C36D-4C3D-8A49-733ADE8746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48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60" tIns="46680" rIns="93360" bIns="4668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81450" y="0"/>
            <a:ext cx="30448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60" tIns="46680" rIns="93360" bIns="4668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9575" y="698500"/>
            <a:ext cx="6207125" cy="34925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422775"/>
            <a:ext cx="5153025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60" tIns="46680" rIns="93360" bIns="466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7138"/>
            <a:ext cx="304482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60" tIns="46680" rIns="93360" bIns="4668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81450" y="8847138"/>
            <a:ext cx="304482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60" tIns="46680" rIns="93360" bIns="4668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29576CE8-DD80-43BA-A72A-2E63F6E2E3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7125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7125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949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A6CDD9-AAF3-4D7A-B9DD-E21DD7F8CA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7866E3-3991-45BC-A688-9D32DAFA61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165D6-F57E-4659-BCC2-46CC9D1946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57404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066800"/>
            <a:ext cx="57404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D97E28-E625-42B2-971F-6E3434970C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5AA38-6820-4694-AEAD-ECF6A28390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AA4373-465E-4191-B5C6-B506004FE8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DE446-D86B-4BD4-BD42-9985C2EE21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2D973-540E-4773-BC4D-7DCBD02334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41DC8F-0E9B-4889-83C7-DC84216F1D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FD9F6-4AC5-420F-8915-A9F9F8A877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67800" y="0"/>
            <a:ext cx="292100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0"/>
            <a:ext cx="855980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0144B8-9A85-4C33-9CD3-4CF2731566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09600" y="228600"/>
            <a:ext cx="109728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5368160"/>
            <a:ext cx="109728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25292" y="6172203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13" y="6376792"/>
            <a:ext cx="1224000" cy="2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42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bg1"/>
          </a:fgClr>
          <a:bgClr>
            <a:srgbClr val="66CCFF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0"/>
            <a:ext cx="11684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066800"/>
            <a:ext cx="116840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fld id="{0A54363A-9F01-468F-8F7C-293C11B71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1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C48BA3C7-823E-9780-2B98-2E72A56FA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4" y="1524871"/>
            <a:ext cx="103939" cy="207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5" tIns="25718" rIns="51435" bIns="25718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013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DAA833-BA70-F313-BB9A-AE6A4BDA6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4" y="1782046"/>
            <a:ext cx="103939" cy="207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5" tIns="25718" rIns="51435" bIns="25718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013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285DCC-7053-BF30-C88B-43F9AD1AF683}"/>
              </a:ext>
            </a:extLst>
          </p:cNvPr>
          <p:cNvSpPr txBox="1"/>
          <p:nvPr/>
        </p:nvSpPr>
        <p:spPr>
          <a:xfrm>
            <a:off x="2215506" y="580248"/>
            <a:ext cx="808496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63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Al-Azhar University</a:t>
            </a:r>
          </a:p>
          <a:p>
            <a:pPr algn="ctr">
              <a:spcAft>
                <a:spcPts val="563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 of Engineering</a:t>
            </a:r>
          </a:p>
          <a:p>
            <a:pPr algn="ctr">
              <a:spcAft>
                <a:spcPts val="563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 and Computer Engineering Dept.</a:t>
            </a:r>
          </a:p>
          <a:p>
            <a:pPr algn="ctr">
              <a:spcAft>
                <a:spcPts val="563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Intelligent Systems Engineering Program</a:t>
            </a: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D0361E3C-A4D8-DA35-5F2A-4457CF9F1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1724" y="5253129"/>
            <a:ext cx="49685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dirty="0">
                <a:latin typeface="Verdana"/>
                <a:cs typeface="Verdana"/>
              </a:rPr>
              <a:t>Prof. Ahmed Youssef</a:t>
            </a: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09966157-FE14-8C22-1DE4-181DB889A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7501" y="4349123"/>
            <a:ext cx="3280325" cy="248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endParaRPr lang="en-US" sz="1013"/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5835B742-3E69-1975-1279-80D115CE3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480" y="2813634"/>
            <a:ext cx="9613068" cy="1390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038" dirty="0">
                <a:latin typeface="Verdana"/>
                <a:cs typeface="Verdana"/>
              </a:rPr>
              <a:t>ENG 142</a:t>
            </a:r>
          </a:p>
          <a:p>
            <a:pPr algn="ctr">
              <a:spcBef>
                <a:spcPct val="50000"/>
              </a:spcBef>
            </a:pPr>
            <a:r>
              <a:rPr lang="en-US" sz="2700" dirty="0">
                <a:solidFill>
                  <a:srgbClr val="0000FF"/>
                </a:solidFill>
                <a:latin typeface="Verdana"/>
              </a:rPr>
              <a:t> </a:t>
            </a:r>
            <a:r>
              <a:rPr lang="en-US" sz="3600" dirty="0">
                <a:solidFill>
                  <a:srgbClr val="0000FF"/>
                </a:solidFill>
                <a:latin typeface="Verdana"/>
              </a:rPr>
              <a:t>Digital and Logic Design (2)</a:t>
            </a:r>
            <a:endParaRPr lang="en-US" sz="2700" dirty="0">
              <a:solidFill>
                <a:srgbClr val="0000FF"/>
              </a:solidFill>
              <a:latin typeface="Verdana"/>
              <a:cs typeface="Verdana"/>
            </a:endParaRPr>
          </a:p>
        </p:txBody>
      </p:sp>
      <p:pic>
        <p:nvPicPr>
          <p:cNvPr id="2" name="Picture 1" descr="A yellow circle with a logo and text&#10;&#10;Description automatically generated">
            <a:extLst>
              <a:ext uri="{FF2B5EF4-FFF2-40B4-BE49-F238E27FC236}">
                <a16:creationId xmlns:a16="http://schemas.microsoft.com/office/drawing/2014/main" id="{5FCD84C4-FB0F-89AB-BFC0-E872F9C10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05" y="627657"/>
            <a:ext cx="1080000" cy="1154389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5F8D5C6-3169-1438-CEF6-67C05C4AEF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3" t="5173" r="16367" b="5878"/>
          <a:stretch>
            <a:fillRect/>
          </a:stretch>
        </p:blipFill>
        <p:spPr bwMode="auto">
          <a:xfrm>
            <a:off x="10488488" y="663909"/>
            <a:ext cx="1080000" cy="1081883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0992B1-31BE-6BAA-8F6D-535D9D4B0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339" y="4403767"/>
            <a:ext cx="1533537" cy="1911365"/>
          </a:xfrm>
          <a:prstGeom prst="rect">
            <a:avLst/>
          </a:prstGeom>
        </p:spPr>
      </p:pic>
      <p:pic>
        <p:nvPicPr>
          <p:cNvPr id="10" name="Picture 2" descr="G:\08VOL4\Graphics\Powerpoint\PEARSON\CRAIG-PPT\Final files\Craig_final_CVR_HiRes.jpg">
            <a:extLst>
              <a:ext uri="{FF2B5EF4-FFF2-40B4-BE49-F238E27FC236}">
                <a16:creationId xmlns:a16="http://schemas.microsoft.com/office/drawing/2014/main" id="{96DE65B7-F5B1-92CF-2228-79C2F36F3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tretch>
            <a:fillRect/>
          </a:stretch>
        </p:blipFill>
        <p:spPr bwMode="auto">
          <a:xfrm>
            <a:off x="9791694" y="4271127"/>
            <a:ext cx="1566174" cy="19640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2929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C31D43AE-480F-4D55-8F2F-1686D3884592}" type="slidenum">
              <a:rPr lang="en-US" altLang="en-US" sz="900">
                <a:solidFill>
                  <a:prstClr val="white"/>
                </a:solidFill>
                <a:latin typeface="Arial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</a:t>
            </a:fld>
            <a:endParaRPr lang="en-US" altLang="en-US" sz="900">
              <a:solidFill>
                <a:prstClr val="white"/>
              </a:solidFill>
              <a:latin typeface="Arial"/>
            </a:endParaRP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168525"/>
            <a:ext cx="7772400" cy="1430338"/>
          </a:xfrm>
        </p:spPr>
        <p:txBody>
          <a:bodyPr/>
          <a:lstStyle/>
          <a:p>
            <a:pPr algn="ctr"/>
            <a:r>
              <a:rPr lang="en-US" dirty="0"/>
              <a:t>Synchronous Sequential Logic</a:t>
            </a:r>
            <a:br>
              <a:rPr lang="tr-TR" dirty="0">
                <a:latin typeface="Arial" charset="0"/>
              </a:rPr>
            </a:br>
            <a:r>
              <a:rPr lang="tr-TR" dirty="0"/>
              <a:t>Part </a:t>
            </a:r>
            <a:r>
              <a:rPr lang="en-US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1984" y="391075"/>
            <a:ext cx="8391728" cy="634044"/>
          </a:xfrm>
        </p:spPr>
        <p:txBody>
          <a:bodyPr/>
          <a:lstStyle/>
          <a:p>
            <a:pPr algn="l"/>
            <a:r>
              <a:rPr lang="en-US" sz="2400" b="1" dirty="0">
                <a:latin typeface="+mn-lt"/>
              </a:rPr>
              <a:t>Table 5.1: </a:t>
            </a:r>
            <a:r>
              <a:rPr lang="en-IN" sz="2400" b="1" dirty="0">
                <a:latin typeface="+mn-lt"/>
              </a:rPr>
              <a:t>Flip-Flop Characteristic Tables.</a:t>
            </a:r>
            <a:endParaRPr lang="en-US" sz="2400" b="1" dirty="0">
              <a:latin typeface="+mn-lt"/>
            </a:endParaRPr>
          </a:p>
        </p:txBody>
      </p:sp>
      <p:pic>
        <p:nvPicPr>
          <p:cNvPr id="14338" name="Picture 2" descr="Z:\NewMedia\Ebook-Novella\Wiley\jira\Mano_Ciletti6e\Work\Images\ch05\ciletti_6e_table_05_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337" y="917331"/>
            <a:ext cx="5589588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EC2A99AC-FBB2-F8CF-8821-6BA80BC1F8DB}"/>
              </a:ext>
            </a:extLst>
          </p:cNvPr>
          <p:cNvSpPr txBox="1">
            <a:spLocks noChangeArrowheads="1"/>
          </p:cNvSpPr>
          <p:nvPr/>
        </p:nvSpPr>
        <p:spPr>
          <a:xfrm>
            <a:off x="983432" y="1916832"/>
            <a:ext cx="4140460" cy="9747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b="0" kern="0" dirty="0"/>
              <a:t>Characteristic equation</a:t>
            </a:r>
          </a:p>
          <a:p>
            <a:pPr marL="457200" lvl="1" indent="0">
              <a:buNone/>
            </a:pPr>
            <a:r>
              <a:rPr lang="en-US" sz="2000" b="0" kern="0" dirty="0"/>
              <a:t>Q(t+1) = JQ’(t) + K’Q(t)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0848E6-FE7C-9BA0-7708-AE2D55A908B6}"/>
              </a:ext>
            </a:extLst>
          </p:cNvPr>
          <p:cNvSpPr txBox="1">
            <a:spLocks noChangeArrowheads="1"/>
          </p:cNvSpPr>
          <p:nvPr/>
        </p:nvSpPr>
        <p:spPr>
          <a:xfrm>
            <a:off x="742727" y="4329100"/>
            <a:ext cx="3453929" cy="85518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b="0" kern="0" dirty="0"/>
              <a:t>Characteristic equation</a:t>
            </a:r>
          </a:p>
          <a:p>
            <a:pPr marL="457200" lvl="1" indent="0">
              <a:buNone/>
            </a:pPr>
            <a:r>
              <a:rPr lang="en-US" sz="2000" b="0" kern="0" dirty="0"/>
              <a:t>Q(t+1) = </a:t>
            </a:r>
            <a:r>
              <a:rPr lang="tr-TR" sz="2000" b="0" kern="0" dirty="0"/>
              <a:t>D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C2F555C-991B-3019-0A2F-699745101021}"/>
              </a:ext>
            </a:extLst>
          </p:cNvPr>
          <p:cNvSpPr txBox="1">
            <a:spLocks noChangeArrowheads="1"/>
          </p:cNvSpPr>
          <p:nvPr/>
        </p:nvSpPr>
        <p:spPr>
          <a:xfrm>
            <a:off x="6725828" y="5184283"/>
            <a:ext cx="4140460" cy="9747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b="0" kern="0" dirty="0"/>
              <a:t>Characteristic equation</a:t>
            </a:r>
          </a:p>
          <a:p>
            <a:pPr marL="457200" lvl="1" indent="0">
              <a:buNone/>
            </a:pPr>
            <a:r>
              <a:rPr lang="en-US" sz="2000" b="0" kern="0" dirty="0"/>
              <a:t>Q(t+1) = TQ’(t) + T’Q(t)</a:t>
            </a:r>
          </a:p>
        </p:txBody>
      </p:sp>
      <p:sp>
        <p:nvSpPr>
          <p:cNvPr id="6" name="Rectangle 63">
            <a:extLst>
              <a:ext uri="{FF2B5EF4-FFF2-40B4-BE49-F238E27FC236}">
                <a16:creationId xmlns:a16="http://schemas.microsoft.com/office/drawing/2014/main" id="{8D010A2B-F3BC-E1DC-D91C-F13CF8E80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6020" y="5948324"/>
            <a:ext cx="5796644" cy="424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2">
              <a:spcBef>
                <a:spcPct val="20000"/>
              </a:spcBef>
            </a:pPr>
            <a:r>
              <a:rPr lang="en-US" sz="2000" b="0" dirty="0"/>
              <a:t>Q(t+1) =Q(t) </a:t>
            </a:r>
            <a:r>
              <a:rPr lang="en-US" sz="2000" b="0" dirty="0">
                <a:sym typeface="Symbol" panose="05050102010706020507" pitchFamily="18" charset="2"/>
              </a:rPr>
              <a:t> T</a:t>
            </a:r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156513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build="p"/>
      <p:bldP spid="5" grpId="0" build="p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4F3A8-8B7B-0089-7A4C-682E1A1C0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744924"/>
            <a:ext cx="10972800" cy="1066800"/>
          </a:xfrm>
        </p:spPr>
        <p:txBody>
          <a:bodyPr/>
          <a:lstStyle/>
          <a:p>
            <a:r>
              <a:rPr lang="en-US" dirty="0"/>
              <a:t>Excitation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89385-E021-E974-0AE0-B71A013D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979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0EE5-5353-4F3A-9D8A-D9D085F38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Excitation table (D f/f)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2579678-9440-451B-A351-B5FD12A690A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785119" y="2960952"/>
          <a:ext cx="5399112" cy="2484275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799704">
                  <a:extLst>
                    <a:ext uri="{9D8B030D-6E8A-4147-A177-3AD203B41FA5}">
                      <a16:colId xmlns:a16="http://schemas.microsoft.com/office/drawing/2014/main" val="2282689307"/>
                    </a:ext>
                  </a:extLst>
                </a:gridCol>
                <a:gridCol w="1799704">
                  <a:extLst>
                    <a:ext uri="{9D8B030D-6E8A-4147-A177-3AD203B41FA5}">
                      <a16:colId xmlns:a16="http://schemas.microsoft.com/office/drawing/2014/main" val="3716131971"/>
                    </a:ext>
                  </a:extLst>
                </a:gridCol>
                <a:gridCol w="1799704">
                  <a:extLst>
                    <a:ext uri="{9D8B030D-6E8A-4147-A177-3AD203B41FA5}">
                      <a16:colId xmlns:a16="http://schemas.microsoft.com/office/drawing/2014/main" val="4230098253"/>
                    </a:ext>
                  </a:extLst>
                </a:gridCol>
              </a:tblGrid>
              <a:tr h="4968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Q(t)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Q(t+1)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121021"/>
                  </a:ext>
                </a:extLst>
              </a:tr>
              <a:tr h="4968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869280"/>
                  </a:ext>
                </a:extLst>
              </a:tr>
              <a:tr h="4968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980161"/>
                  </a:ext>
                </a:extLst>
              </a:tr>
              <a:tr h="4968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3511378"/>
                  </a:ext>
                </a:extLst>
              </a:tr>
              <a:tr h="4968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07015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C2D06B0-7450-4E9E-AA3A-5F98A0564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123" y="994625"/>
            <a:ext cx="263842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972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0EE5-5353-4F3A-9D8A-D9D085F38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Excitation table (SR f/f)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D9CCC5-401C-4744-A0D2-F7F1B7508E4B}"/>
              </a:ext>
            </a:extLst>
          </p:cNvPr>
          <p:cNvGraphicFramePr>
            <a:graphicFrameLocks noGrp="1"/>
          </p:cNvGraphicFramePr>
          <p:nvPr/>
        </p:nvGraphicFramePr>
        <p:xfrm>
          <a:off x="6586252" y="1064370"/>
          <a:ext cx="3556000" cy="16952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511442077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29783514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790772239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500033429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</a:rPr>
                        <a:t>S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</a:rPr>
                        <a:t>R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</a:rPr>
                        <a:t>Q(t+1)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1370241"/>
                  </a:ext>
                </a:extLst>
              </a:tr>
              <a:tr h="3384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Q(t)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No change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9750451"/>
                  </a:ext>
                </a:extLst>
              </a:tr>
              <a:tr h="3384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Reset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439845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Set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0295541"/>
                  </a:ext>
                </a:extLst>
              </a:tr>
              <a:tr h="3384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?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Undefined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2463378"/>
                  </a:ext>
                </a:extLst>
              </a:tr>
            </a:tbl>
          </a:graphicData>
        </a:graphic>
      </p:graphicFrame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8E0D1A9-2E8C-479D-8C3D-3F569149AA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963655" y="2867644"/>
          <a:ext cx="6139075" cy="322565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27815">
                  <a:extLst>
                    <a:ext uri="{9D8B030D-6E8A-4147-A177-3AD203B41FA5}">
                      <a16:colId xmlns:a16="http://schemas.microsoft.com/office/drawing/2014/main" val="3471091888"/>
                    </a:ext>
                  </a:extLst>
                </a:gridCol>
                <a:gridCol w="1227815">
                  <a:extLst>
                    <a:ext uri="{9D8B030D-6E8A-4147-A177-3AD203B41FA5}">
                      <a16:colId xmlns:a16="http://schemas.microsoft.com/office/drawing/2014/main" val="489025120"/>
                    </a:ext>
                  </a:extLst>
                </a:gridCol>
                <a:gridCol w="1227815">
                  <a:extLst>
                    <a:ext uri="{9D8B030D-6E8A-4147-A177-3AD203B41FA5}">
                      <a16:colId xmlns:a16="http://schemas.microsoft.com/office/drawing/2014/main" val="4263065508"/>
                    </a:ext>
                  </a:extLst>
                </a:gridCol>
                <a:gridCol w="1227815">
                  <a:extLst>
                    <a:ext uri="{9D8B030D-6E8A-4147-A177-3AD203B41FA5}">
                      <a16:colId xmlns:a16="http://schemas.microsoft.com/office/drawing/2014/main" val="1906476750"/>
                    </a:ext>
                  </a:extLst>
                </a:gridCol>
                <a:gridCol w="1227815">
                  <a:extLst>
                    <a:ext uri="{9D8B030D-6E8A-4147-A177-3AD203B41FA5}">
                      <a16:colId xmlns:a16="http://schemas.microsoft.com/office/drawing/2014/main" val="478615462"/>
                    </a:ext>
                  </a:extLst>
                </a:gridCol>
              </a:tblGrid>
              <a:tr h="645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Q(t)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Q(t+1)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88089338"/>
                  </a:ext>
                </a:extLst>
              </a:tr>
              <a:tr h="645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0236446"/>
                  </a:ext>
                </a:extLst>
              </a:tr>
              <a:tr h="645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17887770"/>
                  </a:ext>
                </a:extLst>
              </a:tr>
              <a:tr h="645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706678"/>
                  </a:ext>
                </a:extLst>
              </a:tr>
              <a:tr h="645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9788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621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0EE5-5353-4F3A-9D8A-D9D085F38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Excitation table (SR f/f)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D9CCC5-401C-4744-A0D2-F7F1B7508E4B}"/>
              </a:ext>
            </a:extLst>
          </p:cNvPr>
          <p:cNvGraphicFramePr>
            <a:graphicFrameLocks noGrp="1"/>
          </p:cNvGraphicFramePr>
          <p:nvPr/>
        </p:nvGraphicFramePr>
        <p:xfrm>
          <a:off x="6586252" y="1064370"/>
          <a:ext cx="3556000" cy="16952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511442077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29783514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790772239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500033429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</a:rPr>
                        <a:t>S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</a:rPr>
                        <a:t>R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</a:rPr>
                        <a:t>Q(t+1)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1370241"/>
                  </a:ext>
                </a:extLst>
              </a:tr>
              <a:tr h="3384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Q(t)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No change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9750451"/>
                  </a:ext>
                </a:extLst>
              </a:tr>
              <a:tr h="3384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Reset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439845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Set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0295541"/>
                  </a:ext>
                </a:extLst>
              </a:tr>
              <a:tr h="3384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?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Undefined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2463378"/>
                  </a:ext>
                </a:extLst>
              </a:tr>
            </a:tbl>
          </a:graphicData>
        </a:graphic>
      </p:graphicFrame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8E0D1A9-2E8C-479D-8C3D-3F569149AA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963655" y="2867644"/>
          <a:ext cx="6139075" cy="322565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27815">
                  <a:extLst>
                    <a:ext uri="{9D8B030D-6E8A-4147-A177-3AD203B41FA5}">
                      <a16:colId xmlns:a16="http://schemas.microsoft.com/office/drawing/2014/main" val="3471091888"/>
                    </a:ext>
                  </a:extLst>
                </a:gridCol>
                <a:gridCol w="1227815">
                  <a:extLst>
                    <a:ext uri="{9D8B030D-6E8A-4147-A177-3AD203B41FA5}">
                      <a16:colId xmlns:a16="http://schemas.microsoft.com/office/drawing/2014/main" val="489025120"/>
                    </a:ext>
                  </a:extLst>
                </a:gridCol>
                <a:gridCol w="1227815">
                  <a:extLst>
                    <a:ext uri="{9D8B030D-6E8A-4147-A177-3AD203B41FA5}">
                      <a16:colId xmlns:a16="http://schemas.microsoft.com/office/drawing/2014/main" val="4263065508"/>
                    </a:ext>
                  </a:extLst>
                </a:gridCol>
                <a:gridCol w="1227815">
                  <a:extLst>
                    <a:ext uri="{9D8B030D-6E8A-4147-A177-3AD203B41FA5}">
                      <a16:colId xmlns:a16="http://schemas.microsoft.com/office/drawing/2014/main" val="1906476750"/>
                    </a:ext>
                  </a:extLst>
                </a:gridCol>
                <a:gridCol w="1227815">
                  <a:extLst>
                    <a:ext uri="{9D8B030D-6E8A-4147-A177-3AD203B41FA5}">
                      <a16:colId xmlns:a16="http://schemas.microsoft.com/office/drawing/2014/main" val="478615462"/>
                    </a:ext>
                  </a:extLst>
                </a:gridCol>
              </a:tblGrid>
              <a:tr h="645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Q(t)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Q(t+1)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88089338"/>
                  </a:ext>
                </a:extLst>
              </a:tr>
              <a:tr h="645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x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NC, Reset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0236446"/>
                  </a:ext>
                </a:extLst>
              </a:tr>
              <a:tr h="645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Set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17887770"/>
                  </a:ext>
                </a:extLst>
              </a:tr>
              <a:tr h="645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Reset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706678"/>
                  </a:ext>
                </a:extLst>
              </a:tr>
              <a:tr h="645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x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NC, Set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9788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521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0EE5-5353-4F3A-9D8A-D9D085F38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Excitation table (JK f/f)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8E0D1A9-2E8C-479D-8C3D-3F569149AA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963655" y="2867644"/>
          <a:ext cx="6139075" cy="322565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27815">
                  <a:extLst>
                    <a:ext uri="{9D8B030D-6E8A-4147-A177-3AD203B41FA5}">
                      <a16:colId xmlns:a16="http://schemas.microsoft.com/office/drawing/2014/main" val="3471091888"/>
                    </a:ext>
                  </a:extLst>
                </a:gridCol>
                <a:gridCol w="1227815">
                  <a:extLst>
                    <a:ext uri="{9D8B030D-6E8A-4147-A177-3AD203B41FA5}">
                      <a16:colId xmlns:a16="http://schemas.microsoft.com/office/drawing/2014/main" val="489025120"/>
                    </a:ext>
                  </a:extLst>
                </a:gridCol>
                <a:gridCol w="1227815">
                  <a:extLst>
                    <a:ext uri="{9D8B030D-6E8A-4147-A177-3AD203B41FA5}">
                      <a16:colId xmlns:a16="http://schemas.microsoft.com/office/drawing/2014/main" val="4263065508"/>
                    </a:ext>
                  </a:extLst>
                </a:gridCol>
                <a:gridCol w="1227815">
                  <a:extLst>
                    <a:ext uri="{9D8B030D-6E8A-4147-A177-3AD203B41FA5}">
                      <a16:colId xmlns:a16="http://schemas.microsoft.com/office/drawing/2014/main" val="1906476750"/>
                    </a:ext>
                  </a:extLst>
                </a:gridCol>
                <a:gridCol w="1227815">
                  <a:extLst>
                    <a:ext uri="{9D8B030D-6E8A-4147-A177-3AD203B41FA5}">
                      <a16:colId xmlns:a16="http://schemas.microsoft.com/office/drawing/2014/main" val="478615462"/>
                    </a:ext>
                  </a:extLst>
                </a:gridCol>
              </a:tblGrid>
              <a:tr h="645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Q(t)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Q(t+1)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J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k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88089338"/>
                  </a:ext>
                </a:extLst>
              </a:tr>
              <a:tr h="645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0236446"/>
                  </a:ext>
                </a:extLst>
              </a:tr>
              <a:tr h="645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17887770"/>
                  </a:ext>
                </a:extLst>
              </a:tr>
              <a:tr h="645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706678"/>
                  </a:ext>
                </a:extLst>
              </a:tr>
              <a:tr h="645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978883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A22DC78-F3ED-41E4-A329-990A9C9EE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897" y="1071719"/>
            <a:ext cx="3550606" cy="175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593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0EE5-5353-4F3A-9D8A-D9D085F38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Excitation table (JK f/f)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8E0D1A9-2E8C-479D-8C3D-3F569149AA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801637" y="2984008"/>
          <a:ext cx="6966775" cy="322565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93355">
                  <a:extLst>
                    <a:ext uri="{9D8B030D-6E8A-4147-A177-3AD203B41FA5}">
                      <a16:colId xmlns:a16="http://schemas.microsoft.com/office/drawing/2014/main" val="3471091888"/>
                    </a:ext>
                  </a:extLst>
                </a:gridCol>
                <a:gridCol w="1393355">
                  <a:extLst>
                    <a:ext uri="{9D8B030D-6E8A-4147-A177-3AD203B41FA5}">
                      <a16:colId xmlns:a16="http://schemas.microsoft.com/office/drawing/2014/main" val="489025120"/>
                    </a:ext>
                  </a:extLst>
                </a:gridCol>
                <a:gridCol w="1119724">
                  <a:extLst>
                    <a:ext uri="{9D8B030D-6E8A-4147-A177-3AD203B41FA5}">
                      <a16:colId xmlns:a16="http://schemas.microsoft.com/office/drawing/2014/main" val="42630655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906476750"/>
                    </a:ext>
                  </a:extLst>
                </a:gridCol>
                <a:gridCol w="1980221">
                  <a:extLst>
                    <a:ext uri="{9D8B030D-6E8A-4147-A177-3AD203B41FA5}">
                      <a16:colId xmlns:a16="http://schemas.microsoft.com/office/drawing/2014/main" val="478615462"/>
                    </a:ext>
                  </a:extLst>
                </a:gridCol>
              </a:tblGrid>
              <a:tr h="645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Q(t)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Q(t+1)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J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k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88089338"/>
                  </a:ext>
                </a:extLst>
              </a:tr>
              <a:tr h="645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x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NC, Reset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0236446"/>
                  </a:ext>
                </a:extLst>
              </a:tr>
              <a:tr h="645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x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Set, Complement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17887770"/>
                  </a:ext>
                </a:extLst>
              </a:tr>
              <a:tr h="645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x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Reset, Complement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706678"/>
                  </a:ext>
                </a:extLst>
              </a:tr>
              <a:tr h="645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NC, Set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978883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A22DC78-F3ED-41E4-A329-990A9C9EE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897" y="1071719"/>
            <a:ext cx="3550606" cy="175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146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0EE5-5353-4F3A-9D8A-D9D085F38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Excitation table (T f/f)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2579678-9440-451B-A351-B5FD12A690A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785118" y="2960952"/>
          <a:ext cx="6011182" cy="2484275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618694">
                  <a:extLst>
                    <a:ext uri="{9D8B030D-6E8A-4147-A177-3AD203B41FA5}">
                      <a16:colId xmlns:a16="http://schemas.microsoft.com/office/drawing/2014/main" val="2282689307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716131971"/>
                    </a:ext>
                  </a:extLst>
                </a:gridCol>
                <a:gridCol w="1806448">
                  <a:extLst>
                    <a:ext uri="{9D8B030D-6E8A-4147-A177-3AD203B41FA5}">
                      <a16:colId xmlns:a16="http://schemas.microsoft.com/office/drawing/2014/main" val="4230098253"/>
                    </a:ext>
                  </a:extLst>
                </a:gridCol>
                <a:gridCol w="1001864">
                  <a:extLst>
                    <a:ext uri="{9D8B030D-6E8A-4147-A177-3AD203B41FA5}">
                      <a16:colId xmlns:a16="http://schemas.microsoft.com/office/drawing/2014/main" val="903366222"/>
                    </a:ext>
                  </a:extLst>
                </a:gridCol>
              </a:tblGrid>
              <a:tr h="4968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Q(t)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Q(t+1)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121021"/>
                  </a:ext>
                </a:extLst>
              </a:tr>
              <a:tr h="4968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869280"/>
                  </a:ext>
                </a:extLst>
              </a:tr>
              <a:tr h="4968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980161"/>
                  </a:ext>
                </a:extLst>
              </a:tr>
              <a:tr h="4968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3511378"/>
                  </a:ext>
                </a:extLst>
              </a:tr>
              <a:tr h="4968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07015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53D6831-10A4-4884-AD71-5949D95AD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59" y="1279708"/>
            <a:ext cx="296227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91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41C7A-D9FD-412D-AF91-35623783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accent6"/>
                </a:solidFill>
                <a:effectLst/>
              </a:rPr>
              <a:t>JK Flip Flop using D Flip Flop</a:t>
            </a:r>
            <a:endParaRPr lang="en-US" dirty="0">
              <a:solidFill>
                <a:schemeClr val="accent6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68CC92-AB29-4B7F-8588-2FB1FC77F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575474"/>
              </p:ext>
            </p:extLst>
          </p:nvPr>
        </p:nvGraphicFramePr>
        <p:xfrm>
          <a:off x="2783632" y="1052736"/>
          <a:ext cx="6324600" cy="3635760"/>
        </p:xfrm>
        <a:graphic>
          <a:graphicData uri="http://schemas.openxmlformats.org/drawingml/2006/table">
            <a:tbl>
              <a:tblPr firstRow="1" lastCol="1" bandRow="1">
                <a:tableStyleId>{93296810-A885-4BE3-A3E7-6D5BEEA58F35}</a:tableStyleId>
              </a:tblPr>
              <a:tblGrid>
                <a:gridCol w="1015731">
                  <a:extLst>
                    <a:ext uri="{9D8B030D-6E8A-4147-A177-3AD203B41FA5}">
                      <a16:colId xmlns:a16="http://schemas.microsoft.com/office/drawing/2014/main" val="1873934535"/>
                    </a:ext>
                  </a:extLst>
                </a:gridCol>
                <a:gridCol w="1075182">
                  <a:extLst>
                    <a:ext uri="{9D8B030D-6E8A-4147-A177-3AD203B41FA5}">
                      <a16:colId xmlns:a16="http://schemas.microsoft.com/office/drawing/2014/main" val="4220558828"/>
                    </a:ext>
                  </a:extLst>
                </a:gridCol>
                <a:gridCol w="1371173">
                  <a:extLst>
                    <a:ext uri="{9D8B030D-6E8A-4147-A177-3AD203B41FA5}">
                      <a16:colId xmlns:a16="http://schemas.microsoft.com/office/drawing/2014/main" val="4069283632"/>
                    </a:ext>
                  </a:extLst>
                </a:gridCol>
                <a:gridCol w="1739265">
                  <a:extLst>
                    <a:ext uri="{9D8B030D-6E8A-4147-A177-3AD203B41FA5}">
                      <a16:colId xmlns:a16="http://schemas.microsoft.com/office/drawing/2014/main" val="1541736946"/>
                    </a:ext>
                  </a:extLst>
                </a:gridCol>
                <a:gridCol w="1123249">
                  <a:extLst>
                    <a:ext uri="{9D8B030D-6E8A-4147-A177-3AD203B41FA5}">
                      <a16:colId xmlns:a16="http://schemas.microsoft.com/office/drawing/2014/main" val="7454914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J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K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Q(t)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Q(t+1)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928774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456099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328039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811484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779550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124834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441160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711124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43803800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C8C86E4-B572-4034-A7E3-8BF20EF20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408" y="4725147"/>
            <a:ext cx="3474720" cy="179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76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71472" y="432756"/>
            <a:ext cx="8391728" cy="710244"/>
          </a:xfrm>
        </p:spPr>
        <p:txBody>
          <a:bodyPr/>
          <a:lstStyle/>
          <a:p>
            <a:r>
              <a:rPr lang="en-IN" sz="3600" i="1" dirty="0">
                <a:latin typeface="+mn-lt"/>
              </a:rPr>
              <a:t>JK</a:t>
            </a:r>
            <a:r>
              <a:rPr lang="en-IN" sz="3600" dirty="0">
                <a:latin typeface="+mn-lt"/>
              </a:rPr>
              <a:t> flip-flop.</a:t>
            </a:r>
            <a:endParaRPr lang="en-US" sz="3600" dirty="0">
              <a:latin typeface="+mn-lt"/>
            </a:endParaRPr>
          </a:p>
        </p:txBody>
      </p:sp>
      <p:pic>
        <p:nvPicPr>
          <p:cNvPr id="12290" name="Picture 2" descr="Part ay: circuit diagram. The structure has three levels. Level 1. First and gate: inputs J and feedback Q prime. Second and gate: K prime and feedback Q. Level 2. Or gate: inputs from first and second level 1 and gates. Level 3. Positive edge latch: input from level 2 or gate at D. The latch produces outputs Q and Q prime corresponding to D and C l k. Part b: graphic symbol. The latch rectangle has the following inputs on its left side from top to bottom: J, arrowhead with C l k, and K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936268"/>
            <a:ext cx="8077200" cy="2983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398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1C226-584F-480A-AED6-3AEFB3B3B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accent6"/>
                </a:solidFill>
                <a:effectLst/>
              </a:rPr>
              <a:t>T Flip Flop using JK Flip Flop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DE7A20F-3BE0-4F4E-B86E-FDC68428F3F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387591" y="2096855"/>
          <a:ext cx="5200775" cy="327636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0155">
                  <a:extLst>
                    <a:ext uri="{9D8B030D-6E8A-4147-A177-3AD203B41FA5}">
                      <a16:colId xmlns:a16="http://schemas.microsoft.com/office/drawing/2014/main" val="2294415027"/>
                    </a:ext>
                  </a:extLst>
                </a:gridCol>
                <a:gridCol w="1040155">
                  <a:extLst>
                    <a:ext uri="{9D8B030D-6E8A-4147-A177-3AD203B41FA5}">
                      <a16:colId xmlns:a16="http://schemas.microsoft.com/office/drawing/2014/main" val="1955909127"/>
                    </a:ext>
                  </a:extLst>
                </a:gridCol>
                <a:gridCol w="1040155">
                  <a:extLst>
                    <a:ext uri="{9D8B030D-6E8A-4147-A177-3AD203B41FA5}">
                      <a16:colId xmlns:a16="http://schemas.microsoft.com/office/drawing/2014/main" val="952458916"/>
                    </a:ext>
                  </a:extLst>
                </a:gridCol>
                <a:gridCol w="1040155">
                  <a:extLst>
                    <a:ext uri="{9D8B030D-6E8A-4147-A177-3AD203B41FA5}">
                      <a16:colId xmlns:a16="http://schemas.microsoft.com/office/drawing/2014/main" val="77721838"/>
                    </a:ext>
                  </a:extLst>
                </a:gridCol>
                <a:gridCol w="1040155">
                  <a:extLst>
                    <a:ext uri="{9D8B030D-6E8A-4147-A177-3AD203B41FA5}">
                      <a16:colId xmlns:a16="http://schemas.microsoft.com/office/drawing/2014/main" val="2234198124"/>
                    </a:ext>
                  </a:extLst>
                </a:gridCol>
              </a:tblGrid>
              <a:tr h="6552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Q(t)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Q(t+1)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J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K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316407"/>
                  </a:ext>
                </a:extLst>
              </a:tr>
              <a:tr h="6552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x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83077"/>
                  </a:ext>
                </a:extLst>
              </a:tr>
              <a:tr h="6552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x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47552"/>
                  </a:ext>
                </a:extLst>
              </a:tr>
              <a:tr h="6552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x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8165"/>
                  </a:ext>
                </a:extLst>
              </a:tr>
              <a:tr h="6552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x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0282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D074313-566B-4D87-9B20-7CFD30AC7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866" y="1066800"/>
            <a:ext cx="2697537" cy="175013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C2716BC-A9E9-476C-B602-A6A9F4DE4301}"/>
              </a:ext>
            </a:extLst>
          </p:cNvPr>
          <p:cNvSpPr txBox="1">
            <a:spLocks/>
          </p:cNvSpPr>
          <p:nvPr/>
        </p:nvSpPr>
        <p:spPr bwMode="auto">
          <a:xfrm>
            <a:off x="2819639" y="5625244"/>
            <a:ext cx="5112569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2"/>
                </a:solidFill>
                <a:latin typeface="Comic Sans MS" pitchFamily="66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2"/>
                </a:solidFill>
                <a:latin typeface="Comic Sans MS" pitchFamily="66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2"/>
                </a:solidFill>
                <a:latin typeface="Comic Sans MS" pitchFamily="66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2"/>
                </a:solidFill>
                <a:latin typeface="Comic Sans MS" pitchFamily="66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2"/>
                </a:solidFill>
                <a:latin typeface="Comic Sans MS" pitchFamily="66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2"/>
                </a:solidFill>
                <a:latin typeface="Comic Sans MS" pitchFamily="66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2"/>
                </a:solidFill>
                <a:latin typeface="Comic Sans MS" pitchFamily="66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2"/>
                </a:solidFill>
                <a:latin typeface="Comic Sans MS" pitchFamily="66" charset="0"/>
              </a:defRPr>
            </a:lvl9pPr>
          </a:lstStyle>
          <a:p>
            <a:r>
              <a:rPr lang="en-US" b="0" kern="0" dirty="0">
                <a:solidFill>
                  <a:schemeClr val="accent6"/>
                </a:solidFill>
              </a:rPr>
              <a:t>J = K  = T</a:t>
            </a:r>
            <a:endParaRPr lang="en-US" b="0" kern="0" dirty="0"/>
          </a:p>
        </p:txBody>
      </p:sp>
      <p:grpSp>
        <p:nvGrpSpPr>
          <p:cNvPr id="3" name="Group 101"/>
          <p:cNvGrpSpPr>
            <a:grpSpLocks/>
          </p:cNvGrpSpPr>
          <p:nvPr/>
        </p:nvGrpSpPr>
        <p:grpSpPr bwMode="auto">
          <a:xfrm>
            <a:off x="7924796" y="4943413"/>
            <a:ext cx="3132138" cy="1363662"/>
            <a:chOff x="146" y="3221"/>
            <a:chExt cx="1973" cy="859"/>
          </a:xfrm>
        </p:grpSpPr>
        <p:sp>
          <p:nvSpPr>
            <p:cNvPr id="28713" name="Rectangle 64"/>
            <p:cNvSpPr>
              <a:spLocks noChangeArrowheads="1"/>
            </p:cNvSpPr>
            <p:nvPr/>
          </p:nvSpPr>
          <p:spPr bwMode="auto">
            <a:xfrm>
              <a:off x="986" y="3221"/>
              <a:ext cx="695" cy="85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endParaRPr lang="tr-TR" sz="1800" b="0">
                <a:solidFill>
                  <a:schemeClr val="bg1"/>
                </a:solidFill>
              </a:endParaRPr>
            </a:p>
          </p:txBody>
        </p:sp>
        <p:sp>
          <p:nvSpPr>
            <p:cNvPr id="28714" name="Line 65"/>
            <p:cNvSpPr>
              <a:spLocks noChangeShapeType="1"/>
            </p:cNvSpPr>
            <p:nvPr/>
          </p:nvSpPr>
          <p:spPr bwMode="auto">
            <a:xfrm flipH="1">
              <a:off x="712" y="3675"/>
              <a:ext cx="2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15" name="Text Box 66"/>
            <p:cNvSpPr txBox="1">
              <a:spLocks noChangeArrowheads="1"/>
            </p:cNvSpPr>
            <p:nvPr/>
          </p:nvSpPr>
          <p:spPr bwMode="auto">
            <a:xfrm>
              <a:off x="1013" y="3297"/>
              <a:ext cx="9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J</a:t>
              </a:r>
            </a:p>
          </p:txBody>
        </p:sp>
        <p:sp>
          <p:nvSpPr>
            <p:cNvPr id="28716" name="Line 67"/>
            <p:cNvSpPr>
              <a:spLocks noChangeShapeType="1"/>
            </p:cNvSpPr>
            <p:nvPr/>
          </p:nvSpPr>
          <p:spPr bwMode="auto">
            <a:xfrm flipH="1">
              <a:off x="1681" y="3376"/>
              <a:ext cx="4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17" name="Text Box 68"/>
            <p:cNvSpPr txBox="1">
              <a:spLocks noChangeArrowheads="1"/>
            </p:cNvSpPr>
            <p:nvPr/>
          </p:nvSpPr>
          <p:spPr bwMode="auto">
            <a:xfrm>
              <a:off x="1495" y="3285"/>
              <a:ext cx="12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Q</a:t>
              </a:r>
            </a:p>
          </p:txBody>
        </p:sp>
        <p:sp>
          <p:nvSpPr>
            <p:cNvPr id="28718" name="AutoShape 69"/>
            <p:cNvSpPr>
              <a:spLocks noChangeArrowheads="1"/>
            </p:cNvSpPr>
            <p:nvPr/>
          </p:nvSpPr>
          <p:spPr bwMode="auto">
            <a:xfrm rot="5400000">
              <a:off x="986" y="3615"/>
              <a:ext cx="131" cy="119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8719" name="Text Box 70"/>
            <p:cNvSpPr txBox="1">
              <a:spLocks noChangeArrowheads="1"/>
            </p:cNvSpPr>
            <p:nvPr/>
          </p:nvSpPr>
          <p:spPr bwMode="auto">
            <a:xfrm>
              <a:off x="1117" y="3588"/>
              <a:ext cx="8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28720" name="Line 71"/>
            <p:cNvSpPr>
              <a:spLocks noChangeShapeType="1"/>
            </p:cNvSpPr>
            <p:nvPr/>
          </p:nvSpPr>
          <p:spPr bwMode="auto">
            <a:xfrm flipH="1">
              <a:off x="431" y="3385"/>
              <a:ext cx="5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21" name="Oval 72"/>
            <p:cNvSpPr>
              <a:spLocks noChangeArrowheads="1"/>
            </p:cNvSpPr>
            <p:nvPr/>
          </p:nvSpPr>
          <p:spPr bwMode="auto">
            <a:xfrm>
              <a:off x="1690" y="3865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8722" name="Line 73"/>
            <p:cNvSpPr>
              <a:spLocks noChangeShapeType="1"/>
            </p:cNvSpPr>
            <p:nvPr/>
          </p:nvSpPr>
          <p:spPr bwMode="auto">
            <a:xfrm flipH="1">
              <a:off x="1782" y="3906"/>
              <a:ext cx="3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23" name="Text Box 74"/>
            <p:cNvSpPr txBox="1">
              <a:spLocks noChangeArrowheads="1"/>
            </p:cNvSpPr>
            <p:nvPr/>
          </p:nvSpPr>
          <p:spPr bwMode="auto">
            <a:xfrm>
              <a:off x="1018" y="3851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K</a:t>
              </a:r>
            </a:p>
          </p:txBody>
        </p:sp>
        <p:sp>
          <p:nvSpPr>
            <p:cNvPr id="28724" name="Line 75"/>
            <p:cNvSpPr>
              <a:spLocks noChangeShapeType="1"/>
            </p:cNvSpPr>
            <p:nvPr/>
          </p:nvSpPr>
          <p:spPr bwMode="auto">
            <a:xfrm flipH="1">
              <a:off x="533" y="3939"/>
              <a:ext cx="46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25" name="Line 76"/>
            <p:cNvSpPr>
              <a:spLocks noChangeShapeType="1"/>
            </p:cNvSpPr>
            <p:nvPr/>
          </p:nvSpPr>
          <p:spPr bwMode="auto">
            <a:xfrm>
              <a:off x="536" y="3382"/>
              <a:ext cx="0" cy="5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26" name="Oval 77"/>
            <p:cNvSpPr>
              <a:spLocks noChangeArrowheads="1"/>
            </p:cNvSpPr>
            <p:nvPr/>
          </p:nvSpPr>
          <p:spPr bwMode="auto">
            <a:xfrm>
              <a:off x="512" y="3357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8727" name="Text Box 78"/>
            <p:cNvSpPr txBox="1">
              <a:spLocks noChangeArrowheads="1"/>
            </p:cNvSpPr>
            <p:nvPr/>
          </p:nvSpPr>
          <p:spPr bwMode="auto">
            <a:xfrm>
              <a:off x="146" y="3238"/>
              <a:ext cx="24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0"/>
                <a:t>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2232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1C226-584F-480A-AED6-3AEFB3B3B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accent6"/>
                </a:solidFill>
                <a:effectLst/>
              </a:rPr>
              <a:t>T Flip Flop using D Flip Flop</a:t>
            </a: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0FB428D1-DBF9-428C-9B36-1606F65A47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5683118"/>
              </p:ext>
            </p:extLst>
          </p:nvPr>
        </p:nvGraphicFramePr>
        <p:xfrm>
          <a:off x="1148039" y="1283928"/>
          <a:ext cx="5001220" cy="34811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50305">
                  <a:extLst>
                    <a:ext uri="{9D8B030D-6E8A-4147-A177-3AD203B41FA5}">
                      <a16:colId xmlns:a16="http://schemas.microsoft.com/office/drawing/2014/main" val="1139786037"/>
                    </a:ext>
                  </a:extLst>
                </a:gridCol>
                <a:gridCol w="1250305">
                  <a:extLst>
                    <a:ext uri="{9D8B030D-6E8A-4147-A177-3AD203B41FA5}">
                      <a16:colId xmlns:a16="http://schemas.microsoft.com/office/drawing/2014/main" val="1052886244"/>
                    </a:ext>
                  </a:extLst>
                </a:gridCol>
                <a:gridCol w="1250305">
                  <a:extLst>
                    <a:ext uri="{9D8B030D-6E8A-4147-A177-3AD203B41FA5}">
                      <a16:colId xmlns:a16="http://schemas.microsoft.com/office/drawing/2014/main" val="1000125973"/>
                    </a:ext>
                  </a:extLst>
                </a:gridCol>
                <a:gridCol w="1250305">
                  <a:extLst>
                    <a:ext uri="{9D8B030D-6E8A-4147-A177-3AD203B41FA5}">
                      <a16:colId xmlns:a16="http://schemas.microsoft.com/office/drawing/2014/main" val="4065490601"/>
                    </a:ext>
                  </a:extLst>
                </a:gridCol>
              </a:tblGrid>
              <a:tr h="6962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T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Q(t)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Q(t+1)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D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675092175"/>
                  </a:ext>
                </a:extLst>
              </a:tr>
              <a:tr h="6962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191687926"/>
                  </a:ext>
                </a:extLst>
              </a:tr>
              <a:tr h="6962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111390193"/>
                  </a:ext>
                </a:extLst>
              </a:tr>
              <a:tr h="6962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US" sz="240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974104936"/>
                  </a:ext>
                </a:extLst>
              </a:tr>
              <a:tr h="6962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430802853"/>
                  </a:ext>
                </a:extLst>
              </a:tr>
            </a:tbl>
          </a:graphicData>
        </a:graphic>
      </p:graphicFrame>
      <p:grpSp>
        <p:nvGrpSpPr>
          <p:cNvPr id="4" name="Group 103"/>
          <p:cNvGrpSpPr>
            <a:grpSpLocks/>
          </p:cNvGrpSpPr>
          <p:nvPr/>
        </p:nvGrpSpPr>
        <p:grpSpPr bwMode="auto">
          <a:xfrm>
            <a:off x="8398892" y="3924935"/>
            <a:ext cx="2233612" cy="1363663"/>
            <a:chOff x="3273" y="3216"/>
            <a:chExt cx="1407" cy="859"/>
          </a:xfrm>
        </p:grpSpPr>
        <p:sp>
          <p:nvSpPr>
            <p:cNvPr id="28704" name="Rectangle 79"/>
            <p:cNvSpPr>
              <a:spLocks noChangeArrowheads="1"/>
            </p:cNvSpPr>
            <p:nvPr/>
          </p:nvSpPr>
          <p:spPr bwMode="auto">
            <a:xfrm>
              <a:off x="3547" y="3216"/>
              <a:ext cx="695" cy="85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endParaRPr lang="tr-TR" sz="1800" b="0">
                <a:solidFill>
                  <a:schemeClr val="bg1"/>
                </a:solidFill>
              </a:endParaRPr>
            </a:p>
          </p:txBody>
        </p:sp>
        <p:sp>
          <p:nvSpPr>
            <p:cNvPr id="28705" name="Line 80"/>
            <p:cNvSpPr>
              <a:spLocks noChangeShapeType="1"/>
            </p:cNvSpPr>
            <p:nvPr/>
          </p:nvSpPr>
          <p:spPr bwMode="auto">
            <a:xfrm flipH="1">
              <a:off x="3273" y="3670"/>
              <a:ext cx="2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06" name="Text Box 81"/>
            <p:cNvSpPr txBox="1">
              <a:spLocks noChangeArrowheads="1"/>
            </p:cNvSpPr>
            <p:nvPr/>
          </p:nvSpPr>
          <p:spPr bwMode="auto">
            <a:xfrm>
              <a:off x="3574" y="3292"/>
              <a:ext cx="10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28707" name="Line 82"/>
            <p:cNvSpPr>
              <a:spLocks noChangeShapeType="1"/>
            </p:cNvSpPr>
            <p:nvPr/>
          </p:nvSpPr>
          <p:spPr bwMode="auto">
            <a:xfrm flipH="1">
              <a:off x="4242" y="3371"/>
              <a:ext cx="4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08" name="Text Box 83"/>
            <p:cNvSpPr txBox="1">
              <a:spLocks noChangeArrowheads="1"/>
            </p:cNvSpPr>
            <p:nvPr/>
          </p:nvSpPr>
          <p:spPr bwMode="auto">
            <a:xfrm>
              <a:off x="4056" y="3280"/>
              <a:ext cx="12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Q</a:t>
              </a:r>
            </a:p>
          </p:txBody>
        </p:sp>
        <p:sp>
          <p:nvSpPr>
            <p:cNvPr id="28709" name="AutoShape 84"/>
            <p:cNvSpPr>
              <a:spLocks noChangeArrowheads="1"/>
            </p:cNvSpPr>
            <p:nvPr/>
          </p:nvSpPr>
          <p:spPr bwMode="auto">
            <a:xfrm rot="5400000">
              <a:off x="3547" y="3610"/>
              <a:ext cx="131" cy="119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8710" name="Text Box 85"/>
            <p:cNvSpPr txBox="1">
              <a:spLocks noChangeArrowheads="1"/>
            </p:cNvSpPr>
            <p:nvPr/>
          </p:nvSpPr>
          <p:spPr bwMode="auto">
            <a:xfrm>
              <a:off x="3678" y="3583"/>
              <a:ext cx="8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28711" name="Oval 87"/>
            <p:cNvSpPr>
              <a:spLocks noChangeArrowheads="1"/>
            </p:cNvSpPr>
            <p:nvPr/>
          </p:nvSpPr>
          <p:spPr bwMode="auto">
            <a:xfrm>
              <a:off x="4251" y="3860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8712" name="Line 88"/>
            <p:cNvSpPr>
              <a:spLocks noChangeShapeType="1"/>
            </p:cNvSpPr>
            <p:nvPr/>
          </p:nvSpPr>
          <p:spPr bwMode="auto">
            <a:xfrm flipH="1">
              <a:off x="4343" y="3901"/>
              <a:ext cx="3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104"/>
          <p:cNvGrpSpPr>
            <a:grpSpLocks/>
          </p:cNvGrpSpPr>
          <p:nvPr/>
        </p:nvGrpSpPr>
        <p:grpSpPr bwMode="auto">
          <a:xfrm>
            <a:off x="6997129" y="3609020"/>
            <a:ext cx="3309938" cy="933450"/>
            <a:chOff x="2390" y="3017"/>
            <a:chExt cx="2085" cy="588"/>
          </a:xfrm>
        </p:grpSpPr>
        <p:sp>
          <p:nvSpPr>
            <p:cNvPr id="28694" name="Line 86"/>
            <p:cNvSpPr>
              <a:spLocks noChangeShapeType="1"/>
            </p:cNvSpPr>
            <p:nvPr/>
          </p:nvSpPr>
          <p:spPr bwMode="auto">
            <a:xfrm flipH="1">
              <a:off x="2819" y="3023"/>
              <a:ext cx="16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8695" name="Group 90"/>
            <p:cNvGrpSpPr>
              <a:grpSpLocks/>
            </p:cNvGrpSpPr>
            <p:nvPr/>
          </p:nvGrpSpPr>
          <p:grpSpPr bwMode="auto">
            <a:xfrm>
              <a:off x="2830" y="3210"/>
              <a:ext cx="706" cy="333"/>
              <a:chOff x="3280" y="1859"/>
              <a:chExt cx="706" cy="333"/>
            </a:xfrm>
          </p:grpSpPr>
          <p:sp>
            <p:nvSpPr>
              <p:cNvPr id="28701" name="Freeform 91"/>
              <p:cNvSpPr>
                <a:spLocks noEditPoints="1"/>
              </p:cNvSpPr>
              <p:nvPr/>
            </p:nvSpPr>
            <p:spPr bwMode="auto">
              <a:xfrm>
                <a:off x="3280" y="1936"/>
                <a:ext cx="706" cy="178"/>
              </a:xfrm>
              <a:custGeom>
                <a:avLst/>
                <a:gdLst>
                  <a:gd name="T0" fmla="*/ 0 w 493"/>
                  <a:gd name="T1" fmla="*/ 0 h 130"/>
                  <a:gd name="T2" fmla="*/ 1948310 w 493"/>
                  <a:gd name="T3" fmla="*/ 0 h 130"/>
                  <a:gd name="T4" fmla="*/ 0 w 493"/>
                  <a:gd name="T5" fmla="*/ 335633 h 130"/>
                  <a:gd name="T6" fmla="*/ 1948310 w 493"/>
                  <a:gd name="T7" fmla="*/ 335633 h 130"/>
                  <a:gd name="T8" fmla="*/ 3907964 w 493"/>
                  <a:gd name="T9" fmla="*/ 168495 h 130"/>
                  <a:gd name="T10" fmla="*/ 1948310 w 493"/>
                  <a:gd name="T11" fmla="*/ 168495 h 13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93"/>
                  <a:gd name="T19" fmla="*/ 0 h 130"/>
                  <a:gd name="T20" fmla="*/ 493 w 493"/>
                  <a:gd name="T21" fmla="*/ 130 h 13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93" h="130">
                    <a:moveTo>
                      <a:pt x="0" y="0"/>
                    </a:moveTo>
                    <a:lnTo>
                      <a:pt x="246" y="0"/>
                    </a:lnTo>
                    <a:moveTo>
                      <a:pt x="0" y="130"/>
                    </a:moveTo>
                    <a:lnTo>
                      <a:pt x="246" y="130"/>
                    </a:lnTo>
                    <a:moveTo>
                      <a:pt x="493" y="65"/>
                    </a:moveTo>
                    <a:lnTo>
                      <a:pt x="246" y="65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8702" name="Freeform 92"/>
              <p:cNvSpPr>
                <a:spLocks/>
              </p:cNvSpPr>
              <p:nvPr/>
            </p:nvSpPr>
            <p:spPr bwMode="auto">
              <a:xfrm>
                <a:off x="3471" y="1859"/>
                <a:ext cx="349" cy="333"/>
              </a:xfrm>
              <a:custGeom>
                <a:avLst/>
                <a:gdLst>
                  <a:gd name="T0" fmla="*/ 2147483647 w 40"/>
                  <a:gd name="T1" fmla="*/ 2147483647 h 30"/>
                  <a:gd name="T2" fmla="*/ 2147483647 w 40"/>
                  <a:gd name="T3" fmla="*/ 2147483647 h 30"/>
                  <a:gd name="T4" fmla="*/ 2147483647 w 40"/>
                  <a:gd name="T5" fmla="*/ 2147483647 h 30"/>
                  <a:gd name="T6" fmla="*/ 0 w 40"/>
                  <a:gd name="T7" fmla="*/ 2147483647 h 30"/>
                  <a:gd name="T8" fmla="*/ 0 w 40"/>
                  <a:gd name="T9" fmla="*/ 0 h 30"/>
                  <a:gd name="T10" fmla="*/ 0 w 40"/>
                  <a:gd name="T11" fmla="*/ 0 h 30"/>
                  <a:gd name="T12" fmla="*/ 2147483647 w 40"/>
                  <a:gd name="T13" fmla="*/ 0 h 30"/>
                  <a:gd name="T14" fmla="*/ 2147483647 w 40"/>
                  <a:gd name="T15" fmla="*/ 2147483647 h 3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0"/>
                  <a:gd name="T25" fmla="*/ 0 h 30"/>
                  <a:gd name="T26" fmla="*/ 40 w 40"/>
                  <a:gd name="T27" fmla="*/ 30 h 3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0" h="30">
                    <a:moveTo>
                      <a:pt x="40" y="15"/>
                    </a:moveTo>
                    <a:cubicBezTo>
                      <a:pt x="35" y="23"/>
                      <a:pt x="25" y="28"/>
                      <a:pt x="12" y="30"/>
                    </a:cubicBezTo>
                    <a:lnTo>
                      <a:pt x="0" y="30"/>
                    </a:lnTo>
                    <a:cubicBezTo>
                      <a:pt x="8" y="21"/>
                      <a:pt x="8" y="10"/>
                      <a:pt x="0" y="0"/>
                    </a:cubicBezTo>
                    <a:lnTo>
                      <a:pt x="12" y="0"/>
                    </a:lnTo>
                    <a:cubicBezTo>
                      <a:pt x="25" y="2"/>
                      <a:pt x="35" y="8"/>
                      <a:pt x="40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8703" name="Freeform 93"/>
              <p:cNvSpPr>
                <a:spLocks noEditPoints="1"/>
              </p:cNvSpPr>
              <p:nvPr/>
            </p:nvSpPr>
            <p:spPr bwMode="auto">
              <a:xfrm>
                <a:off x="3436" y="1859"/>
                <a:ext cx="384" cy="333"/>
              </a:xfrm>
              <a:custGeom>
                <a:avLst/>
                <a:gdLst>
                  <a:gd name="T0" fmla="*/ 2147483647 w 44"/>
                  <a:gd name="T1" fmla="*/ 2147483647 h 30"/>
                  <a:gd name="T2" fmla="*/ 2147483647 w 44"/>
                  <a:gd name="T3" fmla="*/ 2147483647 h 30"/>
                  <a:gd name="T4" fmla="*/ 2147483647 w 44"/>
                  <a:gd name="T5" fmla="*/ 2147483647 h 30"/>
                  <a:gd name="T6" fmla="*/ 2147483647 w 44"/>
                  <a:gd name="T7" fmla="*/ 2147483647 h 30"/>
                  <a:gd name="T8" fmla="*/ 2147483647 w 44"/>
                  <a:gd name="T9" fmla="*/ 0 h 30"/>
                  <a:gd name="T10" fmla="*/ 2147483647 w 44"/>
                  <a:gd name="T11" fmla="*/ 0 h 30"/>
                  <a:gd name="T12" fmla="*/ 2147483647 w 44"/>
                  <a:gd name="T13" fmla="*/ 0 h 30"/>
                  <a:gd name="T14" fmla="*/ 2147483647 w 44"/>
                  <a:gd name="T15" fmla="*/ 2147483647 h 30"/>
                  <a:gd name="T16" fmla="*/ 0 w 44"/>
                  <a:gd name="T17" fmla="*/ 2147483647 h 30"/>
                  <a:gd name="T18" fmla="*/ 0 w 44"/>
                  <a:gd name="T19" fmla="*/ 0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4"/>
                  <a:gd name="T31" fmla="*/ 0 h 30"/>
                  <a:gd name="T32" fmla="*/ 44 w 44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4" h="30">
                    <a:moveTo>
                      <a:pt x="44" y="15"/>
                    </a:moveTo>
                    <a:cubicBezTo>
                      <a:pt x="39" y="23"/>
                      <a:pt x="29" y="28"/>
                      <a:pt x="16" y="30"/>
                    </a:cubicBezTo>
                    <a:lnTo>
                      <a:pt x="4" y="30"/>
                    </a:lnTo>
                    <a:cubicBezTo>
                      <a:pt x="12" y="21"/>
                      <a:pt x="12" y="10"/>
                      <a:pt x="4" y="0"/>
                    </a:cubicBezTo>
                    <a:lnTo>
                      <a:pt x="16" y="0"/>
                    </a:lnTo>
                    <a:cubicBezTo>
                      <a:pt x="29" y="2"/>
                      <a:pt x="39" y="8"/>
                      <a:pt x="44" y="15"/>
                    </a:cubicBezTo>
                    <a:moveTo>
                      <a:pt x="0" y="30"/>
                    </a:moveTo>
                    <a:cubicBezTo>
                      <a:pt x="8" y="21"/>
                      <a:pt x="8" y="10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</p:grpSp>
        <p:sp>
          <p:nvSpPr>
            <p:cNvPr id="28696" name="Line 95"/>
            <p:cNvSpPr>
              <a:spLocks noChangeShapeType="1"/>
            </p:cNvSpPr>
            <p:nvPr/>
          </p:nvSpPr>
          <p:spPr bwMode="auto">
            <a:xfrm>
              <a:off x="4443" y="3017"/>
              <a:ext cx="0" cy="3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97" name="Oval 96"/>
            <p:cNvSpPr>
              <a:spLocks noChangeArrowheads="1"/>
            </p:cNvSpPr>
            <p:nvPr/>
          </p:nvSpPr>
          <p:spPr bwMode="auto">
            <a:xfrm>
              <a:off x="4419" y="3333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8698" name="Line 97"/>
            <p:cNvSpPr>
              <a:spLocks noChangeShapeType="1"/>
            </p:cNvSpPr>
            <p:nvPr/>
          </p:nvSpPr>
          <p:spPr bwMode="auto">
            <a:xfrm>
              <a:off x="2830" y="3017"/>
              <a:ext cx="0" cy="26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99" name="Line 98"/>
            <p:cNvSpPr>
              <a:spLocks noChangeShapeType="1"/>
            </p:cNvSpPr>
            <p:nvPr/>
          </p:nvSpPr>
          <p:spPr bwMode="auto">
            <a:xfrm flipH="1">
              <a:off x="2624" y="3464"/>
              <a:ext cx="2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00" name="Text Box 99"/>
            <p:cNvSpPr txBox="1">
              <a:spLocks noChangeArrowheads="1"/>
            </p:cNvSpPr>
            <p:nvPr/>
          </p:nvSpPr>
          <p:spPr bwMode="auto">
            <a:xfrm>
              <a:off x="2390" y="3317"/>
              <a:ext cx="24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0"/>
                <a:t>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540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>
            <a:extLst>
              <a:ext uri="{FF2B5EF4-FFF2-40B4-BE49-F238E27FC236}">
                <a16:creationId xmlns:a16="http://schemas.microsoft.com/office/drawing/2014/main" id="{3F72D4B0-DBAF-47ED-8510-C635A7AEE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Flip-flop Behavior Example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3DC831FE-9BD8-464D-9282-8C61FEC99E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01838" y="1136653"/>
            <a:ext cx="8102600" cy="5027613"/>
          </a:xfrm>
        </p:spPr>
        <p:txBody>
          <a:bodyPr/>
          <a:lstStyle/>
          <a:p>
            <a:r>
              <a:rPr lang="en-US" altLang="zh-TW" sz="2400" dirty="0">
                <a:ea typeface="新細明體" panose="02020500000000000000" pitchFamily="18" charset="-120"/>
              </a:rPr>
              <a:t>Use the characteristic tables to find the output waveforms for the flip-flop shown:</a:t>
            </a:r>
          </a:p>
        </p:txBody>
      </p:sp>
      <p:sp>
        <p:nvSpPr>
          <p:cNvPr id="47110" name="Line 40">
            <a:extLst>
              <a:ext uri="{FF2B5EF4-FFF2-40B4-BE49-F238E27FC236}">
                <a16:creationId xmlns:a16="http://schemas.microsoft.com/office/drawing/2014/main" id="{F10E06D9-6363-4556-ACAC-A396D4BCB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8816" y="2576513"/>
            <a:ext cx="85725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1" name="Line 41">
            <a:extLst>
              <a:ext uri="{FF2B5EF4-FFF2-40B4-BE49-F238E27FC236}">
                <a16:creationId xmlns:a16="http://schemas.microsoft.com/office/drawing/2014/main" id="{DEE9BB16-3C41-40B6-A989-012856E1AB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4538" y="2581275"/>
            <a:ext cx="0" cy="1143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2" name="Line 57">
            <a:extLst>
              <a:ext uri="{FF2B5EF4-FFF2-40B4-BE49-F238E27FC236}">
                <a16:creationId xmlns:a16="http://schemas.microsoft.com/office/drawing/2014/main" id="{9AB803F1-3A09-44EF-8156-2BAC33BECE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9603" y="3095625"/>
            <a:ext cx="2000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3" name="Line 58">
            <a:extLst>
              <a:ext uri="{FF2B5EF4-FFF2-40B4-BE49-F238E27FC236}">
                <a16:creationId xmlns:a16="http://schemas.microsoft.com/office/drawing/2014/main" id="{09F4BB08-5403-4415-BC9E-15254B315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9150" y="2847975"/>
            <a:ext cx="571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7114" name="Group 115">
            <a:extLst>
              <a:ext uri="{FF2B5EF4-FFF2-40B4-BE49-F238E27FC236}">
                <a16:creationId xmlns:a16="http://schemas.microsoft.com/office/drawing/2014/main" id="{35960A69-8FB6-4182-A395-E356B28CDBD8}"/>
              </a:ext>
            </a:extLst>
          </p:cNvPr>
          <p:cNvGrpSpPr>
            <a:grpSpLocks/>
          </p:cNvGrpSpPr>
          <p:nvPr/>
        </p:nvGrpSpPr>
        <p:grpSpPr bwMode="auto">
          <a:xfrm>
            <a:off x="3159128" y="2206628"/>
            <a:ext cx="5946775" cy="284163"/>
            <a:chOff x="1030" y="1390"/>
            <a:chExt cx="3746" cy="179"/>
          </a:xfrm>
        </p:grpSpPr>
        <p:grpSp>
          <p:nvGrpSpPr>
            <p:cNvPr id="47158" name="Group 85">
              <a:extLst>
                <a:ext uri="{FF2B5EF4-FFF2-40B4-BE49-F238E27FC236}">
                  <a16:creationId xmlns:a16="http://schemas.microsoft.com/office/drawing/2014/main" id="{AC70B55D-984F-495C-891D-1F7A66559D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0" y="1390"/>
              <a:ext cx="938" cy="179"/>
              <a:chOff x="1030" y="1390"/>
              <a:chExt cx="938" cy="179"/>
            </a:xfrm>
          </p:grpSpPr>
          <p:sp>
            <p:nvSpPr>
              <p:cNvPr id="47180" name="Line 54">
                <a:extLst>
                  <a:ext uri="{FF2B5EF4-FFF2-40B4-BE49-F238E27FC236}">
                    <a16:creationId xmlns:a16="http://schemas.microsoft.com/office/drawing/2014/main" id="{D17A1769-0819-41D5-9097-5B78843D0F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0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1" name="Line 55">
                <a:extLst>
                  <a:ext uri="{FF2B5EF4-FFF2-40B4-BE49-F238E27FC236}">
                    <a16:creationId xmlns:a16="http://schemas.microsoft.com/office/drawing/2014/main" id="{C0D9D1FE-5EC5-4A6C-9CD5-C512199915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6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2" name="Line 56">
                <a:extLst>
                  <a:ext uri="{FF2B5EF4-FFF2-40B4-BE49-F238E27FC236}">
                    <a16:creationId xmlns:a16="http://schemas.microsoft.com/office/drawing/2014/main" id="{E5A455B1-B65E-4969-85F5-EDD9A0C704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3" name="Line 59">
                <a:extLst>
                  <a:ext uri="{FF2B5EF4-FFF2-40B4-BE49-F238E27FC236}">
                    <a16:creationId xmlns:a16="http://schemas.microsoft.com/office/drawing/2014/main" id="{66BF2C72-2D5D-4B35-81F3-8B68C48913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67" y="1390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4" name="Line 60">
                <a:extLst>
                  <a:ext uri="{FF2B5EF4-FFF2-40B4-BE49-F238E27FC236}">
                    <a16:creationId xmlns:a16="http://schemas.microsoft.com/office/drawing/2014/main" id="{9E0978B6-F907-4506-9B75-2158CAD4B7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0" y="1393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5" name="Line 61">
                <a:extLst>
                  <a:ext uri="{FF2B5EF4-FFF2-40B4-BE49-F238E27FC236}">
                    <a16:creationId xmlns:a16="http://schemas.microsoft.com/office/drawing/2014/main" id="{A708AD8B-F9E3-42E8-80BE-8DDEB52960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159" name="Group 63">
              <a:extLst>
                <a:ext uri="{FF2B5EF4-FFF2-40B4-BE49-F238E27FC236}">
                  <a16:creationId xmlns:a16="http://schemas.microsoft.com/office/drawing/2014/main" id="{7AB688A6-93E7-4F59-8911-185475D082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9" y="1390"/>
              <a:ext cx="938" cy="179"/>
              <a:chOff x="1030" y="1390"/>
              <a:chExt cx="938" cy="179"/>
            </a:xfrm>
          </p:grpSpPr>
          <p:sp>
            <p:nvSpPr>
              <p:cNvPr id="47174" name="Line 64">
                <a:extLst>
                  <a:ext uri="{FF2B5EF4-FFF2-40B4-BE49-F238E27FC236}">
                    <a16:creationId xmlns:a16="http://schemas.microsoft.com/office/drawing/2014/main" id="{1B465E68-C3D8-43E4-9B18-AFED38BBAE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0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5" name="Line 65">
                <a:extLst>
                  <a:ext uri="{FF2B5EF4-FFF2-40B4-BE49-F238E27FC236}">
                    <a16:creationId xmlns:a16="http://schemas.microsoft.com/office/drawing/2014/main" id="{02A61253-F48B-4DBB-A569-5B1823AE67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6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6" name="Line 66">
                <a:extLst>
                  <a:ext uri="{FF2B5EF4-FFF2-40B4-BE49-F238E27FC236}">
                    <a16:creationId xmlns:a16="http://schemas.microsoft.com/office/drawing/2014/main" id="{3A5013D0-E176-467F-828D-F676B4E209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7" name="Line 67">
                <a:extLst>
                  <a:ext uri="{FF2B5EF4-FFF2-40B4-BE49-F238E27FC236}">
                    <a16:creationId xmlns:a16="http://schemas.microsoft.com/office/drawing/2014/main" id="{EA70A178-843B-4134-90FB-D722727C0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67" y="1390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8" name="Line 68">
                <a:extLst>
                  <a:ext uri="{FF2B5EF4-FFF2-40B4-BE49-F238E27FC236}">
                    <a16:creationId xmlns:a16="http://schemas.microsoft.com/office/drawing/2014/main" id="{17A4A708-BD33-43C2-BB04-4AA5210C0A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0" y="1393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9" name="Line 69">
                <a:extLst>
                  <a:ext uri="{FF2B5EF4-FFF2-40B4-BE49-F238E27FC236}">
                    <a16:creationId xmlns:a16="http://schemas.microsoft.com/office/drawing/2014/main" id="{7EDEA6E1-4DB1-42CA-A331-088A9224AB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160" name="Group 70">
              <a:extLst>
                <a:ext uri="{FF2B5EF4-FFF2-40B4-BE49-F238E27FC236}">
                  <a16:creationId xmlns:a16="http://schemas.microsoft.com/office/drawing/2014/main" id="{5C1DE5C7-379E-40D3-80AD-4B2EB0331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2" y="1390"/>
              <a:ext cx="938" cy="179"/>
              <a:chOff x="1030" y="1390"/>
              <a:chExt cx="938" cy="179"/>
            </a:xfrm>
          </p:grpSpPr>
          <p:sp>
            <p:nvSpPr>
              <p:cNvPr id="47168" name="Line 71">
                <a:extLst>
                  <a:ext uri="{FF2B5EF4-FFF2-40B4-BE49-F238E27FC236}">
                    <a16:creationId xmlns:a16="http://schemas.microsoft.com/office/drawing/2014/main" id="{A7248845-DE72-47A4-8F6A-52F5641D01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0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9" name="Line 72">
                <a:extLst>
                  <a:ext uri="{FF2B5EF4-FFF2-40B4-BE49-F238E27FC236}">
                    <a16:creationId xmlns:a16="http://schemas.microsoft.com/office/drawing/2014/main" id="{B69643F8-2D63-430E-AC04-005FA9041B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6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0" name="Line 73">
                <a:extLst>
                  <a:ext uri="{FF2B5EF4-FFF2-40B4-BE49-F238E27FC236}">
                    <a16:creationId xmlns:a16="http://schemas.microsoft.com/office/drawing/2014/main" id="{9457951D-E099-4CEA-BDCE-B52547A447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1" name="Line 74">
                <a:extLst>
                  <a:ext uri="{FF2B5EF4-FFF2-40B4-BE49-F238E27FC236}">
                    <a16:creationId xmlns:a16="http://schemas.microsoft.com/office/drawing/2014/main" id="{B0B820DE-A24F-4081-B45F-134AD9246E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67" y="1390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2" name="Line 75">
                <a:extLst>
                  <a:ext uri="{FF2B5EF4-FFF2-40B4-BE49-F238E27FC236}">
                    <a16:creationId xmlns:a16="http://schemas.microsoft.com/office/drawing/2014/main" id="{8773AA98-463C-4D92-9C2F-89D5E3C2CF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0" y="1393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3" name="Line 76">
                <a:extLst>
                  <a:ext uri="{FF2B5EF4-FFF2-40B4-BE49-F238E27FC236}">
                    <a16:creationId xmlns:a16="http://schemas.microsoft.com/office/drawing/2014/main" id="{4075A8F5-CA5A-4CEB-9EBF-AF664387A5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161" name="Group 77">
              <a:extLst>
                <a:ext uri="{FF2B5EF4-FFF2-40B4-BE49-F238E27FC236}">
                  <a16:creationId xmlns:a16="http://schemas.microsoft.com/office/drawing/2014/main" id="{C6631240-0176-4981-976A-7EF65F2D21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8" y="1390"/>
              <a:ext cx="938" cy="179"/>
              <a:chOff x="1030" y="1390"/>
              <a:chExt cx="938" cy="179"/>
            </a:xfrm>
          </p:grpSpPr>
          <p:sp>
            <p:nvSpPr>
              <p:cNvPr id="47162" name="Line 78">
                <a:extLst>
                  <a:ext uri="{FF2B5EF4-FFF2-40B4-BE49-F238E27FC236}">
                    <a16:creationId xmlns:a16="http://schemas.microsoft.com/office/drawing/2014/main" id="{0D231CF5-A83C-4AC2-97C8-4E7BEBF916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0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3" name="Line 79">
                <a:extLst>
                  <a:ext uri="{FF2B5EF4-FFF2-40B4-BE49-F238E27FC236}">
                    <a16:creationId xmlns:a16="http://schemas.microsoft.com/office/drawing/2014/main" id="{7B46932B-FB3A-4FE8-9E07-2DB5C82771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6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4" name="Line 80">
                <a:extLst>
                  <a:ext uri="{FF2B5EF4-FFF2-40B4-BE49-F238E27FC236}">
                    <a16:creationId xmlns:a16="http://schemas.microsoft.com/office/drawing/2014/main" id="{3D2DA6DC-95EE-44AA-ABE8-C70AE017C1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5" name="Line 81">
                <a:extLst>
                  <a:ext uri="{FF2B5EF4-FFF2-40B4-BE49-F238E27FC236}">
                    <a16:creationId xmlns:a16="http://schemas.microsoft.com/office/drawing/2014/main" id="{BD175516-355A-4509-A78C-0DD3D04FBD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67" y="1390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6" name="Line 82">
                <a:extLst>
                  <a:ext uri="{FF2B5EF4-FFF2-40B4-BE49-F238E27FC236}">
                    <a16:creationId xmlns:a16="http://schemas.microsoft.com/office/drawing/2014/main" id="{435A6C5C-312E-4DDE-A388-39B1414103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0" y="1393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7" name="Line 83">
                <a:extLst>
                  <a:ext uri="{FF2B5EF4-FFF2-40B4-BE49-F238E27FC236}">
                    <a16:creationId xmlns:a16="http://schemas.microsoft.com/office/drawing/2014/main" id="{7FBD01A6-7823-41C2-A4D6-B6F5247DDB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7115" name="Line 84">
            <a:extLst>
              <a:ext uri="{FF2B5EF4-FFF2-40B4-BE49-F238E27FC236}">
                <a16:creationId xmlns:a16="http://schemas.microsoft.com/office/drawing/2014/main" id="{3DC05728-F239-4F37-AC46-9D8C99611F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9150" y="2835275"/>
            <a:ext cx="0" cy="27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6" name="Line 86">
            <a:extLst>
              <a:ext uri="{FF2B5EF4-FFF2-40B4-BE49-F238E27FC236}">
                <a16:creationId xmlns:a16="http://schemas.microsoft.com/office/drawing/2014/main" id="{4FCF54D6-0E2C-4853-A0C5-2C73EB6219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1600" y="2835275"/>
            <a:ext cx="0" cy="27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7" name="Line 87">
            <a:extLst>
              <a:ext uri="{FF2B5EF4-FFF2-40B4-BE49-F238E27FC236}">
                <a16:creationId xmlns:a16="http://schemas.microsoft.com/office/drawing/2014/main" id="{92C026CC-09E5-4ACA-A71F-64A8810B01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3" y="3095625"/>
            <a:ext cx="1495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8" name="Line 88">
            <a:extLst>
              <a:ext uri="{FF2B5EF4-FFF2-40B4-BE49-F238E27FC236}">
                <a16:creationId xmlns:a16="http://schemas.microsoft.com/office/drawing/2014/main" id="{F67681F8-9A41-487F-A0A2-41C0B7D139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07025" y="2835275"/>
            <a:ext cx="0" cy="27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9" name="Line 89">
            <a:extLst>
              <a:ext uri="{FF2B5EF4-FFF2-40B4-BE49-F238E27FC236}">
                <a16:creationId xmlns:a16="http://schemas.microsoft.com/office/drawing/2014/main" id="{5D83B161-5F77-48D3-8109-17ABAB663A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3875" y="2835275"/>
            <a:ext cx="0" cy="27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0" name="Line 90">
            <a:extLst>
              <a:ext uri="{FF2B5EF4-FFF2-40B4-BE49-F238E27FC236}">
                <a16:creationId xmlns:a16="http://schemas.microsoft.com/office/drawing/2014/main" id="{C0404EF4-D107-44A2-9A67-516EC80781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0675" y="2847975"/>
            <a:ext cx="1466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1" name="Line 91">
            <a:extLst>
              <a:ext uri="{FF2B5EF4-FFF2-40B4-BE49-F238E27FC236}">
                <a16:creationId xmlns:a16="http://schemas.microsoft.com/office/drawing/2014/main" id="{50B5149B-86A8-41F5-B6ED-63E6FE76042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6578" y="3095625"/>
            <a:ext cx="2257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2" name="Text Box 92">
            <a:extLst>
              <a:ext uri="{FF2B5EF4-FFF2-40B4-BE49-F238E27FC236}">
                <a16:creationId xmlns:a16="http://schemas.microsoft.com/office/drawing/2014/main" id="{19A150AB-1889-45A7-AD4B-A1D7EE68A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8078" y="2124078"/>
            <a:ext cx="828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2000" u="none" baseline="0">
                <a:ea typeface="新細明體" panose="02020500000000000000" pitchFamily="18" charset="-120"/>
              </a:rPr>
              <a:t>Clock</a:t>
            </a:r>
          </a:p>
        </p:txBody>
      </p:sp>
      <p:sp>
        <p:nvSpPr>
          <p:cNvPr id="47123" name="Text Box 93">
            <a:extLst>
              <a:ext uri="{FF2B5EF4-FFF2-40B4-BE49-F238E27FC236}">
                <a16:creationId xmlns:a16="http://schemas.microsoft.com/office/drawing/2014/main" id="{FE934423-82E5-4C80-AC7A-655C934E0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6203" y="2755903"/>
            <a:ext cx="619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2000" u="none" baseline="0" dirty="0">
                <a:ea typeface="新細明體" panose="02020500000000000000" pitchFamily="18" charset="-120"/>
              </a:rPr>
              <a:t>D</a:t>
            </a:r>
          </a:p>
        </p:txBody>
      </p:sp>
      <p:grpSp>
        <p:nvGrpSpPr>
          <p:cNvPr id="881778" name="Group 114">
            <a:extLst>
              <a:ext uri="{FF2B5EF4-FFF2-40B4-BE49-F238E27FC236}">
                <a16:creationId xmlns:a16="http://schemas.microsoft.com/office/drawing/2014/main" id="{3DBA4A5C-9B95-4A2C-9DAE-C4FD7BF282A0}"/>
              </a:ext>
            </a:extLst>
          </p:cNvPr>
          <p:cNvGrpSpPr>
            <a:grpSpLocks/>
          </p:cNvGrpSpPr>
          <p:nvPr/>
        </p:nvGrpSpPr>
        <p:grpSpPr bwMode="auto">
          <a:xfrm>
            <a:off x="3178175" y="49987"/>
            <a:ext cx="5981700" cy="188"/>
            <a:chOff x="1042" y="2362"/>
            <a:chExt cx="3768" cy="188"/>
          </a:xfrm>
        </p:grpSpPr>
        <p:sp>
          <p:nvSpPr>
            <p:cNvPr id="47149" name="Line 94">
              <a:extLst>
                <a:ext uri="{FF2B5EF4-FFF2-40B4-BE49-F238E27FC236}">
                  <a16:creationId xmlns:a16="http://schemas.microsoft.com/office/drawing/2014/main" id="{B167A90A-F2CC-44C3-B349-75635463E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" y="2538"/>
              <a:ext cx="30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50" name="Line 95">
              <a:extLst>
                <a:ext uri="{FF2B5EF4-FFF2-40B4-BE49-F238E27FC236}">
                  <a16:creationId xmlns:a16="http://schemas.microsoft.com/office/drawing/2014/main" id="{C3C684DB-3918-4BAD-993F-C61E3472C7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0" y="2362"/>
              <a:ext cx="0" cy="17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51" name="Line 96">
              <a:extLst>
                <a:ext uri="{FF2B5EF4-FFF2-40B4-BE49-F238E27FC236}">
                  <a16:creationId xmlns:a16="http://schemas.microsoft.com/office/drawing/2014/main" id="{27BEA6D0-6085-4B76-9D1C-27B2D29AC1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0" y="2370"/>
              <a:ext cx="948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52" name="Line 97">
              <a:extLst>
                <a:ext uri="{FF2B5EF4-FFF2-40B4-BE49-F238E27FC236}">
                  <a16:creationId xmlns:a16="http://schemas.microsoft.com/office/drawing/2014/main" id="{05932AC8-0352-4F74-8DB4-15853F9F71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0" y="2362"/>
              <a:ext cx="0" cy="17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53" name="Line 98">
              <a:extLst>
                <a:ext uri="{FF2B5EF4-FFF2-40B4-BE49-F238E27FC236}">
                  <a16:creationId xmlns:a16="http://schemas.microsoft.com/office/drawing/2014/main" id="{1EC083FB-4DBA-4FAF-8521-9DE415D6E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2" y="2538"/>
              <a:ext cx="948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54" name="Line 99">
              <a:extLst>
                <a:ext uri="{FF2B5EF4-FFF2-40B4-BE49-F238E27FC236}">
                  <a16:creationId xmlns:a16="http://schemas.microsoft.com/office/drawing/2014/main" id="{C96D903F-8A16-476F-831F-48676A3627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0" y="2374"/>
              <a:ext cx="0" cy="17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55" name="Line 100">
              <a:extLst>
                <a:ext uri="{FF2B5EF4-FFF2-40B4-BE49-F238E27FC236}">
                  <a16:creationId xmlns:a16="http://schemas.microsoft.com/office/drawing/2014/main" id="{8F7EB5BA-E5AD-4126-8120-8ABCA0471A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0" y="2374"/>
              <a:ext cx="0" cy="17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56" name="Line 101">
              <a:extLst>
                <a:ext uri="{FF2B5EF4-FFF2-40B4-BE49-F238E27FC236}">
                  <a16:creationId xmlns:a16="http://schemas.microsoft.com/office/drawing/2014/main" id="{9F65BAE9-422E-44A4-A5C4-4E24A44BEC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0" y="2382"/>
              <a:ext cx="948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57" name="Line 102">
              <a:extLst>
                <a:ext uri="{FF2B5EF4-FFF2-40B4-BE49-F238E27FC236}">
                  <a16:creationId xmlns:a16="http://schemas.microsoft.com/office/drawing/2014/main" id="{1C7FB4F4-517F-49F8-B881-487BC236E4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2" y="2538"/>
              <a:ext cx="648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126" name="Text Box 117">
            <a:extLst>
              <a:ext uri="{FF2B5EF4-FFF2-40B4-BE49-F238E27FC236}">
                <a16:creationId xmlns:a16="http://schemas.microsoft.com/office/drawing/2014/main" id="{0C5A469D-2092-4EB3-A8C4-5BD93A92B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250" y="3676653"/>
            <a:ext cx="666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2000" u="none" baseline="0">
                <a:ea typeface="新細明體" panose="02020500000000000000" pitchFamily="18" charset="-120"/>
              </a:rPr>
              <a:t>Q</a:t>
            </a:r>
            <a:r>
              <a:rPr lang="en-US" altLang="zh-TW" sz="2000" u="none">
                <a:ea typeface="新細明體" panose="02020500000000000000" pitchFamily="18" charset="-120"/>
              </a:rPr>
              <a:t>D</a:t>
            </a:r>
          </a:p>
        </p:txBody>
      </p:sp>
      <p:grpSp>
        <p:nvGrpSpPr>
          <p:cNvPr id="47128" name="Group 122">
            <a:extLst>
              <a:ext uri="{FF2B5EF4-FFF2-40B4-BE49-F238E27FC236}">
                <a16:creationId xmlns:a16="http://schemas.microsoft.com/office/drawing/2014/main" id="{38034613-6153-4642-B385-C18588DF94B9}"/>
              </a:ext>
            </a:extLst>
          </p:cNvPr>
          <p:cNvGrpSpPr>
            <a:grpSpLocks/>
          </p:cNvGrpSpPr>
          <p:nvPr/>
        </p:nvGrpSpPr>
        <p:grpSpPr bwMode="auto">
          <a:xfrm>
            <a:off x="1962150" y="3629025"/>
            <a:ext cx="838200" cy="914400"/>
            <a:chOff x="276" y="2286"/>
            <a:chExt cx="528" cy="576"/>
          </a:xfrm>
        </p:grpSpPr>
        <p:grpSp>
          <p:nvGrpSpPr>
            <p:cNvPr id="47133" name="Group 53">
              <a:extLst>
                <a:ext uri="{FF2B5EF4-FFF2-40B4-BE49-F238E27FC236}">
                  <a16:creationId xmlns:a16="http://schemas.microsoft.com/office/drawing/2014/main" id="{B6C41210-E099-4661-8C5E-65CC526918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" y="2286"/>
              <a:ext cx="446" cy="576"/>
              <a:chOff x="360" y="1766"/>
              <a:chExt cx="446" cy="576"/>
            </a:xfrm>
          </p:grpSpPr>
          <p:sp>
            <p:nvSpPr>
              <p:cNvPr id="47137" name="Rectangle 5">
                <a:extLst>
                  <a:ext uri="{FF2B5EF4-FFF2-40B4-BE49-F238E27FC236}">
                    <a16:creationId xmlns:a16="http://schemas.microsoft.com/office/drawing/2014/main" id="{3700EB67-68DE-4603-9744-1D9A37B871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60" y="1766"/>
                <a:ext cx="373" cy="576"/>
              </a:xfrm>
              <a:prstGeom prst="rect">
                <a:avLst/>
              </a:prstGeom>
              <a:solidFill>
                <a:srgbClr val="FFFFFF"/>
              </a:solidFill>
              <a:ln w="23813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TW" altLang="en-US">
                  <a:ea typeface="新細明體" panose="02020500000000000000" pitchFamily="18" charset="-120"/>
                </a:endParaRPr>
              </a:p>
            </p:txBody>
          </p:sp>
          <p:sp>
            <p:nvSpPr>
              <p:cNvPr id="47138" name="Oval 6">
                <a:extLst>
                  <a:ext uri="{FF2B5EF4-FFF2-40B4-BE49-F238E27FC236}">
                    <a16:creationId xmlns:a16="http://schemas.microsoft.com/office/drawing/2014/main" id="{F07A2BDB-9132-4F8B-AC99-6C05B7175D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25" y="2177"/>
                <a:ext cx="81" cy="82"/>
              </a:xfrm>
              <a:prstGeom prst="ellipse">
                <a:avLst/>
              </a:prstGeom>
              <a:solidFill>
                <a:srgbClr val="FFFFFF"/>
              </a:solidFill>
              <a:ln w="23876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TW" altLang="en-US">
                  <a:ea typeface="新細明體" panose="02020500000000000000" pitchFamily="18" charset="-120"/>
                </a:endParaRPr>
              </a:p>
            </p:txBody>
          </p:sp>
          <p:sp>
            <p:nvSpPr>
              <p:cNvPr id="47139" name="Freeform 7">
                <a:extLst>
                  <a:ext uri="{FF2B5EF4-FFF2-40B4-BE49-F238E27FC236}">
                    <a16:creationId xmlns:a16="http://schemas.microsoft.com/office/drawing/2014/main" id="{532F4BB6-A5A2-4CD4-8370-EE453CCFCB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60" y="2184"/>
                <a:ext cx="110" cy="79"/>
              </a:xfrm>
              <a:custGeom>
                <a:avLst/>
                <a:gdLst>
                  <a:gd name="T0" fmla="*/ 0 w 156"/>
                  <a:gd name="T1" fmla="*/ 0 h 109"/>
                  <a:gd name="T2" fmla="*/ 78 w 156"/>
                  <a:gd name="T3" fmla="*/ 25 h 109"/>
                  <a:gd name="T4" fmla="*/ 0 w 156"/>
                  <a:gd name="T5" fmla="*/ 57 h 10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6" h="109">
                    <a:moveTo>
                      <a:pt x="0" y="0"/>
                    </a:moveTo>
                    <a:lnTo>
                      <a:pt x="156" y="47"/>
                    </a:lnTo>
                    <a:lnTo>
                      <a:pt x="0" y="109"/>
                    </a:lnTo>
                  </a:path>
                </a:pathLst>
              </a:custGeom>
              <a:noFill/>
              <a:ln w="23813" cap="flat">
                <a:solidFill>
                  <a:schemeClr val="hlink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40" name="Rectangle 8">
                <a:extLst>
                  <a:ext uri="{FF2B5EF4-FFF2-40B4-BE49-F238E27FC236}">
                    <a16:creationId xmlns:a16="http://schemas.microsoft.com/office/drawing/2014/main" id="{E84BA2C1-9302-4AE6-99D7-FA5C48F954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3" y="1863"/>
                <a:ext cx="93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TW" sz="1600" u="none" baseline="0">
                    <a:solidFill>
                      <a:srgbClr val="000000"/>
                    </a:solidFill>
                    <a:latin typeface="TimesTen" pitchFamily="18" charset="0"/>
                    <a:ea typeface="新細明體" panose="02020500000000000000" pitchFamily="18" charset="-120"/>
                  </a:rPr>
                  <a:t>D</a:t>
                </a:r>
                <a:endParaRPr lang="en-US" altLang="zh-TW" sz="3200">
                  <a:ea typeface="新細明體" panose="02020500000000000000" pitchFamily="18" charset="-120"/>
                </a:endParaRPr>
              </a:p>
            </p:txBody>
          </p:sp>
          <p:sp>
            <p:nvSpPr>
              <p:cNvPr id="47141" name="Rectangle 9">
                <a:extLst>
                  <a:ext uri="{FF2B5EF4-FFF2-40B4-BE49-F238E27FC236}">
                    <a16:creationId xmlns:a16="http://schemas.microsoft.com/office/drawing/2014/main" id="{0E48AD9F-0627-4545-B037-CB3D3EE60A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93" y="2160"/>
                <a:ext cx="9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u="sng" baseline="-25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TW" sz="1600" u="none" baseline="0">
                    <a:solidFill>
                      <a:srgbClr val="000000"/>
                    </a:solidFill>
                    <a:latin typeface="TimesTen" pitchFamily="18" charset="0"/>
                    <a:ea typeface="新細明體" panose="02020500000000000000" pitchFamily="18" charset="-120"/>
                  </a:rPr>
                  <a:t>C</a:t>
                </a:r>
                <a:endParaRPr lang="en-US" altLang="zh-TW" sz="3200">
                  <a:ea typeface="新細明體" panose="02020500000000000000" pitchFamily="18" charset="-120"/>
                </a:endParaRPr>
              </a:p>
            </p:txBody>
          </p:sp>
        </p:grpSp>
        <p:sp>
          <p:nvSpPr>
            <p:cNvPr id="47134" name="Line 119">
              <a:extLst>
                <a:ext uri="{FF2B5EF4-FFF2-40B4-BE49-F238E27FC236}">
                  <a16:creationId xmlns:a16="http://schemas.microsoft.com/office/drawing/2014/main" id="{025B98D5-2A90-4AED-A4A2-6E5CBBECC6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" y="2472"/>
              <a:ext cx="7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35" name="Line 120">
              <a:extLst>
                <a:ext uri="{FF2B5EF4-FFF2-40B4-BE49-F238E27FC236}">
                  <a16:creationId xmlns:a16="http://schemas.microsoft.com/office/drawing/2014/main" id="{9D4D827E-25AA-4F3D-8F64-DC5325175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" y="2466"/>
              <a:ext cx="7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36" name="Line 121">
              <a:extLst>
                <a:ext uri="{FF2B5EF4-FFF2-40B4-BE49-F238E27FC236}">
                  <a16:creationId xmlns:a16="http://schemas.microsoft.com/office/drawing/2014/main" id="{8E849575-08E0-44E7-8F0A-0127A2865F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" y="2748"/>
              <a:ext cx="7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129" name="Line 123">
            <a:extLst>
              <a:ext uri="{FF2B5EF4-FFF2-40B4-BE49-F238E27FC236}">
                <a16:creationId xmlns:a16="http://schemas.microsoft.com/office/drawing/2014/main" id="{87D9FFF7-C645-4F0B-B8AB-AB9069BA4E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7900" y="2451100"/>
            <a:ext cx="0" cy="28575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30" name="Line 124">
            <a:extLst>
              <a:ext uri="{FF2B5EF4-FFF2-40B4-BE49-F238E27FC236}">
                <a16:creationId xmlns:a16="http://schemas.microsoft.com/office/drawing/2014/main" id="{E2CE428D-B171-4EE4-9580-7B1737C071C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476500"/>
            <a:ext cx="0" cy="28575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31" name="Line 125">
            <a:extLst>
              <a:ext uri="{FF2B5EF4-FFF2-40B4-BE49-F238E27FC236}">
                <a16:creationId xmlns:a16="http://schemas.microsoft.com/office/drawing/2014/main" id="{7BE3CC1A-0F24-4FBC-9006-8A68ADBB79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476500"/>
            <a:ext cx="0" cy="28575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32" name="Line 126">
            <a:extLst>
              <a:ext uri="{FF2B5EF4-FFF2-40B4-BE49-F238E27FC236}">
                <a16:creationId xmlns:a16="http://schemas.microsoft.com/office/drawing/2014/main" id="{8ACB8121-4BDF-4166-BB17-AF0F9AAA9B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8300" y="2463800"/>
            <a:ext cx="0" cy="28575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855CCAA-5822-413B-9483-1BFFF18014F2}"/>
              </a:ext>
            </a:extLst>
          </p:cNvPr>
          <p:cNvCxnSpPr/>
          <p:nvPr/>
        </p:nvCxnSpPr>
        <p:spPr bwMode="auto">
          <a:xfrm>
            <a:off x="2927648" y="4689140"/>
            <a:ext cx="590252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62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177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>
            <a:extLst>
              <a:ext uri="{FF2B5EF4-FFF2-40B4-BE49-F238E27FC236}">
                <a16:creationId xmlns:a16="http://schemas.microsoft.com/office/drawing/2014/main" id="{3F72D4B0-DBAF-47ED-8510-C635A7AEE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Flip-flop Behavior Example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3DC831FE-9BD8-464D-9282-8C61FEC99E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01838" y="1136653"/>
            <a:ext cx="8102600" cy="5027613"/>
          </a:xfrm>
        </p:spPr>
        <p:txBody>
          <a:bodyPr/>
          <a:lstStyle/>
          <a:p>
            <a:r>
              <a:rPr lang="en-US" altLang="zh-TW" sz="2400">
                <a:ea typeface="新細明體" panose="02020500000000000000" pitchFamily="18" charset="-120"/>
              </a:rPr>
              <a:t>Use the characteristic tables to find the output waveforms for the flip-flops shown:</a:t>
            </a:r>
          </a:p>
        </p:txBody>
      </p:sp>
      <p:grpSp>
        <p:nvGrpSpPr>
          <p:cNvPr id="47109" name="Group 46">
            <a:extLst>
              <a:ext uri="{FF2B5EF4-FFF2-40B4-BE49-F238E27FC236}">
                <a16:creationId xmlns:a16="http://schemas.microsoft.com/office/drawing/2014/main" id="{4239D111-FE33-4B01-BD25-D4FAF97958B6}"/>
              </a:ext>
            </a:extLst>
          </p:cNvPr>
          <p:cNvGrpSpPr>
            <a:grpSpLocks/>
          </p:cNvGrpSpPr>
          <p:nvPr/>
        </p:nvGrpSpPr>
        <p:grpSpPr bwMode="auto">
          <a:xfrm>
            <a:off x="2207571" y="3561894"/>
            <a:ext cx="858837" cy="911225"/>
            <a:chOff x="1809" y="1811"/>
            <a:chExt cx="541" cy="574"/>
          </a:xfrm>
        </p:grpSpPr>
        <p:sp>
          <p:nvSpPr>
            <p:cNvPr id="47186" name="Rectangle 13">
              <a:extLst>
                <a:ext uri="{FF2B5EF4-FFF2-40B4-BE49-F238E27FC236}">
                  <a16:creationId xmlns:a16="http://schemas.microsoft.com/office/drawing/2014/main" id="{2F599B9C-38AF-4865-94E3-693A8024070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18" y="1884"/>
              <a:ext cx="9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TW" sz="1800" u="none" baseline="0">
                  <a:solidFill>
                    <a:srgbClr val="231F20"/>
                  </a:solidFill>
                  <a:latin typeface="TimesTen" pitchFamily="18" charset="0"/>
                  <a:ea typeface="新細明體" panose="02020500000000000000" pitchFamily="18" charset="-120"/>
                </a:rPr>
                <a:t>T</a:t>
              </a:r>
              <a:endParaRPr lang="en-US" altLang="zh-TW" sz="2800">
                <a:ea typeface="新細明體" panose="02020500000000000000" pitchFamily="18" charset="-120"/>
              </a:endParaRPr>
            </a:p>
          </p:txBody>
        </p:sp>
        <p:sp>
          <p:nvSpPr>
            <p:cNvPr id="47187" name="Rectangle 14">
              <a:extLst>
                <a:ext uri="{FF2B5EF4-FFF2-40B4-BE49-F238E27FC236}">
                  <a16:creationId xmlns:a16="http://schemas.microsoft.com/office/drawing/2014/main" id="{286AC940-10D9-48A1-952A-47FE016838E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19" y="2200"/>
              <a:ext cx="10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TW" sz="1800" u="none" baseline="0">
                  <a:solidFill>
                    <a:srgbClr val="231F20"/>
                  </a:solidFill>
                  <a:latin typeface="TimesTen" pitchFamily="18" charset="0"/>
                  <a:ea typeface="新細明體" panose="02020500000000000000" pitchFamily="18" charset="-120"/>
                </a:rPr>
                <a:t>C</a:t>
              </a:r>
              <a:endParaRPr lang="en-US" altLang="zh-TW" sz="2800">
                <a:ea typeface="新細明體" panose="02020500000000000000" pitchFamily="18" charset="-120"/>
              </a:endParaRPr>
            </a:p>
          </p:txBody>
        </p:sp>
        <p:sp>
          <p:nvSpPr>
            <p:cNvPr id="47188" name="Freeform 15">
              <a:extLst>
                <a:ext uri="{FF2B5EF4-FFF2-40B4-BE49-F238E27FC236}">
                  <a16:creationId xmlns:a16="http://schemas.microsoft.com/office/drawing/2014/main" id="{8A2B358C-5130-47CD-84B3-DB9C26906C3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809" y="1934"/>
              <a:ext cx="541" cy="316"/>
            </a:xfrm>
            <a:custGeom>
              <a:avLst/>
              <a:gdLst>
                <a:gd name="T0" fmla="*/ 0 w 712"/>
                <a:gd name="T1" fmla="*/ 240 h 416"/>
                <a:gd name="T2" fmla="*/ 62 w 712"/>
                <a:gd name="T3" fmla="*/ 240 h 416"/>
                <a:gd name="T4" fmla="*/ 0 w 712"/>
                <a:gd name="T5" fmla="*/ 0 h 416"/>
                <a:gd name="T6" fmla="*/ 62 w 712"/>
                <a:gd name="T7" fmla="*/ 0 h 416"/>
                <a:gd name="T8" fmla="*/ 349 w 712"/>
                <a:gd name="T9" fmla="*/ 0 h 416"/>
                <a:gd name="T10" fmla="*/ 411 w 712"/>
                <a:gd name="T11" fmla="*/ 0 h 4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12" h="416">
                  <a:moveTo>
                    <a:pt x="0" y="416"/>
                  </a:moveTo>
                  <a:lnTo>
                    <a:pt x="108" y="416"/>
                  </a:lnTo>
                  <a:moveTo>
                    <a:pt x="0" y="0"/>
                  </a:moveTo>
                  <a:lnTo>
                    <a:pt x="108" y="0"/>
                  </a:lnTo>
                  <a:moveTo>
                    <a:pt x="604" y="0"/>
                  </a:moveTo>
                  <a:lnTo>
                    <a:pt x="712" y="0"/>
                  </a:lnTo>
                </a:path>
              </a:pathLst>
            </a:custGeom>
            <a:noFill/>
            <a:ln w="15875" cap="flat">
              <a:solidFill>
                <a:srgbClr val="231F2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89" name="Freeform 16">
              <a:extLst>
                <a:ext uri="{FF2B5EF4-FFF2-40B4-BE49-F238E27FC236}">
                  <a16:creationId xmlns:a16="http://schemas.microsoft.com/office/drawing/2014/main" id="{F7E55B15-9280-45AB-9773-4E4A55E8BC5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885" y="1811"/>
              <a:ext cx="459" cy="574"/>
            </a:xfrm>
            <a:custGeom>
              <a:avLst/>
              <a:gdLst>
                <a:gd name="T0" fmla="*/ 3 w 302"/>
                <a:gd name="T1" fmla="*/ 0 h 378"/>
                <a:gd name="T2" fmla="*/ 3 w 302"/>
                <a:gd name="T3" fmla="*/ 872 h 378"/>
                <a:gd name="T4" fmla="*/ 578 w 302"/>
                <a:gd name="T5" fmla="*/ 872 h 378"/>
                <a:gd name="T6" fmla="*/ 578 w 302"/>
                <a:gd name="T7" fmla="*/ 0 h 378"/>
                <a:gd name="T8" fmla="*/ 3 w 302"/>
                <a:gd name="T9" fmla="*/ 0 h 378"/>
                <a:gd name="T10" fmla="*/ 698 w 302"/>
                <a:gd name="T11" fmla="*/ 673 h 378"/>
                <a:gd name="T12" fmla="*/ 640 w 302"/>
                <a:gd name="T13" fmla="*/ 730 h 378"/>
                <a:gd name="T14" fmla="*/ 582 w 302"/>
                <a:gd name="T15" fmla="*/ 673 h 378"/>
                <a:gd name="T16" fmla="*/ 640 w 302"/>
                <a:gd name="T17" fmla="*/ 615 h 378"/>
                <a:gd name="T18" fmla="*/ 698 w 302"/>
                <a:gd name="T19" fmla="*/ 673 h 378"/>
                <a:gd name="T20" fmla="*/ 0 w 302"/>
                <a:gd name="T21" fmla="*/ 623 h 378"/>
                <a:gd name="T22" fmla="*/ 141 w 302"/>
                <a:gd name="T23" fmla="*/ 668 h 378"/>
                <a:gd name="T24" fmla="*/ 3 w 302"/>
                <a:gd name="T25" fmla="*/ 724 h 37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02" h="378">
                  <a:moveTo>
                    <a:pt x="1" y="0"/>
                  </a:moveTo>
                  <a:cubicBezTo>
                    <a:pt x="1" y="378"/>
                    <a:pt x="1" y="378"/>
                    <a:pt x="1" y="378"/>
                  </a:cubicBezTo>
                  <a:cubicBezTo>
                    <a:pt x="250" y="378"/>
                    <a:pt x="250" y="378"/>
                    <a:pt x="250" y="378"/>
                  </a:cubicBezTo>
                  <a:cubicBezTo>
                    <a:pt x="250" y="0"/>
                    <a:pt x="250" y="0"/>
                    <a:pt x="250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302" y="292"/>
                  </a:moveTo>
                  <a:cubicBezTo>
                    <a:pt x="302" y="306"/>
                    <a:pt x="290" y="317"/>
                    <a:pt x="277" y="317"/>
                  </a:cubicBezTo>
                  <a:cubicBezTo>
                    <a:pt x="263" y="317"/>
                    <a:pt x="252" y="306"/>
                    <a:pt x="252" y="292"/>
                  </a:cubicBezTo>
                  <a:cubicBezTo>
                    <a:pt x="252" y="278"/>
                    <a:pt x="263" y="267"/>
                    <a:pt x="277" y="267"/>
                  </a:cubicBezTo>
                  <a:cubicBezTo>
                    <a:pt x="290" y="267"/>
                    <a:pt x="302" y="278"/>
                    <a:pt x="302" y="292"/>
                  </a:cubicBezTo>
                  <a:moveTo>
                    <a:pt x="0" y="270"/>
                  </a:moveTo>
                  <a:cubicBezTo>
                    <a:pt x="61" y="290"/>
                    <a:pt x="61" y="290"/>
                    <a:pt x="61" y="290"/>
                  </a:cubicBezTo>
                  <a:cubicBezTo>
                    <a:pt x="1" y="314"/>
                    <a:pt x="1" y="314"/>
                    <a:pt x="1" y="314"/>
                  </a:cubicBezTo>
                </a:path>
              </a:pathLst>
            </a:custGeom>
            <a:noFill/>
            <a:ln w="31750" cap="flat">
              <a:solidFill>
                <a:schemeClr val="hlink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110" name="Line 40">
            <a:extLst>
              <a:ext uri="{FF2B5EF4-FFF2-40B4-BE49-F238E27FC236}">
                <a16:creationId xmlns:a16="http://schemas.microsoft.com/office/drawing/2014/main" id="{F10E06D9-6363-4556-ACAC-A396D4BCB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8816" y="2576513"/>
            <a:ext cx="85725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1" name="Line 41">
            <a:extLst>
              <a:ext uri="{FF2B5EF4-FFF2-40B4-BE49-F238E27FC236}">
                <a16:creationId xmlns:a16="http://schemas.microsoft.com/office/drawing/2014/main" id="{DEE9BB16-3C41-40B6-A989-012856E1AB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4538" y="2581275"/>
            <a:ext cx="0" cy="1143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2" name="Line 57">
            <a:extLst>
              <a:ext uri="{FF2B5EF4-FFF2-40B4-BE49-F238E27FC236}">
                <a16:creationId xmlns:a16="http://schemas.microsoft.com/office/drawing/2014/main" id="{9AB803F1-3A09-44EF-8156-2BAC33BECE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9603" y="3095625"/>
            <a:ext cx="2000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3" name="Line 58">
            <a:extLst>
              <a:ext uri="{FF2B5EF4-FFF2-40B4-BE49-F238E27FC236}">
                <a16:creationId xmlns:a16="http://schemas.microsoft.com/office/drawing/2014/main" id="{09F4BB08-5403-4415-BC9E-15254B315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9150" y="2847975"/>
            <a:ext cx="571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7114" name="Group 115">
            <a:extLst>
              <a:ext uri="{FF2B5EF4-FFF2-40B4-BE49-F238E27FC236}">
                <a16:creationId xmlns:a16="http://schemas.microsoft.com/office/drawing/2014/main" id="{35960A69-8FB6-4182-A395-E356B28CDBD8}"/>
              </a:ext>
            </a:extLst>
          </p:cNvPr>
          <p:cNvGrpSpPr>
            <a:grpSpLocks/>
          </p:cNvGrpSpPr>
          <p:nvPr/>
        </p:nvGrpSpPr>
        <p:grpSpPr bwMode="auto">
          <a:xfrm>
            <a:off x="3159128" y="2206628"/>
            <a:ext cx="5946775" cy="284163"/>
            <a:chOff x="1030" y="1390"/>
            <a:chExt cx="3746" cy="179"/>
          </a:xfrm>
        </p:grpSpPr>
        <p:grpSp>
          <p:nvGrpSpPr>
            <p:cNvPr id="47158" name="Group 85">
              <a:extLst>
                <a:ext uri="{FF2B5EF4-FFF2-40B4-BE49-F238E27FC236}">
                  <a16:creationId xmlns:a16="http://schemas.microsoft.com/office/drawing/2014/main" id="{AC70B55D-984F-495C-891D-1F7A66559D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0" y="1390"/>
              <a:ext cx="938" cy="179"/>
              <a:chOff x="1030" y="1390"/>
              <a:chExt cx="938" cy="179"/>
            </a:xfrm>
          </p:grpSpPr>
          <p:sp>
            <p:nvSpPr>
              <p:cNvPr id="47180" name="Line 54">
                <a:extLst>
                  <a:ext uri="{FF2B5EF4-FFF2-40B4-BE49-F238E27FC236}">
                    <a16:creationId xmlns:a16="http://schemas.microsoft.com/office/drawing/2014/main" id="{D17A1769-0819-41D5-9097-5B78843D0F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0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1" name="Line 55">
                <a:extLst>
                  <a:ext uri="{FF2B5EF4-FFF2-40B4-BE49-F238E27FC236}">
                    <a16:creationId xmlns:a16="http://schemas.microsoft.com/office/drawing/2014/main" id="{C0D9D1FE-5EC5-4A6C-9CD5-C512199915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6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2" name="Line 56">
                <a:extLst>
                  <a:ext uri="{FF2B5EF4-FFF2-40B4-BE49-F238E27FC236}">
                    <a16:creationId xmlns:a16="http://schemas.microsoft.com/office/drawing/2014/main" id="{E5A455B1-B65E-4969-85F5-EDD9A0C704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3" name="Line 59">
                <a:extLst>
                  <a:ext uri="{FF2B5EF4-FFF2-40B4-BE49-F238E27FC236}">
                    <a16:creationId xmlns:a16="http://schemas.microsoft.com/office/drawing/2014/main" id="{66BF2C72-2D5D-4B35-81F3-8B68C48913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67" y="1390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4" name="Line 60">
                <a:extLst>
                  <a:ext uri="{FF2B5EF4-FFF2-40B4-BE49-F238E27FC236}">
                    <a16:creationId xmlns:a16="http://schemas.microsoft.com/office/drawing/2014/main" id="{9E0978B6-F907-4506-9B75-2158CAD4B7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0" y="1393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5" name="Line 61">
                <a:extLst>
                  <a:ext uri="{FF2B5EF4-FFF2-40B4-BE49-F238E27FC236}">
                    <a16:creationId xmlns:a16="http://schemas.microsoft.com/office/drawing/2014/main" id="{A708AD8B-F9E3-42E8-80BE-8DDEB52960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159" name="Group 63">
              <a:extLst>
                <a:ext uri="{FF2B5EF4-FFF2-40B4-BE49-F238E27FC236}">
                  <a16:creationId xmlns:a16="http://schemas.microsoft.com/office/drawing/2014/main" id="{7AB688A6-93E7-4F59-8911-185475D082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9" y="1390"/>
              <a:ext cx="938" cy="179"/>
              <a:chOff x="1030" y="1390"/>
              <a:chExt cx="938" cy="179"/>
            </a:xfrm>
          </p:grpSpPr>
          <p:sp>
            <p:nvSpPr>
              <p:cNvPr id="47174" name="Line 64">
                <a:extLst>
                  <a:ext uri="{FF2B5EF4-FFF2-40B4-BE49-F238E27FC236}">
                    <a16:creationId xmlns:a16="http://schemas.microsoft.com/office/drawing/2014/main" id="{1B465E68-C3D8-43E4-9B18-AFED38BBAE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0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5" name="Line 65">
                <a:extLst>
                  <a:ext uri="{FF2B5EF4-FFF2-40B4-BE49-F238E27FC236}">
                    <a16:creationId xmlns:a16="http://schemas.microsoft.com/office/drawing/2014/main" id="{02A61253-F48B-4DBB-A569-5B1823AE67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6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6" name="Line 66">
                <a:extLst>
                  <a:ext uri="{FF2B5EF4-FFF2-40B4-BE49-F238E27FC236}">
                    <a16:creationId xmlns:a16="http://schemas.microsoft.com/office/drawing/2014/main" id="{3A5013D0-E176-467F-828D-F676B4E209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7" name="Line 67">
                <a:extLst>
                  <a:ext uri="{FF2B5EF4-FFF2-40B4-BE49-F238E27FC236}">
                    <a16:creationId xmlns:a16="http://schemas.microsoft.com/office/drawing/2014/main" id="{EA70A178-843B-4134-90FB-D722727C0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67" y="1390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8" name="Line 68">
                <a:extLst>
                  <a:ext uri="{FF2B5EF4-FFF2-40B4-BE49-F238E27FC236}">
                    <a16:creationId xmlns:a16="http://schemas.microsoft.com/office/drawing/2014/main" id="{17A4A708-BD33-43C2-BB04-4AA5210C0A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0" y="1393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9" name="Line 69">
                <a:extLst>
                  <a:ext uri="{FF2B5EF4-FFF2-40B4-BE49-F238E27FC236}">
                    <a16:creationId xmlns:a16="http://schemas.microsoft.com/office/drawing/2014/main" id="{7EDEA6E1-4DB1-42CA-A331-088A9224AB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160" name="Group 70">
              <a:extLst>
                <a:ext uri="{FF2B5EF4-FFF2-40B4-BE49-F238E27FC236}">
                  <a16:creationId xmlns:a16="http://schemas.microsoft.com/office/drawing/2014/main" id="{5C1DE5C7-379E-40D3-80AD-4B2EB0331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2" y="1390"/>
              <a:ext cx="938" cy="179"/>
              <a:chOff x="1030" y="1390"/>
              <a:chExt cx="938" cy="179"/>
            </a:xfrm>
          </p:grpSpPr>
          <p:sp>
            <p:nvSpPr>
              <p:cNvPr id="47168" name="Line 71">
                <a:extLst>
                  <a:ext uri="{FF2B5EF4-FFF2-40B4-BE49-F238E27FC236}">
                    <a16:creationId xmlns:a16="http://schemas.microsoft.com/office/drawing/2014/main" id="{A7248845-DE72-47A4-8F6A-52F5641D01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0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9" name="Line 72">
                <a:extLst>
                  <a:ext uri="{FF2B5EF4-FFF2-40B4-BE49-F238E27FC236}">
                    <a16:creationId xmlns:a16="http://schemas.microsoft.com/office/drawing/2014/main" id="{B69643F8-2D63-430E-AC04-005FA9041B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6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0" name="Line 73">
                <a:extLst>
                  <a:ext uri="{FF2B5EF4-FFF2-40B4-BE49-F238E27FC236}">
                    <a16:creationId xmlns:a16="http://schemas.microsoft.com/office/drawing/2014/main" id="{9457951D-E099-4CEA-BDCE-B52547A447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1" name="Line 74">
                <a:extLst>
                  <a:ext uri="{FF2B5EF4-FFF2-40B4-BE49-F238E27FC236}">
                    <a16:creationId xmlns:a16="http://schemas.microsoft.com/office/drawing/2014/main" id="{B0B820DE-A24F-4081-B45F-134AD9246E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67" y="1390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2" name="Line 75">
                <a:extLst>
                  <a:ext uri="{FF2B5EF4-FFF2-40B4-BE49-F238E27FC236}">
                    <a16:creationId xmlns:a16="http://schemas.microsoft.com/office/drawing/2014/main" id="{8773AA98-463C-4D92-9C2F-89D5E3C2CF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0" y="1393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3" name="Line 76">
                <a:extLst>
                  <a:ext uri="{FF2B5EF4-FFF2-40B4-BE49-F238E27FC236}">
                    <a16:creationId xmlns:a16="http://schemas.microsoft.com/office/drawing/2014/main" id="{4075A8F5-CA5A-4CEB-9EBF-AF664387A5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161" name="Group 77">
              <a:extLst>
                <a:ext uri="{FF2B5EF4-FFF2-40B4-BE49-F238E27FC236}">
                  <a16:creationId xmlns:a16="http://schemas.microsoft.com/office/drawing/2014/main" id="{C6631240-0176-4981-976A-7EF65F2D21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8" y="1390"/>
              <a:ext cx="938" cy="179"/>
              <a:chOff x="1030" y="1390"/>
              <a:chExt cx="938" cy="179"/>
            </a:xfrm>
          </p:grpSpPr>
          <p:sp>
            <p:nvSpPr>
              <p:cNvPr id="47162" name="Line 78">
                <a:extLst>
                  <a:ext uri="{FF2B5EF4-FFF2-40B4-BE49-F238E27FC236}">
                    <a16:creationId xmlns:a16="http://schemas.microsoft.com/office/drawing/2014/main" id="{0D231CF5-A83C-4AC2-97C8-4E7BEBF916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0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3" name="Line 79">
                <a:extLst>
                  <a:ext uri="{FF2B5EF4-FFF2-40B4-BE49-F238E27FC236}">
                    <a16:creationId xmlns:a16="http://schemas.microsoft.com/office/drawing/2014/main" id="{7B46932B-FB3A-4FE8-9E07-2DB5C82771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6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4" name="Line 80">
                <a:extLst>
                  <a:ext uri="{FF2B5EF4-FFF2-40B4-BE49-F238E27FC236}">
                    <a16:creationId xmlns:a16="http://schemas.microsoft.com/office/drawing/2014/main" id="{3D2DA6DC-95EE-44AA-ABE8-C70AE017C1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5" name="Line 81">
                <a:extLst>
                  <a:ext uri="{FF2B5EF4-FFF2-40B4-BE49-F238E27FC236}">
                    <a16:creationId xmlns:a16="http://schemas.microsoft.com/office/drawing/2014/main" id="{BD175516-355A-4509-A78C-0DD3D04FBD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67" y="1390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6" name="Line 82">
                <a:extLst>
                  <a:ext uri="{FF2B5EF4-FFF2-40B4-BE49-F238E27FC236}">
                    <a16:creationId xmlns:a16="http://schemas.microsoft.com/office/drawing/2014/main" id="{435A6C5C-312E-4DDE-A388-39B1414103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0" y="1393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7" name="Line 83">
                <a:extLst>
                  <a:ext uri="{FF2B5EF4-FFF2-40B4-BE49-F238E27FC236}">
                    <a16:creationId xmlns:a16="http://schemas.microsoft.com/office/drawing/2014/main" id="{7FBD01A6-7823-41C2-A4D6-B6F5247DDB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7115" name="Line 84">
            <a:extLst>
              <a:ext uri="{FF2B5EF4-FFF2-40B4-BE49-F238E27FC236}">
                <a16:creationId xmlns:a16="http://schemas.microsoft.com/office/drawing/2014/main" id="{3DC05728-F239-4F37-AC46-9D8C99611F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9150" y="2835275"/>
            <a:ext cx="0" cy="27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6" name="Line 86">
            <a:extLst>
              <a:ext uri="{FF2B5EF4-FFF2-40B4-BE49-F238E27FC236}">
                <a16:creationId xmlns:a16="http://schemas.microsoft.com/office/drawing/2014/main" id="{4FCF54D6-0E2C-4853-A0C5-2C73EB6219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1600" y="2835275"/>
            <a:ext cx="0" cy="27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7" name="Line 87">
            <a:extLst>
              <a:ext uri="{FF2B5EF4-FFF2-40B4-BE49-F238E27FC236}">
                <a16:creationId xmlns:a16="http://schemas.microsoft.com/office/drawing/2014/main" id="{92C026CC-09E5-4ACA-A71F-64A8810B01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3" y="3095625"/>
            <a:ext cx="1495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8" name="Line 88">
            <a:extLst>
              <a:ext uri="{FF2B5EF4-FFF2-40B4-BE49-F238E27FC236}">
                <a16:creationId xmlns:a16="http://schemas.microsoft.com/office/drawing/2014/main" id="{F67681F8-9A41-487F-A0A2-41C0B7D139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07025" y="2835275"/>
            <a:ext cx="0" cy="27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9" name="Line 89">
            <a:extLst>
              <a:ext uri="{FF2B5EF4-FFF2-40B4-BE49-F238E27FC236}">
                <a16:creationId xmlns:a16="http://schemas.microsoft.com/office/drawing/2014/main" id="{5D83B161-5F77-48D3-8109-17ABAB663A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3875" y="2835275"/>
            <a:ext cx="0" cy="27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0" name="Line 90">
            <a:extLst>
              <a:ext uri="{FF2B5EF4-FFF2-40B4-BE49-F238E27FC236}">
                <a16:creationId xmlns:a16="http://schemas.microsoft.com/office/drawing/2014/main" id="{C0404EF4-D107-44A2-9A67-516EC80781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0675" y="2847975"/>
            <a:ext cx="1466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1" name="Line 91">
            <a:extLst>
              <a:ext uri="{FF2B5EF4-FFF2-40B4-BE49-F238E27FC236}">
                <a16:creationId xmlns:a16="http://schemas.microsoft.com/office/drawing/2014/main" id="{50B5149B-86A8-41F5-B6ED-63E6FE76042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6578" y="3095625"/>
            <a:ext cx="2257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2" name="Text Box 92">
            <a:extLst>
              <a:ext uri="{FF2B5EF4-FFF2-40B4-BE49-F238E27FC236}">
                <a16:creationId xmlns:a16="http://schemas.microsoft.com/office/drawing/2014/main" id="{19A150AB-1889-45A7-AD4B-A1D7EE68A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8078" y="2124078"/>
            <a:ext cx="828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2000" u="none" baseline="0">
                <a:ea typeface="新細明體" panose="02020500000000000000" pitchFamily="18" charset="-120"/>
              </a:rPr>
              <a:t>Clock</a:t>
            </a:r>
          </a:p>
        </p:txBody>
      </p:sp>
      <p:sp>
        <p:nvSpPr>
          <p:cNvPr id="47123" name="Text Box 93">
            <a:extLst>
              <a:ext uri="{FF2B5EF4-FFF2-40B4-BE49-F238E27FC236}">
                <a16:creationId xmlns:a16="http://schemas.microsoft.com/office/drawing/2014/main" id="{FE934423-82E5-4C80-AC7A-655C934E0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6203" y="2755903"/>
            <a:ext cx="619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2000" u="none" baseline="0" dirty="0">
                <a:ea typeface="新細明體" panose="02020500000000000000" pitchFamily="18" charset="-120"/>
              </a:rPr>
              <a:t>T</a:t>
            </a:r>
          </a:p>
        </p:txBody>
      </p:sp>
      <p:sp>
        <p:nvSpPr>
          <p:cNvPr id="47129" name="Line 123">
            <a:extLst>
              <a:ext uri="{FF2B5EF4-FFF2-40B4-BE49-F238E27FC236}">
                <a16:creationId xmlns:a16="http://schemas.microsoft.com/office/drawing/2014/main" id="{87D9FFF7-C645-4F0B-B8AB-AB9069BA4E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7900" y="2451100"/>
            <a:ext cx="0" cy="28575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30" name="Line 124">
            <a:extLst>
              <a:ext uri="{FF2B5EF4-FFF2-40B4-BE49-F238E27FC236}">
                <a16:creationId xmlns:a16="http://schemas.microsoft.com/office/drawing/2014/main" id="{E2CE428D-B171-4EE4-9580-7B1737C071C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476500"/>
            <a:ext cx="0" cy="28575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31" name="Line 125">
            <a:extLst>
              <a:ext uri="{FF2B5EF4-FFF2-40B4-BE49-F238E27FC236}">
                <a16:creationId xmlns:a16="http://schemas.microsoft.com/office/drawing/2014/main" id="{7BE3CC1A-0F24-4FBC-9006-8A68ADBB79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476500"/>
            <a:ext cx="0" cy="28575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32" name="Line 126">
            <a:extLst>
              <a:ext uri="{FF2B5EF4-FFF2-40B4-BE49-F238E27FC236}">
                <a16:creationId xmlns:a16="http://schemas.microsoft.com/office/drawing/2014/main" id="{8ACB8121-4BDF-4166-BB17-AF0F9AAA9B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8300" y="2463800"/>
            <a:ext cx="0" cy="28575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D670D0A-BFE1-435B-A181-24B88F5A1BBE}"/>
              </a:ext>
            </a:extLst>
          </p:cNvPr>
          <p:cNvCxnSpPr/>
          <p:nvPr/>
        </p:nvCxnSpPr>
        <p:spPr bwMode="auto">
          <a:xfrm>
            <a:off x="2927648" y="4689140"/>
            <a:ext cx="590252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>
            <a:extLst>
              <a:ext uri="{FF2B5EF4-FFF2-40B4-BE49-F238E27FC236}">
                <a16:creationId xmlns:a16="http://schemas.microsoft.com/office/drawing/2014/main" id="{23ABC306-0F1F-477F-98CD-97814B4640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6463" y="3"/>
            <a:ext cx="7988300" cy="1020763"/>
          </a:xfrm>
        </p:spPr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Flip-Flop Behavior Example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A2AFE342-C736-412C-99A8-C486C4C937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01838" y="1136653"/>
            <a:ext cx="8102600" cy="5027613"/>
          </a:xfrm>
        </p:spPr>
        <p:txBody>
          <a:bodyPr/>
          <a:lstStyle/>
          <a:p>
            <a:r>
              <a:rPr lang="en-US" altLang="zh-TW" sz="2400" dirty="0">
                <a:ea typeface="新細明體" panose="02020500000000000000" pitchFamily="18" charset="-120"/>
              </a:rPr>
              <a:t>Use the characteristic tables to find the output waveforms for the flip-flop shown:</a:t>
            </a:r>
          </a:p>
        </p:txBody>
      </p:sp>
      <p:grpSp>
        <p:nvGrpSpPr>
          <p:cNvPr id="48133" name="Group 15">
            <a:extLst>
              <a:ext uri="{FF2B5EF4-FFF2-40B4-BE49-F238E27FC236}">
                <a16:creationId xmlns:a16="http://schemas.microsoft.com/office/drawing/2014/main" id="{32BD4E38-B574-4E03-97F3-F177386E217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982791" y="5029203"/>
            <a:ext cx="858837" cy="917575"/>
            <a:chOff x="1281" y="1632"/>
            <a:chExt cx="1412" cy="1509"/>
          </a:xfrm>
        </p:grpSpPr>
        <p:sp>
          <p:nvSpPr>
            <p:cNvPr id="48229" name="Freeform 16">
              <a:extLst>
                <a:ext uri="{FF2B5EF4-FFF2-40B4-BE49-F238E27FC236}">
                  <a16:creationId xmlns:a16="http://schemas.microsoft.com/office/drawing/2014/main" id="{80FA007F-3795-4626-A9F5-3FA7A16BD08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281" y="1960"/>
              <a:ext cx="1405" cy="797"/>
            </a:xfrm>
            <a:custGeom>
              <a:avLst/>
              <a:gdLst>
                <a:gd name="T0" fmla="*/ 0 w 702"/>
                <a:gd name="T1" fmla="*/ 0 h 398"/>
                <a:gd name="T2" fmla="*/ 432 w 702"/>
                <a:gd name="T3" fmla="*/ 0 h 398"/>
                <a:gd name="T4" fmla="*/ 2412 w 702"/>
                <a:gd name="T5" fmla="*/ 0 h 398"/>
                <a:gd name="T6" fmla="*/ 2812 w 702"/>
                <a:gd name="T7" fmla="*/ 0 h 398"/>
                <a:gd name="T8" fmla="*/ 0 w 702"/>
                <a:gd name="T9" fmla="*/ 835 h 398"/>
                <a:gd name="T10" fmla="*/ 432 w 702"/>
                <a:gd name="T11" fmla="*/ 835 h 398"/>
                <a:gd name="T12" fmla="*/ 0 w 702"/>
                <a:gd name="T13" fmla="*/ 1596 h 398"/>
                <a:gd name="T14" fmla="*/ 432 w 702"/>
                <a:gd name="T15" fmla="*/ 1596 h 39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2" h="398">
                  <a:moveTo>
                    <a:pt x="0" y="0"/>
                  </a:moveTo>
                  <a:lnTo>
                    <a:pt x="108" y="0"/>
                  </a:lnTo>
                  <a:moveTo>
                    <a:pt x="602" y="0"/>
                  </a:moveTo>
                  <a:lnTo>
                    <a:pt x="702" y="0"/>
                  </a:lnTo>
                  <a:moveTo>
                    <a:pt x="0" y="208"/>
                  </a:moveTo>
                  <a:lnTo>
                    <a:pt x="108" y="208"/>
                  </a:lnTo>
                  <a:moveTo>
                    <a:pt x="0" y="398"/>
                  </a:moveTo>
                  <a:lnTo>
                    <a:pt x="108" y="398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230" name="Rectangle 17">
              <a:extLst>
                <a:ext uri="{FF2B5EF4-FFF2-40B4-BE49-F238E27FC236}">
                  <a16:creationId xmlns:a16="http://schemas.microsoft.com/office/drawing/2014/main" id="{F5B4449F-5ECA-464A-B95F-09C4493376B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71" y="1825"/>
              <a:ext cx="190" cy="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TW" sz="1800" u="none" baseline="0">
                  <a:solidFill>
                    <a:srgbClr val="231F20"/>
                  </a:solidFill>
                  <a:latin typeface="TimesTen" pitchFamily="18" charset="0"/>
                  <a:ea typeface="新細明體" panose="02020500000000000000" pitchFamily="18" charset="-120"/>
                </a:rPr>
                <a:t>J</a:t>
              </a:r>
              <a:endParaRPr lang="en-US" altLang="zh-TW" sz="2800">
                <a:ea typeface="新細明體" panose="02020500000000000000" pitchFamily="18" charset="-120"/>
              </a:endParaRPr>
            </a:p>
          </p:txBody>
        </p:sp>
        <p:sp>
          <p:nvSpPr>
            <p:cNvPr id="48231" name="Rectangle 18">
              <a:extLst>
                <a:ext uri="{FF2B5EF4-FFF2-40B4-BE49-F238E27FC236}">
                  <a16:creationId xmlns:a16="http://schemas.microsoft.com/office/drawing/2014/main" id="{297F06DA-B138-4B45-BE8C-9DE52E4FC89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4" y="2248"/>
              <a:ext cx="274" cy="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TW" sz="1800" u="none" baseline="0">
                  <a:solidFill>
                    <a:srgbClr val="231F20"/>
                  </a:solidFill>
                  <a:latin typeface="TimesTen" pitchFamily="18" charset="0"/>
                  <a:ea typeface="新細明體" panose="02020500000000000000" pitchFamily="18" charset="-120"/>
                </a:rPr>
                <a:t>C</a:t>
              </a:r>
              <a:endParaRPr lang="en-US" altLang="zh-TW" sz="2800">
                <a:ea typeface="新細明體" panose="02020500000000000000" pitchFamily="18" charset="-120"/>
              </a:endParaRPr>
            </a:p>
          </p:txBody>
        </p:sp>
        <p:sp>
          <p:nvSpPr>
            <p:cNvPr id="48232" name="Rectangle 19">
              <a:extLst>
                <a:ext uri="{FF2B5EF4-FFF2-40B4-BE49-F238E27FC236}">
                  <a16:creationId xmlns:a16="http://schemas.microsoft.com/office/drawing/2014/main" id="{2ED87E86-521C-4205-9BF4-3E5D8955EED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71" y="2624"/>
              <a:ext cx="295" cy="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u="sng" baseline="-25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TW" sz="1800" u="none" baseline="0">
                  <a:solidFill>
                    <a:srgbClr val="231F20"/>
                  </a:solidFill>
                  <a:latin typeface="TimesTen" pitchFamily="18" charset="0"/>
                  <a:ea typeface="新細明體" panose="02020500000000000000" pitchFamily="18" charset="-120"/>
                </a:rPr>
                <a:t>K</a:t>
              </a:r>
              <a:endParaRPr lang="en-US" altLang="zh-TW" sz="2800">
                <a:ea typeface="新細明體" panose="02020500000000000000" pitchFamily="18" charset="-120"/>
              </a:endParaRPr>
            </a:p>
          </p:txBody>
        </p:sp>
        <p:sp>
          <p:nvSpPr>
            <p:cNvPr id="48233" name="Freeform 20">
              <a:extLst>
                <a:ext uri="{FF2B5EF4-FFF2-40B4-BE49-F238E27FC236}">
                  <a16:creationId xmlns:a16="http://schemas.microsoft.com/office/drawing/2014/main" id="{9A6D8729-7A19-4318-9E5A-E9F023E632D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492" y="1632"/>
              <a:ext cx="1201" cy="1509"/>
            </a:xfrm>
            <a:custGeom>
              <a:avLst/>
              <a:gdLst>
                <a:gd name="T0" fmla="*/ 0 w 300"/>
                <a:gd name="T1" fmla="*/ 0 h 377"/>
                <a:gd name="T2" fmla="*/ 0 w 300"/>
                <a:gd name="T3" fmla="*/ 6040 h 377"/>
                <a:gd name="T4" fmla="*/ 4007 w 300"/>
                <a:gd name="T5" fmla="*/ 6040 h 377"/>
                <a:gd name="T6" fmla="*/ 4007 w 300"/>
                <a:gd name="T7" fmla="*/ 0 h 377"/>
                <a:gd name="T8" fmla="*/ 0 w 300"/>
                <a:gd name="T9" fmla="*/ 0 h 377"/>
                <a:gd name="T10" fmla="*/ 0 w 300"/>
                <a:gd name="T11" fmla="*/ 2658 h 377"/>
                <a:gd name="T12" fmla="*/ 961 w 300"/>
                <a:gd name="T13" fmla="*/ 2978 h 377"/>
                <a:gd name="T14" fmla="*/ 0 w 300"/>
                <a:gd name="T15" fmla="*/ 3382 h 377"/>
                <a:gd name="T16" fmla="*/ 4808 w 300"/>
                <a:gd name="T17" fmla="*/ 4535 h 377"/>
                <a:gd name="T18" fmla="*/ 4408 w 300"/>
                <a:gd name="T19" fmla="*/ 4935 h 377"/>
                <a:gd name="T20" fmla="*/ 4007 w 300"/>
                <a:gd name="T21" fmla="*/ 4535 h 377"/>
                <a:gd name="T22" fmla="*/ 4408 w 300"/>
                <a:gd name="T23" fmla="*/ 4135 h 377"/>
                <a:gd name="T24" fmla="*/ 4808 w 300"/>
                <a:gd name="T25" fmla="*/ 4535 h 3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00" h="377">
                  <a:moveTo>
                    <a:pt x="0" y="0"/>
                  </a:moveTo>
                  <a:cubicBezTo>
                    <a:pt x="0" y="377"/>
                    <a:pt x="0" y="377"/>
                    <a:pt x="0" y="377"/>
                  </a:cubicBezTo>
                  <a:cubicBezTo>
                    <a:pt x="250" y="377"/>
                    <a:pt x="250" y="377"/>
                    <a:pt x="250" y="377"/>
                  </a:cubicBezTo>
                  <a:cubicBezTo>
                    <a:pt x="250" y="0"/>
                    <a:pt x="250" y="0"/>
                    <a:pt x="25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166"/>
                  </a:moveTo>
                  <a:cubicBezTo>
                    <a:pt x="60" y="186"/>
                    <a:pt x="60" y="186"/>
                    <a:pt x="60" y="186"/>
                  </a:cubicBezTo>
                  <a:cubicBezTo>
                    <a:pt x="0" y="211"/>
                    <a:pt x="0" y="211"/>
                    <a:pt x="0" y="211"/>
                  </a:cubicBezTo>
                  <a:moveTo>
                    <a:pt x="300" y="283"/>
                  </a:moveTo>
                  <a:cubicBezTo>
                    <a:pt x="300" y="297"/>
                    <a:pt x="289" y="308"/>
                    <a:pt x="275" y="308"/>
                  </a:cubicBezTo>
                  <a:cubicBezTo>
                    <a:pt x="261" y="308"/>
                    <a:pt x="250" y="297"/>
                    <a:pt x="250" y="283"/>
                  </a:cubicBezTo>
                  <a:cubicBezTo>
                    <a:pt x="250" y="269"/>
                    <a:pt x="261" y="258"/>
                    <a:pt x="275" y="258"/>
                  </a:cubicBezTo>
                  <a:cubicBezTo>
                    <a:pt x="289" y="258"/>
                    <a:pt x="300" y="269"/>
                    <a:pt x="300" y="283"/>
                  </a:cubicBezTo>
                  <a:close/>
                </a:path>
              </a:pathLst>
            </a:custGeom>
            <a:noFill/>
            <a:ln w="31750" cap="flat">
              <a:solidFill>
                <a:schemeClr val="hlink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134" name="Line 21">
            <a:extLst>
              <a:ext uri="{FF2B5EF4-FFF2-40B4-BE49-F238E27FC236}">
                <a16:creationId xmlns:a16="http://schemas.microsoft.com/office/drawing/2014/main" id="{C8077086-6F54-4D4E-90CC-373C96671D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8816" y="2576513"/>
            <a:ext cx="85725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5" name="Line 22">
            <a:extLst>
              <a:ext uri="{FF2B5EF4-FFF2-40B4-BE49-F238E27FC236}">
                <a16:creationId xmlns:a16="http://schemas.microsoft.com/office/drawing/2014/main" id="{10B7597A-136C-4112-B680-74C374B367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4538" y="2581275"/>
            <a:ext cx="0" cy="1143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137" name="Group 40">
            <a:extLst>
              <a:ext uri="{FF2B5EF4-FFF2-40B4-BE49-F238E27FC236}">
                <a16:creationId xmlns:a16="http://schemas.microsoft.com/office/drawing/2014/main" id="{8CBF4FDC-C32D-4690-ADB4-8ADD7FB1E1FD}"/>
              </a:ext>
            </a:extLst>
          </p:cNvPr>
          <p:cNvGrpSpPr>
            <a:grpSpLocks/>
          </p:cNvGrpSpPr>
          <p:nvPr/>
        </p:nvGrpSpPr>
        <p:grpSpPr bwMode="auto">
          <a:xfrm>
            <a:off x="3340103" y="2149478"/>
            <a:ext cx="5946775" cy="284163"/>
            <a:chOff x="1030" y="1390"/>
            <a:chExt cx="3746" cy="179"/>
          </a:xfrm>
        </p:grpSpPr>
        <p:grpSp>
          <p:nvGrpSpPr>
            <p:cNvPr id="48187" name="Group 41">
              <a:extLst>
                <a:ext uri="{FF2B5EF4-FFF2-40B4-BE49-F238E27FC236}">
                  <a16:creationId xmlns:a16="http://schemas.microsoft.com/office/drawing/2014/main" id="{0AD7D8F8-1F2F-4B32-9C10-F9BD8503E8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0" y="1390"/>
              <a:ext cx="938" cy="179"/>
              <a:chOff x="1030" y="1390"/>
              <a:chExt cx="938" cy="179"/>
            </a:xfrm>
          </p:grpSpPr>
          <p:sp>
            <p:nvSpPr>
              <p:cNvPr id="48209" name="Line 42">
                <a:extLst>
                  <a:ext uri="{FF2B5EF4-FFF2-40B4-BE49-F238E27FC236}">
                    <a16:creationId xmlns:a16="http://schemas.microsoft.com/office/drawing/2014/main" id="{BB030651-C7CE-4F9C-A4AB-03652B361D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0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210" name="Line 43">
                <a:extLst>
                  <a:ext uri="{FF2B5EF4-FFF2-40B4-BE49-F238E27FC236}">
                    <a16:creationId xmlns:a16="http://schemas.microsoft.com/office/drawing/2014/main" id="{C089B391-DE99-4700-860C-D83CF196E7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6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211" name="Line 44">
                <a:extLst>
                  <a:ext uri="{FF2B5EF4-FFF2-40B4-BE49-F238E27FC236}">
                    <a16:creationId xmlns:a16="http://schemas.microsoft.com/office/drawing/2014/main" id="{D5D3A4E2-155D-402E-970D-C6777A4FE9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212" name="Line 45">
                <a:extLst>
                  <a:ext uri="{FF2B5EF4-FFF2-40B4-BE49-F238E27FC236}">
                    <a16:creationId xmlns:a16="http://schemas.microsoft.com/office/drawing/2014/main" id="{B74B89BE-102E-4680-A60B-5CFBD4725C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67" y="1390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213" name="Line 46">
                <a:extLst>
                  <a:ext uri="{FF2B5EF4-FFF2-40B4-BE49-F238E27FC236}">
                    <a16:creationId xmlns:a16="http://schemas.microsoft.com/office/drawing/2014/main" id="{70676D02-B8C8-4C9B-A8BA-5B0DFD418E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0" y="1393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214" name="Line 47">
                <a:extLst>
                  <a:ext uri="{FF2B5EF4-FFF2-40B4-BE49-F238E27FC236}">
                    <a16:creationId xmlns:a16="http://schemas.microsoft.com/office/drawing/2014/main" id="{23FA0983-9623-4F45-8AA9-B7B94C2849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8188" name="Group 48">
              <a:extLst>
                <a:ext uri="{FF2B5EF4-FFF2-40B4-BE49-F238E27FC236}">
                  <a16:creationId xmlns:a16="http://schemas.microsoft.com/office/drawing/2014/main" id="{1EB29746-0ECB-425B-BD32-1FAEB44DFF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9" y="1390"/>
              <a:ext cx="938" cy="179"/>
              <a:chOff x="1030" y="1390"/>
              <a:chExt cx="938" cy="179"/>
            </a:xfrm>
          </p:grpSpPr>
          <p:sp>
            <p:nvSpPr>
              <p:cNvPr id="48203" name="Line 49">
                <a:extLst>
                  <a:ext uri="{FF2B5EF4-FFF2-40B4-BE49-F238E27FC236}">
                    <a16:creationId xmlns:a16="http://schemas.microsoft.com/office/drawing/2014/main" id="{3C32CAE5-6788-453F-A7A4-1C8E75DFDA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0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204" name="Line 50">
                <a:extLst>
                  <a:ext uri="{FF2B5EF4-FFF2-40B4-BE49-F238E27FC236}">
                    <a16:creationId xmlns:a16="http://schemas.microsoft.com/office/drawing/2014/main" id="{E32F603B-54BF-4F12-B87E-2A3CE1642D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6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205" name="Line 51">
                <a:extLst>
                  <a:ext uri="{FF2B5EF4-FFF2-40B4-BE49-F238E27FC236}">
                    <a16:creationId xmlns:a16="http://schemas.microsoft.com/office/drawing/2014/main" id="{E0A64A9B-8611-44CD-962D-E24216AF4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206" name="Line 52">
                <a:extLst>
                  <a:ext uri="{FF2B5EF4-FFF2-40B4-BE49-F238E27FC236}">
                    <a16:creationId xmlns:a16="http://schemas.microsoft.com/office/drawing/2014/main" id="{0C54DE95-B8E6-43E5-9D84-35E489BFF3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67" y="1390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207" name="Line 53">
                <a:extLst>
                  <a:ext uri="{FF2B5EF4-FFF2-40B4-BE49-F238E27FC236}">
                    <a16:creationId xmlns:a16="http://schemas.microsoft.com/office/drawing/2014/main" id="{95779EBD-689E-4D2C-B16E-B3CEA38FB0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0" y="1393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208" name="Line 54">
                <a:extLst>
                  <a:ext uri="{FF2B5EF4-FFF2-40B4-BE49-F238E27FC236}">
                    <a16:creationId xmlns:a16="http://schemas.microsoft.com/office/drawing/2014/main" id="{8734C352-C8AE-4071-88EB-F1CA0687DC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8189" name="Group 55">
              <a:extLst>
                <a:ext uri="{FF2B5EF4-FFF2-40B4-BE49-F238E27FC236}">
                  <a16:creationId xmlns:a16="http://schemas.microsoft.com/office/drawing/2014/main" id="{77D8ED6E-C1D9-4DB4-A8BA-805FDA7F28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2" y="1390"/>
              <a:ext cx="938" cy="179"/>
              <a:chOff x="1030" y="1390"/>
              <a:chExt cx="938" cy="179"/>
            </a:xfrm>
          </p:grpSpPr>
          <p:sp>
            <p:nvSpPr>
              <p:cNvPr id="48197" name="Line 56">
                <a:extLst>
                  <a:ext uri="{FF2B5EF4-FFF2-40B4-BE49-F238E27FC236}">
                    <a16:creationId xmlns:a16="http://schemas.microsoft.com/office/drawing/2014/main" id="{7A06B0C7-4B18-4CEA-8F02-E98D83D282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0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98" name="Line 57">
                <a:extLst>
                  <a:ext uri="{FF2B5EF4-FFF2-40B4-BE49-F238E27FC236}">
                    <a16:creationId xmlns:a16="http://schemas.microsoft.com/office/drawing/2014/main" id="{C2CB7F2D-6810-49C7-973B-B096A0E6A4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6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99" name="Line 58">
                <a:extLst>
                  <a:ext uri="{FF2B5EF4-FFF2-40B4-BE49-F238E27FC236}">
                    <a16:creationId xmlns:a16="http://schemas.microsoft.com/office/drawing/2014/main" id="{6D602092-1D1D-4233-A8EA-3FAF57DF2C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200" name="Line 59">
                <a:extLst>
                  <a:ext uri="{FF2B5EF4-FFF2-40B4-BE49-F238E27FC236}">
                    <a16:creationId xmlns:a16="http://schemas.microsoft.com/office/drawing/2014/main" id="{813A4B1D-9CB8-4D5B-88C1-63335CC8F3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67" y="1390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201" name="Line 60">
                <a:extLst>
                  <a:ext uri="{FF2B5EF4-FFF2-40B4-BE49-F238E27FC236}">
                    <a16:creationId xmlns:a16="http://schemas.microsoft.com/office/drawing/2014/main" id="{94F493B2-2DA3-4965-8964-C560296544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0" y="1393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202" name="Line 61">
                <a:extLst>
                  <a:ext uri="{FF2B5EF4-FFF2-40B4-BE49-F238E27FC236}">
                    <a16:creationId xmlns:a16="http://schemas.microsoft.com/office/drawing/2014/main" id="{C8823A59-8325-4908-8D86-173A754CE7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8190" name="Group 62">
              <a:extLst>
                <a:ext uri="{FF2B5EF4-FFF2-40B4-BE49-F238E27FC236}">
                  <a16:creationId xmlns:a16="http://schemas.microsoft.com/office/drawing/2014/main" id="{5B20574D-7457-48DE-8968-051DFB10BB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8" y="1390"/>
              <a:ext cx="938" cy="179"/>
              <a:chOff x="1030" y="1390"/>
              <a:chExt cx="938" cy="179"/>
            </a:xfrm>
          </p:grpSpPr>
          <p:sp>
            <p:nvSpPr>
              <p:cNvPr id="48191" name="Line 63">
                <a:extLst>
                  <a:ext uri="{FF2B5EF4-FFF2-40B4-BE49-F238E27FC236}">
                    <a16:creationId xmlns:a16="http://schemas.microsoft.com/office/drawing/2014/main" id="{1EFB0C22-A890-4C34-A03A-3A03046566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0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92" name="Line 64">
                <a:extLst>
                  <a:ext uri="{FF2B5EF4-FFF2-40B4-BE49-F238E27FC236}">
                    <a16:creationId xmlns:a16="http://schemas.microsoft.com/office/drawing/2014/main" id="{1572B178-6F34-4C3C-AD6A-489591C672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6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93" name="Line 65">
                <a:extLst>
                  <a:ext uri="{FF2B5EF4-FFF2-40B4-BE49-F238E27FC236}">
                    <a16:creationId xmlns:a16="http://schemas.microsoft.com/office/drawing/2014/main" id="{A5AC3741-3342-4488-B8F1-D3B8DA179E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1392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94" name="Line 66">
                <a:extLst>
                  <a:ext uri="{FF2B5EF4-FFF2-40B4-BE49-F238E27FC236}">
                    <a16:creationId xmlns:a16="http://schemas.microsoft.com/office/drawing/2014/main" id="{146C6C4F-90DD-4E07-BC84-09E78F2089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67" y="1390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95" name="Line 67">
                <a:extLst>
                  <a:ext uri="{FF2B5EF4-FFF2-40B4-BE49-F238E27FC236}">
                    <a16:creationId xmlns:a16="http://schemas.microsoft.com/office/drawing/2014/main" id="{17DFA7F5-85B7-45C7-811A-307B3DCCAE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0" y="1393"/>
                <a:ext cx="0" cy="1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96" name="Line 68">
                <a:extLst>
                  <a:ext uri="{FF2B5EF4-FFF2-40B4-BE49-F238E27FC236}">
                    <a16:creationId xmlns:a16="http://schemas.microsoft.com/office/drawing/2014/main" id="{28700C7C-2A97-406E-A155-E786959673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1560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8138" name="Line 38">
            <a:extLst>
              <a:ext uri="{FF2B5EF4-FFF2-40B4-BE49-F238E27FC236}">
                <a16:creationId xmlns:a16="http://schemas.microsoft.com/office/drawing/2014/main" id="{80C1BF56-93B9-43EF-9B87-95996E7E62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0103" y="3019425"/>
            <a:ext cx="2000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9" name="Line 39">
            <a:extLst>
              <a:ext uri="{FF2B5EF4-FFF2-40B4-BE49-F238E27FC236}">
                <a16:creationId xmlns:a16="http://schemas.microsoft.com/office/drawing/2014/main" id="{9C599035-FD04-4878-9386-53833ED554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9650" y="2771775"/>
            <a:ext cx="571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0" name="Line 69">
            <a:extLst>
              <a:ext uri="{FF2B5EF4-FFF2-40B4-BE49-F238E27FC236}">
                <a16:creationId xmlns:a16="http://schemas.microsoft.com/office/drawing/2014/main" id="{C630FBBC-623E-477D-9DEB-14464CE3D2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49650" y="2759075"/>
            <a:ext cx="0" cy="27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1" name="Line 70">
            <a:extLst>
              <a:ext uri="{FF2B5EF4-FFF2-40B4-BE49-F238E27FC236}">
                <a16:creationId xmlns:a16="http://schemas.microsoft.com/office/drawing/2014/main" id="{AB568AC6-7B77-43CE-8F92-CE2837D2AB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02100" y="2759075"/>
            <a:ext cx="0" cy="27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2" name="Line 71">
            <a:extLst>
              <a:ext uri="{FF2B5EF4-FFF2-40B4-BE49-F238E27FC236}">
                <a16:creationId xmlns:a16="http://schemas.microsoft.com/office/drawing/2014/main" id="{DAF3A987-6D21-4416-95C5-4279D3C7F8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3" y="3019425"/>
            <a:ext cx="1495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3" name="Line 72">
            <a:extLst>
              <a:ext uri="{FF2B5EF4-FFF2-40B4-BE49-F238E27FC236}">
                <a16:creationId xmlns:a16="http://schemas.microsoft.com/office/drawing/2014/main" id="{8F7AF1F2-6E27-40DE-8894-528D11CFE9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02400" y="2759075"/>
            <a:ext cx="0" cy="27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4" name="Line 73">
            <a:extLst>
              <a:ext uri="{FF2B5EF4-FFF2-40B4-BE49-F238E27FC236}">
                <a16:creationId xmlns:a16="http://schemas.microsoft.com/office/drawing/2014/main" id="{18CD925D-9571-4205-BD59-DE6A8B7E1F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26300" y="2759075"/>
            <a:ext cx="0" cy="27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5" name="Line 75">
            <a:extLst>
              <a:ext uri="{FF2B5EF4-FFF2-40B4-BE49-F238E27FC236}">
                <a16:creationId xmlns:a16="http://schemas.microsoft.com/office/drawing/2014/main" id="{EF6F13FC-E30C-4F2A-ADB5-C7CAD9B4032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9478" y="3019425"/>
            <a:ext cx="20478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6" name="Text Box 76">
            <a:extLst>
              <a:ext uri="{FF2B5EF4-FFF2-40B4-BE49-F238E27FC236}">
                <a16:creationId xmlns:a16="http://schemas.microsoft.com/office/drawing/2014/main" id="{8B07618A-AC6B-4104-9C4B-0EC6B4BE8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053" y="2066928"/>
            <a:ext cx="828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2000" u="none" baseline="0">
                <a:ea typeface="新細明體" panose="02020500000000000000" pitchFamily="18" charset="-120"/>
              </a:rPr>
              <a:t>Clock</a:t>
            </a:r>
          </a:p>
        </p:txBody>
      </p:sp>
      <p:sp>
        <p:nvSpPr>
          <p:cNvPr id="48147" name="Text Box 77">
            <a:extLst>
              <a:ext uri="{FF2B5EF4-FFF2-40B4-BE49-F238E27FC236}">
                <a16:creationId xmlns:a16="http://schemas.microsoft.com/office/drawing/2014/main" id="{3B44FC87-4712-4587-9093-6CE0E414B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178" y="2679703"/>
            <a:ext cx="619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2000" u="none" baseline="0" dirty="0">
                <a:ea typeface="新細明體" panose="02020500000000000000" pitchFamily="18" charset="-120"/>
              </a:rPr>
              <a:t>J</a:t>
            </a:r>
          </a:p>
        </p:txBody>
      </p:sp>
      <p:sp>
        <p:nvSpPr>
          <p:cNvPr id="48149" name="Text Box 97">
            <a:extLst>
              <a:ext uri="{FF2B5EF4-FFF2-40B4-BE49-F238E27FC236}">
                <a16:creationId xmlns:a16="http://schemas.microsoft.com/office/drawing/2014/main" id="{5F3DACC2-57BB-4A9E-A7CF-78BE99193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175" y="5011741"/>
            <a:ext cx="666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2000" u="none" baseline="0">
                <a:ea typeface="新細明體" panose="02020500000000000000" pitchFamily="18" charset="-120"/>
              </a:rPr>
              <a:t>Q</a:t>
            </a:r>
            <a:r>
              <a:rPr lang="en-US" altLang="zh-TW" sz="2000" u="none">
                <a:ea typeface="新細明體" panose="02020500000000000000" pitchFamily="18" charset="-120"/>
              </a:rPr>
              <a:t>JK</a:t>
            </a:r>
          </a:p>
        </p:txBody>
      </p:sp>
      <p:sp>
        <p:nvSpPr>
          <p:cNvPr id="48150" name="Line 100">
            <a:extLst>
              <a:ext uri="{FF2B5EF4-FFF2-40B4-BE49-F238E27FC236}">
                <a16:creationId xmlns:a16="http://schemas.microsoft.com/office/drawing/2014/main" id="{20308848-6477-48D5-B8F1-F18291FAAD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0100" y="3619500"/>
            <a:ext cx="8191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51" name="Line 104">
            <a:extLst>
              <a:ext uri="{FF2B5EF4-FFF2-40B4-BE49-F238E27FC236}">
                <a16:creationId xmlns:a16="http://schemas.microsoft.com/office/drawing/2014/main" id="{198D8E31-12F0-44B4-AA5D-30723B4A7E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3619500"/>
            <a:ext cx="190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52" name="Line 105">
            <a:extLst>
              <a:ext uri="{FF2B5EF4-FFF2-40B4-BE49-F238E27FC236}">
                <a16:creationId xmlns:a16="http://schemas.microsoft.com/office/drawing/2014/main" id="{C7C5CBA0-46C1-4A79-8D8A-9009CDA5F0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2125" y="3359150"/>
            <a:ext cx="0" cy="27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53" name="Line 106">
            <a:extLst>
              <a:ext uri="{FF2B5EF4-FFF2-40B4-BE49-F238E27FC236}">
                <a16:creationId xmlns:a16="http://schemas.microsoft.com/office/drawing/2014/main" id="{4B57E473-0AF2-42A3-8067-A144F4401C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21700" y="3359150"/>
            <a:ext cx="0" cy="279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54" name="Line 107">
            <a:extLst>
              <a:ext uri="{FF2B5EF4-FFF2-40B4-BE49-F238E27FC236}">
                <a16:creationId xmlns:a16="http://schemas.microsoft.com/office/drawing/2014/main" id="{C9B4D577-7803-4616-ABCF-BF3A1632B03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5775" y="3371850"/>
            <a:ext cx="1466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55" name="Line 108">
            <a:extLst>
              <a:ext uri="{FF2B5EF4-FFF2-40B4-BE49-F238E27FC236}">
                <a16:creationId xmlns:a16="http://schemas.microsoft.com/office/drawing/2014/main" id="{96255070-CB6A-4C90-A1AD-016B7882BF1E}"/>
              </a:ext>
            </a:extLst>
          </p:cNvPr>
          <p:cNvSpPr>
            <a:spLocks noChangeShapeType="1"/>
          </p:cNvSpPr>
          <p:nvPr/>
        </p:nvSpPr>
        <p:spPr bwMode="auto">
          <a:xfrm>
            <a:off x="8524878" y="3619500"/>
            <a:ext cx="809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56" name="Text Box 109">
            <a:extLst>
              <a:ext uri="{FF2B5EF4-FFF2-40B4-BE49-F238E27FC236}">
                <a16:creationId xmlns:a16="http://schemas.microsoft.com/office/drawing/2014/main" id="{ED772C48-89A8-423C-8829-03CB293D0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700" y="3279778"/>
            <a:ext cx="704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u="sng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2000" u="none" baseline="0" dirty="0">
                <a:ea typeface="新細明體" panose="02020500000000000000" pitchFamily="18" charset="-120"/>
              </a:rPr>
              <a:t>K</a:t>
            </a:r>
          </a:p>
        </p:txBody>
      </p:sp>
      <p:sp>
        <p:nvSpPr>
          <p:cNvPr id="48158" name="Line 112">
            <a:extLst>
              <a:ext uri="{FF2B5EF4-FFF2-40B4-BE49-F238E27FC236}">
                <a16:creationId xmlns:a16="http://schemas.microsoft.com/office/drawing/2014/main" id="{C4D4AB50-60E4-4A2F-927C-72E24D2150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5578" y="2771775"/>
            <a:ext cx="733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59" name="Line 113">
            <a:extLst>
              <a:ext uri="{FF2B5EF4-FFF2-40B4-BE49-F238E27FC236}">
                <a16:creationId xmlns:a16="http://schemas.microsoft.com/office/drawing/2014/main" id="{FB5CF6F6-C691-4CB4-A9B7-E48D23A2FDA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1178" y="3019425"/>
            <a:ext cx="923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60" name="Line 114">
            <a:extLst>
              <a:ext uri="{FF2B5EF4-FFF2-40B4-BE49-F238E27FC236}">
                <a16:creationId xmlns:a16="http://schemas.microsoft.com/office/drawing/2014/main" id="{C310D92B-BD91-45B1-A0FD-59927E111B0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8025" y="3371850"/>
            <a:ext cx="1466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61" name="Line 115">
            <a:extLst>
              <a:ext uri="{FF2B5EF4-FFF2-40B4-BE49-F238E27FC236}">
                <a16:creationId xmlns:a16="http://schemas.microsoft.com/office/drawing/2014/main" id="{7510F6E6-399E-4F4F-90CE-884F9191F8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4525" y="3371850"/>
            <a:ext cx="1466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64" name="Line 121">
            <a:extLst>
              <a:ext uri="{FF2B5EF4-FFF2-40B4-BE49-F238E27FC236}">
                <a16:creationId xmlns:a16="http://schemas.microsoft.com/office/drawing/2014/main" id="{C0BF4160-5DE6-46B5-95AE-F19A14BD1B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1100" y="2425700"/>
            <a:ext cx="0" cy="3086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65" name="Line 122">
            <a:extLst>
              <a:ext uri="{FF2B5EF4-FFF2-40B4-BE49-F238E27FC236}">
                <a16:creationId xmlns:a16="http://schemas.microsoft.com/office/drawing/2014/main" id="{2B270DDC-7103-4E82-9F6C-990D6554EE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7000" y="2451100"/>
            <a:ext cx="0" cy="3048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66" name="Line 123">
            <a:extLst>
              <a:ext uri="{FF2B5EF4-FFF2-40B4-BE49-F238E27FC236}">
                <a16:creationId xmlns:a16="http://schemas.microsoft.com/office/drawing/2014/main" id="{6F27A9D2-B7BE-4A12-AC60-1507EB86EED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0200" y="2425700"/>
            <a:ext cx="0" cy="3098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67" name="Line 124">
            <a:extLst>
              <a:ext uri="{FF2B5EF4-FFF2-40B4-BE49-F238E27FC236}">
                <a16:creationId xmlns:a16="http://schemas.microsoft.com/office/drawing/2014/main" id="{33360458-134F-4AF2-8280-A23096525CB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8800" y="2438400"/>
            <a:ext cx="0" cy="3098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25B64525-CA24-4BCC-AA1A-92EE8C0CE835}"/>
              </a:ext>
            </a:extLst>
          </p:cNvPr>
          <p:cNvCxnSpPr/>
          <p:nvPr/>
        </p:nvCxnSpPr>
        <p:spPr bwMode="auto">
          <a:xfrm>
            <a:off x="3168799" y="5029200"/>
            <a:ext cx="590252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EC9E3F-39F9-4E99-AC7C-0BFCF036F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0"/>
            <a:ext cx="8763000" cy="9144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Complete the timing diagram assuming you are using a negative- edge triggered JK flip flop.</a:t>
            </a:r>
          </a:p>
        </p:txBody>
      </p:sp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0FF2D890-6276-4DEE-A6EE-872DA474E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734979"/>
            <a:ext cx="8763000" cy="39214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3277059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11224</TotalTime>
  <Words>634</Words>
  <Application>Microsoft Office PowerPoint</Application>
  <PresentationFormat>Widescreen</PresentationFormat>
  <Paragraphs>314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新細明體</vt:lpstr>
      <vt:lpstr>Arial</vt:lpstr>
      <vt:lpstr>Calibri</vt:lpstr>
      <vt:lpstr>Comic Sans MS</vt:lpstr>
      <vt:lpstr>Symbol</vt:lpstr>
      <vt:lpstr>Times New Roman</vt:lpstr>
      <vt:lpstr>TimesTen</vt:lpstr>
      <vt:lpstr>Verdana</vt:lpstr>
      <vt:lpstr>Default Design</vt:lpstr>
      <vt:lpstr>PowerPoint Presentation</vt:lpstr>
      <vt:lpstr>Synchronous Sequential Logic Part 2</vt:lpstr>
      <vt:lpstr>Table 5.1: Flip-Flop Characteristic Tables.</vt:lpstr>
      <vt:lpstr>Excitation table</vt:lpstr>
      <vt:lpstr>Excitation table (D f/f)</vt:lpstr>
      <vt:lpstr>Excitation table (SR f/f)</vt:lpstr>
      <vt:lpstr>Excitation table (SR f/f)</vt:lpstr>
      <vt:lpstr>Excitation table (JK f/f)</vt:lpstr>
      <vt:lpstr>Excitation table (JK f/f)</vt:lpstr>
      <vt:lpstr>Excitation table (T f/f)</vt:lpstr>
      <vt:lpstr>JK Flip Flop using D Flip Flop</vt:lpstr>
      <vt:lpstr>JK flip-flop.</vt:lpstr>
      <vt:lpstr>T Flip Flop using JK Flip Flop</vt:lpstr>
      <vt:lpstr>T Flip Flop using D Flip Flop</vt:lpstr>
      <vt:lpstr>Flip-flop Behavior Example</vt:lpstr>
      <vt:lpstr>Flip-flop Behavior Example</vt:lpstr>
      <vt:lpstr>Flip-Flop Behavior Example</vt:lpstr>
      <vt:lpstr>Complete the timing diagram assuming you are using a negative- edge triggered JK flip flop.</vt:lpstr>
    </vt:vector>
  </TitlesOfParts>
  <Company>LASER WORDS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LW1</dc:creator>
  <cp:lastModifiedBy>Ahmed khedr</cp:lastModifiedBy>
  <cp:revision>2413</cp:revision>
  <dcterms:created xsi:type="dcterms:W3CDTF">2001-08-27T04:06:43Z</dcterms:created>
  <dcterms:modified xsi:type="dcterms:W3CDTF">2026-02-23T16:35:11Z</dcterms:modified>
</cp:coreProperties>
</file>