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42"/>
  </p:notesMasterIdLst>
  <p:handoutMasterIdLst>
    <p:handoutMasterId r:id="rId43"/>
  </p:handoutMasterIdLst>
  <p:sldIdLst>
    <p:sldId id="256" r:id="rId3"/>
    <p:sldId id="1048" r:id="rId4"/>
    <p:sldId id="318" r:id="rId5"/>
    <p:sldId id="292" r:id="rId6"/>
    <p:sldId id="1051" r:id="rId7"/>
    <p:sldId id="300" r:id="rId8"/>
    <p:sldId id="359" r:id="rId9"/>
    <p:sldId id="1053" r:id="rId10"/>
    <p:sldId id="1054" r:id="rId11"/>
    <p:sldId id="1055" r:id="rId12"/>
    <p:sldId id="1056" r:id="rId13"/>
    <p:sldId id="1057" r:id="rId14"/>
    <p:sldId id="299" r:id="rId15"/>
    <p:sldId id="397" r:id="rId16"/>
    <p:sldId id="302" r:id="rId17"/>
    <p:sldId id="303" r:id="rId18"/>
    <p:sldId id="304" r:id="rId19"/>
    <p:sldId id="1060" r:id="rId20"/>
    <p:sldId id="305" r:id="rId21"/>
    <p:sldId id="1059" r:id="rId22"/>
    <p:sldId id="307" r:id="rId23"/>
    <p:sldId id="308" r:id="rId24"/>
    <p:sldId id="309" r:id="rId25"/>
    <p:sldId id="398" r:id="rId26"/>
    <p:sldId id="426" r:id="rId27"/>
    <p:sldId id="312" r:id="rId28"/>
    <p:sldId id="313" r:id="rId29"/>
    <p:sldId id="427" r:id="rId30"/>
    <p:sldId id="314" r:id="rId31"/>
    <p:sldId id="315" r:id="rId32"/>
    <p:sldId id="316" r:id="rId33"/>
    <p:sldId id="395" r:id="rId34"/>
    <p:sldId id="320" r:id="rId35"/>
    <p:sldId id="431" r:id="rId36"/>
    <p:sldId id="321" r:id="rId37"/>
    <p:sldId id="322" r:id="rId38"/>
    <p:sldId id="383" r:id="rId39"/>
    <p:sldId id="1061" r:id="rId40"/>
    <p:sldId id="1062" r:id="rId41"/>
  </p:sldIdLst>
  <p:sldSz cx="12192000" cy="6858000"/>
  <p:notesSz cx="7026275" cy="9312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CCFF33"/>
    <a:srgbClr val="009900"/>
    <a:srgbClr val="FFFF00"/>
    <a:srgbClr val="CCFFFF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Objects="1">
      <p:cViewPr varScale="1">
        <p:scale>
          <a:sx n="60" d="100"/>
          <a:sy n="60" d="100"/>
        </p:scale>
        <p:origin x="81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3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66D749-7B01-4E6D-A215-35B9013BD814}" type="doc">
      <dgm:prSet loTypeId="urn:microsoft.com/office/officeart/2005/8/layout/hierarchy5" loCatId="hierarchy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pPr rtl="1"/>
          <a:endParaRPr lang="ar-SA"/>
        </a:p>
      </dgm:t>
    </dgm:pt>
    <dgm:pt modelId="{CF1B8FA4-429A-4A0D-8ABA-B66A1384C487}">
      <dgm:prSet phldrT="[Text]" custT="1"/>
      <dgm:spPr/>
      <dgm:t>
        <a:bodyPr/>
        <a:lstStyle/>
        <a:p>
          <a:pPr rtl="0"/>
          <a:r>
            <a:rPr lang="en-US" sz="3200" b="0" dirty="0">
              <a:latin typeface="Times New Roman" pitchFamily="18" charset="0"/>
              <a:cs typeface="Times New Roman" pitchFamily="18" charset="0"/>
            </a:rPr>
            <a:t>100</a:t>
          </a:r>
          <a:endParaRPr lang="ar-SA" sz="3200" b="0" dirty="0">
            <a:latin typeface="Times New Roman" pitchFamily="18" charset="0"/>
            <a:cs typeface="Times New Roman" pitchFamily="18" charset="0"/>
          </a:endParaRPr>
        </a:p>
      </dgm:t>
    </dgm:pt>
    <dgm:pt modelId="{0ADA2576-4DEE-48FE-9A78-F02CED661636}" type="parTrans" cxnId="{183D89E8-CDEC-4798-8F4F-370537AC549B}">
      <dgm:prSet/>
      <dgm:spPr/>
      <dgm:t>
        <a:bodyPr/>
        <a:lstStyle/>
        <a:p>
          <a:pPr rtl="1"/>
          <a:endParaRPr lang="ar-SA"/>
        </a:p>
      </dgm:t>
    </dgm:pt>
    <dgm:pt modelId="{1709F93D-B22A-4E90-86DA-68F763092BF2}" type="sibTrans" cxnId="{183D89E8-CDEC-4798-8F4F-370537AC549B}">
      <dgm:prSet/>
      <dgm:spPr/>
      <dgm:t>
        <a:bodyPr/>
        <a:lstStyle/>
        <a:p>
          <a:pPr rtl="1"/>
          <a:endParaRPr lang="ar-SA"/>
        </a:p>
      </dgm:t>
    </dgm:pt>
    <dgm:pt modelId="{F46220B9-A839-4A5D-8894-CF46692376B8}">
      <dgm:prSet phldrT="[Text]" custT="1"/>
      <dgm:spPr/>
      <dgm:t>
        <a:bodyPr/>
        <a:lstStyle/>
        <a:p>
          <a:pPr rtl="1"/>
          <a:r>
            <a:rPr lang="en-US" sz="3200" b="0" dirty="0">
              <a:latin typeface="Times New Roman" pitchFamily="18" charset="0"/>
              <a:cs typeface="Times New Roman" pitchFamily="18" charset="0"/>
            </a:rPr>
            <a:t>40</a:t>
          </a:r>
          <a:endParaRPr lang="ar-SA" sz="3200" b="0" dirty="0">
            <a:latin typeface="Times New Roman" pitchFamily="18" charset="0"/>
            <a:cs typeface="Times New Roman" pitchFamily="18" charset="0"/>
          </a:endParaRPr>
        </a:p>
        <a:p>
          <a:pPr rtl="1"/>
          <a:r>
            <a:rPr lang="en-US" sz="3200" b="0" dirty="0">
              <a:latin typeface="Times New Roman" pitchFamily="18" charset="0"/>
              <a:cs typeface="Times New Roman" pitchFamily="18" charset="0"/>
            </a:rPr>
            <a:t>Final Exam</a:t>
          </a:r>
          <a:endParaRPr lang="ar-SA" sz="3200" b="0" dirty="0">
            <a:latin typeface="Times New Roman" pitchFamily="18" charset="0"/>
            <a:cs typeface="Times New Roman" pitchFamily="18" charset="0"/>
          </a:endParaRPr>
        </a:p>
      </dgm:t>
    </dgm:pt>
    <dgm:pt modelId="{E146FCB5-E8CA-494D-8FAA-73CFC95BFBC5}" type="parTrans" cxnId="{03553283-A6C8-4327-AE78-C06299F0D6A9}">
      <dgm:prSet custT="1"/>
      <dgm:spPr/>
      <dgm:t>
        <a:bodyPr/>
        <a:lstStyle/>
        <a:p>
          <a:pPr rtl="1"/>
          <a:endParaRPr lang="ar-SA" sz="2200" b="0">
            <a:latin typeface="Times New Roman" pitchFamily="18" charset="0"/>
            <a:cs typeface="Times New Roman" pitchFamily="18" charset="0"/>
          </a:endParaRPr>
        </a:p>
      </dgm:t>
    </dgm:pt>
    <dgm:pt modelId="{D04B48FB-9C89-45D4-8AA9-77761B39135D}" type="sibTrans" cxnId="{03553283-A6C8-4327-AE78-C06299F0D6A9}">
      <dgm:prSet/>
      <dgm:spPr/>
      <dgm:t>
        <a:bodyPr/>
        <a:lstStyle/>
        <a:p>
          <a:pPr rtl="1"/>
          <a:endParaRPr lang="ar-SA"/>
        </a:p>
      </dgm:t>
    </dgm:pt>
    <dgm:pt modelId="{19C3ECBB-E980-4A26-AC73-23174FA74EE1}">
      <dgm:prSet phldrT="[Text]" custT="1"/>
      <dgm:spPr/>
      <dgm:t>
        <a:bodyPr/>
        <a:lstStyle/>
        <a:p>
          <a:pPr rtl="1"/>
          <a:r>
            <a:rPr lang="en-US" sz="3200" b="0" dirty="0">
              <a:latin typeface="Times New Roman" pitchFamily="18" charset="0"/>
              <a:cs typeface="Times New Roman" pitchFamily="18" charset="0"/>
            </a:rPr>
            <a:t>30 </a:t>
          </a:r>
          <a:endParaRPr lang="ar-SA" sz="3200" b="0" dirty="0">
            <a:latin typeface="Times New Roman" pitchFamily="18" charset="0"/>
            <a:cs typeface="Times New Roman" pitchFamily="18" charset="0"/>
          </a:endParaRPr>
        </a:p>
      </dgm:t>
    </dgm:pt>
    <dgm:pt modelId="{8FBF0D66-9E36-410C-9E0C-55FEDCA254E1}" type="sibTrans" cxnId="{D54D5414-6454-4F5F-9C09-937E64051226}">
      <dgm:prSet/>
      <dgm:spPr/>
      <dgm:t>
        <a:bodyPr/>
        <a:lstStyle/>
        <a:p>
          <a:pPr rtl="1"/>
          <a:endParaRPr lang="ar-SA"/>
        </a:p>
      </dgm:t>
    </dgm:pt>
    <dgm:pt modelId="{C5081FA7-CA6D-40AF-8942-F1A3CDAAC8EF}" type="parTrans" cxnId="{D54D5414-6454-4F5F-9C09-937E64051226}">
      <dgm:prSet custT="1"/>
      <dgm:spPr/>
      <dgm:t>
        <a:bodyPr/>
        <a:lstStyle/>
        <a:p>
          <a:pPr rtl="1"/>
          <a:endParaRPr lang="ar-SA" sz="2200" b="0">
            <a:latin typeface="Times New Roman" pitchFamily="18" charset="0"/>
            <a:cs typeface="Times New Roman" pitchFamily="18" charset="0"/>
          </a:endParaRPr>
        </a:p>
      </dgm:t>
    </dgm:pt>
    <dgm:pt modelId="{D30B6748-7778-4DDA-9EB4-DE1CAF776A2A}">
      <dgm:prSet phldrT="[Text]" custT="1"/>
      <dgm:spPr/>
      <dgm:t>
        <a:bodyPr/>
        <a:lstStyle/>
        <a:p>
          <a:pPr rtl="1"/>
          <a:r>
            <a:rPr lang="en-US" sz="3200" b="0" dirty="0">
              <a:latin typeface="Times New Roman" pitchFamily="18" charset="0"/>
              <a:cs typeface="Times New Roman" pitchFamily="18" charset="0"/>
            </a:rPr>
            <a:t>30</a:t>
          </a:r>
          <a:br>
            <a:rPr lang="en-US" sz="3200" b="0" dirty="0">
              <a:latin typeface="Times New Roman" pitchFamily="18" charset="0"/>
              <a:cs typeface="Times New Roman" pitchFamily="18" charset="0"/>
            </a:rPr>
          </a:br>
          <a:r>
            <a:rPr lang="en-US" sz="3200" b="0" dirty="0">
              <a:latin typeface="Times New Roman" pitchFamily="18" charset="0"/>
              <a:cs typeface="Times New Roman" pitchFamily="18" charset="0"/>
            </a:rPr>
            <a:t>Practical</a:t>
          </a:r>
          <a:endParaRPr lang="ar-SA" sz="3200" b="0" dirty="0">
            <a:latin typeface="Times New Roman" pitchFamily="18" charset="0"/>
            <a:cs typeface="Times New Roman" pitchFamily="18" charset="0"/>
          </a:endParaRPr>
        </a:p>
      </dgm:t>
    </dgm:pt>
    <dgm:pt modelId="{C22728F8-E607-4641-81EA-2C996C1FC708}" type="parTrans" cxnId="{1AFE09AF-BBD3-448C-81D0-F2C8D3C3F248}">
      <dgm:prSet/>
      <dgm:spPr/>
      <dgm:t>
        <a:bodyPr/>
        <a:lstStyle/>
        <a:p>
          <a:endParaRPr lang="en-US"/>
        </a:p>
      </dgm:t>
    </dgm:pt>
    <dgm:pt modelId="{CEF307ED-5A70-4985-A9A0-0D1CC7CB1FCE}" type="sibTrans" cxnId="{1AFE09AF-BBD3-448C-81D0-F2C8D3C3F248}">
      <dgm:prSet/>
      <dgm:spPr/>
      <dgm:t>
        <a:bodyPr/>
        <a:lstStyle/>
        <a:p>
          <a:endParaRPr lang="en-US"/>
        </a:p>
      </dgm:t>
    </dgm:pt>
    <dgm:pt modelId="{56D2B325-60E0-40EE-8FEA-935CCD5292C3}" type="pres">
      <dgm:prSet presAssocID="{CD66D749-7B01-4E6D-A215-35B9013BD81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CB9F89B-65A0-4E1D-9451-C7B5D40DDC79}" type="pres">
      <dgm:prSet presAssocID="{CD66D749-7B01-4E6D-A215-35B9013BD814}" presName="hierFlow" presStyleCnt="0"/>
      <dgm:spPr/>
    </dgm:pt>
    <dgm:pt modelId="{ED4BE0CC-6E61-42BF-B829-C0193039019A}" type="pres">
      <dgm:prSet presAssocID="{CD66D749-7B01-4E6D-A215-35B9013BD81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28A385D-4372-443F-9D98-35C58EFC8FAB}" type="pres">
      <dgm:prSet presAssocID="{CF1B8FA4-429A-4A0D-8ABA-B66A1384C487}" presName="Name17" presStyleCnt="0"/>
      <dgm:spPr/>
    </dgm:pt>
    <dgm:pt modelId="{CCC985A7-6886-4949-AA2D-2C20EB6AFEDA}" type="pres">
      <dgm:prSet presAssocID="{CF1B8FA4-429A-4A0D-8ABA-B66A1384C487}" presName="level1Shape" presStyleLbl="node0" presStyleIdx="0" presStyleCnt="1">
        <dgm:presLayoutVars>
          <dgm:chPref val="3"/>
        </dgm:presLayoutVars>
      </dgm:prSet>
      <dgm:spPr/>
    </dgm:pt>
    <dgm:pt modelId="{8624607E-CD07-478F-8F2F-5B7A691C06E3}" type="pres">
      <dgm:prSet presAssocID="{CF1B8FA4-429A-4A0D-8ABA-B66A1384C487}" presName="hierChild2" presStyleCnt="0"/>
      <dgm:spPr/>
    </dgm:pt>
    <dgm:pt modelId="{661FB010-CAA4-487D-AD00-E88B4CAC1BEF}" type="pres">
      <dgm:prSet presAssocID="{C5081FA7-CA6D-40AF-8942-F1A3CDAAC8EF}" presName="Name25" presStyleLbl="parChTrans1D2" presStyleIdx="0" presStyleCnt="3"/>
      <dgm:spPr/>
    </dgm:pt>
    <dgm:pt modelId="{E23C3B57-E5AB-4832-9C82-3292AF622C96}" type="pres">
      <dgm:prSet presAssocID="{C5081FA7-CA6D-40AF-8942-F1A3CDAAC8EF}" presName="connTx" presStyleLbl="parChTrans1D2" presStyleIdx="0" presStyleCnt="3"/>
      <dgm:spPr/>
    </dgm:pt>
    <dgm:pt modelId="{2660D3AA-7AEB-47D9-AA2C-6E9B8F8D32B1}" type="pres">
      <dgm:prSet presAssocID="{19C3ECBB-E980-4A26-AC73-23174FA74EE1}" presName="Name30" presStyleCnt="0"/>
      <dgm:spPr/>
    </dgm:pt>
    <dgm:pt modelId="{BA709201-717C-477A-A537-9336F20F97E4}" type="pres">
      <dgm:prSet presAssocID="{19C3ECBB-E980-4A26-AC73-23174FA74EE1}" presName="level2Shape" presStyleLbl="node2" presStyleIdx="0" presStyleCnt="3" custLinFactNeighborY="-51872"/>
      <dgm:spPr/>
    </dgm:pt>
    <dgm:pt modelId="{E876E4B0-6657-4793-B240-28F052812933}" type="pres">
      <dgm:prSet presAssocID="{19C3ECBB-E980-4A26-AC73-23174FA74EE1}" presName="hierChild3" presStyleCnt="0"/>
      <dgm:spPr/>
    </dgm:pt>
    <dgm:pt modelId="{08EFC7A6-A718-4C71-9787-E713DBC71C80}" type="pres">
      <dgm:prSet presAssocID="{C22728F8-E607-4641-81EA-2C996C1FC708}" presName="Name25" presStyleLbl="parChTrans1D2" presStyleIdx="1" presStyleCnt="3"/>
      <dgm:spPr/>
    </dgm:pt>
    <dgm:pt modelId="{74E368A7-F807-4ACC-BC90-A95B858446D7}" type="pres">
      <dgm:prSet presAssocID="{C22728F8-E607-4641-81EA-2C996C1FC708}" presName="connTx" presStyleLbl="parChTrans1D2" presStyleIdx="1" presStyleCnt="3"/>
      <dgm:spPr/>
    </dgm:pt>
    <dgm:pt modelId="{84929853-B2C9-42E2-A601-1ECBA46D2EF7}" type="pres">
      <dgm:prSet presAssocID="{D30B6748-7778-4DDA-9EB4-DE1CAF776A2A}" presName="Name30" presStyleCnt="0"/>
      <dgm:spPr/>
    </dgm:pt>
    <dgm:pt modelId="{2B6B3D18-D603-473B-8BD5-1D89E1EEB680}" type="pres">
      <dgm:prSet presAssocID="{D30B6748-7778-4DDA-9EB4-DE1CAF776A2A}" presName="level2Shape" presStyleLbl="node2" presStyleIdx="1" presStyleCnt="3"/>
      <dgm:spPr/>
    </dgm:pt>
    <dgm:pt modelId="{025BBEEE-4EC0-4559-B29D-89DCD93327BF}" type="pres">
      <dgm:prSet presAssocID="{D30B6748-7778-4DDA-9EB4-DE1CAF776A2A}" presName="hierChild3" presStyleCnt="0"/>
      <dgm:spPr/>
    </dgm:pt>
    <dgm:pt modelId="{1995192B-EEE9-4F75-95FE-D1F606C40FDC}" type="pres">
      <dgm:prSet presAssocID="{E146FCB5-E8CA-494D-8FAA-73CFC95BFBC5}" presName="Name25" presStyleLbl="parChTrans1D2" presStyleIdx="2" presStyleCnt="3"/>
      <dgm:spPr/>
    </dgm:pt>
    <dgm:pt modelId="{4D985A61-8157-41DA-962A-E26B77CD17AE}" type="pres">
      <dgm:prSet presAssocID="{E146FCB5-E8CA-494D-8FAA-73CFC95BFBC5}" presName="connTx" presStyleLbl="parChTrans1D2" presStyleIdx="2" presStyleCnt="3"/>
      <dgm:spPr/>
    </dgm:pt>
    <dgm:pt modelId="{7AFACA4B-4C58-42D8-838C-48277B139176}" type="pres">
      <dgm:prSet presAssocID="{F46220B9-A839-4A5D-8894-CF46692376B8}" presName="Name30" presStyleCnt="0"/>
      <dgm:spPr/>
    </dgm:pt>
    <dgm:pt modelId="{A8D409B6-BBB5-40E5-8B85-913A306725AF}" type="pres">
      <dgm:prSet presAssocID="{F46220B9-A839-4A5D-8894-CF46692376B8}" presName="level2Shape" presStyleLbl="node2" presStyleIdx="2" presStyleCnt="3" custLinFactNeighborY="50063"/>
      <dgm:spPr/>
    </dgm:pt>
    <dgm:pt modelId="{9139A076-37DF-422B-A5D0-74E29BB204F9}" type="pres">
      <dgm:prSet presAssocID="{F46220B9-A839-4A5D-8894-CF46692376B8}" presName="hierChild3" presStyleCnt="0"/>
      <dgm:spPr/>
    </dgm:pt>
    <dgm:pt modelId="{634B8E5A-DE24-479A-A2C5-66C578BF63C5}" type="pres">
      <dgm:prSet presAssocID="{CD66D749-7B01-4E6D-A215-35B9013BD814}" presName="bgShapesFlow" presStyleCnt="0"/>
      <dgm:spPr/>
    </dgm:pt>
  </dgm:ptLst>
  <dgm:cxnLst>
    <dgm:cxn modelId="{D54D5414-6454-4F5F-9C09-937E64051226}" srcId="{CF1B8FA4-429A-4A0D-8ABA-B66A1384C487}" destId="{19C3ECBB-E980-4A26-AC73-23174FA74EE1}" srcOrd="0" destOrd="0" parTransId="{C5081FA7-CA6D-40AF-8942-F1A3CDAAC8EF}" sibTransId="{8FBF0D66-9E36-410C-9E0C-55FEDCA254E1}"/>
    <dgm:cxn modelId="{D831F314-A251-4C2D-A36E-9500966B080B}" type="presOf" srcId="{19C3ECBB-E980-4A26-AC73-23174FA74EE1}" destId="{BA709201-717C-477A-A537-9336F20F97E4}" srcOrd="0" destOrd="0" presId="urn:microsoft.com/office/officeart/2005/8/layout/hierarchy5"/>
    <dgm:cxn modelId="{CE38555F-002E-454E-A3AF-8B67CC4CD779}" type="presOf" srcId="{C22728F8-E607-4641-81EA-2C996C1FC708}" destId="{08EFC7A6-A718-4C71-9787-E713DBC71C80}" srcOrd="0" destOrd="0" presId="urn:microsoft.com/office/officeart/2005/8/layout/hierarchy5"/>
    <dgm:cxn modelId="{879B2F42-738E-4EF9-92D2-0D8FA1AFF451}" type="presOf" srcId="{C22728F8-E607-4641-81EA-2C996C1FC708}" destId="{74E368A7-F807-4ACC-BC90-A95B858446D7}" srcOrd="1" destOrd="0" presId="urn:microsoft.com/office/officeart/2005/8/layout/hierarchy5"/>
    <dgm:cxn modelId="{63A2C553-90B3-41DB-9158-730C0D3A7F76}" type="presOf" srcId="{E146FCB5-E8CA-494D-8FAA-73CFC95BFBC5}" destId="{4D985A61-8157-41DA-962A-E26B77CD17AE}" srcOrd="1" destOrd="0" presId="urn:microsoft.com/office/officeart/2005/8/layout/hierarchy5"/>
    <dgm:cxn modelId="{03553283-A6C8-4327-AE78-C06299F0D6A9}" srcId="{CF1B8FA4-429A-4A0D-8ABA-B66A1384C487}" destId="{F46220B9-A839-4A5D-8894-CF46692376B8}" srcOrd="2" destOrd="0" parTransId="{E146FCB5-E8CA-494D-8FAA-73CFC95BFBC5}" sibTransId="{D04B48FB-9C89-45D4-8AA9-77761B39135D}"/>
    <dgm:cxn modelId="{89AD418F-B31D-4E18-ACB8-45053B039CD4}" type="presOf" srcId="{D30B6748-7778-4DDA-9EB4-DE1CAF776A2A}" destId="{2B6B3D18-D603-473B-8BD5-1D89E1EEB680}" srcOrd="0" destOrd="0" presId="urn:microsoft.com/office/officeart/2005/8/layout/hierarchy5"/>
    <dgm:cxn modelId="{B15C41A1-733F-4293-BFA8-5A9E3B78847A}" type="presOf" srcId="{CF1B8FA4-429A-4A0D-8ABA-B66A1384C487}" destId="{CCC985A7-6886-4949-AA2D-2C20EB6AFEDA}" srcOrd="0" destOrd="0" presId="urn:microsoft.com/office/officeart/2005/8/layout/hierarchy5"/>
    <dgm:cxn modelId="{BA856AA1-5553-4328-A184-573351A373D6}" type="presOf" srcId="{C5081FA7-CA6D-40AF-8942-F1A3CDAAC8EF}" destId="{E23C3B57-E5AB-4832-9C82-3292AF622C96}" srcOrd="1" destOrd="0" presId="urn:microsoft.com/office/officeart/2005/8/layout/hierarchy5"/>
    <dgm:cxn modelId="{1AFE09AF-BBD3-448C-81D0-F2C8D3C3F248}" srcId="{CF1B8FA4-429A-4A0D-8ABA-B66A1384C487}" destId="{D30B6748-7778-4DDA-9EB4-DE1CAF776A2A}" srcOrd="1" destOrd="0" parTransId="{C22728F8-E607-4641-81EA-2C996C1FC708}" sibTransId="{CEF307ED-5A70-4985-A9A0-0D1CC7CB1FCE}"/>
    <dgm:cxn modelId="{005208B9-365B-4404-BE65-B15CE1170AEC}" type="presOf" srcId="{F46220B9-A839-4A5D-8894-CF46692376B8}" destId="{A8D409B6-BBB5-40E5-8B85-913A306725AF}" srcOrd="0" destOrd="0" presId="urn:microsoft.com/office/officeart/2005/8/layout/hierarchy5"/>
    <dgm:cxn modelId="{4D6CA7C6-7B21-4E77-B4B1-6FBDC67AA6B2}" type="presOf" srcId="{E146FCB5-E8CA-494D-8FAA-73CFC95BFBC5}" destId="{1995192B-EEE9-4F75-95FE-D1F606C40FDC}" srcOrd="0" destOrd="0" presId="urn:microsoft.com/office/officeart/2005/8/layout/hierarchy5"/>
    <dgm:cxn modelId="{A83299D9-0DDA-4AB0-AC5B-8C7E990406F6}" type="presOf" srcId="{CD66D749-7B01-4E6D-A215-35B9013BD814}" destId="{56D2B325-60E0-40EE-8FEA-935CCD5292C3}" srcOrd="0" destOrd="0" presId="urn:microsoft.com/office/officeart/2005/8/layout/hierarchy5"/>
    <dgm:cxn modelId="{183D89E8-CDEC-4798-8F4F-370537AC549B}" srcId="{CD66D749-7B01-4E6D-A215-35B9013BD814}" destId="{CF1B8FA4-429A-4A0D-8ABA-B66A1384C487}" srcOrd="0" destOrd="0" parTransId="{0ADA2576-4DEE-48FE-9A78-F02CED661636}" sibTransId="{1709F93D-B22A-4E90-86DA-68F763092BF2}"/>
    <dgm:cxn modelId="{1350ADF9-D6E8-41E2-8EE5-7F658B616030}" type="presOf" srcId="{C5081FA7-CA6D-40AF-8942-F1A3CDAAC8EF}" destId="{661FB010-CAA4-487D-AD00-E88B4CAC1BEF}" srcOrd="0" destOrd="0" presId="urn:microsoft.com/office/officeart/2005/8/layout/hierarchy5"/>
    <dgm:cxn modelId="{85FA1E7F-31A4-46F8-919E-358B255328CC}" type="presParOf" srcId="{56D2B325-60E0-40EE-8FEA-935CCD5292C3}" destId="{0CB9F89B-65A0-4E1D-9451-C7B5D40DDC79}" srcOrd="0" destOrd="0" presId="urn:microsoft.com/office/officeart/2005/8/layout/hierarchy5"/>
    <dgm:cxn modelId="{BFF903CA-D498-46DC-907B-98065ACEF5F2}" type="presParOf" srcId="{0CB9F89B-65A0-4E1D-9451-C7B5D40DDC79}" destId="{ED4BE0CC-6E61-42BF-B829-C0193039019A}" srcOrd="0" destOrd="0" presId="urn:microsoft.com/office/officeart/2005/8/layout/hierarchy5"/>
    <dgm:cxn modelId="{6FB2E253-F9EA-40CF-989E-6657540634AB}" type="presParOf" srcId="{ED4BE0CC-6E61-42BF-B829-C0193039019A}" destId="{328A385D-4372-443F-9D98-35C58EFC8FAB}" srcOrd="0" destOrd="0" presId="urn:microsoft.com/office/officeart/2005/8/layout/hierarchy5"/>
    <dgm:cxn modelId="{96B6C958-EE10-497D-A398-8AB2F113F8BF}" type="presParOf" srcId="{328A385D-4372-443F-9D98-35C58EFC8FAB}" destId="{CCC985A7-6886-4949-AA2D-2C20EB6AFEDA}" srcOrd="0" destOrd="0" presId="urn:microsoft.com/office/officeart/2005/8/layout/hierarchy5"/>
    <dgm:cxn modelId="{8C9BA077-00A9-4E64-9B8B-24BDA513ABF5}" type="presParOf" srcId="{328A385D-4372-443F-9D98-35C58EFC8FAB}" destId="{8624607E-CD07-478F-8F2F-5B7A691C06E3}" srcOrd="1" destOrd="0" presId="urn:microsoft.com/office/officeart/2005/8/layout/hierarchy5"/>
    <dgm:cxn modelId="{DFFFDE4A-8E58-4CD6-9486-6988CCA51504}" type="presParOf" srcId="{8624607E-CD07-478F-8F2F-5B7A691C06E3}" destId="{661FB010-CAA4-487D-AD00-E88B4CAC1BEF}" srcOrd="0" destOrd="0" presId="urn:microsoft.com/office/officeart/2005/8/layout/hierarchy5"/>
    <dgm:cxn modelId="{823419D1-AECD-48E0-BE0D-5927A98B1A79}" type="presParOf" srcId="{661FB010-CAA4-487D-AD00-E88B4CAC1BEF}" destId="{E23C3B57-E5AB-4832-9C82-3292AF622C96}" srcOrd="0" destOrd="0" presId="urn:microsoft.com/office/officeart/2005/8/layout/hierarchy5"/>
    <dgm:cxn modelId="{725BC5C0-8D4E-4FDD-8118-F0AAB442D40C}" type="presParOf" srcId="{8624607E-CD07-478F-8F2F-5B7A691C06E3}" destId="{2660D3AA-7AEB-47D9-AA2C-6E9B8F8D32B1}" srcOrd="1" destOrd="0" presId="urn:microsoft.com/office/officeart/2005/8/layout/hierarchy5"/>
    <dgm:cxn modelId="{8C3B2B50-7FC2-4B60-968E-385492A75541}" type="presParOf" srcId="{2660D3AA-7AEB-47D9-AA2C-6E9B8F8D32B1}" destId="{BA709201-717C-477A-A537-9336F20F97E4}" srcOrd="0" destOrd="0" presId="urn:microsoft.com/office/officeart/2005/8/layout/hierarchy5"/>
    <dgm:cxn modelId="{FEB8680C-DFF5-4C18-99AA-037784F8B83D}" type="presParOf" srcId="{2660D3AA-7AEB-47D9-AA2C-6E9B8F8D32B1}" destId="{E876E4B0-6657-4793-B240-28F052812933}" srcOrd="1" destOrd="0" presId="urn:microsoft.com/office/officeart/2005/8/layout/hierarchy5"/>
    <dgm:cxn modelId="{1F46010E-55FF-4A20-869F-ADA72C305CC2}" type="presParOf" srcId="{8624607E-CD07-478F-8F2F-5B7A691C06E3}" destId="{08EFC7A6-A718-4C71-9787-E713DBC71C80}" srcOrd="2" destOrd="0" presId="urn:microsoft.com/office/officeart/2005/8/layout/hierarchy5"/>
    <dgm:cxn modelId="{F9F03621-81BC-4672-BDA1-540EA4850336}" type="presParOf" srcId="{08EFC7A6-A718-4C71-9787-E713DBC71C80}" destId="{74E368A7-F807-4ACC-BC90-A95B858446D7}" srcOrd="0" destOrd="0" presId="urn:microsoft.com/office/officeart/2005/8/layout/hierarchy5"/>
    <dgm:cxn modelId="{8813B33C-FC7E-49CD-AEF3-8F443490C8A6}" type="presParOf" srcId="{8624607E-CD07-478F-8F2F-5B7A691C06E3}" destId="{84929853-B2C9-42E2-A601-1ECBA46D2EF7}" srcOrd="3" destOrd="0" presId="urn:microsoft.com/office/officeart/2005/8/layout/hierarchy5"/>
    <dgm:cxn modelId="{E5059FCF-76F8-453E-87CA-7C0125C83E6A}" type="presParOf" srcId="{84929853-B2C9-42E2-A601-1ECBA46D2EF7}" destId="{2B6B3D18-D603-473B-8BD5-1D89E1EEB680}" srcOrd="0" destOrd="0" presId="urn:microsoft.com/office/officeart/2005/8/layout/hierarchy5"/>
    <dgm:cxn modelId="{764AE987-39D1-4524-A1DB-71E973A57D5E}" type="presParOf" srcId="{84929853-B2C9-42E2-A601-1ECBA46D2EF7}" destId="{025BBEEE-4EC0-4559-B29D-89DCD93327BF}" srcOrd="1" destOrd="0" presId="urn:microsoft.com/office/officeart/2005/8/layout/hierarchy5"/>
    <dgm:cxn modelId="{C4927556-561A-4CD3-8226-35295C64AFCA}" type="presParOf" srcId="{8624607E-CD07-478F-8F2F-5B7A691C06E3}" destId="{1995192B-EEE9-4F75-95FE-D1F606C40FDC}" srcOrd="4" destOrd="0" presId="urn:microsoft.com/office/officeart/2005/8/layout/hierarchy5"/>
    <dgm:cxn modelId="{D81A94BE-A66A-4675-95EB-92E2FB7259D6}" type="presParOf" srcId="{1995192B-EEE9-4F75-95FE-D1F606C40FDC}" destId="{4D985A61-8157-41DA-962A-E26B77CD17AE}" srcOrd="0" destOrd="0" presId="urn:microsoft.com/office/officeart/2005/8/layout/hierarchy5"/>
    <dgm:cxn modelId="{2849D6E9-6B9B-4A67-AF49-E99EA1099C25}" type="presParOf" srcId="{8624607E-CD07-478F-8F2F-5B7A691C06E3}" destId="{7AFACA4B-4C58-42D8-838C-48277B139176}" srcOrd="5" destOrd="0" presId="urn:microsoft.com/office/officeart/2005/8/layout/hierarchy5"/>
    <dgm:cxn modelId="{0EF61E40-8F73-421E-8369-085BE283A8E6}" type="presParOf" srcId="{7AFACA4B-4C58-42D8-838C-48277B139176}" destId="{A8D409B6-BBB5-40E5-8B85-913A306725AF}" srcOrd="0" destOrd="0" presId="urn:microsoft.com/office/officeart/2005/8/layout/hierarchy5"/>
    <dgm:cxn modelId="{7401B223-309F-473E-ADD0-8955B94EC1E2}" type="presParOf" srcId="{7AFACA4B-4C58-42D8-838C-48277B139176}" destId="{9139A076-37DF-422B-A5D0-74E29BB204F9}" srcOrd="1" destOrd="0" presId="urn:microsoft.com/office/officeart/2005/8/layout/hierarchy5"/>
    <dgm:cxn modelId="{11090966-9D9C-4466-AABD-894CE3814752}" type="presParOf" srcId="{56D2B325-60E0-40EE-8FEA-935CCD5292C3}" destId="{634B8E5A-DE24-479A-A2C5-66C578BF63C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985A7-6886-4949-AA2D-2C20EB6AFEDA}">
      <dsp:nvSpPr>
        <dsp:cNvPr id="0" name=""/>
        <dsp:cNvSpPr/>
      </dsp:nvSpPr>
      <dsp:spPr>
        <a:xfrm>
          <a:off x="1713565" y="1656887"/>
          <a:ext cx="2877507" cy="14387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itchFamily="18" charset="0"/>
              <a:cs typeface="Times New Roman" pitchFamily="18" charset="0"/>
            </a:rPr>
            <a:t>100</a:t>
          </a:r>
          <a:endParaRPr lang="ar-SA" sz="32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755705" y="1699027"/>
        <a:ext cx="2793227" cy="1354473"/>
      </dsp:txXfrm>
    </dsp:sp>
    <dsp:sp modelId="{661FB010-CAA4-487D-AD00-E88B4CAC1BEF}">
      <dsp:nvSpPr>
        <dsp:cNvPr id="0" name=""/>
        <dsp:cNvSpPr/>
      </dsp:nvSpPr>
      <dsp:spPr>
        <a:xfrm rot="18287211">
          <a:off x="4157851" y="1520574"/>
          <a:ext cx="201744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17444" y="272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SA" sz="2200" b="0" kern="1200">
            <a:latin typeface="Times New Roman" pitchFamily="18" charset="0"/>
            <a:cs typeface="Times New Roman" pitchFamily="18" charset="0"/>
          </a:endParaRPr>
        </a:p>
      </dsp:txBody>
      <dsp:txXfrm>
        <a:off x="5116137" y="1497384"/>
        <a:ext cx="100872" cy="100872"/>
      </dsp:txXfrm>
    </dsp:sp>
    <dsp:sp modelId="{BA709201-717C-477A-A537-9336F20F97E4}">
      <dsp:nvSpPr>
        <dsp:cNvPr id="0" name=""/>
        <dsp:cNvSpPr/>
      </dsp:nvSpPr>
      <dsp:spPr>
        <a:xfrm>
          <a:off x="5742075" y="0"/>
          <a:ext cx="2877507" cy="14387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itchFamily="18" charset="0"/>
              <a:cs typeface="Times New Roman" pitchFamily="18" charset="0"/>
            </a:rPr>
            <a:t>30 </a:t>
          </a:r>
          <a:endParaRPr lang="ar-SA" sz="32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84215" y="42140"/>
        <a:ext cx="2793227" cy="1354473"/>
      </dsp:txXfrm>
    </dsp:sp>
    <dsp:sp modelId="{08EFC7A6-A718-4C71-9787-E713DBC71C80}">
      <dsp:nvSpPr>
        <dsp:cNvPr id="0" name=""/>
        <dsp:cNvSpPr/>
      </dsp:nvSpPr>
      <dsp:spPr>
        <a:xfrm>
          <a:off x="4591072" y="2349017"/>
          <a:ext cx="1151002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151002" y="272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7798" y="2347488"/>
        <a:ext cx="57550" cy="57550"/>
      </dsp:txXfrm>
    </dsp:sp>
    <dsp:sp modelId="{2B6B3D18-D603-473B-8BD5-1D89E1EEB680}">
      <dsp:nvSpPr>
        <dsp:cNvPr id="0" name=""/>
        <dsp:cNvSpPr/>
      </dsp:nvSpPr>
      <dsp:spPr>
        <a:xfrm>
          <a:off x="5742075" y="1656887"/>
          <a:ext cx="2877507" cy="14387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itchFamily="18" charset="0"/>
              <a:cs typeface="Times New Roman" pitchFamily="18" charset="0"/>
            </a:rPr>
            <a:t>30</a:t>
          </a:r>
          <a:br>
            <a:rPr lang="en-US" sz="3200" b="0" kern="1200" dirty="0">
              <a:latin typeface="Times New Roman" pitchFamily="18" charset="0"/>
              <a:cs typeface="Times New Roman" pitchFamily="18" charset="0"/>
            </a:rPr>
          </a:br>
          <a:r>
            <a:rPr lang="en-US" sz="3200" b="0" kern="1200" dirty="0">
              <a:latin typeface="Times New Roman" pitchFamily="18" charset="0"/>
              <a:cs typeface="Times New Roman" pitchFamily="18" charset="0"/>
            </a:rPr>
            <a:t>Practical</a:t>
          </a:r>
          <a:endParaRPr lang="ar-SA" sz="32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84215" y="1699027"/>
        <a:ext cx="2793227" cy="1354473"/>
      </dsp:txXfrm>
    </dsp:sp>
    <dsp:sp modelId="{1995192B-EEE9-4F75-95FE-D1F606C40FDC}">
      <dsp:nvSpPr>
        <dsp:cNvPr id="0" name=""/>
        <dsp:cNvSpPr/>
      </dsp:nvSpPr>
      <dsp:spPr>
        <a:xfrm rot="3312789">
          <a:off x="4157851" y="3177461"/>
          <a:ext cx="201744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017444" y="27246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ar-SA" sz="2200" b="0" kern="1200">
            <a:latin typeface="Times New Roman" pitchFamily="18" charset="0"/>
            <a:cs typeface="Times New Roman" pitchFamily="18" charset="0"/>
          </a:endParaRPr>
        </a:p>
      </dsp:txBody>
      <dsp:txXfrm>
        <a:off x="5116137" y="3154271"/>
        <a:ext cx="100872" cy="100872"/>
      </dsp:txXfrm>
    </dsp:sp>
    <dsp:sp modelId="{A8D409B6-BBB5-40E5-8B85-913A306725AF}">
      <dsp:nvSpPr>
        <dsp:cNvPr id="0" name=""/>
        <dsp:cNvSpPr/>
      </dsp:nvSpPr>
      <dsp:spPr>
        <a:xfrm>
          <a:off x="5742075" y="3313774"/>
          <a:ext cx="2877507" cy="14387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itchFamily="18" charset="0"/>
              <a:cs typeface="Times New Roman" pitchFamily="18" charset="0"/>
            </a:rPr>
            <a:t>40</a:t>
          </a:r>
          <a:endParaRPr lang="ar-SA" sz="3200" b="0" kern="1200" dirty="0">
            <a:latin typeface="Times New Roman" pitchFamily="18" charset="0"/>
            <a:cs typeface="Times New Roman" pitchFamily="18" charset="0"/>
          </a:endParaRP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kern="1200" dirty="0">
              <a:latin typeface="Times New Roman" pitchFamily="18" charset="0"/>
              <a:cs typeface="Times New Roman" pitchFamily="18" charset="0"/>
            </a:rPr>
            <a:t>Final Exam</a:t>
          </a:r>
          <a:endParaRPr lang="ar-SA" sz="3200" b="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784215" y="3355914"/>
        <a:ext cx="2793227" cy="1354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9863" y="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pPr>
              <a:defRPr/>
            </a:pPr>
            <a:fld id="{54691465-93AC-4282-A02C-0AC5BBCA3F40}" type="datetimeFigureOut">
              <a:rPr lang="en-US"/>
              <a:pPr>
                <a:defRPr/>
              </a:pPr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5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9863" y="8845550"/>
            <a:ext cx="3044825" cy="465138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pPr>
              <a:defRPr/>
            </a:pPr>
            <a:fld id="{93303ECF-C36D-4C3D-8A49-733ADE8746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207125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2775"/>
            <a:ext cx="5153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60" tIns="46680" rIns="93360" bIns="4668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29576CE8-DD80-43BA-A72A-2E63F6E2E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FC6A91-448E-46BC-BF25-59D228E3DD5E}" type="slidenum">
              <a:rPr lang="en-US" smtClean="0">
                <a:latin typeface="Arial" charset="0"/>
                <a:cs typeface="Arial" charset="0"/>
              </a:rPr>
              <a:pPr/>
              <a:t>4</a:t>
            </a:fld>
            <a:endParaRPr lang="en-US">
              <a:latin typeface="Arial" charset="0"/>
              <a:cs typeface="Arial" charset="0"/>
            </a:endParaRPr>
          </a:p>
        </p:txBody>
      </p:sp>
      <p:sp>
        <p:nvSpPr>
          <p:cNvPr id="2048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9575" y="698500"/>
            <a:ext cx="6207125" cy="3492500"/>
          </a:xfrm>
          <a:ln/>
        </p:spPr>
      </p:sp>
      <p:sp>
        <p:nvSpPr>
          <p:cNvPr id="2048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ar-SA" dirty="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3"/>
          <p:cNvSpPr txBox="1">
            <a:spLocks noGrp="1"/>
          </p:cNvSpPr>
          <p:nvPr/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rtl="1"/>
            <a:fld id="{4F4055DE-8428-4C2D-8DCD-7F5010D3A811}" type="slidenum">
              <a:rPr lang="ar-SA" sz="1200">
                <a:latin typeface="Calibri" pitchFamily="34" charset="0"/>
              </a:rPr>
              <a:pPr rtl="1"/>
              <a:t>4</a:t>
            </a:fld>
            <a:endParaRPr lang="ar-SA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6CDD9-AAF3-4D7A-B9DD-E21DD7F8CA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866E3-3991-45BC-A688-9D32DAFA61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165D6-F57E-4659-BCC2-46CC9D1946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57404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066800"/>
            <a:ext cx="57404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97E28-E625-42B2-971F-6E3434970C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5AA38-6820-4694-AEAD-ECF6A28390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A4373-465E-4191-B5C6-B506004FE8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DE446-D86B-4BD4-BD42-9985C2EE2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2D973-540E-4773-BC4D-7DCBD02334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1DC8F-0E9B-4889-83C7-DC84216F1D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FD9F6-4AC5-420F-8915-A9F9F8A877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67800" y="0"/>
            <a:ext cx="29210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55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144B8-9A85-4C33-9CD3-4CF2731566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0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4"/>
            <a:ext cx="1224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42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600206"/>
            <a:ext cx="48768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3200405"/>
            <a:ext cx="48768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6534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503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12192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62005"/>
            <a:ext cx="103632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85" y="3962400"/>
            <a:ext cx="10392835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381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600206"/>
            <a:ext cx="48768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3200405"/>
            <a:ext cx="48768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6534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7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0"/>
            <a:ext cx="109728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09600" y="1600205"/>
            <a:ext cx="109728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540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447617" y="113072"/>
            <a:ext cx="28448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2419" y="113072"/>
            <a:ext cx="735711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51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530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0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4"/>
            <a:ext cx="1224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630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5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827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47805"/>
            <a:ext cx="103632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83" y="3962400"/>
            <a:ext cx="10392836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7417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735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5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4"/>
            <a:ext cx="1224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7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bg1"/>
          </a:fgClr>
          <a:bgClr>
            <a:srgbClr val="66CC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168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066800"/>
            <a:ext cx="1168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fld id="{0A54363A-9F01-468F-8F7C-293C11B71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  <p:sldLayoutId id="2147483672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92" y="6172205"/>
            <a:ext cx="1146048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47617" y="113072"/>
            <a:ext cx="284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2/15/2026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419" y="113072"/>
            <a:ext cx="735711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7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4" y="1524871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013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4" y="1782046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013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215506" y="580248"/>
            <a:ext cx="80849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563"/>
              </a:spcAft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1724" y="5253129"/>
            <a:ext cx="49685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501" y="4349123"/>
            <a:ext cx="3280325" cy="248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013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2813634"/>
            <a:ext cx="9613068" cy="1390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038" dirty="0">
                <a:latin typeface="Verdana"/>
                <a:cs typeface="Verdana"/>
              </a:rPr>
              <a:t>ENG 142</a:t>
            </a:r>
          </a:p>
          <a:p>
            <a:pPr algn="ctr">
              <a:spcBef>
                <a:spcPct val="50000"/>
              </a:spcBef>
            </a:pPr>
            <a:r>
              <a:rPr lang="en-US" sz="2700" dirty="0">
                <a:solidFill>
                  <a:srgbClr val="0000FF"/>
                </a:solidFill>
                <a:latin typeface="Verdana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Verdana"/>
              </a:rPr>
              <a:t>Digital and Logic Design (2)</a:t>
            </a:r>
            <a:endParaRPr lang="en-US" sz="27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05" y="627657"/>
            <a:ext cx="1080000" cy="1154389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488488" y="663909"/>
            <a:ext cx="1080000" cy="1081883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992B1-31BE-6BAA-8F6D-535D9D4B0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39" y="4403767"/>
            <a:ext cx="1533537" cy="1911365"/>
          </a:xfrm>
          <a:prstGeom prst="rect">
            <a:avLst/>
          </a:prstGeom>
        </p:spPr>
      </p:pic>
      <p:pic>
        <p:nvPicPr>
          <p:cNvPr id="10" name="Picture 2" descr="G:\08VOL4\Graphics\Powerpoint\PEARSON\CRAIG-PPT\Final files\Craig_final_CVR_HiRes.jpg">
            <a:extLst>
              <a:ext uri="{FF2B5EF4-FFF2-40B4-BE49-F238E27FC236}">
                <a16:creationId xmlns:a16="http://schemas.microsoft.com/office/drawing/2014/main" id="{96DE65B7-F5B1-92CF-2228-79C2F36F3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tretch>
            <a:fillRect/>
          </a:stretch>
        </p:blipFill>
        <p:spPr bwMode="auto">
          <a:xfrm>
            <a:off x="9791694" y="4271127"/>
            <a:ext cx="1566174" cy="19640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292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0552-5FD3-E5B7-17E2-BC8BA868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423769"/>
            <a:ext cx="7886700" cy="655887"/>
          </a:xfrm>
        </p:spPr>
        <p:txBody>
          <a:bodyPr/>
          <a:lstStyle/>
          <a:p>
            <a:pPr algn="ctr"/>
            <a:r>
              <a:rPr lang="en-US" sz="4000" dirty="0">
                <a:ea typeface="Times New Roman" panose="02020603050405020304" pitchFamily="18" charset="0"/>
              </a:rPr>
              <a:t>Course Contents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447BB3-1162-1C51-E92A-5A7A7CFC0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789886"/>
              </p:ext>
            </p:extLst>
          </p:nvPr>
        </p:nvGraphicFramePr>
        <p:xfrm>
          <a:off x="1055440" y="1338679"/>
          <a:ext cx="10117124" cy="4755257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870154">
                  <a:extLst>
                    <a:ext uri="{9D8B030D-6E8A-4147-A177-3AD203B41FA5}">
                      <a16:colId xmlns:a16="http://schemas.microsoft.com/office/drawing/2014/main" val="820461458"/>
                    </a:ext>
                  </a:extLst>
                </a:gridCol>
                <a:gridCol w="7019777">
                  <a:extLst>
                    <a:ext uri="{9D8B030D-6E8A-4147-A177-3AD203B41FA5}">
                      <a16:colId xmlns:a16="http://schemas.microsoft.com/office/drawing/2014/main" val="2038061305"/>
                    </a:ext>
                  </a:extLst>
                </a:gridCol>
                <a:gridCol w="2227193">
                  <a:extLst>
                    <a:ext uri="{9D8B030D-6E8A-4147-A177-3AD203B41FA5}">
                      <a16:colId xmlns:a16="http://schemas.microsoft.com/office/drawing/2014/main" val="2892959605"/>
                    </a:ext>
                  </a:extLst>
                </a:gridCol>
              </a:tblGrid>
              <a:tr h="6429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</a:t>
                      </a:r>
                      <a:endParaRPr 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61960089"/>
                  </a:ext>
                </a:extLst>
              </a:tr>
              <a:tr h="6429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Sequential Logic</a:t>
                      </a:r>
                      <a:r>
                        <a:rPr lang="ar-EG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Circuits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W2 - W3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655794097"/>
                  </a:ext>
                </a:extLst>
              </a:tr>
              <a:tr h="8301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Sequential Logic</a:t>
                      </a:r>
                      <a:r>
                        <a:rPr lang="ar-EG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Circuits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W4 - W5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49758618"/>
                  </a:ext>
                </a:extLst>
              </a:tr>
              <a:tr h="6223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Sequential Logic</a:t>
                      </a:r>
                      <a:r>
                        <a:rPr lang="ar-EG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Circuits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W6 - W7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03368406"/>
                  </a:ext>
                </a:extLst>
              </a:tr>
              <a:tr h="6223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Registers, Counters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W9 – W11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563860786"/>
                  </a:ext>
                </a:extLst>
              </a:tr>
              <a:tr h="6429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Programmable</a:t>
                      </a:r>
                      <a:r>
                        <a:rPr lang="ar-EG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W12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385188604"/>
                  </a:ext>
                </a:extLst>
              </a:tr>
              <a:tr h="6429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VHDL Circuit 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W13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698845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63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08VOL4\Graphics\Powerpoint\PEARSON\CRAIG-PPT\Final files\Craig_final_CVR_HiRes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351584" y="1995032"/>
            <a:ext cx="3528000" cy="4424151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D2C54A-3489-2204-02A4-173162E8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440671"/>
            <a:ext cx="3564000" cy="465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6"/>
          <p:cNvSpPr txBox="1">
            <a:spLocks noChangeArrowheads="1"/>
          </p:cNvSpPr>
          <p:nvPr/>
        </p:nvSpPr>
        <p:spPr bwMode="auto">
          <a:xfrm>
            <a:off x="1949302" y="344491"/>
            <a:ext cx="829324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44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Grading Policy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074294452"/>
              </p:ext>
            </p:extLst>
          </p:nvPr>
        </p:nvGraphicFramePr>
        <p:xfrm>
          <a:off x="911424" y="1412776"/>
          <a:ext cx="10333148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220" name="Picture 3" descr="D:\Course 2'nd Semester 2009-2010\صور للمساق\Thought_thumb[7]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13016" y="1714500"/>
            <a:ext cx="990697" cy="123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A0BCFE-59C5-842F-53A6-413C4A3B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23" r="7623"/>
          <a:stretch>
            <a:fillRect/>
          </a:stretch>
        </p:blipFill>
        <p:spPr>
          <a:xfrm>
            <a:off x="911424" y="1592796"/>
            <a:ext cx="10261140" cy="363640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44A8C74-00A4-6CCC-9270-85E3AF23A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</a:p>
        </p:txBody>
      </p:sp>
    </p:spTree>
    <p:extLst>
      <p:ext uri="{BB962C8B-B14F-4D97-AF65-F5344CB8AC3E}">
        <p14:creationId xmlns:p14="http://schemas.microsoft.com/office/powerpoint/2010/main" val="150006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8E3B56-5C86-49F1-BCC1-558515A98ADC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Combinational Circuits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3412" y="3429000"/>
            <a:ext cx="10729192" cy="3151191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sz="3200" dirty="0"/>
              <a:t>n input bits </a:t>
            </a:r>
            <a:r>
              <a:rPr lang="en-US" sz="3200" dirty="0">
                <a:sym typeface="Wingdings" pitchFamily="2" charset="2"/>
              </a:rPr>
              <a:t> 2</a:t>
            </a:r>
            <a:r>
              <a:rPr lang="en-US" sz="3200" baseline="30000" dirty="0">
                <a:sym typeface="Wingdings" pitchFamily="2" charset="2"/>
              </a:rPr>
              <a:t>n</a:t>
            </a:r>
            <a:r>
              <a:rPr lang="en-US" sz="3200" dirty="0">
                <a:sym typeface="Wingdings" pitchFamily="2" charset="2"/>
              </a:rPr>
              <a:t> possible binary input combinations</a:t>
            </a:r>
          </a:p>
          <a:p>
            <a:pPr lvl="1">
              <a:lnSpc>
                <a:spcPct val="150000"/>
              </a:lnSpc>
            </a:pPr>
            <a:r>
              <a:rPr lang="en-US" sz="3200" u="sng" dirty="0"/>
              <a:t>Examples</a:t>
            </a:r>
            <a:r>
              <a:rPr lang="en-US" sz="3200" dirty="0"/>
              <a:t>: adders, subtractors, comparators, decoders, encoders, and multiplexers. 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003428" y="1262066"/>
            <a:ext cx="8210551" cy="1349375"/>
            <a:chOff x="302" y="795"/>
            <a:chExt cx="5172" cy="850"/>
          </a:xfrm>
        </p:grpSpPr>
        <p:sp>
          <p:nvSpPr>
            <p:cNvPr id="4102" name="Rectangle 4"/>
            <p:cNvSpPr>
              <a:spLocks noChangeArrowheads="1"/>
            </p:cNvSpPr>
            <p:nvPr/>
          </p:nvSpPr>
          <p:spPr bwMode="auto">
            <a:xfrm>
              <a:off x="2060" y="795"/>
              <a:ext cx="1554" cy="85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>
                  <a:solidFill>
                    <a:schemeClr val="bg1"/>
                  </a:solidFill>
                </a:rPr>
                <a:t>Combinational</a:t>
              </a:r>
            </a:p>
            <a:p>
              <a:pPr algn="ctr"/>
              <a:r>
                <a:rPr lang="en-US" sz="2000">
                  <a:solidFill>
                    <a:schemeClr val="bg1"/>
                  </a:solidFill>
                </a:rPr>
                <a:t>circuit</a:t>
              </a:r>
            </a:p>
            <a:p>
              <a:pPr algn="ctr"/>
              <a:r>
                <a:rPr lang="en-US" sz="2000">
                  <a:solidFill>
                    <a:schemeClr val="bg1"/>
                  </a:solidFill>
                </a:rPr>
                <a:t>(logic gates)</a:t>
              </a:r>
            </a:p>
          </p:txBody>
        </p:sp>
        <p:sp>
          <p:nvSpPr>
            <p:cNvPr id="4103" name="Line 6"/>
            <p:cNvSpPr>
              <a:spLocks noChangeShapeType="1"/>
            </p:cNvSpPr>
            <p:nvPr/>
          </p:nvSpPr>
          <p:spPr bwMode="auto">
            <a:xfrm>
              <a:off x="1521" y="995"/>
              <a:ext cx="5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4" name="Line 7"/>
            <p:cNvSpPr>
              <a:spLocks noChangeShapeType="1"/>
            </p:cNvSpPr>
            <p:nvPr/>
          </p:nvSpPr>
          <p:spPr bwMode="auto">
            <a:xfrm>
              <a:off x="1521" y="1155"/>
              <a:ext cx="5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8"/>
            <p:cNvSpPr>
              <a:spLocks noChangeShapeType="1"/>
            </p:cNvSpPr>
            <p:nvPr/>
          </p:nvSpPr>
          <p:spPr bwMode="auto">
            <a:xfrm>
              <a:off x="1521" y="1461"/>
              <a:ext cx="5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9"/>
            <p:cNvSpPr>
              <a:spLocks noChangeShapeType="1"/>
            </p:cNvSpPr>
            <p:nvPr/>
          </p:nvSpPr>
          <p:spPr bwMode="auto">
            <a:xfrm>
              <a:off x="1795" y="1232"/>
              <a:ext cx="9" cy="1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10"/>
            <p:cNvSpPr>
              <a:spLocks noChangeShapeType="1"/>
            </p:cNvSpPr>
            <p:nvPr/>
          </p:nvSpPr>
          <p:spPr bwMode="auto">
            <a:xfrm>
              <a:off x="3614" y="995"/>
              <a:ext cx="5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11"/>
            <p:cNvSpPr>
              <a:spLocks noChangeShapeType="1"/>
            </p:cNvSpPr>
            <p:nvPr/>
          </p:nvSpPr>
          <p:spPr bwMode="auto">
            <a:xfrm>
              <a:off x="3614" y="1155"/>
              <a:ext cx="5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12"/>
            <p:cNvSpPr>
              <a:spLocks noChangeShapeType="1"/>
            </p:cNvSpPr>
            <p:nvPr/>
          </p:nvSpPr>
          <p:spPr bwMode="auto">
            <a:xfrm>
              <a:off x="3614" y="1461"/>
              <a:ext cx="5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13"/>
            <p:cNvSpPr>
              <a:spLocks noChangeShapeType="1"/>
            </p:cNvSpPr>
            <p:nvPr/>
          </p:nvSpPr>
          <p:spPr bwMode="auto">
            <a:xfrm>
              <a:off x="3888" y="1232"/>
              <a:ext cx="9" cy="1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AutoShape 14"/>
            <p:cNvSpPr>
              <a:spLocks/>
            </p:cNvSpPr>
            <p:nvPr/>
          </p:nvSpPr>
          <p:spPr bwMode="auto">
            <a:xfrm>
              <a:off x="1134" y="995"/>
              <a:ext cx="247" cy="466"/>
            </a:xfrm>
            <a:prstGeom prst="leftBrace">
              <a:avLst>
                <a:gd name="adj1" fmla="val 157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112" name="Text Box 15"/>
            <p:cNvSpPr txBox="1">
              <a:spLocks noChangeArrowheads="1"/>
            </p:cNvSpPr>
            <p:nvPr/>
          </p:nvSpPr>
          <p:spPr bwMode="auto">
            <a:xfrm>
              <a:off x="302" y="944"/>
              <a:ext cx="882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n binary</a:t>
              </a:r>
            </a:p>
            <a:p>
              <a:r>
                <a:rPr lang="en-US"/>
                <a:t>inputs</a:t>
              </a:r>
            </a:p>
          </p:txBody>
        </p:sp>
        <p:sp>
          <p:nvSpPr>
            <p:cNvPr id="4113" name="AutoShape 16"/>
            <p:cNvSpPr>
              <a:spLocks/>
            </p:cNvSpPr>
            <p:nvPr/>
          </p:nvSpPr>
          <p:spPr bwMode="auto">
            <a:xfrm flipH="1">
              <a:off x="4270" y="993"/>
              <a:ext cx="247" cy="466"/>
            </a:xfrm>
            <a:prstGeom prst="leftBrace">
              <a:avLst>
                <a:gd name="adj1" fmla="val 157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114" name="Text Box 17"/>
            <p:cNvSpPr txBox="1">
              <a:spLocks noChangeArrowheads="1"/>
            </p:cNvSpPr>
            <p:nvPr/>
          </p:nvSpPr>
          <p:spPr bwMode="auto">
            <a:xfrm>
              <a:off x="4544" y="946"/>
              <a:ext cx="930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m binary</a:t>
              </a:r>
            </a:p>
            <a:p>
              <a:r>
                <a:rPr lang="en-US"/>
                <a:t>outputs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2B01298-4BCA-4265-8DC5-3DC080599F1A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Adder Using Half Adders</a:t>
            </a:r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2033591" y="2424113"/>
            <a:ext cx="2854325" cy="1581150"/>
            <a:chOff x="240" y="2265"/>
            <a:chExt cx="1798" cy="996"/>
          </a:xfrm>
        </p:grpSpPr>
        <p:grpSp>
          <p:nvGrpSpPr>
            <p:cNvPr id="21544" name="Group 5"/>
            <p:cNvGrpSpPr>
              <a:grpSpLocks/>
            </p:cNvGrpSpPr>
            <p:nvPr/>
          </p:nvGrpSpPr>
          <p:grpSpPr bwMode="auto">
            <a:xfrm>
              <a:off x="790" y="2292"/>
              <a:ext cx="875" cy="455"/>
              <a:chOff x="3280" y="1859"/>
              <a:chExt cx="706" cy="333"/>
            </a:xfrm>
          </p:grpSpPr>
          <p:sp>
            <p:nvSpPr>
              <p:cNvPr id="21557" name="Freeform 6"/>
              <p:cNvSpPr>
                <a:spLocks noEditPoints="1"/>
              </p:cNvSpPr>
              <p:nvPr/>
            </p:nvSpPr>
            <p:spPr bwMode="auto">
              <a:xfrm>
                <a:off x="3280" y="1936"/>
                <a:ext cx="706" cy="178"/>
              </a:xfrm>
              <a:custGeom>
                <a:avLst/>
                <a:gdLst>
                  <a:gd name="T0" fmla="*/ 0 w 493"/>
                  <a:gd name="T1" fmla="*/ 0 h 130"/>
                  <a:gd name="T2" fmla="*/ 34460364 w 493"/>
                  <a:gd name="T3" fmla="*/ 0 h 130"/>
                  <a:gd name="T4" fmla="*/ 0 w 493"/>
                  <a:gd name="T5" fmla="*/ 4146455 h 130"/>
                  <a:gd name="T6" fmla="*/ 34460364 w 493"/>
                  <a:gd name="T7" fmla="*/ 4146455 h 130"/>
                  <a:gd name="T8" fmla="*/ 69121307 w 493"/>
                  <a:gd name="T9" fmla="*/ 2081619 h 130"/>
                  <a:gd name="T10" fmla="*/ 34460364 w 493"/>
                  <a:gd name="T11" fmla="*/ 2081619 h 1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93"/>
                  <a:gd name="T19" fmla="*/ 0 h 130"/>
                  <a:gd name="T20" fmla="*/ 493 w 493"/>
                  <a:gd name="T21" fmla="*/ 130 h 1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93" h="130">
                    <a:moveTo>
                      <a:pt x="0" y="0"/>
                    </a:moveTo>
                    <a:lnTo>
                      <a:pt x="246" y="0"/>
                    </a:lnTo>
                    <a:moveTo>
                      <a:pt x="0" y="130"/>
                    </a:moveTo>
                    <a:lnTo>
                      <a:pt x="246" y="130"/>
                    </a:lnTo>
                    <a:moveTo>
                      <a:pt x="493" y="65"/>
                    </a:moveTo>
                    <a:lnTo>
                      <a:pt x="246" y="65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8" name="Freeform 7"/>
              <p:cNvSpPr>
                <a:spLocks/>
              </p:cNvSpPr>
              <p:nvPr/>
            </p:nvSpPr>
            <p:spPr bwMode="auto">
              <a:xfrm>
                <a:off x="3471" y="1859"/>
                <a:ext cx="349" cy="333"/>
              </a:xfrm>
              <a:custGeom>
                <a:avLst/>
                <a:gdLst>
                  <a:gd name="T0" fmla="*/ 2147483647 w 40"/>
                  <a:gd name="T1" fmla="*/ 2147483647 h 30"/>
                  <a:gd name="T2" fmla="*/ 2147483647 w 40"/>
                  <a:gd name="T3" fmla="*/ 2147483647 h 30"/>
                  <a:gd name="T4" fmla="*/ 2147483647 w 40"/>
                  <a:gd name="T5" fmla="*/ 2147483647 h 30"/>
                  <a:gd name="T6" fmla="*/ 0 w 40"/>
                  <a:gd name="T7" fmla="*/ 2147483647 h 30"/>
                  <a:gd name="T8" fmla="*/ 0 w 40"/>
                  <a:gd name="T9" fmla="*/ 0 h 30"/>
                  <a:gd name="T10" fmla="*/ 0 w 40"/>
                  <a:gd name="T11" fmla="*/ 0 h 30"/>
                  <a:gd name="T12" fmla="*/ 2147483647 w 40"/>
                  <a:gd name="T13" fmla="*/ 0 h 30"/>
                  <a:gd name="T14" fmla="*/ 2147483647 w 40"/>
                  <a:gd name="T15" fmla="*/ 2147483647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30"/>
                  <a:gd name="T26" fmla="*/ 40 w 40"/>
                  <a:gd name="T27" fmla="*/ 30 h 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30">
                    <a:moveTo>
                      <a:pt x="40" y="15"/>
                    </a:moveTo>
                    <a:cubicBezTo>
                      <a:pt x="35" y="23"/>
                      <a:pt x="25" y="28"/>
                      <a:pt x="12" y="30"/>
                    </a:cubicBezTo>
                    <a:lnTo>
                      <a:pt x="0" y="30"/>
                    </a:lnTo>
                    <a:cubicBezTo>
                      <a:pt x="8" y="21"/>
                      <a:pt x="8" y="10"/>
                      <a:pt x="0" y="0"/>
                    </a:cubicBezTo>
                    <a:lnTo>
                      <a:pt x="12" y="0"/>
                    </a:lnTo>
                    <a:cubicBezTo>
                      <a:pt x="25" y="2"/>
                      <a:pt x="35" y="8"/>
                      <a:pt x="40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9" name="Freeform 8"/>
              <p:cNvSpPr>
                <a:spLocks noEditPoints="1"/>
              </p:cNvSpPr>
              <p:nvPr/>
            </p:nvSpPr>
            <p:spPr bwMode="auto">
              <a:xfrm>
                <a:off x="3436" y="1859"/>
                <a:ext cx="384" cy="333"/>
              </a:xfrm>
              <a:custGeom>
                <a:avLst/>
                <a:gdLst>
                  <a:gd name="T0" fmla="*/ 2147483647 w 44"/>
                  <a:gd name="T1" fmla="*/ 2147483647 h 30"/>
                  <a:gd name="T2" fmla="*/ 2147483647 w 44"/>
                  <a:gd name="T3" fmla="*/ 2147483647 h 30"/>
                  <a:gd name="T4" fmla="*/ 2147483647 w 44"/>
                  <a:gd name="T5" fmla="*/ 2147483647 h 30"/>
                  <a:gd name="T6" fmla="*/ 2147483647 w 44"/>
                  <a:gd name="T7" fmla="*/ 2147483647 h 30"/>
                  <a:gd name="T8" fmla="*/ 2147483647 w 44"/>
                  <a:gd name="T9" fmla="*/ 0 h 30"/>
                  <a:gd name="T10" fmla="*/ 2147483647 w 44"/>
                  <a:gd name="T11" fmla="*/ 0 h 30"/>
                  <a:gd name="T12" fmla="*/ 2147483647 w 44"/>
                  <a:gd name="T13" fmla="*/ 0 h 30"/>
                  <a:gd name="T14" fmla="*/ 2147483647 w 44"/>
                  <a:gd name="T15" fmla="*/ 2147483647 h 30"/>
                  <a:gd name="T16" fmla="*/ 0 w 44"/>
                  <a:gd name="T17" fmla="*/ 2147483647 h 30"/>
                  <a:gd name="T18" fmla="*/ 0 w 44"/>
                  <a:gd name="T19" fmla="*/ 0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30"/>
                  <a:gd name="T32" fmla="*/ 44 w 4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30">
                    <a:moveTo>
                      <a:pt x="44" y="15"/>
                    </a:moveTo>
                    <a:cubicBezTo>
                      <a:pt x="39" y="23"/>
                      <a:pt x="29" y="28"/>
                      <a:pt x="16" y="30"/>
                    </a:cubicBezTo>
                    <a:lnTo>
                      <a:pt x="4" y="30"/>
                    </a:lnTo>
                    <a:cubicBezTo>
                      <a:pt x="12" y="21"/>
                      <a:pt x="12" y="10"/>
                      <a:pt x="4" y="0"/>
                    </a:cubicBezTo>
                    <a:lnTo>
                      <a:pt x="16" y="0"/>
                    </a:lnTo>
                    <a:cubicBezTo>
                      <a:pt x="29" y="2"/>
                      <a:pt x="39" y="8"/>
                      <a:pt x="44" y="15"/>
                    </a:cubicBezTo>
                    <a:moveTo>
                      <a:pt x="0" y="30"/>
                    </a:moveTo>
                    <a:cubicBezTo>
                      <a:pt x="8" y="21"/>
                      <a:pt x="8" y="10"/>
                      <a:pt x="0" y="0"/>
                    </a:cubicBez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45" name="Text Box 9"/>
            <p:cNvSpPr txBox="1">
              <a:spLocks noChangeArrowheads="1"/>
            </p:cNvSpPr>
            <p:nvPr/>
          </p:nvSpPr>
          <p:spPr bwMode="auto">
            <a:xfrm>
              <a:off x="247" y="2265"/>
              <a:ext cx="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x</a:t>
              </a:r>
              <a:endParaRPr lang="en-US" sz="2000" baseline="-25000"/>
            </a:p>
          </p:txBody>
        </p:sp>
        <p:sp>
          <p:nvSpPr>
            <p:cNvPr id="21546" name="Text Box 10"/>
            <p:cNvSpPr txBox="1">
              <a:spLocks noChangeArrowheads="1"/>
            </p:cNvSpPr>
            <p:nvPr/>
          </p:nvSpPr>
          <p:spPr bwMode="auto">
            <a:xfrm>
              <a:off x="240" y="2515"/>
              <a:ext cx="20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y</a:t>
              </a:r>
              <a:endParaRPr lang="en-US" sz="2000" baseline="-25000"/>
            </a:p>
          </p:txBody>
        </p:sp>
        <p:sp>
          <p:nvSpPr>
            <p:cNvPr id="21547" name="Line 11"/>
            <p:cNvSpPr>
              <a:spLocks noChangeShapeType="1"/>
            </p:cNvSpPr>
            <p:nvPr/>
          </p:nvSpPr>
          <p:spPr bwMode="auto">
            <a:xfrm flipH="1">
              <a:off x="457" y="2640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Line 12"/>
            <p:cNvSpPr>
              <a:spLocks noChangeShapeType="1"/>
            </p:cNvSpPr>
            <p:nvPr/>
          </p:nvSpPr>
          <p:spPr bwMode="auto">
            <a:xfrm flipH="1">
              <a:off x="457" y="2395"/>
              <a:ext cx="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AutoShape 13"/>
            <p:cNvSpPr>
              <a:spLocks noChangeArrowheads="1"/>
            </p:cNvSpPr>
            <p:nvPr/>
          </p:nvSpPr>
          <p:spPr bwMode="auto">
            <a:xfrm>
              <a:off x="1027" y="2861"/>
              <a:ext cx="356" cy="400"/>
            </a:xfrm>
            <a:prstGeom prst="flowChartDelay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50" name="Line 14"/>
            <p:cNvSpPr>
              <a:spLocks noChangeShapeType="1"/>
            </p:cNvSpPr>
            <p:nvPr/>
          </p:nvSpPr>
          <p:spPr bwMode="auto">
            <a:xfrm>
              <a:off x="790" y="2397"/>
              <a:ext cx="0" cy="5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Line 15"/>
            <p:cNvSpPr>
              <a:spLocks noChangeShapeType="1"/>
            </p:cNvSpPr>
            <p:nvPr/>
          </p:nvSpPr>
          <p:spPr bwMode="auto">
            <a:xfrm>
              <a:off x="790" y="2977"/>
              <a:ext cx="2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Line 16"/>
            <p:cNvSpPr>
              <a:spLocks noChangeShapeType="1"/>
            </p:cNvSpPr>
            <p:nvPr/>
          </p:nvSpPr>
          <p:spPr bwMode="auto">
            <a:xfrm>
              <a:off x="617" y="2640"/>
              <a:ext cx="0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Line 17"/>
            <p:cNvSpPr>
              <a:spLocks noChangeShapeType="1"/>
            </p:cNvSpPr>
            <p:nvPr/>
          </p:nvSpPr>
          <p:spPr bwMode="auto">
            <a:xfrm>
              <a:off x="617" y="3144"/>
              <a:ext cx="4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Oval 18"/>
            <p:cNvSpPr>
              <a:spLocks noChangeArrowheads="1"/>
            </p:cNvSpPr>
            <p:nvPr/>
          </p:nvSpPr>
          <p:spPr bwMode="auto">
            <a:xfrm>
              <a:off x="754" y="2360"/>
              <a:ext cx="63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55" name="Oval 19"/>
            <p:cNvSpPr>
              <a:spLocks noChangeArrowheads="1"/>
            </p:cNvSpPr>
            <p:nvPr/>
          </p:nvSpPr>
          <p:spPr bwMode="auto">
            <a:xfrm>
              <a:off x="585" y="2605"/>
              <a:ext cx="63" cy="6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56" name="Line 20"/>
            <p:cNvSpPr>
              <a:spLocks noChangeShapeType="1"/>
            </p:cNvSpPr>
            <p:nvPr/>
          </p:nvSpPr>
          <p:spPr bwMode="auto">
            <a:xfrm>
              <a:off x="1383" y="3063"/>
              <a:ext cx="6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09" name="Group 21"/>
          <p:cNvGrpSpPr>
            <a:grpSpLocks/>
          </p:cNvGrpSpPr>
          <p:nvPr/>
        </p:nvGrpSpPr>
        <p:grpSpPr bwMode="auto">
          <a:xfrm>
            <a:off x="4887913" y="3676653"/>
            <a:ext cx="5084762" cy="1063625"/>
            <a:chOff x="2038" y="3054"/>
            <a:chExt cx="3203" cy="670"/>
          </a:xfrm>
        </p:grpSpPr>
        <p:sp>
          <p:nvSpPr>
            <p:cNvPr id="21536" name="Freeform 22"/>
            <p:cNvSpPr>
              <a:spLocks/>
            </p:cNvSpPr>
            <p:nvPr/>
          </p:nvSpPr>
          <p:spPr bwMode="auto">
            <a:xfrm>
              <a:off x="4106" y="3054"/>
              <a:ext cx="433" cy="443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Line 23"/>
            <p:cNvSpPr>
              <a:spLocks noChangeShapeType="1"/>
            </p:cNvSpPr>
            <p:nvPr/>
          </p:nvSpPr>
          <p:spPr bwMode="auto">
            <a:xfrm>
              <a:off x="3590" y="3169"/>
              <a:ext cx="5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Line 24"/>
            <p:cNvSpPr>
              <a:spLocks noChangeShapeType="1"/>
            </p:cNvSpPr>
            <p:nvPr/>
          </p:nvSpPr>
          <p:spPr bwMode="auto">
            <a:xfrm>
              <a:off x="4538" y="3268"/>
              <a:ext cx="487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Line 25"/>
            <p:cNvSpPr>
              <a:spLocks noChangeShapeType="1"/>
            </p:cNvSpPr>
            <p:nvPr/>
          </p:nvSpPr>
          <p:spPr bwMode="auto">
            <a:xfrm>
              <a:off x="2038" y="3063"/>
              <a:ext cx="0" cy="6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Line 26"/>
            <p:cNvSpPr>
              <a:spLocks noChangeShapeType="1"/>
            </p:cNvSpPr>
            <p:nvPr/>
          </p:nvSpPr>
          <p:spPr bwMode="auto">
            <a:xfrm>
              <a:off x="2038" y="3724"/>
              <a:ext cx="18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Line 27"/>
            <p:cNvSpPr>
              <a:spLocks noChangeShapeType="1"/>
            </p:cNvSpPr>
            <p:nvPr/>
          </p:nvSpPr>
          <p:spPr bwMode="auto">
            <a:xfrm flipV="1">
              <a:off x="3872" y="3391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Line 28"/>
            <p:cNvSpPr>
              <a:spLocks noChangeShapeType="1"/>
            </p:cNvSpPr>
            <p:nvPr/>
          </p:nvSpPr>
          <p:spPr bwMode="auto">
            <a:xfrm>
              <a:off x="3872" y="3391"/>
              <a:ext cx="2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Text Box 29"/>
            <p:cNvSpPr txBox="1">
              <a:spLocks noChangeArrowheads="1"/>
            </p:cNvSpPr>
            <p:nvPr/>
          </p:nvSpPr>
          <p:spPr bwMode="auto">
            <a:xfrm>
              <a:off x="5025" y="3149"/>
              <a:ext cx="2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C</a:t>
              </a:r>
              <a:endParaRPr lang="en-US" sz="2000" baseline="-25000"/>
            </a:p>
          </p:txBody>
        </p:sp>
      </p:grpSp>
      <p:grpSp>
        <p:nvGrpSpPr>
          <p:cNvPr id="21510" name="Group 32"/>
          <p:cNvGrpSpPr>
            <a:grpSpLocks/>
          </p:cNvGrpSpPr>
          <p:nvPr/>
        </p:nvGrpSpPr>
        <p:grpSpPr bwMode="auto">
          <a:xfrm>
            <a:off x="7789866" y="2820991"/>
            <a:ext cx="2200275" cy="396875"/>
            <a:chOff x="3866" y="2515"/>
            <a:chExt cx="1386" cy="250"/>
          </a:xfrm>
        </p:grpSpPr>
        <p:sp>
          <p:nvSpPr>
            <p:cNvPr id="21534" name="Text Box 33"/>
            <p:cNvSpPr txBox="1">
              <a:spLocks noChangeArrowheads="1"/>
            </p:cNvSpPr>
            <p:nvPr/>
          </p:nvSpPr>
          <p:spPr bwMode="auto">
            <a:xfrm>
              <a:off x="5025" y="2515"/>
              <a:ext cx="2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S</a:t>
              </a:r>
              <a:endParaRPr lang="en-US" sz="2000" baseline="-25000"/>
            </a:p>
          </p:txBody>
        </p:sp>
        <p:sp>
          <p:nvSpPr>
            <p:cNvPr id="21535" name="Line 34"/>
            <p:cNvSpPr>
              <a:spLocks noChangeShapeType="1"/>
            </p:cNvSpPr>
            <p:nvPr/>
          </p:nvSpPr>
          <p:spPr bwMode="auto">
            <a:xfrm>
              <a:off x="3866" y="2631"/>
              <a:ext cx="1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1" name="Group 35"/>
          <p:cNvGrpSpPr>
            <a:grpSpLocks/>
          </p:cNvGrpSpPr>
          <p:nvPr/>
        </p:nvGrpSpPr>
        <p:grpSpPr bwMode="auto">
          <a:xfrm>
            <a:off x="1966913" y="2647950"/>
            <a:ext cx="5822950" cy="1930400"/>
            <a:chOff x="198" y="2406"/>
            <a:chExt cx="3668" cy="1216"/>
          </a:xfrm>
        </p:grpSpPr>
        <p:sp>
          <p:nvSpPr>
            <p:cNvPr id="21518" name="Line 36"/>
            <p:cNvSpPr>
              <a:spLocks noChangeShapeType="1"/>
            </p:cNvSpPr>
            <p:nvPr/>
          </p:nvSpPr>
          <p:spPr bwMode="auto">
            <a:xfrm>
              <a:off x="2991" y="2511"/>
              <a:ext cx="0" cy="5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519" name="Group 37"/>
            <p:cNvGrpSpPr>
              <a:grpSpLocks/>
            </p:cNvGrpSpPr>
            <p:nvPr/>
          </p:nvGrpSpPr>
          <p:grpSpPr bwMode="auto">
            <a:xfrm>
              <a:off x="198" y="2406"/>
              <a:ext cx="3668" cy="1216"/>
              <a:chOff x="198" y="2406"/>
              <a:chExt cx="3668" cy="1216"/>
            </a:xfrm>
          </p:grpSpPr>
          <p:sp>
            <p:nvSpPr>
              <p:cNvPr id="21520" name="Line 38"/>
              <p:cNvSpPr>
                <a:spLocks noChangeShapeType="1"/>
              </p:cNvSpPr>
              <p:nvPr/>
            </p:nvSpPr>
            <p:spPr bwMode="auto">
              <a:xfrm>
                <a:off x="2432" y="3274"/>
                <a:ext cx="8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521" name="Group 39"/>
              <p:cNvGrpSpPr>
                <a:grpSpLocks/>
              </p:cNvGrpSpPr>
              <p:nvPr/>
            </p:nvGrpSpPr>
            <p:grpSpPr bwMode="auto">
              <a:xfrm>
                <a:off x="2991" y="2406"/>
                <a:ext cx="875" cy="455"/>
                <a:chOff x="3280" y="1859"/>
                <a:chExt cx="706" cy="333"/>
              </a:xfrm>
            </p:grpSpPr>
            <p:sp>
              <p:nvSpPr>
                <p:cNvPr id="21531" name="Freeform 40"/>
                <p:cNvSpPr>
                  <a:spLocks noEditPoints="1"/>
                </p:cNvSpPr>
                <p:nvPr/>
              </p:nvSpPr>
              <p:spPr bwMode="auto">
                <a:xfrm>
                  <a:off x="3280" y="1936"/>
                  <a:ext cx="706" cy="178"/>
                </a:xfrm>
                <a:custGeom>
                  <a:avLst/>
                  <a:gdLst>
                    <a:gd name="T0" fmla="*/ 0 w 493"/>
                    <a:gd name="T1" fmla="*/ 0 h 130"/>
                    <a:gd name="T2" fmla="*/ 34460364 w 493"/>
                    <a:gd name="T3" fmla="*/ 0 h 130"/>
                    <a:gd name="T4" fmla="*/ 0 w 493"/>
                    <a:gd name="T5" fmla="*/ 4146455 h 130"/>
                    <a:gd name="T6" fmla="*/ 34460364 w 493"/>
                    <a:gd name="T7" fmla="*/ 4146455 h 130"/>
                    <a:gd name="T8" fmla="*/ 69121307 w 493"/>
                    <a:gd name="T9" fmla="*/ 2081619 h 130"/>
                    <a:gd name="T10" fmla="*/ 34460364 w 493"/>
                    <a:gd name="T11" fmla="*/ 2081619 h 13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493"/>
                    <a:gd name="T19" fmla="*/ 0 h 130"/>
                    <a:gd name="T20" fmla="*/ 493 w 493"/>
                    <a:gd name="T21" fmla="*/ 130 h 13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493" h="130">
                      <a:moveTo>
                        <a:pt x="0" y="0"/>
                      </a:moveTo>
                      <a:lnTo>
                        <a:pt x="246" y="0"/>
                      </a:lnTo>
                      <a:moveTo>
                        <a:pt x="0" y="130"/>
                      </a:moveTo>
                      <a:lnTo>
                        <a:pt x="246" y="130"/>
                      </a:lnTo>
                      <a:moveTo>
                        <a:pt x="493" y="65"/>
                      </a:moveTo>
                      <a:lnTo>
                        <a:pt x="246" y="65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32" name="Freeform 41"/>
                <p:cNvSpPr>
                  <a:spLocks/>
                </p:cNvSpPr>
                <p:nvPr/>
              </p:nvSpPr>
              <p:spPr bwMode="auto">
                <a:xfrm>
                  <a:off x="3471" y="1859"/>
                  <a:ext cx="349" cy="333"/>
                </a:xfrm>
                <a:custGeom>
                  <a:avLst/>
                  <a:gdLst>
                    <a:gd name="T0" fmla="*/ 2147483647 w 40"/>
                    <a:gd name="T1" fmla="*/ 2147483647 h 30"/>
                    <a:gd name="T2" fmla="*/ 2147483647 w 40"/>
                    <a:gd name="T3" fmla="*/ 2147483647 h 30"/>
                    <a:gd name="T4" fmla="*/ 2147483647 w 40"/>
                    <a:gd name="T5" fmla="*/ 2147483647 h 30"/>
                    <a:gd name="T6" fmla="*/ 0 w 40"/>
                    <a:gd name="T7" fmla="*/ 2147483647 h 30"/>
                    <a:gd name="T8" fmla="*/ 0 w 40"/>
                    <a:gd name="T9" fmla="*/ 0 h 30"/>
                    <a:gd name="T10" fmla="*/ 0 w 40"/>
                    <a:gd name="T11" fmla="*/ 0 h 30"/>
                    <a:gd name="T12" fmla="*/ 2147483647 w 40"/>
                    <a:gd name="T13" fmla="*/ 0 h 30"/>
                    <a:gd name="T14" fmla="*/ 2147483647 w 40"/>
                    <a:gd name="T15" fmla="*/ 2147483647 h 3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0"/>
                    <a:gd name="T25" fmla="*/ 0 h 30"/>
                    <a:gd name="T26" fmla="*/ 40 w 40"/>
                    <a:gd name="T27" fmla="*/ 30 h 3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0" h="30">
                      <a:moveTo>
                        <a:pt x="40" y="15"/>
                      </a:moveTo>
                      <a:cubicBezTo>
                        <a:pt x="35" y="23"/>
                        <a:pt x="25" y="28"/>
                        <a:pt x="12" y="30"/>
                      </a:cubicBezTo>
                      <a:lnTo>
                        <a:pt x="0" y="30"/>
                      </a:lnTo>
                      <a:cubicBezTo>
                        <a:pt x="8" y="21"/>
                        <a:pt x="8" y="10"/>
                        <a:pt x="0" y="0"/>
                      </a:cubicBezTo>
                      <a:lnTo>
                        <a:pt x="12" y="0"/>
                      </a:lnTo>
                      <a:cubicBezTo>
                        <a:pt x="25" y="2"/>
                        <a:pt x="35" y="8"/>
                        <a:pt x="40" y="1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33" name="Freeform 42"/>
                <p:cNvSpPr>
                  <a:spLocks noEditPoints="1"/>
                </p:cNvSpPr>
                <p:nvPr/>
              </p:nvSpPr>
              <p:spPr bwMode="auto">
                <a:xfrm>
                  <a:off x="3436" y="1859"/>
                  <a:ext cx="384" cy="333"/>
                </a:xfrm>
                <a:custGeom>
                  <a:avLst/>
                  <a:gdLst>
                    <a:gd name="T0" fmla="*/ 2147483647 w 44"/>
                    <a:gd name="T1" fmla="*/ 2147483647 h 30"/>
                    <a:gd name="T2" fmla="*/ 2147483647 w 44"/>
                    <a:gd name="T3" fmla="*/ 2147483647 h 30"/>
                    <a:gd name="T4" fmla="*/ 2147483647 w 44"/>
                    <a:gd name="T5" fmla="*/ 2147483647 h 30"/>
                    <a:gd name="T6" fmla="*/ 2147483647 w 44"/>
                    <a:gd name="T7" fmla="*/ 2147483647 h 30"/>
                    <a:gd name="T8" fmla="*/ 2147483647 w 44"/>
                    <a:gd name="T9" fmla="*/ 0 h 30"/>
                    <a:gd name="T10" fmla="*/ 2147483647 w 44"/>
                    <a:gd name="T11" fmla="*/ 0 h 30"/>
                    <a:gd name="T12" fmla="*/ 2147483647 w 44"/>
                    <a:gd name="T13" fmla="*/ 0 h 30"/>
                    <a:gd name="T14" fmla="*/ 2147483647 w 44"/>
                    <a:gd name="T15" fmla="*/ 2147483647 h 30"/>
                    <a:gd name="T16" fmla="*/ 0 w 44"/>
                    <a:gd name="T17" fmla="*/ 2147483647 h 30"/>
                    <a:gd name="T18" fmla="*/ 0 w 44"/>
                    <a:gd name="T19" fmla="*/ 0 h 3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4"/>
                    <a:gd name="T31" fmla="*/ 0 h 30"/>
                    <a:gd name="T32" fmla="*/ 44 w 44"/>
                    <a:gd name="T33" fmla="*/ 30 h 3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4" h="30">
                      <a:moveTo>
                        <a:pt x="44" y="15"/>
                      </a:moveTo>
                      <a:cubicBezTo>
                        <a:pt x="39" y="23"/>
                        <a:pt x="29" y="28"/>
                        <a:pt x="16" y="30"/>
                      </a:cubicBezTo>
                      <a:lnTo>
                        <a:pt x="4" y="30"/>
                      </a:lnTo>
                      <a:cubicBezTo>
                        <a:pt x="12" y="21"/>
                        <a:pt x="12" y="10"/>
                        <a:pt x="4" y="0"/>
                      </a:cubicBezTo>
                      <a:lnTo>
                        <a:pt x="16" y="0"/>
                      </a:lnTo>
                      <a:cubicBezTo>
                        <a:pt x="29" y="2"/>
                        <a:pt x="39" y="8"/>
                        <a:pt x="44" y="15"/>
                      </a:cubicBezTo>
                      <a:moveTo>
                        <a:pt x="0" y="30"/>
                      </a:moveTo>
                      <a:cubicBezTo>
                        <a:pt x="8" y="21"/>
                        <a:pt x="8" y="10"/>
                        <a:pt x="0" y="0"/>
                      </a:cubicBez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522" name="Line 43"/>
              <p:cNvSpPr>
                <a:spLocks noChangeShapeType="1"/>
              </p:cNvSpPr>
              <p:nvPr/>
            </p:nvSpPr>
            <p:spPr bwMode="auto">
              <a:xfrm flipH="1">
                <a:off x="2432" y="2754"/>
                <a:ext cx="5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3" name="Line 44"/>
              <p:cNvSpPr>
                <a:spLocks noChangeShapeType="1"/>
              </p:cNvSpPr>
              <p:nvPr/>
            </p:nvSpPr>
            <p:spPr bwMode="auto">
              <a:xfrm flipH="1">
                <a:off x="1665" y="2509"/>
                <a:ext cx="1326" cy="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4" name="AutoShape 45"/>
              <p:cNvSpPr>
                <a:spLocks noChangeArrowheads="1"/>
              </p:cNvSpPr>
              <p:nvPr/>
            </p:nvSpPr>
            <p:spPr bwMode="auto">
              <a:xfrm>
                <a:off x="3228" y="2975"/>
                <a:ext cx="356" cy="400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1525" name="Line 46"/>
              <p:cNvSpPr>
                <a:spLocks noChangeShapeType="1"/>
              </p:cNvSpPr>
              <p:nvPr/>
            </p:nvSpPr>
            <p:spPr bwMode="auto">
              <a:xfrm>
                <a:off x="2991" y="3091"/>
                <a:ext cx="2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6" name="Oval 47"/>
              <p:cNvSpPr>
                <a:spLocks noChangeArrowheads="1"/>
              </p:cNvSpPr>
              <p:nvPr/>
            </p:nvSpPr>
            <p:spPr bwMode="auto">
              <a:xfrm>
                <a:off x="2955" y="2474"/>
                <a:ext cx="63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1527" name="Line 48"/>
              <p:cNvSpPr>
                <a:spLocks noChangeShapeType="1"/>
              </p:cNvSpPr>
              <p:nvPr/>
            </p:nvSpPr>
            <p:spPr bwMode="auto">
              <a:xfrm>
                <a:off x="2432" y="2754"/>
                <a:ext cx="0" cy="7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8" name="Line 49"/>
              <p:cNvSpPr>
                <a:spLocks noChangeShapeType="1"/>
              </p:cNvSpPr>
              <p:nvPr/>
            </p:nvSpPr>
            <p:spPr bwMode="auto">
              <a:xfrm flipH="1">
                <a:off x="480" y="3497"/>
                <a:ext cx="1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9" name="Text Box 50"/>
              <p:cNvSpPr txBox="1">
                <a:spLocks noChangeArrowheads="1"/>
              </p:cNvSpPr>
              <p:nvPr/>
            </p:nvSpPr>
            <p:spPr bwMode="auto">
              <a:xfrm>
                <a:off x="198" y="3372"/>
                <a:ext cx="20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/>
                  <a:t>z</a:t>
                </a:r>
                <a:endParaRPr lang="en-US" sz="2000" baseline="-25000"/>
              </a:p>
            </p:txBody>
          </p:sp>
          <p:sp>
            <p:nvSpPr>
              <p:cNvPr id="21530" name="Oval 51"/>
              <p:cNvSpPr>
                <a:spLocks noChangeArrowheads="1"/>
              </p:cNvSpPr>
              <p:nvPr/>
            </p:nvSpPr>
            <p:spPr bwMode="auto">
              <a:xfrm>
                <a:off x="2405" y="3235"/>
                <a:ext cx="63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</p:grpSp>
      </p:grp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2581275" y="2320928"/>
            <a:ext cx="1714500" cy="1793875"/>
            <a:chOff x="666" y="1462"/>
            <a:chExt cx="1080" cy="1130"/>
          </a:xfrm>
        </p:grpSpPr>
        <p:sp>
          <p:nvSpPr>
            <p:cNvPr id="21516" name="Rectangle 52"/>
            <p:cNvSpPr>
              <a:spLocks noChangeArrowheads="1"/>
            </p:cNvSpPr>
            <p:nvPr/>
          </p:nvSpPr>
          <p:spPr bwMode="auto">
            <a:xfrm>
              <a:off x="666" y="1462"/>
              <a:ext cx="1080" cy="113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7" name="Text Box 53"/>
            <p:cNvSpPr txBox="1">
              <a:spLocks noChangeArrowheads="1"/>
            </p:cNvSpPr>
            <p:nvPr/>
          </p:nvSpPr>
          <p:spPr bwMode="auto">
            <a:xfrm>
              <a:off x="1459" y="1492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HA</a:t>
              </a:r>
            </a:p>
          </p:txBody>
        </p:sp>
      </p:grpSp>
      <p:grpSp>
        <p:nvGrpSpPr>
          <p:cNvPr id="10" name="Group 61"/>
          <p:cNvGrpSpPr>
            <a:grpSpLocks/>
          </p:cNvGrpSpPr>
          <p:nvPr/>
        </p:nvGrpSpPr>
        <p:grpSpPr bwMode="auto">
          <a:xfrm>
            <a:off x="6027738" y="2506666"/>
            <a:ext cx="1714500" cy="1798637"/>
            <a:chOff x="2837" y="1579"/>
            <a:chExt cx="1080" cy="1133"/>
          </a:xfrm>
        </p:grpSpPr>
        <p:sp>
          <p:nvSpPr>
            <p:cNvPr id="21514" name="Rectangle 58"/>
            <p:cNvSpPr>
              <a:spLocks noChangeArrowheads="1"/>
            </p:cNvSpPr>
            <p:nvPr/>
          </p:nvSpPr>
          <p:spPr bwMode="auto">
            <a:xfrm>
              <a:off x="2837" y="1582"/>
              <a:ext cx="1080" cy="113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5" name="Text Box 59"/>
            <p:cNvSpPr txBox="1">
              <a:spLocks noChangeArrowheads="1"/>
            </p:cNvSpPr>
            <p:nvPr/>
          </p:nvSpPr>
          <p:spPr bwMode="auto">
            <a:xfrm>
              <a:off x="3650" y="1579"/>
              <a:ext cx="2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HA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FDD215F-201D-400E-9AF3-52A463EE596C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Integer Addition 2/2</a:t>
            </a:r>
          </a:p>
        </p:txBody>
      </p:sp>
      <p:sp>
        <p:nvSpPr>
          <p:cNvPr id="28732" name="Rectangle 5"/>
          <p:cNvSpPr>
            <a:spLocks noChangeArrowheads="1"/>
          </p:cNvSpPr>
          <p:nvPr/>
        </p:nvSpPr>
        <p:spPr bwMode="auto">
          <a:xfrm>
            <a:off x="7718428" y="2825750"/>
            <a:ext cx="1025525" cy="958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FA</a:t>
            </a:r>
          </a:p>
        </p:txBody>
      </p:sp>
      <p:sp>
        <p:nvSpPr>
          <p:cNvPr id="28733" name="Line 6"/>
          <p:cNvSpPr>
            <a:spLocks noChangeShapeType="1"/>
          </p:cNvSpPr>
          <p:nvPr/>
        </p:nvSpPr>
        <p:spPr bwMode="auto">
          <a:xfrm>
            <a:off x="8467725" y="2295528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34" name="Line 7"/>
          <p:cNvSpPr>
            <a:spLocks noChangeShapeType="1"/>
          </p:cNvSpPr>
          <p:nvPr/>
        </p:nvSpPr>
        <p:spPr bwMode="auto">
          <a:xfrm>
            <a:off x="7980363" y="2295528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59" name="Line 8"/>
          <p:cNvSpPr>
            <a:spLocks noChangeShapeType="1"/>
          </p:cNvSpPr>
          <p:nvPr/>
        </p:nvSpPr>
        <p:spPr bwMode="auto">
          <a:xfrm rot="-5400000">
            <a:off x="9009063" y="3049590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0" name="Text Box 9"/>
          <p:cNvSpPr txBox="1">
            <a:spLocks noChangeArrowheads="1"/>
          </p:cNvSpPr>
          <p:nvPr/>
        </p:nvSpPr>
        <p:spPr bwMode="auto">
          <a:xfrm>
            <a:off x="7926388" y="2862263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x</a:t>
            </a:r>
          </a:p>
        </p:txBody>
      </p:sp>
      <p:sp>
        <p:nvSpPr>
          <p:cNvPr id="23561" name="Text Box 10"/>
          <p:cNvSpPr txBox="1">
            <a:spLocks noChangeArrowheads="1"/>
          </p:cNvSpPr>
          <p:nvPr/>
        </p:nvSpPr>
        <p:spPr bwMode="auto">
          <a:xfrm>
            <a:off x="8415338" y="2828925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y</a:t>
            </a:r>
          </a:p>
        </p:txBody>
      </p:sp>
      <p:sp>
        <p:nvSpPr>
          <p:cNvPr id="23562" name="Text Box 11"/>
          <p:cNvSpPr txBox="1">
            <a:spLocks noChangeArrowheads="1"/>
          </p:cNvSpPr>
          <p:nvPr/>
        </p:nvSpPr>
        <p:spPr bwMode="auto">
          <a:xfrm>
            <a:off x="8594725" y="3208338"/>
            <a:ext cx="961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z</a:t>
            </a:r>
          </a:p>
        </p:txBody>
      </p:sp>
      <p:sp>
        <p:nvSpPr>
          <p:cNvPr id="28739" name="Line 12"/>
          <p:cNvSpPr>
            <a:spLocks noChangeShapeType="1"/>
          </p:cNvSpPr>
          <p:nvPr/>
        </p:nvSpPr>
        <p:spPr bwMode="auto">
          <a:xfrm>
            <a:off x="8196263" y="3784603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64" name="Text Box 13"/>
          <p:cNvSpPr txBox="1">
            <a:spLocks noChangeArrowheads="1"/>
          </p:cNvSpPr>
          <p:nvPr/>
        </p:nvSpPr>
        <p:spPr bwMode="auto">
          <a:xfrm>
            <a:off x="7758113" y="3227388"/>
            <a:ext cx="11060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C</a:t>
            </a:r>
          </a:p>
        </p:txBody>
      </p:sp>
      <p:sp>
        <p:nvSpPr>
          <p:cNvPr id="23565" name="Text Box 14"/>
          <p:cNvSpPr txBox="1">
            <a:spLocks noChangeArrowheads="1"/>
          </p:cNvSpPr>
          <p:nvPr/>
        </p:nvSpPr>
        <p:spPr bwMode="auto">
          <a:xfrm>
            <a:off x="8143875" y="3544888"/>
            <a:ext cx="1250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S</a:t>
            </a:r>
          </a:p>
        </p:txBody>
      </p:sp>
      <p:sp>
        <p:nvSpPr>
          <p:cNvPr id="23566" name="Text Box 15"/>
          <p:cNvSpPr txBox="1">
            <a:spLocks noChangeArrowheads="1"/>
          </p:cNvSpPr>
          <p:nvPr/>
        </p:nvSpPr>
        <p:spPr bwMode="auto">
          <a:xfrm>
            <a:off x="7862888" y="1979616"/>
            <a:ext cx="246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a</a:t>
            </a:r>
            <a:r>
              <a:rPr lang="en-US" sz="2000" baseline="-25000"/>
              <a:t>0</a:t>
            </a:r>
          </a:p>
        </p:txBody>
      </p:sp>
      <p:sp>
        <p:nvSpPr>
          <p:cNvPr id="23567" name="Text Box 16"/>
          <p:cNvSpPr txBox="1">
            <a:spLocks noChangeArrowheads="1"/>
          </p:cNvSpPr>
          <p:nvPr/>
        </p:nvSpPr>
        <p:spPr bwMode="auto">
          <a:xfrm>
            <a:off x="8351838" y="1979616"/>
            <a:ext cx="256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b</a:t>
            </a:r>
            <a:r>
              <a:rPr lang="en-US" sz="2000" baseline="-25000"/>
              <a:t>0</a:t>
            </a:r>
          </a:p>
        </p:txBody>
      </p:sp>
      <p:sp>
        <p:nvSpPr>
          <p:cNvPr id="23568" name="Text Box 17"/>
          <p:cNvSpPr txBox="1">
            <a:spLocks noChangeArrowheads="1"/>
          </p:cNvSpPr>
          <p:nvPr/>
        </p:nvSpPr>
        <p:spPr bwMode="auto">
          <a:xfrm>
            <a:off x="9274178" y="2922591"/>
            <a:ext cx="57708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C</a:t>
            </a:r>
            <a:r>
              <a:rPr lang="en-US" sz="2000" baseline="-25000"/>
              <a:t>0</a:t>
            </a:r>
            <a:r>
              <a:rPr lang="en-US" sz="2000"/>
              <a:t>=0</a:t>
            </a:r>
          </a:p>
        </p:txBody>
      </p:sp>
      <p:sp>
        <p:nvSpPr>
          <p:cNvPr id="23569" name="Text Box 18"/>
          <p:cNvSpPr txBox="1">
            <a:spLocks noChangeArrowheads="1"/>
          </p:cNvSpPr>
          <p:nvPr/>
        </p:nvSpPr>
        <p:spPr bwMode="auto">
          <a:xfrm>
            <a:off x="8094666" y="4314828"/>
            <a:ext cx="2821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0</a:t>
            </a:r>
          </a:p>
        </p:txBody>
      </p:sp>
      <p:sp>
        <p:nvSpPr>
          <p:cNvPr id="28746" name="Line 19"/>
          <p:cNvSpPr>
            <a:spLocks noChangeShapeType="1"/>
          </p:cNvSpPr>
          <p:nvPr/>
        </p:nvSpPr>
        <p:spPr bwMode="auto">
          <a:xfrm rot="-5400000">
            <a:off x="7453313" y="3049590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71" name="Text Box 20"/>
          <p:cNvSpPr txBox="1">
            <a:spLocks noChangeArrowheads="1"/>
          </p:cNvSpPr>
          <p:nvPr/>
        </p:nvSpPr>
        <p:spPr bwMode="auto">
          <a:xfrm>
            <a:off x="7323138" y="2952753"/>
            <a:ext cx="2628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C</a:t>
            </a:r>
            <a:r>
              <a:rPr lang="en-US" sz="2000" baseline="-25000"/>
              <a:t>1</a:t>
            </a:r>
          </a:p>
        </p:txBody>
      </p:sp>
      <p:sp>
        <p:nvSpPr>
          <p:cNvPr id="28718" name="Rectangle 22"/>
          <p:cNvSpPr>
            <a:spLocks noChangeArrowheads="1"/>
          </p:cNvSpPr>
          <p:nvPr/>
        </p:nvSpPr>
        <p:spPr bwMode="auto">
          <a:xfrm>
            <a:off x="6157916" y="2862263"/>
            <a:ext cx="1025525" cy="958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FA</a:t>
            </a:r>
          </a:p>
        </p:txBody>
      </p:sp>
      <p:sp>
        <p:nvSpPr>
          <p:cNvPr id="28719" name="Line 23"/>
          <p:cNvSpPr>
            <a:spLocks noChangeShapeType="1"/>
          </p:cNvSpPr>
          <p:nvPr/>
        </p:nvSpPr>
        <p:spPr bwMode="auto">
          <a:xfrm>
            <a:off x="6907213" y="2332041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20" name="Line 24"/>
          <p:cNvSpPr>
            <a:spLocks noChangeShapeType="1"/>
          </p:cNvSpPr>
          <p:nvPr/>
        </p:nvSpPr>
        <p:spPr bwMode="auto">
          <a:xfrm>
            <a:off x="6419850" y="2332041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5" name="Text Box 25"/>
          <p:cNvSpPr txBox="1">
            <a:spLocks noChangeArrowheads="1"/>
          </p:cNvSpPr>
          <p:nvPr/>
        </p:nvSpPr>
        <p:spPr bwMode="auto">
          <a:xfrm>
            <a:off x="6365875" y="2898775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x</a:t>
            </a:r>
          </a:p>
        </p:txBody>
      </p:sp>
      <p:sp>
        <p:nvSpPr>
          <p:cNvPr id="23576" name="Text Box 26"/>
          <p:cNvSpPr txBox="1">
            <a:spLocks noChangeArrowheads="1"/>
          </p:cNvSpPr>
          <p:nvPr/>
        </p:nvSpPr>
        <p:spPr bwMode="auto">
          <a:xfrm>
            <a:off x="6854825" y="286543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y</a:t>
            </a:r>
          </a:p>
        </p:txBody>
      </p:sp>
      <p:sp>
        <p:nvSpPr>
          <p:cNvPr id="23577" name="Text Box 27"/>
          <p:cNvSpPr txBox="1">
            <a:spLocks noChangeArrowheads="1"/>
          </p:cNvSpPr>
          <p:nvPr/>
        </p:nvSpPr>
        <p:spPr bwMode="auto">
          <a:xfrm>
            <a:off x="7034213" y="3244850"/>
            <a:ext cx="961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z</a:t>
            </a:r>
          </a:p>
        </p:txBody>
      </p:sp>
      <p:sp>
        <p:nvSpPr>
          <p:cNvPr id="28724" name="Line 28"/>
          <p:cNvSpPr>
            <a:spLocks noChangeShapeType="1"/>
          </p:cNvSpPr>
          <p:nvPr/>
        </p:nvSpPr>
        <p:spPr bwMode="auto">
          <a:xfrm>
            <a:off x="6635750" y="3821116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79" name="Text Box 29"/>
          <p:cNvSpPr txBox="1">
            <a:spLocks noChangeArrowheads="1"/>
          </p:cNvSpPr>
          <p:nvPr/>
        </p:nvSpPr>
        <p:spPr bwMode="auto">
          <a:xfrm>
            <a:off x="6197600" y="3263900"/>
            <a:ext cx="11060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C</a:t>
            </a:r>
          </a:p>
        </p:txBody>
      </p:sp>
      <p:sp>
        <p:nvSpPr>
          <p:cNvPr id="23580" name="Text Box 30"/>
          <p:cNvSpPr txBox="1">
            <a:spLocks noChangeArrowheads="1"/>
          </p:cNvSpPr>
          <p:nvPr/>
        </p:nvSpPr>
        <p:spPr bwMode="auto">
          <a:xfrm>
            <a:off x="6583363" y="3581400"/>
            <a:ext cx="1250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S</a:t>
            </a:r>
          </a:p>
        </p:txBody>
      </p:sp>
      <p:sp>
        <p:nvSpPr>
          <p:cNvPr id="23581" name="Text Box 31"/>
          <p:cNvSpPr txBox="1">
            <a:spLocks noChangeArrowheads="1"/>
          </p:cNvSpPr>
          <p:nvPr/>
        </p:nvSpPr>
        <p:spPr bwMode="auto">
          <a:xfrm>
            <a:off x="6302375" y="2016128"/>
            <a:ext cx="246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a</a:t>
            </a:r>
            <a:r>
              <a:rPr lang="en-US" sz="2000" baseline="-25000"/>
              <a:t>1</a:t>
            </a:r>
          </a:p>
        </p:txBody>
      </p:sp>
      <p:sp>
        <p:nvSpPr>
          <p:cNvPr id="23582" name="Text Box 32"/>
          <p:cNvSpPr txBox="1">
            <a:spLocks noChangeArrowheads="1"/>
          </p:cNvSpPr>
          <p:nvPr/>
        </p:nvSpPr>
        <p:spPr bwMode="auto">
          <a:xfrm>
            <a:off x="6791325" y="2016128"/>
            <a:ext cx="256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b</a:t>
            </a:r>
            <a:r>
              <a:rPr lang="en-US" sz="2000" baseline="-25000"/>
              <a:t>1</a:t>
            </a:r>
          </a:p>
        </p:txBody>
      </p:sp>
      <p:sp>
        <p:nvSpPr>
          <p:cNvPr id="23583" name="Text Box 33"/>
          <p:cNvSpPr txBox="1">
            <a:spLocks noChangeArrowheads="1"/>
          </p:cNvSpPr>
          <p:nvPr/>
        </p:nvSpPr>
        <p:spPr bwMode="auto">
          <a:xfrm>
            <a:off x="6515103" y="4351341"/>
            <a:ext cx="2821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1</a:t>
            </a:r>
          </a:p>
        </p:txBody>
      </p:sp>
      <p:sp>
        <p:nvSpPr>
          <p:cNvPr id="28730" name="Line 34"/>
          <p:cNvSpPr>
            <a:spLocks noChangeShapeType="1"/>
          </p:cNvSpPr>
          <p:nvPr/>
        </p:nvSpPr>
        <p:spPr bwMode="auto">
          <a:xfrm rot="-5400000">
            <a:off x="5892801" y="3086103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85" name="Text Box 35"/>
          <p:cNvSpPr txBox="1">
            <a:spLocks noChangeArrowheads="1"/>
          </p:cNvSpPr>
          <p:nvPr/>
        </p:nvSpPr>
        <p:spPr bwMode="auto">
          <a:xfrm>
            <a:off x="5762625" y="2989266"/>
            <a:ext cx="2628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C</a:t>
            </a:r>
            <a:r>
              <a:rPr lang="en-US" sz="2000" baseline="-25000"/>
              <a:t>2</a:t>
            </a:r>
          </a:p>
        </p:txBody>
      </p:sp>
      <p:sp>
        <p:nvSpPr>
          <p:cNvPr id="28704" name="Rectangle 37"/>
          <p:cNvSpPr>
            <a:spLocks noChangeArrowheads="1"/>
          </p:cNvSpPr>
          <p:nvPr/>
        </p:nvSpPr>
        <p:spPr bwMode="auto">
          <a:xfrm>
            <a:off x="4602166" y="2865438"/>
            <a:ext cx="1025525" cy="958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FA</a:t>
            </a:r>
          </a:p>
        </p:txBody>
      </p:sp>
      <p:sp>
        <p:nvSpPr>
          <p:cNvPr id="2" name="Line 38"/>
          <p:cNvSpPr>
            <a:spLocks noChangeShapeType="1"/>
          </p:cNvSpPr>
          <p:nvPr/>
        </p:nvSpPr>
        <p:spPr bwMode="auto">
          <a:xfrm>
            <a:off x="5351463" y="2335216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706" name="Line 39"/>
          <p:cNvSpPr>
            <a:spLocks noChangeShapeType="1"/>
          </p:cNvSpPr>
          <p:nvPr/>
        </p:nvSpPr>
        <p:spPr bwMode="auto">
          <a:xfrm>
            <a:off x="4864100" y="2335216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89" name="Text Box 40"/>
          <p:cNvSpPr txBox="1">
            <a:spLocks noChangeArrowheads="1"/>
          </p:cNvSpPr>
          <p:nvPr/>
        </p:nvSpPr>
        <p:spPr bwMode="auto">
          <a:xfrm>
            <a:off x="4810125" y="2901950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x</a:t>
            </a:r>
          </a:p>
        </p:txBody>
      </p:sp>
      <p:sp>
        <p:nvSpPr>
          <p:cNvPr id="23590" name="Text Box 41"/>
          <p:cNvSpPr txBox="1">
            <a:spLocks noChangeArrowheads="1"/>
          </p:cNvSpPr>
          <p:nvPr/>
        </p:nvSpPr>
        <p:spPr bwMode="auto">
          <a:xfrm>
            <a:off x="5299075" y="2868613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y</a:t>
            </a:r>
          </a:p>
        </p:txBody>
      </p:sp>
      <p:sp>
        <p:nvSpPr>
          <p:cNvPr id="23591" name="Text Box 42"/>
          <p:cNvSpPr txBox="1">
            <a:spLocks noChangeArrowheads="1"/>
          </p:cNvSpPr>
          <p:nvPr/>
        </p:nvSpPr>
        <p:spPr bwMode="auto">
          <a:xfrm>
            <a:off x="5478463" y="3248025"/>
            <a:ext cx="961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z</a:t>
            </a:r>
          </a:p>
        </p:txBody>
      </p:sp>
      <p:sp>
        <p:nvSpPr>
          <p:cNvPr id="3" name="Line 43"/>
          <p:cNvSpPr>
            <a:spLocks noChangeShapeType="1"/>
          </p:cNvSpPr>
          <p:nvPr/>
        </p:nvSpPr>
        <p:spPr bwMode="auto">
          <a:xfrm>
            <a:off x="5080000" y="3824291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593" name="Text Box 44"/>
          <p:cNvSpPr txBox="1">
            <a:spLocks noChangeArrowheads="1"/>
          </p:cNvSpPr>
          <p:nvPr/>
        </p:nvSpPr>
        <p:spPr bwMode="auto">
          <a:xfrm>
            <a:off x="4641850" y="3267075"/>
            <a:ext cx="11060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C</a:t>
            </a:r>
          </a:p>
        </p:txBody>
      </p:sp>
      <p:sp>
        <p:nvSpPr>
          <p:cNvPr id="23594" name="Text Box 45"/>
          <p:cNvSpPr txBox="1">
            <a:spLocks noChangeArrowheads="1"/>
          </p:cNvSpPr>
          <p:nvPr/>
        </p:nvSpPr>
        <p:spPr bwMode="auto">
          <a:xfrm>
            <a:off x="5027613" y="3584575"/>
            <a:ext cx="1250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S</a:t>
            </a:r>
          </a:p>
        </p:txBody>
      </p:sp>
      <p:sp>
        <p:nvSpPr>
          <p:cNvPr id="23595" name="Text Box 46"/>
          <p:cNvSpPr txBox="1">
            <a:spLocks noChangeArrowheads="1"/>
          </p:cNvSpPr>
          <p:nvPr/>
        </p:nvSpPr>
        <p:spPr bwMode="auto">
          <a:xfrm>
            <a:off x="4746625" y="2019303"/>
            <a:ext cx="246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a</a:t>
            </a:r>
            <a:r>
              <a:rPr lang="en-US" sz="2000" baseline="-25000"/>
              <a:t>2</a:t>
            </a:r>
          </a:p>
        </p:txBody>
      </p:sp>
      <p:sp>
        <p:nvSpPr>
          <p:cNvPr id="23596" name="Text Box 47"/>
          <p:cNvSpPr txBox="1">
            <a:spLocks noChangeArrowheads="1"/>
          </p:cNvSpPr>
          <p:nvPr/>
        </p:nvSpPr>
        <p:spPr bwMode="auto">
          <a:xfrm>
            <a:off x="5235575" y="2019303"/>
            <a:ext cx="256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b</a:t>
            </a:r>
            <a:r>
              <a:rPr lang="en-US" sz="2000" baseline="-25000"/>
              <a:t>2</a:t>
            </a:r>
          </a:p>
        </p:txBody>
      </p:sp>
      <p:sp>
        <p:nvSpPr>
          <p:cNvPr id="23597" name="Text Box 48"/>
          <p:cNvSpPr txBox="1">
            <a:spLocks noChangeArrowheads="1"/>
          </p:cNvSpPr>
          <p:nvPr/>
        </p:nvSpPr>
        <p:spPr bwMode="auto">
          <a:xfrm>
            <a:off x="4959353" y="4354516"/>
            <a:ext cx="2821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2</a:t>
            </a:r>
          </a:p>
        </p:txBody>
      </p:sp>
      <p:sp>
        <p:nvSpPr>
          <p:cNvPr id="4" name="Line 49"/>
          <p:cNvSpPr>
            <a:spLocks noChangeShapeType="1"/>
          </p:cNvSpPr>
          <p:nvPr/>
        </p:nvSpPr>
        <p:spPr bwMode="auto">
          <a:xfrm rot="-5400000">
            <a:off x="4337051" y="3089278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99" name="Text Box 50"/>
          <p:cNvSpPr txBox="1">
            <a:spLocks noChangeArrowheads="1"/>
          </p:cNvSpPr>
          <p:nvPr/>
        </p:nvSpPr>
        <p:spPr bwMode="auto">
          <a:xfrm>
            <a:off x="4206875" y="2992441"/>
            <a:ext cx="2628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C</a:t>
            </a:r>
            <a:r>
              <a:rPr lang="en-US" sz="2000" baseline="-25000"/>
              <a:t>3</a:t>
            </a:r>
          </a:p>
        </p:txBody>
      </p:sp>
      <p:sp>
        <p:nvSpPr>
          <p:cNvPr id="28690" name="Rectangle 52"/>
          <p:cNvSpPr>
            <a:spLocks noChangeArrowheads="1"/>
          </p:cNvSpPr>
          <p:nvPr/>
        </p:nvSpPr>
        <p:spPr bwMode="auto">
          <a:xfrm>
            <a:off x="3046416" y="2874963"/>
            <a:ext cx="1025525" cy="958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FA</a:t>
            </a:r>
          </a:p>
        </p:txBody>
      </p:sp>
      <p:sp>
        <p:nvSpPr>
          <p:cNvPr id="6" name="Line 53"/>
          <p:cNvSpPr>
            <a:spLocks noChangeShapeType="1"/>
          </p:cNvSpPr>
          <p:nvPr/>
        </p:nvSpPr>
        <p:spPr bwMode="auto">
          <a:xfrm>
            <a:off x="3795713" y="2344741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692" name="Line 54"/>
          <p:cNvSpPr>
            <a:spLocks noChangeShapeType="1"/>
          </p:cNvSpPr>
          <p:nvPr/>
        </p:nvSpPr>
        <p:spPr bwMode="auto">
          <a:xfrm>
            <a:off x="3308350" y="2344741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603" name="Text Box 55"/>
          <p:cNvSpPr txBox="1">
            <a:spLocks noChangeArrowheads="1"/>
          </p:cNvSpPr>
          <p:nvPr/>
        </p:nvSpPr>
        <p:spPr bwMode="auto">
          <a:xfrm>
            <a:off x="3254375" y="2911475"/>
            <a:ext cx="10579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x</a:t>
            </a:r>
          </a:p>
        </p:txBody>
      </p:sp>
      <p:sp>
        <p:nvSpPr>
          <p:cNvPr id="23604" name="Text Box 56"/>
          <p:cNvSpPr txBox="1">
            <a:spLocks noChangeArrowheads="1"/>
          </p:cNvSpPr>
          <p:nvPr/>
        </p:nvSpPr>
        <p:spPr bwMode="auto">
          <a:xfrm>
            <a:off x="3743325" y="2878138"/>
            <a:ext cx="9938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y</a:t>
            </a:r>
          </a:p>
        </p:txBody>
      </p:sp>
      <p:sp>
        <p:nvSpPr>
          <p:cNvPr id="23605" name="Text Box 57"/>
          <p:cNvSpPr txBox="1">
            <a:spLocks noChangeArrowheads="1"/>
          </p:cNvSpPr>
          <p:nvPr/>
        </p:nvSpPr>
        <p:spPr bwMode="auto">
          <a:xfrm>
            <a:off x="3922713" y="3257550"/>
            <a:ext cx="9618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z</a:t>
            </a:r>
          </a:p>
        </p:txBody>
      </p:sp>
      <p:sp>
        <p:nvSpPr>
          <p:cNvPr id="8" name="Line 58"/>
          <p:cNvSpPr>
            <a:spLocks noChangeShapeType="1"/>
          </p:cNvSpPr>
          <p:nvPr/>
        </p:nvSpPr>
        <p:spPr bwMode="auto">
          <a:xfrm>
            <a:off x="3524250" y="3833816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607" name="Text Box 59"/>
          <p:cNvSpPr txBox="1">
            <a:spLocks noChangeArrowheads="1"/>
          </p:cNvSpPr>
          <p:nvPr/>
        </p:nvSpPr>
        <p:spPr bwMode="auto">
          <a:xfrm>
            <a:off x="3086100" y="3276600"/>
            <a:ext cx="11060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C</a:t>
            </a:r>
          </a:p>
        </p:txBody>
      </p:sp>
      <p:sp>
        <p:nvSpPr>
          <p:cNvPr id="23608" name="Text Box 60"/>
          <p:cNvSpPr txBox="1">
            <a:spLocks noChangeArrowheads="1"/>
          </p:cNvSpPr>
          <p:nvPr/>
        </p:nvSpPr>
        <p:spPr bwMode="auto">
          <a:xfrm>
            <a:off x="3471863" y="3594100"/>
            <a:ext cx="12503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/>
              <a:t>S</a:t>
            </a:r>
          </a:p>
        </p:txBody>
      </p:sp>
      <p:sp>
        <p:nvSpPr>
          <p:cNvPr id="23609" name="Text Box 61"/>
          <p:cNvSpPr txBox="1">
            <a:spLocks noChangeArrowheads="1"/>
          </p:cNvSpPr>
          <p:nvPr/>
        </p:nvSpPr>
        <p:spPr bwMode="auto">
          <a:xfrm>
            <a:off x="3190875" y="2028828"/>
            <a:ext cx="2468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a</a:t>
            </a:r>
            <a:r>
              <a:rPr lang="en-US" sz="2000" baseline="-25000"/>
              <a:t>3</a:t>
            </a:r>
          </a:p>
        </p:txBody>
      </p:sp>
      <p:sp>
        <p:nvSpPr>
          <p:cNvPr id="23610" name="Text Box 62"/>
          <p:cNvSpPr txBox="1">
            <a:spLocks noChangeArrowheads="1"/>
          </p:cNvSpPr>
          <p:nvPr/>
        </p:nvSpPr>
        <p:spPr bwMode="auto">
          <a:xfrm>
            <a:off x="3679825" y="2028828"/>
            <a:ext cx="2564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b</a:t>
            </a:r>
            <a:r>
              <a:rPr lang="en-US" sz="2000" baseline="-25000"/>
              <a:t>3</a:t>
            </a:r>
          </a:p>
        </p:txBody>
      </p:sp>
      <p:sp>
        <p:nvSpPr>
          <p:cNvPr id="23611" name="Text Box 63"/>
          <p:cNvSpPr txBox="1">
            <a:spLocks noChangeArrowheads="1"/>
          </p:cNvSpPr>
          <p:nvPr/>
        </p:nvSpPr>
        <p:spPr bwMode="auto">
          <a:xfrm>
            <a:off x="3403603" y="4364041"/>
            <a:ext cx="28212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3</a:t>
            </a:r>
          </a:p>
        </p:txBody>
      </p:sp>
      <p:sp>
        <p:nvSpPr>
          <p:cNvPr id="10" name="Line 64"/>
          <p:cNvSpPr>
            <a:spLocks noChangeShapeType="1"/>
          </p:cNvSpPr>
          <p:nvPr/>
        </p:nvSpPr>
        <p:spPr bwMode="auto">
          <a:xfrm rot="-5400000">
            <a:off x="2781301" y="3098803"/>
            <a:ext cx="0" cy="530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613" name="Text Box 65"/>
          <p:cNvSpPr txBox="1">
            <a:spLocks noChangeArrowheads="1"/>
          </p:cNvSpPr>
          <p:nvPr/>
        </p:nvSpPr>
        <p:spPr bwMode="auto">
          <a:xfrm>
            <a:off x="2651125" y="3001966"/>
            <a:ext cx="2628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C</a:t>
            </a:r>
            <a:r>
              <a:rPr lang="en-US" sz="2000" baseline="-25000"/>
              <a:t>4</a:t>
            </a:r>
          </a:p>
        </p:txBody>
      </p:sp>
      <p:sp>
        <p:nvSpPr>
          <p:cNvPr id="202818" name="Text Box 66"/>
          <p:cNvSpPr txBox="1">
            <a:spLocks noChangeArrowheads="1"/>
          </p:cNvSpPr>
          <p:nvPr/>
        </p:nvSpPr>
        <p:spPr bwMode="auto">
          <a:xfrm>
            <a:off x="4206878" y="5056191"/>
            <a:ext cx="30235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Ripple-carry adder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28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28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28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28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8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5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6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287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2000" fill="hold"/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7" dur="5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3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0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1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2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10842353" s="0" l="0"/>
                                      </p:by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0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32" grpId="0" animBg="1"/>
      <p:bldP spid="28718" grpId="0" animBg="1"/>
      <p:bldP spid="28704" grpId="0" animBg="1"/>
      <p:bldP spid="28690" grpId="0" animBg="1"/>
      <p:bldP spid="2028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152400"/>
            <a:ext cx="7772400" cy="1143000"/>
          </a:xfrm>
        </p:spPr>
        <p:txBody>
          <a:bodyPr/>
          <a:lstStyle/>
          <a:p>
            <a:r>
              <a:rPr lang="en-US" sz="3600" b="1" dirty="0"/>
              <a:t>Decoders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1371600"/>
            <a:ext cx="10729192" cy="838200"/>
          </a:xfrm>
        </p:spPr>
        <p:txBody>
          <a:bodyPr/>
          <a:lstStyle/>
          <a:p>
            <a:r>
              <a:rPr lang="en-US" sz="3200" dirty="0"/>
              <a:t>In general, for an </a:t>
            </a:r>
            <a:r>
              <a:rPr lang="en-US" sz="3200" i="1" dirty="0"/>
              <a:t>n</a:t>
            </a:r>
            <a:r>
              <a:rPr lang="en-US" sz="3200" dirty="0"/>
              <a:t>-bit code, a decoder could select up to 2</a:t>
            </a:r>
            <a:r>
              <a:rPr lang="en-US" sz="3200" i="1" baseline="30000" dirty="0"/>
              <a:t>n</a:t>
            </a:r>
            <a:r>
              <a:rPr lang="en-US" sz="3200" dirty="0"/>
              <a:t> lines: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66200" y="2667002"/>
            <a:ext cx="6535003" cy="2300785"/>
            <a:chOff x="1536" y="1680"/>
            <a:chExt cx="3552" cy="768"/>
          </a:xfrm>
        </p:grpSpPr>
        <p:sp>
          <p:nvSpPr>
            <p:cNvPr id="10245" name="Rectangle 5"/>
            <p:cNvSpPr>
              <a:spLocks noChangeArrowheads="1"/>
            </p:cNvSpPr>
            <p:nvPr/>
          </p:nvSpPr>
          <p:spPr bwMode="auto">
            <a:xfrm>
              <a:off x="2544" y="1680"/>
              <a:ext cx="1200" cy="76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>
              <a:off x="2112" y="1776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>
              <a:off x="2112" y="1920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8" name="Line 8"/>
            <p:cNvSpPr>
              <a:spLocks noChangeShapeType="1"/>
            </p:cNvSpPr>
            <p:nvPr/>
          </p:nvSpPr>
          <p:spPr bwMode="auto">
            <a:xfrm>
              <a:off x="2112" y="2304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Text Box 9"/>
            <p:cNvSpPr txBox="1">
              <a:spLocks noChangeArrowheads="1"/>
            </p:cNvSpPr>
            <p:nvPr/>
          </p:nvSpPr>
          <p:spPr bwMode="auto">
            <a:xfrm>
              <a:off x="2208" y="1968"/>
              <a:ext cx="192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sz="2000"/>
                <a:t>:</a:t>
              </a:r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>
              <a:off x="3744" y="1728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>
              <a:off x="3744" y="1872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>
              <a:off x="3744" y="2352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3" name="Text Box 13"/>
            <p:cNvSpPr txBox="1">
              <a:spLocks noChangeArrowheads="1"/>
            </p:cNvSpPr>
            <p:nvPr/>
          </p:nvSpPr>
          <p:spPr bwMode="auto">
            <a:xfrm>
              <a:off x="3840" y="2016"/>
              <a:ext cx="192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GB" sz="2000"/>
                <a:t>:</a:t>
              </a:r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>
              <a:off x="3744" y="1824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>
              <a:off x="3744" y="1776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auto">
            <a:xfrm>
              <a:off x="3744" y="1920"/>
              <a:ext cx="432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7" name="Text Box 17"/>
            <p:cNvSpPr txBox="1">
              <a:spLocks noChangeArrowheads="1"/>
            </p:cNvSpPr>
            <p:nvPr/>
          </p:nvSpPr>
          <p:spPr bwMode="auto">
            <a:xfrm>
              <a:off x="1536" y="1824"/>
              <a:ext cx="672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GB" sz="2000" i="1"/>
                <a:t>n</a:t>
              </a:r>
              <a:r>
                <a:rPr lang="en-GB" sz="2000"/>
                <a:t>-bit</a:t>
              </a:r>
            </a:p>
            <a:p>
              <a:pPr algn="ctr" eaLnBrk="0" hangingPunct="0"/>
              <a:r>
                <a:rPr lang="en-GB" sz="2000"/>
                <a:t>code</a:t>
              </a:r>
              <a:endParaRPr lang="en-GB"/>
            </a:p>
          </p:txBody>
        </p:sp>
        <p:sp>
          <p:nvSpPr>
            <p:cNvPr id="10258" name="Text Box 18"/>
            <p:cNvSpPr txBox="1">
              <a:spLocks noChangeArrowheads="1"/>
            </p:cNvSpPr>
            <p:nvPr/>
          </p:nvSpPr>
          <p:spPr bwMode="auto">
            <a:xfrm>
              <a:off x="2688" y="1824"/>
              <a:ext cx="960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GB" sz="2000" i="1"/>
                <a:t>n</a:t>
              </a:r>
              <a:r>
                <a:rPr lang="en-GB" sz="2000"/>
                <a:t> to 2</a:t>
              </a:r>
              <a:r>
                <a:rPr lang="en-GB" sz="2000" i="1" baseline="30000"/>
                <a:t>n</a:t>
              </a:r>
              <a:endParaRPr lang="en-GB" sz="2000"/>
            </a:p>
            <a:p>
              <a:pPr algn="ctr" eaLnBrk="0" hangingPunct="0"/>
              <a:r>
                <a:rPr lang="en-GB" sz="2000"/>
                <a:t>decoder</a:t>
              </a:r>
              <a:endParaRPr lang="en-GB"/>
            </a:p>
          </p:txBody>
        </p:sp>
        <p:sp>
          <p:nvSpPr>
            <p:cNvPr id="10259" name="Text Box 19"/>
            <p:cNvSpPr txBox="1">
              <a:spLocks noChangeArrowheads="1"/>
            </p:cNvSpPr>
            <p:nvPr/>
          </p:nvSpPr>
          <p:spPr bwMode="auto">
            <a:xfrm>
              <a:off x="4128" y="1824"/>
              <a:ext cx="960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n-GB" sz="2000"/>
                <a:t>2</a:t>
              </a:r>
              <a:r>
                <a:rPr lang="en-GB" sz="2000" i="1" baseline="30000"/>
                <a:t>n</a:t>
              </a:r>
              <a:endParaRPr lang="en-GB" sz="2000"/>
            </a:p>
            <a:p>
              <a:pPr algn="ctr" eaLnBrk="0" hangingPunct="0"/>
              <a:r>
                <a:rPr lang="en-GB" sz="2000"/>
                <a:t>output lines</a:t>
              </a:r>
              <a:endParaRPr lang="en-GB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AutoShape 229"/>
          <p:cNvSpPr>
            <a:spLocks noChangeAspect="1" noChangeArrowheads="1" noTextEdit="1"/>
          </p:cNvSpPr>
          <p:nvPr/>
        </p:nvSpPr>
        <p:spPr bwMode="auto">
          <a:xfrm>
            <a:off x="2514603" y="2143350"/>
            <a:ext cx="7248525" cy="375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5458" y="532038"/>
            <a:ext cx="7772400" cy="5027612"/>
          </a:xfrm>
        </p:spPr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2-to-4-Line Decoder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600" dirty="0"/>
          </a:p>
          <a:p>
            <a:endParaRPr lang="en-US" sz="1200" dirty="0"/>
          </a:p>
        </p:txBody>
      </p:sp>
      <p:grpSp>
        <p:nvGrpSpPr>
          <p:cNvPr id="2" name="Group 228"/>
          <p:cNvGrpSpPr>
            <a:grpSpLocks/>
          </p:cNvGrpSpPr>
          <p:nvPr/>
        </p:nvGrpSpPr>
        <p:grpSpPr bwMode="auto">
          <a:xfrm>
            <a:off x="5792788" y="2133828"/>
            <a:ext cx="2597150" cy="3541713"/>
            <a:chOff x="2689" y="1774"/>
            <a:chExt cx="1636" cy="2231"/>
          </a:xfrm>
        </p:grpSpPr>
        <p:sp>
          <p:nvSpPr>
            <p:cNvPr id="10357" name="Rectangle 8"/>
            <p:cNvSpPr>
              <a:spLocks noChangeArrowheads="1"/>
            </p:cNvSpPr>
            <p:nvPr/>
          </p:nvSpPr>
          <p:spPr bwMode="auto">
            <a:xfrm>
              <a:off x="3968" y="2305"/>
              <a:ext cx="357" cy="1700"/>
            </a:xfrm>
            <a:prstGeom prst="rect">
              <a:avLst/>
            </a:prstGeom>
            <a:solidFill>
              <a:srgbClr val="00FFCC"/>
            </a:solidFill>
            <a:ln w="9525">
              <a:solidFill>
                <a:srgbClr val="00FF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8" name="Rectangle 7"/>
            <p:cNvSpPr>
              <a:spLocks noChangeArrowheads="1"/>
            </p:cNvSpPr>
            <p:nvPr/>
          </p:nvSpPr>
          <p:spPr bwMode="auto">
            <a:xfrm>
              <a:off x="2689" y="2126"/>
              <a:ext cx="1084" cy="311"/>
            </a:xfrm>
            <a:prstGeom prst="rect">
              <a:avLst/>
            </a:prstGeom>
            <a:solidFill>
              <a:srgbClr val="00FF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9" name="Rectangle 6"/>
            <p:cNvSpPr>
              <a:spLocks noChangeArrowheads="1"/>
            </p:cNvSpPr>
            <p:nvPr/>
          </p:nvSpPr>
          <p:spPr bwMode="auto">
            <a:xfrm>
              <a:off x="2917" y="1774"/>
              <a:ext cx="1087" cy="291"/>
            </a:xfrm>
            <a:prstGeom prst="rect">
              <a:avLst/>
            </a:prstGeom>
            <a:solidFill>
              <a:srgbClr val="00FF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 Example</a:t>
            </a:r>
          </a:p>
        </p:txBody>
      </p:sp>
      <p:sp>
        <p:nvSpPr>
          <p:cNvPr id="10248" name="Line 231"/>
          <p:cNvSpPr>
            <a:spLocks noChangeShapeType="1"/>
          </p:cNvSpPr>
          <p:nvPr/>
        </p:nvSpPr>
        <p:spPr bwMode="auto">
          <a:xfrm>
            <a:off x="2524125" y="2943450"/>
            <a:ext cx="2451100" cy="1588"/>
          </a:xfrm>
          <a:prstGeom prst="line">
            <a:avLst/>
          </a:prstGeom>
          <a:noFill/>
          <a:ln w="11113">
            <a:solidFill>
              <a:srgbClr val="00A0C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Rectangle 232"/>
          <p:cNvSpPr>
            <a:spLocks noChangeArrowheads="1"/>
          </p:cNvSpPr>
          <p:nvPr/>
        </p:nvSpPr>
        <p:spPr bwMode="auto">
          <a:xfrm>
            <a:off x="2576513" y="25672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A</a:t>
            </a:r>
            <a:endParaRPr lang="en-US"/>
          </a:p>
        </p:txBody>
      </p:sp>
      <p:sp>
        <p:nvSpPr>
          <p:cNvPr id="10250" name="Rectangle 233"/>
          <p:cNvSpPr>
            <a:spLocks noChangeArrowheads="1"/>
          </p:cNvSpPr>
          <p:nvPr/>
        </p:nvSpPr>
        <p:spPr bwMode="auto">
          <a:xfrm>
            <a:off x="2735263" y="267040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51" name="Rectangle 234"/>
          <p:cNvSpPr>
            <a:spLocks noChangeArrowheads="1"/>
          </p:cNvSpPr>
          <p:nvPr/>
        </p:nvSpPr>
        <p:spPr bwMode="auto">
          <a:xfrm>
            <a:off x="2641600" y="30482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52" name="Rectangle 235"/>
          <p:cNvSpPr>
            <a:spLocks noChangeArrowheads="1"/>
          </p:cNvSpPr>
          <p:nvPr/>
        </p:nvSpPr>
        <p:spPr bwMode="auto">
          <a:xfrm>
            <a:off x="2641600" y="33260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53" name="Rectangle 236"/>
          <p:cNvSpPr>
            <a:spLocks noChangeArrowheads="1"/>
          </p:cNvSpPr>
          <p:nvPr/>
        </p:nvSpPr>
        <p:spPr bwMode="auto">
          <a:xfrm>
            <a:off x="2641600" y="36070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54" name="Rectangle 237"/>
          <p:cNvSpPr>
            <a:spLocks noChangeArrowheads="1"/>
          </p:cNvSpPr>
          <p:nvPr/>
        </p:nvSpPr>
        <p:spPr bwMode="auto">
          <a:xfrm>
            <a:off x="2641600" y="38848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55" name="Rectangle 238"/>
          <p:cNvSpPr>
            <a:spLocks noChangeArrowheads="1"/>
          </p:cNvSpPr>
          <p:nvPr/>
        </p:nvSpPr>
        <p:spPr bwMode="auto">
          <a:xfrm>
            <a:off x="2933700" y="25672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A</a:t>
            </a:r>
            <a:endParaRPr lang="en-US"/>
          </a:p>
        </p:txBody>
      </p:sp>
      <p:sp>
        <p:nvSpPr>
          <p:cNvPr id="10256" name="Rectangle 239"/>
          <p:cNvSpPr>
            <a:spLocks noChangeArrowheads="1"/>
          </p:cNvSpPr>
          <p:nvPr/>
        </p:nvSpPr>
        <p:spPr bwMode="auto">
          <a:xfrm>
            <a:off x="3092450" y="267040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57" name="Rectangle 240"/>
          <p:cNvSpPr>
            <a:spLocks noChangeArrowheads="1"/>
          </p:cNvSpPr>
          <p:nvPr/>
        </p:nvSpPr>
        <p:spPr bwMode="auto">
          <a:xfrm>
            <a:off x="2998788" y="30482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58" name="Rectangle 241"/>
          <p:cNvSpPr>
            <a:spLocks noChangeArrowheads="1"/>
          </p:cNvSpPr>
          <p:nvPr/>
        </p:nvSpPr>
        <p:spPr bwMode="auto">
          <a:xfrm>
            <a:off x="2998788" y="33260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59" name="Rectangle 242"/>
          <p:cNvSpPr>
            <a:spLocks noChangeArrowheads="1"/>
          </p:cNvSpPr>
          <p:nvPr/>
        </p:nvSpPr>
        <p:spPr bwMode="auto">
          <a:xfrm>
            <a:off x="2998788" y="36070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60" name="Rectangle 243"/>
          <p:cNvSpPr>
            <a:spLocks noChangeArrowheads="1"/>
          </p:cNvSpPr>
          <p:nvPr/>
        </p:nvSpPr>
        <p:spPr bwMode="auto">
          <a:xfrm>
            <a:off x="2998788" y="38848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61" name="Rectangle 244"/>
          <p:cNvSpPr>
            <a:spLocks noChangeArrowheads="1"/>
          </p:cNvSpPr>
          <p:nvPr/>
        </p:nvSpPr>
        <p:spPr bwMode="auto">
          <a:xfrm>
            <a:off x="3446463" y="25672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262" name="Rectangle 245"/>
          <p:cNvSpPr>
            <a:spLocks noChangeArrowheads="1"/>
          </p:cNvSpPr>
          <p:nvPr/>
        </p:nvSpPr>
        <p:spPr bwMode="auto">
          <a:xfrm>
            <a:off x="3605213" y="267040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63" name="Rectangle 246"/>
          <p:cNvSpPr>
            <a:spLocks noChangeArrowheads="1"/>
          </p:cNvSpPr>
          <p:nvPr/>
        </p:nvSpPr>
        <p:spPr bwMode="auto">
          <a:xfrm>
            <a:off x="3511550" y="30482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64" name="Rectangle 247"/>
          <p:cNvSpPr>
            <a:spLocks noChangeArrowheads="1"/>
          </p:cNvSpPr>
          <p:nvPr/>
        </p:nvSpPr>
        <p:spPr bwMode="auto">
          <a:xfrm>
            <a:off x="3511550" y="33260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65" name="Rectangle 248"/>
          <p:cNvSpPr>
            <a:spLocks noChangeArrowheads="1"/>
          </p:cNvSpPr>
          <p:nvPr/>
        </p:nvSpPr>
        <p:spPr bwMode="auto">
          <a:xfrm>
            <a:off x="3511550" y="36070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66" name="Rectangle 249"/>
          <p:cNvSpPr>
            <a:spLocks noChangeArrowheads="1"/>
          </p:cNvSpPr>
          <p:nvPr/>
        </p:nvSpPr>
        <p:spPr bwMode="auto">
          <a:xfrm>
            <a:off x="3511550" y="38848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67" name="Rectangle 250"/>
          <p:cNvSpPr>
            <a:spLocks noChangeArrowheads="1"/>
          </p:cNvSpPr>
          <p:nvPr/>
        </p:nvSpPr>
        <p:spPr bwMode="auto">
          <a:xfrm>
            <a:off x="3803650" y="25672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268" name="Rectangle 251"/>
          <p:cNvSpPr>
            <a:spLocks noChangeArrowheads="1"/>
          </p:cNvSpPr>
          <p:nvPr/>
        </p:nvSpPr>
        <p:spPr bwMode="auto">
          <a:xfrm>
            <a:off x="3963988" y="267040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69" name="Rectangle 252"/>
          <p:cNvSpPr>
            <a:spLocks noChangeArrowheads="1"/>
          </p:cNvSpPr>
          <p:nvPr/>
        </p:nvSpPr>
        <p:spPr bwMode="auto">
          <a:xfrm>
            <a:off x="3868738" y="30482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70" name="Rectangle 253"/>
          <p:cNvSpPr>
            <a:spLocks noChangeArrowheads="1"/>
          </p:cNvSpPr>
          <p:nvPr/>
        </p:nvSpPr>
        <p:spPr bwMode="auto">
          <a:xfrm>
            <a:off x="3868738" y="33260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71" name="Rectangle 254"/>
          <p:cNvSpPr>
            <a:spLocks noChangeArrowheads="1"/>
          </p:cNvSpPr>
          <p:nvPr/>
        </p:nvSpPr>
        <p:spPr bwMode="auto">
          <a:xfrm>
            <a:off x="3868738" y="36070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72" name="Rectangle 255"/>
          <p:cNvSpPr>
            <a:spLocks noChangeArrowheads="1"/>
          </p:cNvSpPr>
          <p:nvPr/>
        </p:nvSpPr>
        <p:spPr bwMode="auto">
          <a:xfrm>
            <a:off x="3868738" y="38848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73" name="Line 256"/>
          <p:cNvSpPr>
            <a:spLocks noChangeShapeType="1"/>
          </p:cNvSpPr>
          <p:nvPr/>
        </p:nvSpPr>
        <p:spPr bwMode="auto">
          <a:xfrm>
            <a:off x="3298825" y="2613253"/>
            <a:ext cx="1588" cy="1598613"/>
          </a:xfrm>
          <a:prstGeom prst="line">
            <a:avLst/>
          </a:prstGeom>
          <a:noFill/>
          <a:ln w="11113">
            <a:solidFill>
              <a:srgbClr val="00A0C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74" name="Rectangle 257"/>
          <p:cNvSpPr>
            <a:spLocks noChangeArrowheads="1"/>
          </p:cNvSpPr>
          <p:nvPr/>
        </p:nvSpPr>
        <p:spPr bwMode="auto">
          <a:xfrm>
            <a:off x="4171950" y="25672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275" name="Rectangle 258"/>
          <p:cNvSpPr>
            <a:spLocks noChangeArrowheads="1"/>
          </p:cNvSpPr>
          <p:nvPr/>
        </p:nvSpPr>
        <p:spPr bwMode="auto">
          <a:xfrm>
            <a:off x="4332288" y="267040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2</a:t>
            </a:r>
            <a:endParaRPr lang="en-US"/>
          </a:p>
        </p:txBody>
      </p:sp>
      <p:sp>
        <p:nvSpPr>
          <p:cNvPr id="10276" name="Rectangle 259"/>
          <p:cNvSpPr>
            <a:spLocks noChangeArrowheads="1"/>
          </p:cNvSpPr>
          <p:nvPr/>
        </p:nvSpPr>
        <p:spPr bwMode="auto">
          <a:xfrm>
            <a:off x="4238625" y="30482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77" name="Rectangle 260"/>
          <p:cNvSpPr>
            <a:spLocks noChangeArrowheads="1"/>
          </p:cNvSpPr>
          <p:nvPr/>
        </p:nvSpPr>
        <p:spPr bwMode="auto">
          <a:xfrm>
            <a:off x="4238625" y="33260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78" name="Rectangle 261"/>
          <p:cNvSpPr>
            <a:spLocks noChangeArrowheads="1"/>
          </p:cNvSpPr>
          <p:nvPr/>
        </p:nvSpPr>
        <p:spPr bwMode="auto">
          <a:xfrm>
            <a:off x="4238625" y="36070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79" name="Rectangle 262"/>
          <p:cNvSpPr>
            <a:spLocks noChangeArrowheads="1"/>
          </p:cNvSpPr>
          <p:nvPr/>
        </p:nvSpPr>
        <p:spPr bwMode="auto">
          <a:xfrm>
            <a:off x="4238625" y="38848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80" name="Rectangle 263"/>
          <p:cNvSpPr>
            <a:spLocks noChangeArrowheads="1"/>
          </p:cNvSpPr>
          <p:nvPr/>
        </p:nvSpPr>
        <p:spPr bwMode="auto">
          <a:xfrm>
            <a:off x="4530725" y="25672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281" name="Rectangle 264"/>
          <p:cNvSpPr>
            <a:spLocks noChangeArrowheads="1"/>
          </p:cNvSpPr>
          <p:nvPr/>
        </p:nvSpPr>
        <p:spPr bwMode="auto">
          <a:xfrm>
            <a:off x="4689475" y="267040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3</a:t>
            </a:r>
            <a:endParaRPr lang="en-US"/>
          </a:p>
        </p:txBody>
      </p:sp>
      <p:sp>
        <p:nvSpPr>
          <p:cNvPr id="10282" name="Rectangle 265"/>
          <p:cNvSpPr>
            <a:spLocks noChangeArrowheads="1"/>
          </p:cNvSpPr>
          <p:nvPr/>
        </p:nvSpPr>
        <p:spPr bwMode="auto">
          <a:xfrm>
            <a:off x="4595813" y="30482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83" name="Rectangle 266"/>
          <p:cNvSpPr>
            <a:spLocks noChangeArrowheads="1"/>
          </p:cNvSpPr>
          <p:nvPr/>
        </p:nvSpPr>
        <p:spPr bwMode="auto">
          <a:xfrm>
            <a:off x="4595813" y="33260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84" name="Rectangle 267"/>
          <p:cNvSpPr>
            <a:spLocks noChangeArrowheads="1"/>
          </p:cNvSpPr>
          <p:nvPr/>
        </p:nvSpPr>
        <p:spPr bwMode="auto">
          <a:xfrm>
            <a:off x="4595813" y="3607025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285" name="Rectangle 268"/>
          <p:cNvSpPr>
            <a:spLocks noChangeArrowheads="1"/>
          </p:cNvSpPr>
          <p:nvPr/>
        </p:nvSpPr>
        <p:spPr bwMode="auto">
          <a:xfrm>
            <a:off x="4595813" y="3884838"/>
            <a:ext cx="952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286" name="Rectangle 269"/>
          <p:cNvSpPr>
            <a:spLocks noChangeArrowheads="1"/>
          </p:cNvSpPr>
          <p:nvPr/>
        </p:nvSpPr>
        <p:spPr bwMode="auto">
          <a:xfrm>
            <a:off x="3578225" y="4326163"/>
            <a:ext cx="22442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(a)</a:t>
            </a:r>
            <a:endParaRPr lang="en-US"/>
          </a:p>
        </p:txBody>
      </p:sp>
      <p:sp>
        <p:nvSpPr>
          <p:cNvPr id="10287" name="Freeform 270"/>
          <p:cNvSpPr>
            <a:spLocks/>
          </p:cNvSpPr>
          <p:nvPr/>
        </p:nvSpPr>
        <p:spPr bwMode="auto">
          <a:xfrm>
            <a:off x="5535613" y="2343378"/>
            <a:ext cx="2362200" cy="2225675"/>
          </a:xfrm>
          <a:custGeom>
            <a:avLst/>
            <a:gdLst>
              <a:gd name="T0" fmla="*/ 0 w 1488"/>
              <a:gd name="T1" fmla="*/ 0 h 1402"/>
              <a:gd name="T2" fmla="*/ 1401 w 1488"/>
              <a:gd name="T3" fmla="*/ 0 h 1402"/>
              <a:gd name="T4" fmla="*/ 1399 w 1488"/>
              <a:gd name="T5" fmla="*/ 1402 h 1402"/>
              <a:gd name="T6" fmla="*/ 1488 w 1488"/>
              <a:gd name="T7" fmla="*/ 1402 h 1402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1402"/>
              <a:gd name="T14" fmla="*/ 1488 w 1488"/>
              <a:gd name="T15" fmla="*/ 1402 h 14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1402">
                <a:moveTo>
                  <a:pt x="0" y="0"/>
                </a:moveTo>
                <a:lnTo>
                  <a:pt x="1401" y="0"/>
                </a:lnTo>
                <a:lnTo>
                  <a:pt x="1399" y="1402"/>
                </a:lnTo>
                <a:lnTo>
                  <a:pt x="1488" y="1402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8" name="Freeform 271"/>
          <p:cNvSpPr>
            <a:spLocks/>
          </p:cNvSpPr>
          <p:nvPr/>
        </p:nvSpPr>
        <p:spPr bwMode="auto">
          <a:xfrm>
            <a:off x="6245225" y="2343378"/>
            <a:ext cx="1652588" cy="2919413"/>
          </a:xfrm>
          <a:custGeom>
            <a:avLst/>
            <a:gdLst>
              <a:gd name="T0" fmla="*/ 0 w 1041"/>
              <a:gd name="T1" fmla="*/ 0 h 1839"/>
              <a:gd name="T2" fmla="*/ 0 w 1041"/>
              <a:gd name="T3" fmla="*/ 1839 h 1839"/>
              <a:gd name="T4" fmla="*/ 1041 w 1041"/>
              <a:gd name="T5" fmla="*/ 1839 h 1839"/>
              <a:gd name="T6" fmla="*/ 0 60000 65536"/>
              <a:gd name="T7" fmla="*/ 0 60000 65536"/>
              <a:gd name="T8" fmla="*/ 0 60000 65536"/>
              <a:gd name="T9" fmla="*/ 0 w 1041"/>
              <a:gd name="T10" fmla="*/ 0 h 1839"/>
              <a:gd name="T11" fmla="*/ 1041 w 1041"/>
              <a:gd name="T12" fmla="*/ 1839 h 18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1" h="1839">
                <a:moveTo>
                  <a:pt x="0" y="0"/>
                </a:moveTo>
                <a:lnTo>
                  <a:pt x="0" y="1839"/>
                </a:lnTo>
                <a:lnTo>
                  <a:pt x="1041" y="1839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89" name="Freeform 272"/>
          <p:cNvSpPr>
            <a:spLocks/>
          </p:cNvSpPr>
          <p:nvPr/>
        </p:nvSpPr>
        <p:spPr bwMode="auto">
          <a:xfrm>
            <a:off x="5886453" y="2913291"/>
            <a:ext cx="2011363" cy="2541587"/>
          </a:xfrm>
          <a:custGeom>
            <a:avLst/>
            <a:gdLst>
              <a:gd name="T0" fmla="*/ 0 w 1267"/>
              <a:gd name="T1" fmla="*/ 0 h 1601"/>
              <a:gd name="T2" fmla="*/ 0 w 1267"/>
              <a:gd name="T3" fmla="*/ 1601 h 1601"/>
              <a:gd name="T4" fmla="*/ 1267 w 1267"/>
              <a:gd name="T5" fmla="*/ 1601 h 1601"/>
              <a:gd name="T6" fmla="*/ 0 60000 65536"/>
              <a:gd name="T7" fmla="*/ 0 60000 65536"/>
              <a:gd name="T8" fmla="*/ 0 60000 65536"/>
              <a:gd name="T9" fmla="*/ 0 w 1267"/>
              <a:gd name="T10" fmla="*/ 0 h 1601"/>
              <a:gd name="T11" fmla="*/ 1267 w 1267"/>
              <a:gd name="T12" fmla="*/ 1601 h 16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67" h="1601">
                <a:moveTo>
                  <a:pt x="0" y="0"/>
                </a:moveTo>
                <a:lnTo>
                  <a:pt x="0" y="1601"/>
                </a:lnTo>
                <a:lnTo>
                  <a:pt x="1267" y="1601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0" name="Line 273"/>
          <p:cNvSpPr>
            <a:spLocks noChangeShapeType="1"/>
          </p:cNvSpPr>
          <p:nvPr/>
        </p:nvSpPr>
        <p:spPr bwMode="auto">
          <a:xfrm flipH="1">
            <a:off x="5886453" y="4759550"/>
            <a:ext cx="2011363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1" name="Line 274"/>
          <p:cNvSpPr>
            <a:spLocks noChangeShapeType="1"/>
          </p:cNvSpPr>
          <p:nvPr/>
        </p:nvSpPr>
        <p:spPr bwMode="auto">
          <a:xfrm flipH="1">
            <a:off x="6245225" y="3873725"/>
            <a:ext cx="1652588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2" name="Line 275"/>
          <p:cNvSpPr>
            <a:spLocks noChangeShapeType="1"/>
          </p:cNvSpPr>
          <p:nvPr/>
        </p:nvSpPr>
        <p:spPr bwMode="auto">
          <a:xfrm flipH="1">
            <a:off x="7415213" y="3370491"/>
            <a:ext cx="482600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3" name="Line 276"/>
          <p:cNvSpPr>
            <a:spLocks noChangeShapeType="1"/>
          </p:cNvSpPr>
          <p:nvPr/>
        </p:nvSpPr>
        <p:spPr bwMode="auto">
          <a:xfrm flipH="1">
            <a:off x="7759703" y="3179991"/>
            <a:ext cx="138113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4" name="Freeform 277"/>
          <p:cNvSpPr>
            <a:spLocks/>
          </p:cNvSpPr>
          <p:nvPr/>
        </p:nvSpPr>
        <p:spPr bwMode="auto">
          <a:xfrm>
            <a:off x="6657978" y="2163988"/>
            <a:ext cx="290513" cy="368300"/>
          </a:xfrm>
          <a:custGeom>
            <a:avLst/>
            <a:gdLst>
              <a:gd name="T0" fmla="*/ 0 w 183"/>
              <a:gd name="T1" fmla="*/ 0 h 232"/>
              <a:gd name="T2" fmla="*/ 0 w 183"/>
              <a:gd name="T3" fmla="*/ 232 h 232"/>
              <a:gd name="T4" fmla="*/ 183 w 183"/>
              <a:gd name="T5" fmla="*/ 113 h 232"/>
              <a:gd name="T6" fmla="*/ 0 w 183"/>
              <a:gd name="T7" fmla="*/ 0 h 232"/>
              <a:gd name="T8" fmla="*/ 0 w 183"/>
              <a:gd name="T9" fmla="*/ 0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3"/>
              <a:gd name="T16" fmla="*/ 0 h 232"/>
              <a:gd name="T17" fmla="*/ 183 w 183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3" h="232">
                <a:moveTo>
                  <a:pt x="0" y="0"/>
                </a:moveTo>
                <a:lnTo>
                  <a:pt x="0" y="232"/>
                </a:lnTo>
                <a:lnTo>
                  <a:pt x="183" y="1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5" name="Oval 278"/>
          <p:cNvSpPr>
            <a:spLocks noChangeArrowheads="1"/>
          </p:cNvSpPr>
          <p:nvPr/>
        </p:nvSpPr>
        <p:spPr bwMode="auto">
          <a:xfrm>
            <a:off x="6948488" y="2284638"/>
            <a:ext cx="120650" cy="11906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6" name="Freeform 279"/>
          <p:cNvSpPr>
            <a:spLocks/>
          </p:cNvSpPr>
          <p:nvPr/>
        </p:nvSpPr>
        <p:spPr bwMode="auto">
          <a:xfrm>
            <a:off x="7897816" y="3106963"/>
            <a:ext cx="401637" cy="336550"/>
          </a:xfrm>
          <a:custGeom>
            <a:avLst/>
            <a:gdLst>
              <a:gd name="T0" fmla="*/ 0 w 134"/>
              <a:gd name="T1" fmla="*/ 112 h 112"/>
              <a:gd name="T2" fmla="*/ 0 w 134"/>
              <a:gd name="T3" fmla="*/ 0 h 112"/>
              <a:gd name="T4" fmla="*/ 78 w 134"/>
              <a:gd name="T5" fmla="*/ 0 h 112"/>
              <a:gd name="T6" fmla="*/ 134 w 134"/>
              <a:gd name="T7" fmla="*/ 55 h 112"/>
              <a:gd name="T8" fmla="*/ 79 w 134"/>
              <a:gd name="T9" fmla="*/ 112 h 112"/>
              <a:gd name="T10" fmla="*/ 0 w 134"/>
              <a:gd name="T11" fmla="*/ 112 h 1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4"/>
              <a:gd name="T19" fmla="*/ 0 h 112"/>
              <a:gd name="T20" fmla="*/ 134 w 134"/>
              <a:gd name="T21" fmla="*/ 112 h 1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4" h="112">
                <a:moveTo>
                  <a:pt x="0" y="112"/>
                </a:moveTo>
                <a:cubicBezTo>
                  <a:pt x="0" y="0"/>
                  <a:pt x="0" y="0"/>
                  <a:pt x="0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109" y="0"/>
                  <a:pt x="134" y="25"/>
                  <a:pt x="134" y="55"/>
                </a:cubicBezTo>
                <a:cubicBezTo>
                  <a:pt x="134" y="86"/>
                  <a:pt x="110" y="111"/>
                  <a:pt x="79" y="112"/>
                </a:cubicBezTo>
                <a:cubicBezTo>
                  <a:pt x="0" y="112"/>
                  <a:pt x="0" y="112"/>
                  <a:pt x="0" y="112"/>
                </a:cubicBezTo>
                <a:close/>
              </a:path>
            </a:pathLst>
          </a:custGeom>
          <a:solidFill>
            <a:srgbClr val="FFFFFF"/>
          </a:solidFill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7" name="Freeform 280"/>
          <p:cNvSpPr>
            <a:spLocks/>
          </p:cNvSpPr>
          <p:nvPr/>
        </p:nvSpPr>
        <p:spPr bwMode="auto">
          <a:xfrm>
            <a:off x="7897816" y="4496025"/>
            <a:ext cx="401637" cy="336550"/>
          </a:xfrm>
          <a:custGeom>
            <a:avLst/>
            <a:gdLst>
              <a:gd name="T0" fmla="*/ 0 w 134"/>
              <a:gd name="T1" fmla="*/ 112 h 112"/>
              <a:gd name="T2" fmla="*/ 0 w 134"/>
              <a:gd name="T3" fmla="*/ 0 h 112"/>
              <a:gd name="T4" fmla="*/ 78 w 134"/>
              <a:gd name="T5" fmla="*/ 0 h 112"/>
              <a:gd name="T6" fmla="*/ 134 w 134"/>
              <a:gd name="T7" fmla="*/ 55 h 112"/>
              <a:gd name="T8" fmla="*/ 79 w 134"/>
              <a:gd name="T9" fmla="*/ 112 h 112"/>
              <a:gd name="T10" fmla="*/ 0 w 134"/>
              <a:gd name="T11" fmla="*/ 112 h 1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4"/>
              <a:gd name="T19" fmla="*/ 0 h 112"/>
              <a:gd name="T20" fmla="*/ 134 w 134"/>
              <a:gd name="T21" fmla="*/ 112 h 1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4" h="112">
                <a:moveTo>
                  <a:pt x="0" y="112"/>
                </a:moveTo>
                <a:cubicBezTo>
                  <a:pt x="0" y="0"/>
                  <a:pt x="0" y="0"/>
                  <a:pt x="0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108" y="0"/>
                  <a:pt x="134" y="25"/>
                  <a:pt x="134" y="55"/>
                </a:cubicBezTo>
                <a:cubicBezTo>
                  <a:pt x="134" y="86"/>
                  <a:pt x="109" y="111"/>
                  <a:pt x="79" y="112"/>
                </a:cubicBezTo>
                <a:cubicBezTo>
                  <a:pt x="0" y="112"/>
                  <a:pt x="0" y="112"/>
                  <a:pt x="0" y="112"/>
                </a:cubicBezTo>
                <a:close/>
              </a:path>
            </a:pathLst>
          </a:custGeom>
          <a:solidFill>
            <a:srgbClr val="FFFFFF"/>
          </a:solidFill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8" name="Freeform 281"/>
          <p:cNvSpPr>
            <a:spLocks/>
          </p:cNvSpPr>
          <p:nvPr/>
        </p:nvSpPr>
        <p:spPr bwMode="auto">
          <a:xfrm>
            <a:off x="7897816" y="5191353"/>
            <a:ext cx="401637" cy="334963"/>
          </a:xfrm>
          <a:custGeom>
            <a:avLst/>
            <a:gdLst>
              <a:gd name="T0" fmla="*/ 0 w 134"/>
              <a:gd name="T1" fmla="*/ 112 h 112"/>
              <a:gd name="T2" fmla="*/ 0 w 134"/>
              <a:gd name="T3" fmla="*/ 0 h 112"/>
              <a:gd name="T4" fmla="*/ 78 w 134"/>
              <a:gd name="T5" fmla="*/ 0 h 112"/>
              <a:gd name="T6" fmla="*/ 134 w 134"/>
              <a:gd name="T7" fmla="*/ 55 h 112"/>
              <a:gd name="T8" fmla="*/ 79 w 134"/>
              <a:gd name="T9" fmla="*/ 112 h 112"/>
              <a:gd name="T10" fmla="*/ 0 w 134"/>
              <a:gd name="T11" fmla="*/ 112 h 1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4"/>
              <a:gd name="T19" fmla="*/ 0 h 112"/>
              <a:gd name="T20" fmla="*/ 134 w 134"/>
              <a:gd name="T21" fmla="*/ 112 h 1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4" h="112">
                <a:moveTo>
                  <a:pt x="0" y="112"/>
                </a:moveTo>
                <a:cubicBezTo>
                  <a:pt x="0" y="0"/>
                  <a:pt x="0" y="0"/>
                  <a:pt x="0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108" y="0"/>
                  <a:pt x="134" y="25"/>
                  <a:pt x="134" y="55"/>
                </a:cubicBezTo>
                <a:cubicBezTo>
                  <a:pt x="134" y="86"/>
                  <a:pt x="109" y="111"/>
                  <a:pt x="79" y="112"/>
                </a:cubicBezTo>
                <a:cubicBezTo>
                  <a:pt x="0" y="112"/>
                  <a:pt x="0" y="112"/>
                  <a:pt x="0" y="112"/>
                </a:cubicBezTo>
                <a:close/>
              </a:path>
            </a:pathLst>
          </a:custGeom>
          <a:solidFill>
            <a:srgbClr val="FFFFFF"/>
          </a:solidFill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9" name="Line 282"/>
          <p:cNvSpPr>
            <a:spLocks noChangeShapeType="1"/>
          </p:cNvSpPr>
          <p:nvPr/>
        </p:nvSpPr>
        <p:spPr bwMode="auto">
          <a:xfrm>
            <a:off x="8299450" y="3272066"/>
            <a:ext cx="433388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0" name="Line 283"/>
          <p:cNvSpPr>
            <a:spLocks noChangeShapeType="1"/>
          </p:cNvSpPr>
          <p:nvPr/>
        </p:nvSpPr>
        <p:spPr bwMode="auto">
          <a:xfrm>
            <a:off x="7735891" y="3370491"/>
            <a:ext cx="161925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1" name="Line 284"/>
          <p:cNvSpPr>
            <a:spLocks noChangeShapeType="1"/>
          </p:cNvSpPr>
          <p:nvPr/>
        </p:nvSpPr>
        <p:spPr bwMode="auto">
          <a:xfrm>
            <a:off x="8299450" y="3967391"/>
            <a:ext cx="433388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2" name="Line 285"/>
          <p:cNvSpPr>
            <a:spLocks noChangeShapeType="1"/>
          </p:cNvSpPr>
          <p:nvPr/>
        </p:nvSpPr>
        <p:spPr bwMode="auto">
          <a:xfrm>
            <a:off x="8299450" y="4661125"/>
            <a:ext cx="433388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3" name="Line 286"/>
          <p:cNvSpPr>
            <a:spLocks noChangeShapeType="1"/>
          </p:cNvSpPr>
          <p:nvPr/>
        </p:nvSpPr>
        <p:spPr bwMode="auto">
          <a:xfrm>
            <a:off x="8299450" y="5356450"/>
            <a:ext cx="433388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04" name="Rectangle 287"/>
          <p:cNvSpPr>
            <a:spLocks noChangeArrowheads="1"/>
          </p:cNvSpPr>
          <p:nvPr/>
        </p:nvSpPr>
        <p:spPr bwMode="auto">
          <a:xfrm>
            <a:off x="8777288" y="3141888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305" name="Rectangle 288"/>
          <p:cNvSpPr>
            <a:spLocks noChangeArrowheads="1"/>
          </p:cNvSpPr>
          <p:nvPr/>
        </p:nvSpPr>
        <p:spPr bwMode="auto">
          <a:xfrm>
            <a:off x="8936038" y="32355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306" name="Rectangle 289"/>
          <p:cNvSpPr>
            <a:spLocks noChangeArrowheads="1"/>
          </p:cNvSpPr>
          <p:nvPr/>
        </p:nvSpPr>
        <p:spPr bwMode="auto">
          <a:xfrm>
            <a:off x="9051925" y="3168875"/>
            <a:ext cx="9778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MathematicalPi 1" pitchFamily="82" charset="0"/>
              </a:rPr>
              <a:t>5</a:t>
            </a:r>
            <a:endParaRPr lang="en-US"/>
          </a:p>
        </p:txBody>
      </p:sp>
      <p:sp>
        <p:nvSpPr>
          <p:cNvPr id="10307" name="Rectangle 290"/>
          <p:cNvSpPr>
            <a:spLocks noChangeArrowheads="1"/>
          </p:cNvSpPr>
          <p:nvPr/>
        </p:nvSpPr>
        <p:spPr bwMode="auto">
          <a:xfrm>
            <a:off x="9210675" y="3141888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08" name="Rectangle 291"/>
          <p:cNvSpPr>
            <a:spLocks noChangeArrowheads="1"/>
          </p:cNvSpPr>
          <p:nvPr/>
        </p:nvSpPr>
        <p:spPr bwMode="auto">
          <a:xfrm>
            <a:off x="9420225" y="32355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309" name="Rectangle 292"/>
          <p:cNvSpPr>
            <a:spLocks noChangeArrowheads="1"/>
          </p:cNvSpPr>
          <p:nvPr/>
        </p:nvSpPr>
        <p:spPr bwMode="auto">
          <a:xfrm>
            <a:off x="9486900" y="3141888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10" name="Rectangle 293"/>
          <p:cNvSpPr>
            <a:spLocks noChangeArrowheads="1"/>
          </p:cNvSpPr>
          <p:nvPr/>
        </p:nvSpPr>
        <p:spPr bwMode="auto">
          <a:xfrm>
            <a:off x="9694863" y="3235550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311" name="Freeform 294"/>
          <p:cNvSpPr>
            <a:spLocks/>
          </p:cNvSpPr>
          <p:nvPr/>
        </p:nvSpPr>
        <p:spPr bwMode="auto">
          <a:xfrm>
            <a:off x="9277350" y="3143475"/>
            <a:ext cx="120650" cy="1588"/>
          </a:xfrm>
          <a:custGeom>
            <a:avLst/>
            <a:gdLst>
              <a:gd name="T0" fmla="*/ 0 w 76"/>
              <a:gd name="T1" fmla="*/ 0 h 1588"/>
              <a:gd name="T2" fmla="*/ 76 w 76"/>
              <a:gd name="T3" fmla="*/ 0 h 1588"/>
              <a:gd name="T4" fmla="*/ 0 w 76"/>
              <a:gd name="T5" fmla="*/ 0 h 1588"/>
              <a:gd name="T6" fmla="*/ 0 60000 65536"/>
              <a:gd name="T7" fmla="*/ 0 60000 65536"/>
              <a:gd name="T8" fmla="*/ 0 60000 65536"/>
              <a:gd name="T9" fmla="*/ 0 w 76"/>
              <a:gd name="T10" fmla="*/ 0 h 1588"/>
              <a:gd name="T11" fmla="*/ 76 w 7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" h="1588">
                <a:moveTo>
                  <a:pt x="0" y="0"/>
                </a:moveTo>
                <a:lnTo>
                  <a:pt x="7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2" name="Line 295"/>
          <p:cNvSpPr>
            <a:spLocks noChangeShapeType="1"/>
          </p:cNvSpPr>
          <p:nvPr/>
        </p:nvSpPr>
        <p:spPr bwMode="auto">
          <a:xfrm>
            <a:off x="9277350" y="3143475"/>
            <a:ext cx="120650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3" name="Freeform 296"/>
          <p:cNvSpPr>
            <a:spLocks/>
          </p:cNvSpPr>
          <p:nvPr/>
        </p:nvSpPr>
        <p:spPr bwMode="auto">
          <a:xfrm>
            <a:off x="9553578" y="3143475"/>
            <a:ext cx="119063" cy="1588"/>
          </a:xfrm>
          <a:custGeom>
            <a:avLst/>
            <a:gdLst>
              <a:gd name="T0" fmla="*/ 0 w 75"/>
              <a:gd name="T1" fmla="*/ 0 h 1588"/>
              <a:gd name="T2" fmla="*/ 75 w 75"/>
              <a:gd name="T3" fmla="*/ 0 h 1588"/>
              <a:gd name="T4" fmla="*/ 0 w 75"/>
              <a:gd name="T5" fmla="*/ 0 h 1588"/>
              <a:gd name="T6" fmla="*/ 0 60000 65536"/>
              <a:gd name="T7" fmla="*/ 0 60000 65536"/>
              <a:gd name="T8" fmla="*/ 0 60000 65536"/>
              <a:gd name="T9" fmla="*/ 0 w 75"/>
              <a:gd name="T10" fmla="*/ 0 h 1588"/>
              <a:gd name="T11" fmla="*/ 75 w 7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5" h="1588">
                <a:moveTo>
                  <a:pt x="0" y="0"/>
                </a:moveTo>
                <a:lnTo>
                  <a:pt x="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4" name="Line 297"/>
          <p:cNvSpPr>
            <a:spLocks noChangeShapeType="1"/>
          </p:cNvSpPr>
          <p:nvPr/>
        </p:nvSpPr>
        <p:spPr bwMode="auto">
          <a:xfrm>
            <a:off x="9553578" y="3143475"/>
            <a:ext cx="119063" cy="1588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15" name="Rectangle 298"/>
          <p:cNvSpPr>
            <a:spLocks noChangeArrowheads="1"/>
          </p:cNvSpPr>
          <p:nvPr/>
        </p:nvSpPr>
        <p:spPr bwMode="auto">
          <a:xfrm>
            <a:off x="8777288" y="3834038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316" name="Rectangle 299"/>
          <p:cNvSpPr>
            <a:spLocks noChangeArrowheads="1"/>
          </p:cNvSpPr>
          <p:nvPr/>
        </p:nvSpPr>
        <p:spPr bwMode="auto">
          <a:xfrm>
            <a:off x="8936038" y="3930875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317" name="Rectangle 300"/>
          <p:cNvSpPr>
            <a:spLocks noChangeArrowheads="1"/>
          </p:cNvSpPr>
          <p:nvPr/>
        </p:nvSpPr>
        <p:spPr bwMode="auto">
          <a:xfrm>
            <a:off x="9051925" y="3861025"/>
            <a:ext cx="9778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MathematicalPi 1" pitchFamily="82" charset="0"/>
              </a:rPr>
              <a:t>5</a:t>
            </a:r>
            <a:endParaRPr lang="en-US"/>
          </a:p>
        </p:txBody>
      </p:sp>
      <p:sp>
        <p:nvSpPr>
          <p:cNvPr id="10318" name="Rectangle 301"/>
          <p:cNvSpPr>
            <a:spLocks noChangeArrowheads="1"/>
          </p:cNvSpPr>
          <p:nvPr/>
        </p:nvSpPr>
        <p:spPr bwMode="auto">
          <a:xfrm>
            <a:off x="9210675" y="3834038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19" name="Rectangle 302"/>
          <p:cNvSpPr>
            <a:spLocks noChangeArrowheads="1"/>
          </p:cNvSpPr>
          <p:nvPr/>
        </p:nvSpPr>
        <p:spPr bwMode="auto">
          <a:xfrm>
            <a:off x="9420225" y="3930875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320" name="Rectangle 303"/>
          <p:cNvSpPr>
            <a:spLocks noChangeArrowheads="1"/>
          </p:cNvSpPr>
          <p:nvPr/>
        </p:nvSpPr>
        <p:spPr bwMode="auto">
          <a:xfrm>
            <a:off x="9486900" y="3834038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21" name="Rectangle 304"/>
          <p:cNvSpPr>
            <a:spLocks noChangeArrowheads="1"/>
          </p:cNvSpPr>
          <p:nvPr/>
        </p:nvSpPr>
        <p:spPr bwMode="auto">
          <a:xfrm>
            <a:off x="9694863" y="3930875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322" name="Freeform 305"/>
          <p:cNvSpPr>
            <a:spLocks/>
          </p:cNvSpPr>
          <p:nvPr/>
        </p:nvSpPr>
        <p:spPr bwMode="auto">
          <a:xfrm>
            <a:off x="9277350" y="3840391"/>
            <a:ext cx="120650" cy="1587"/>
          </a:xfrm>
          <a:custGeom>
            <a:avLst/>
            <a:gdLst>
              <a:gd name="T0" fmla="*/ 0 w 76"/>
              <a:gd name="T1" fmla="*/ 0 h 1587"/>
              <a:gd name="T2" fmla="*/ 76 w 76"/>
              <a:gd name="T3" fmla="*/ 0 h 1587"/>
              <a:gd name="T4" fmla="*/ 0 w 76"/>
              <a:gd name="T5" fmla="*/ 0 h 1587"/>
              <a:gd name="T6" fmla="*/ 0 60000 65536"/>
              <a:gd name="T7" fmla="*/ 0 60000 65536"/>
              <a:gd name="T8" fmla="*/ 0 60000 65536"/>
              <a:gd name="T9" fmla="*/ 0 w 76"/>
              <a:gd name="T10" fmla="*/ 0 h 1587"/>
              <a:gd name="T11" fmla="*/ 76 w 7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6" h="1587">
                <a:moveTo>
                  <a:pt x="0" y="0"/>
                </a:moveTo>
                <a:lnTo>
                  <a:pt x="7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3" name="Line 306"/>
          <p:cNvSpPr>
            <a:spLocks noChangeShapeType="1"/>
          </p:cNvSpPr>
          <p:nvPr/>
        </p:nvSpPr>
        <p:spPr bwMode="auto">
          <a:xfrm>
            <a:off x="9277350" y="3840391"/>
            <a:ext cx="120650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24" name="Rectangle 307"/>
          <p:cNvSpPr>
            <a:spLocks noChangeArrowheads="1"/>
          </p:cNvSpPr>
          <p:nvPr/>
        </p:nvSpPr>
        <p:spPr bwMode="auto">
          <a:xfrm>
            <a:off x="8777288" y="4530950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325" name="Rectangle 308"/>
          <p:cNvSpPr>
            <a:spLocks noChangeArrowheads="1"/>
          </p:cNvSpPr>
          <p:nvPr/>
        </p:nvSpPr>
        <p:spPr bwMode="auto">
          <a:xfrm>
            <a:off x="8936038" y="4627788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2</a:t>
            </a:r>
            <a:endParaRPr lang="en-US"/>
          </a:p>
        </p:txBody>
      </p:sp>
      <p:sp>
        <p:nvSpPr>
          <p:cNvPr id="10326" name="Rectangle 309"/>
          <p:cNvSpPr>
            <a:spLocks noChangeArrowheads="1"/>
          </p:cNvSpPr>
          <p:nvPr/>
        </p:nvSpPr>
        <p:spPr bwMode="auto">
          <a:xfrm>
            <a:off x="9051925" y="4557938"/>
            <a:ext cx="9778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MathematicalPi 1" pitchFamily="82" charset="0"/>
              </a:rPr>
              <a:t>5</a:t>
            </a:r>
            <a:endParaRPr lang="en-US"/>
          </a:p>
        </p:txBody>
      </p:sp>
      <p:sp>
        <p:nvSpPr>
          <p:cNvPr id="10327" name="Rectangle 310"/>
          <p:cNvSpPr>
            <a:spLocks noChangeArrowheads="1"/>
          </p:cNvSpPr>
          <p:nvPr/>
        </p:nvSpPr>
        <p:spPr bwMode="auto">
          <a:xfrm>
            <a:off x="9210675" y="4530950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28" name="Rectangle 311"/>
          <p:cNvSpPr>
            <a:spLocks noChangeArrowheads="1"/>
          </p:cNvSpPr>
          <p:nvPr/>
        </p:nvSpPr>
        <p:spPr bwMode="auto">
          <a:xfrm>
            <a:off x="9420225" y="4627788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329" name="Rectangle 312"/>
          <p:cNvSpPr>
            <a:spLocks noChangeArrowheads="1"/>
          </p:cNvSpPr>
          <p:nvPr/>
        </p:nvSpPr>
        <p:spPr bwMode="auto">
          <a:xfrm>
            <a:off x="9486900" y="4530950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30" name="Rectangle 313"/>
          <p:cNvSpPr>
            <a:spLocks noChangeArrowheads="1"/>
          </p:cNvSpPr>
          <p:nvPr/>
        </p:nvSpPr>
        <p:spPr bwMode="auto">
          <a:xfrm>
            <a:off x="9694863" y="4627788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331" name="Freeform 314"/>
          <p:cNvSpPr>
            <a:spLocks/>
          </p:cNvSpPr>
          <p:nvPr/>
        </p:nvSpPr>
        <p:spPr bwMode="auto">
          <a:xfrm>
            <a:off x="9553578" y="4535716"/>
            <a:ext cx="119063" cy="1587"/>
          </a:xfrm>
          <a:custGeom>
            <a:avLst/>
            <a:gdLst>
              <a:gd name="T0" fmla="*/ 0 w 75"/>
              <a:gd name="T1" fmla="*/ 0 h 1587"/>
              <a:gd name="T2" fmla="*/ 75 w 75"/>
              <a:gd name="T3" fmla="*/ 0 h 1587"/>
              <a:gd name="T4" fmla="*/ 0 w 75"/>
              <a:gd name="T5" fmla="*/ 0 h 1587"/>
              <a:gd name="T6" fmla="*/ 0 60000 65536"/>
              <a:gd name="T7" fmla="*/ 0 60000 65536"/>
              <a:gd name="T8" fmla="*/ 0 60000 65536"/>
              <a:gd name="T9" fmla="*/ 0 w 75"/>
              <a:gd name="T10" fmla="*/ 0 h 1587"/>
              <a:gd name="T11" fmla="*/ 75 w 75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5" h="1587">
                <a:moveTo>
                  <a:pt x="0" y="0"/>
                </a:moveTo>
                <a:lnTo>
                  <a:pt x="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2" name="Line 315"/>
          <p:cNvSpPr>
            <a:spLocks noChangeShapeType="1"/>
          </p:cNvSpPr>
          <p:nvPr/>
        </p:nvSpPr>
        <p:spPr bwMode="auto">
          <a:xfrm>
            <a:off x="9553578" y="4535716"/>
            <a:ext cx="119063" cy="1587"/>
          </a:xfrm>
          <a:prstGeom prst="line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33" name="Rectangle 316"/>
          <p:cNvSpPr>
            <a:spLocks noChangeArrowheads="1"/>
          </p:cNvSpPr>
          <p:nvPr/>
        </p:nvSpPr>
        <p:spPr bwMode="auto">
          <a:xfrm>
            <a:off x="8777288" y="5226275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D</a:t>
            </a:r>
            <a:endParaRPr lang="en-US"/>
          </a:p>
        </p:txBody>
      </p:sp>
      <p:sp>
        <p:nvSpPr>
          <p:cNvPr id="10334" name="Rectangle 317"/>
          <p:cNvSpPr>
            <a:spLocks noChangeArrowheads="1"/>
          </p:cNvSpPr>
          <p:nvPr/>
        </p:nvSpPr>
        <p:spPr bwMode="auto">
          <a:xfrm>
            <a:off x="8936038" y="5323113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3</a:t>
            </a:r>
            <a:endParaRPr lang="en-US"/>
          </a:p>
        </p:txBody>
      </p:sp>
      <p:sp>
        <p:nvSpPr>
          <p:cNvPr id="10335" name="Rectangle 318"/>
          <p:cNvSpPr>
            <a:spLocks noChangeArrowheads="1"/>
          </p:cNvSpPr>
          <p:nvPr/>
        </p:nvSpPr>
        <p:spPr bwMode="auto">
          <a:xfrm>
            <a:off x="9051925" y="5253263"/>
            <a:ext cx="9778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MathematicalPi 1" pitchFamily="82" charset="0"/>
              </a:rPr>
              <a:t>5</a:t>
            </a:r>
            <a:endParaRPr lang="en-US"/>
          </a:p>
        </p:txBody>
      </p:sp>
      <p:sp>
        <p:nvSpPr>
          <p:cNvPr id="10336" name="Rectangle 319"/>
          <p:cNvSpPr>
            <a:spLocks noChangeArrowheads="1"/>
          </p:cNvSpPr>
          <p:nvPr/>
        </p:nvSpPr>
        <p:spPr bwMode="auto">
          <a:xfrm>
            <a:off x="9210675" y="5226275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37" name="Rectangle 320"/>
          <p:cNvSpPr>
            <a:spLocks noChangeArrowheads="1"/>
          </p:cNvSpPr>
          <p:nvPr/>
        </p:nvSpPr>
        <p:spPr bwMode="auto">
          <a:xfrm>
            <a:off x="9420225" y="5323113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338" name="Rectangle 321"/>
          <p:cNvSpPr>
            <a:spLocks noChangeArrowheads="1"/>
          </p:cNvSpPr>
          <p:nvPr/>
        </p:nvSpPr>
        <p:spPr bwMode="auto">
          <a:xfrm>
            <a:off x="9486900" y="5226275"/>
            <a:ext cx="176908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 A</a:t>
            </a:r>
            <a:endParaRPr lang="en-US"/>
          </a:p>
        </p:txBody>
      </p:sp>
      <p:sp>
        <p:nvSpPr>
          <p:cNvPr id="10339" name="Rectangle 322"/>
          <p:cNvSpPr>
            <a:spLocks noChangeArrowheads="1"/>
          </p:cNvSpPr>
          <p:nvPr/>
        </p:nvSpPr>
        <p:spPr bwMode="auto">
          <a:xfrm>
            <a:off x="9694863" y="5323113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340" name="Rectangle 323"/>
          <p:cNvSpPr>
            <a:spLocks noChangeArrowheads="1"/>
          </p:cNvSpPr>
          <p:nvPr/>
        </p:nvSpPr>
        <p:spPr bwMode="auto">
          <a:xfrm>
            <a:off x="7288213" y="5645375"/>
            <a:ext cx="2356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(b)</a:t>
            </a:r>
            <a:endParaRPr lang="en-US"/>
          </a:p>
        </p:txBody>
      </p:sp>
      <p:sp>
        <p:nvSpPr>
          <p:cNvPr id="10341" name="Rectangle 324"/>
          <p:cNvSpPr>
            <a:spLocks noChangeArrowheads="1"/>
          </p:cNvSpPr>
          <p:nvPr/>
        </p:nvSpPr>
        <p:spPr bwMode="auto">
          <a:xfrm>
            <a:off x="5260975" y="2779938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A</a:t>
            </a:r>
            <a:endParaRPr lang="en-US"/>
          </a:p>
        </p:txBody>
      </p:sp>
      <p:sp>
        <p:nvSpPr>
          <p:cNvPr id="10342" name="Rectangle 325"/>
          <p:cNvSpPr>
            <a:spLocks noChangeArrowheads="1"/>
          </p:cNvSpPr>
          <p:nvPr/>
        </p:nvSpPr>
        <p:spPr bwMode="auto">
          <a:xfrm>
            <a:off x="5421313" y="2876775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1</a:t>
            </a:r>
            <a:endParaRPr lang="en-US"/>
          </a:p>
        </p:txBody>
      </p:sp>
      <p:sp>
        <p:nvSpPr>
          <p:cNvPr id="10343" name="Rectangle 326"/>
          <p:cNvSpPr>
            <a:spLocks noChangeArrowheads="1"/>
          </p:cNvSpPr>
          <p:nvPr/>
        </p:nvSpPr>
        <p:spPr bwMode="auto">
          <a:xfrm>
            <a:off x="5260975" y="2211613"/>
            <a:ext cx="13946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Ten" pitchFamily="18" charset="0"/>
              </a:rPr>
              <a:t>A</a:t>
            </a:r>
            <a:endParaRPr lang="en-US"/>
          </a:p>
        </p:txBody>
      </p:sp>
      <p:sp>
        <p:nvSpPr>
          <p:cNvPr id="10344" name="Rectangle 327"/>
          <p:cNvSpPr>
            <a:spLocks noChangeArrowheads="1"/>
          </p:cNvSpPr>
          <p:nvPr/>
        </p:nvSpPr>
        <p:spPr bwMode="auto">
          <a:xfrm>
            <a:off x="5421313" y="2305275"/>
            <a:ext cx="63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TimesTen" pitchFamily="18" charset="0"/>
              </a:rPr>
              <a:t>0</a:t>
            </a:r>
            <a:endParaRPr lang="en-US"/>
          </a:p>
        </p:txBody>
      </p:sp>
      <p:sp>
        <p:nvSpPr>
          <p:cNvPr id="10345" name="Oval 328"/>
          <p:cNvSpPr>
            <a:spLocks noChangeArrowheads="1"/>
          </p:cNvSpPr>
          <p:nvPr/>
        </p:nvSpPr>
        <p:spPr bwMode="auto">
          <a:xfrm>
            <a:off x="6208716" y="2308450"/>
            <a:ext cx="73025" cy="71438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6" name="Oval 329"/>
          <p:cNvSpPr>
            <a:spLocks noChangeArrowheads="1"/>
          </p:cNvSpPr>
          <p:nvPr/>
        </p:nvSpPr>
        <p:spPr bwMode="auto">
          <a:xfrm>
            <a:off x="5849941" y="2876775"/>
            <a:ext cx="71437" cy="71438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7" name="Oval 330"/>
          <p:cNvSpPr>
            <a:spLocks noChangeArrowheads="1"/>
          </p:cNvSpPr>
          <p:nvPr/>
        </p:nvSpPr>
        <p:spPr bwMode="auto">
          <a:xfrm>
            <a:off x="6208716" y="3838800"/>
            <a:ext cx="73025" cy="71438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8" name="Oval 331"/>
          <p:cNvSpPr>
            <a:spLocks noChangeArrowheads="1"/>
          </p:cNvSpPr>
          <p:nvPr/>
        </p:nvSpPr>
        <p:spPr bwMode="auto">
          <a:xfrm>
            <a:off x="5849941" y="4724625"/>
            <a:ext cx="71437" cy="71438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49" name="Oval 332"/>
          <p:cNvSpPr>
            <a:spLocks noChangeArrowheads="1"/>
          </p:cNvSpPr>
          <p:nvPr/>
        </p:nvSpPr>
        <p:spPr bwMode="auto">
          <a:xfrm>
            <a:off x="7724775" y="3143475"/>
            <a:ext cx="71438" cy="71438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0" name="Oval 333"/>
          <p:cNvSpPr>
            <a:spLocks noChangeArrowheads="1"/>
          </p:cNvSpPr>
          <p:nvPr/>
        </p:nvSpPr>
        <p:spPr bwMode="auto">
          <a:xfrm>
            <a:off x="7383466" y="3338741"/>
            <a:ext cx="71437" cy="71437"/>
          </a:xfrm>
          <a:prstGeom prst="ellipse">
            <a:avLst/>
          </a:pr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1" name="Freeform 334"/>
          <p:cNvSpPr>
            <a:spLocks/>
          </p:cNvSpPr>
          <p:nvPr/>
        </p:nvSpPr>
        <p:spPr bwMode="auto">
          <a:xfrm>
            <a:off x="5535613" y="2913291"/>
            <a:ext cx="2362200" cy="1152525"/>
          </a:xfrm>
          <a:custGeom>
            <a:avLst/>
            <a:gdLst>
              <a:gd name="T0" fmla="*/ 0 w 1488"/>
              <a:gd name="T1" fmla="*/ 0 h 726"/>
              <a:gd name="T2" fmla="*/ 1184 w 1488"/>
              <a:gd name="T3" fmla="*/ 0 h 726"/>
              <a:gd name="T4" fmla="*/ 1184 w 1488"/>
              <a:gd name="T5" fmla="*/ 726 h 726"/>
              <a:gd name="T6" fmla="*/ 1488 w 1488"/>
              <a:gd name="T7" fmla="*/ 726 h 726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726"/>
              <a:gd name="T14" fmla="*/ 1488 w 1488"/>
              <a:gd name="T15" fmla="*/ 726 h 72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726">
                <a:moveTo>
                  <a:pt x="0" y="0"/>
                </a:moveTo>
                <a:lnTo>
                  <a:pt x="1184" y="0"/>
                </a:lnTo>
                <a:lnTo>
                  <a:pt x="1184" y="726"/>
                </a:lnTo>
                <a:lnTo>
                  <a:pt x="1488" y="726"/>
                </a:lnTo>
              </a:path>
            </a:pathLst>
          </a:custGeom>
          <a:noFill/>
          <a:ln w="111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2" name="Freeform 335"/>
          <p:cNvSpPr>
            <a:spLocks/>
          </p:cNvSpPr>
          <p:nvPr/>
        </p:nvSpPr>
        <p:spPr bwMode="auto">
          <a:xfrm>
            <a:off x="7897816" y="3802288"/>
            <a:ext cx="401637" cy="334962"/>
          </a:xfrm>
          <a:custGeom>
            <a:avLst/>
            <a:gdLst>
              <a:gd name="T0" fmla="*/ 0 w 134"/>
              <a:gd name="T1" fmla="*/ 112 h 112"/>
              <a:gd name="T2" fmla="*/ 0 w 134"/>
              <a:gd name="T3" fmla="*/ 0 h 112"/>
              <a:gd name="T4" fmla="*/ 78 w 134"/>
              <a:gd name="T5" fmla="*/ 0 h 112"/>
              <a:gd name="T6" fmla="*/ 134 w 134"/>
              <a:gd name="T7" fmla="*/ 55 h 112"/>
              <a:gd name="T8" fmla="*/ 79 w 134"/>
              <a:gd name="T9" fmla="*/ 112 h 112"/>
              <a:gd name="T10" fmla="*/ 0 w 134"/>
              <a:gd name="T11" fmla="*/ 112 h 11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4"/>
              <a:gd name="T19" fmla="*/ 0 h 112"/>
              <a:gd name="T20" fmla="*/ 134 w 134"/>
              <a:gd name="T21" fmla="*/ 112 h 11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4" h="112">
                <a:moveTo>
                  <a:pt x="0" y="112"/>
                </a:moveTo>
                <a:cubicBezTo>
                  <a:pt x="0" y="0"/>
                  <a:pt x="0" y="0"/>
                  <a:pt x="0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108" y="0"/>
                  <a:pt x="134" y="25"/>
                  <a:pt x="134" y="55"/>
                </a:cubicBezTo>
                <a:cubicBezTo>
                  <a:pt x="134" y="86"/>
                  <a:pt x="109" y="111"/>
                  <a:pt x="79" y="112"/>
                </a:cubicBezTo>
                <a:cubicBezTo>
                  <a:pt x="0" y="112"/>
                  <a:pt x="0" y="112"/>
                  <a:pt x="0" y="112"/>
                </a:cubicBezTo>
                <a:close/>
              </a:path>
            </a:pathLst>
          </a:custGeom>
          <a:solidFill>
            <a:srgbClr val="FFFFFF"/>
          </a:solidFill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3" name="Freeform 336"/>
          <p:cNvSpPr>
            <a:spLocks/>
          </p:cNvSpPr>
          <p:nvPr/>
        </p:nvSpPr>
        <p:spPr bwMode="auto">
          <a:xfrm>
            <a:off x="6657978" y="2730728"/>
            <a:ext cx="290513" cy="371475"/>
          </a:xfrm>
          <a:custGeom>
            <a:avLst/>
            <a:gdLst>
              <a:gd name="T0" fmla="*/ 0 w 183"/>
              <a:gd name="T1" fmla="*/ 0 h 234"/>
              <a:gd name="T2" fmla="*/ 0 w 183"/>
              <a:gd name="T3" fmla="*/ 234 h 234"/>
              <a:gd name="T4" fmla="*/ 183 w 183"/>
              <a:gd name="T5" fmla="*/ 115 h 234"/>
              <a:gd name="T6" fmla="*/ 0 w 183"/>
              <a:gd name="T7" fmla="*/ 0 h 234"/>
              <a:gd name="T8" fmla="*/ 0 w 183"/>
              <a:gd name="T9" fmla="*/ 0 h 2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3"/>
              <a:gd name="T16" fmla="*/ 0 h 234"/>
              <a:gd name="T17" fmla="*/ 183 w 183"/>
              <a:gd name="T18" fmla="*/ 234 h 2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3" h="234">
                <a:moveTo>
                  <a:pt x="0" y="0"/>
                </a:moveTo>
                <a:lnTo>
                  <a:pt x="0" y="234"/>
                </a:lnTo>
                <a:lnTo>
                  <a:pt x="183" y="1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3813" cap="flat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4" name="Oval 337"/>
          <p:cNvSpPr>
            <a:spLocks noChangeArrowheads="1"/>
          </p:cNvSpPr>
          <p:nvPr/>
        </p:nvSpPr>
        <p:spPr bwMode="auto">
          <a:xfrm>
            <a:off x="6948488" y="2852963"/>
            <a:ext cx="120650" cy="119062"/>
          </a:xfrm>
          <a:prstGeom prst="ellipse">
            <a:avLst/>
          </a:prstGeom>
          <a:solidFill>
            <a:srgbClr val="FFFFFF"/>
          </a:solidFill>
          <a:ln w="238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355" name="Line 338"/>
          <p:cNvSpPr>
            <a:spLocks noChangeShapeType="1"/>
          </p:cNvSpPr>
          <p:nvPr/>
        </p:nvSpPr>
        <p:spPr bwMode="auto">
          <a:xfrm>
            <a:off x="2524125" y="4211866"/>
            <a:ext cx="2451100" cy="1587"/>
          </a:xfrm>
          <a:prstGeom prst="line">
            <a:avLst/>
          </a:prstGeom>
          <a:noFill/>
          <a:ln w="11113">
            <a:solidFill>
              <a:srgbClr val="00A0C6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F432F5-F559-4394-9473-E1B90F54F3D6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4-to-1-Line Multiplexer: Circuit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1962153" y="1314450"/>
            <a:ext cx="7440613" cy="5372100"/>
            <a:chOff x="276" y="828"/>
            <a:chExt cx="4687" cy="3384"/>
          </a:xfrm>
        </p:grpSpPr>
        <p:sp>
          <p:nvSpPr>
            <p:cNvPr id="73755" name="Freeform 4"/>
            <p:cNvSpPr>
              <a:spLocks/>
            </p:cNvSpPr>
            <p:nvPr/>
          </p:nvSpPr>
          <p:spPr bwMode="auto">
            <a:xfrm>
              <a:off x="3613" y="1782"/>
              <a:ext cx="580" cy="556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6" name="AutoShape 5"/>
            <p:cNvSpPr>
              <a:spLocks noChangeArrowheads="1"/>
            </p:cNvSpPr>
            <p:nvPr/>
          </p:nvSpPr>
          <p:spPr bwMode="auto">
            <a:xfrm>
              <a:off x="2092" y="846"/>
              <a:ext cx="393" cy="445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 rot="-5400000">
              <a:off x="791" y="3513"/>
              <a:ext cx="537" cy="213"/>
              <a:chOff x="960" y="1824"/>
              <a:chExt cx="1015" cy="457"/>
            </a:xfrm>
          </p:grpSpPr>
          <p:sp>
            <p:nvSpPr>
              <p:cNvPr id="73811" name="AutoShape 7"/>
              <p:cNvSpPr>
                <a:spLocks noChangeArrowheads="1"/>
              </p:cNvSpPr>
              <p:nvPr/>
            </p:nvSpPr>
            <p:spPr bwMode="auto">
              <a:xfrm rot="5400000">
                <a:off x="1186" y="1870"/>
                <a:ext cx="457" cy="366"/>
              </a:xfrm>
              <a:prstGeom prst="flowChartExtract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73812" name="Oval 8"/>
              <p:cNvSpPr>
                <a:spLocks noChangeArrowheads="1"/>
              </p:cNvSpPr>
              <p:nvPr/>
            </p:nvSpPr>
            <p:spPr bwMode="auto">
              <a:xfrm>
                <a:off x="1584" y="1980"/>
                <a:ext cx="128" cy="14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73813" name="Line 9"/>
              <p:cNvSpPr>
                <a:spLocks noChangeShapeType="1"/>
              </p:cNvSpPr>
              <p:nvPr/>
            </p:nvSpPr>
            <p:spPr bwMode="auto">
              <a:xfrm>
                <a:off x="960" y="2059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14" name="Line 10"/>
              <p:cNvSpPr>
                <a:spLocks noChangeShapeType="1"/>
              </p:cNvSpPr>
              <p:nvPr/>
            </p:nvSpPr>
            <p:spPr bwMode="auto">
              <a:xfrm>
                <a:off x="1702" y="2047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758" name="Text Box 11"/>
            <p:cNvSpPr txBox="1">
              <a:spLocks noChangeArrowheads="1"/>
            </p:cNvSpPr>
            <p:nvPr/>
          </p:nvSpPr>
          <p:spPr bwMode="auto">
            <a:xfrm>
              <a:off x="276" y="4018"/>
              <a:ext cx="1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S</a:t>
              </a:r>
              <a:r>
                <a:rPr lang="en-US" sz="2000" baseline="-25000"/>
                <a:t>0</a:t>
              </a:r>
            </a:p>
          </p:txBody>
        </p:sp>
        <p:sp>
          <p:nvSpPr>
            <p:cNvPr id="73759" name="Text Box 12"/>
            <p:cNvSpPr txBox="1">
              <a:spLocks noChangeArrowheads="1"/>
            </p:cNvSpPr>
            <p:nvPr/>
          </p:nvSpPr>
          <p:spPr bwMode="auto">
            <a:xfrm>
              <a:off x="363" y="828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I</a:t>
              </a:r>
              <a:r>
                <a:rPr lang="en-US" sz="2000" baseline="-25000"/>
                <a:t>0</a:t>
              </a:r>
              <a:endParaRPr lang="en-US" sz="2000"/>
            </a:p>
          </p:txBody>
        </p:sp>
        <p:sp>
          <p:nvSpPr>
            <p:cNvPr id="73760" name="Line 13"/>
            <p:cNvSpPr>
              <a:spLocks noChangeShapeType="1"/>
            </p:cNvSpPr>
            <p:nvPr/>
          </p:nvSpPr>
          <p:spPr bwMode="auto">
            <a:xfrm>
              <a:off x="2485" y="1038"/>
              <a:ext cx="7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1" name="Line 14"/>
            <p:cNvSpPr>
              <a:spLocks noChangeShapeType="1"/>
            </p:cNvSpPr>
            <p:nvPr/>
          </p:nvSpPr>
          <p:spPr bwMode="auto">
            <a:xfrm>
              <a:off x="3280" y="1889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2" name="Line 15"/>
            <p:cNvSpPr>
              <a:spLocks noChangeShapeType="1"/>
            </p:cNvSpPr>
            <p:nvPr/>
          </p:nvSpPr>
          <p:spPr bwMode="auto">
            <a:xfrm flipV="1">
              <a:off x="1751" y="3884"/>
              <a:ext cx="7" cy="2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3" name="Line 16"/>
            <p:cNvSpPr>
              <a:spLocks noChangeShapeType="1"/>
            </p:cNvSpPr>
            <p:nvPr/>
          </p:nvSpPr>
          <p:spPr bwMode="auto">
            <a:xfrm>
              <a:off x="2485" y="1672"/>
              <a:ext cx="59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4" name="Line 17"/>
            <p:cNvSpPr>
              <a:spLocks noChangeShapeType="1"/>
            </p:cNvSpPr>
            <p:nvPr/>
          </p:nvSpPr>
          <p:spPr bwMode="auto">
            <a:xfrm flipV="1">
              <a:off x="612" y="2338"/>
              <a:ext cx="1485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5" name="Line 18"/>
            <p:cNvSpPr>
              <a:spLocks noChangeShapeType="1"/>
            </p:cNvSpPr>
            <p:nvPr/>
          </p:nvSpPr>
          <p:spPr bwMode="auto">
            <a:xfrm flipH="1" flipV="1">
              <a:off x="1751" y="1163"/>
              <a:ext cx="3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6" name="Line 19"/>
            <p:cNvSpPr>
              <a:spLocks noChangeShapeType="1"/>
            </p:cNvSpPr>
            <p:nvPr/>
          </p:nvSpPr>
          <p:spPr bwMode="auto">
            <a:xfrm>
              <a:off x="612" y="924"/>
              <a:ext cx="14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7" name="Line 20"/>
            <p:cNvSpPr>
              <a:spLocks noChangeShapeType="1"/>
            </p:cNvSpPr>
            <p:nvPr/>
          </p:nvSpPr>
          <p:spPr bwMode="auto">
            <a:xfrm>
              <a:off x="4193" y="2070"/>
              <a:ext cx="6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68" name="Oval 21"/>
            <p:cNvSpPr>
              <a:spLocks noChangeArrowheads="1"/>
            </p:cNvSpPr>
            <p:nvPr/>
          </p:nvSpPr>
          <p:spPr bwMode="auto">
            <a:xfrm>
              <a:off x="1021" y="1630"/>
              <a:ext cx="73" cy="8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769" name="Text Box 22"/>
            <p:cNvSpPr txBox="1">
              <a:spLocks noChangeArrowheads="1"/>
            </p:cNvSpPr>
            <p:nvPr/>
          </p:nvSpPr>
          <p:spPr bwMode="auto">
            <a:xfrm>
              <a:off x="4861" y="1851"/>
              <a:ext cx="1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Y</a:t>
              </a:r>
            </a:p>
          </p:txBody>
        </p:sp>
        <p:sp>
          <p:nvSpPr>
            <p:cNvPr id="73770" name="AutoShape 23"/>
            <p:cNvSpPr>
              <a:spLocks noChangeArrowheads="1"/>
            </p:cNvSpPr>
            <p:nvPr/>
          </p:nvSpPr>
          <p:spPr bwMode="auto">
            <a:xfrm>
              <a:off x="2092" y="1445"/>
              <a:ext cx="393" cy="445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771" name="Text Box 24"/>
            <p:cNvSpPr txBox="1">
              <a:spLocks noChangeArrowheads="1"/>
            </p:cNvSpPr>
            <p:nvPr/>
          </p:nvSpPr>
          <p:spPr bwMode="auto">
            <a:xfrm>
              <a:off x="399" y="1471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I</a:t>
              </a:r>
              <a:r>
                <a:rPr lang="en-US" sz="2000" baseline="-25000"/>
                <a:t>1</a:t>
              </a:r>
              <a:endParaRPr lang="en-US" sz="2000"/>
            </a:p>
          </p:txBody>
        </p:sp>
        <p:sp>
          <p:nvSpPr>
            <p:cNvPr id="73772" name="Line 25"/>
            <p:cNvSpPr>
              <a:spLocks noChangeShapeType="1"/>
            </p:cNvSpPr>
            <p:nvPr/>
          </p:nvSpPr>
          <p:spPr bwMode="auto">
            <a:xfrm>
              <a:off x="612" y="1569"/>
              <a:ext cx="1477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3" name="Line 26"/>
            <p:cNvSpPr>
              <a:spLocks noChangeShapeType="1"/>
            </p:cNvSpPr>
            <p:nvPr/>
          </p:nvSpPr>
          <p:spPr bwMode="auto">
            <a:xfrm>
              <a:off x="3276" y="1038"/>
              <a:ext cx="5" cy="8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4" name="Line 27"/>
            <p:cNvSpPr>
              <a:spLocks noChangeShapeType="1"/>
            </p:cNvSpPr>
            <p:nvPr/>
          </p:nvSpPr>
          <p:spPr bwMode="auto">
            <a:xfrm>
              <a:off x="3081" y="1663"/>
              <a:ext cx="1" cy="3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5" name="Line 28"/>
            <p:cNvSpPr>
              <a:spLocks noChangeShapeType="1"/>
            </p:cNvSpPr>
            <p:nvPr/>
          </p:nvSpPr>
          <p:spPr bwMode="auto">
            <a:xfrm>
              <a:off x="3082" y="2000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6" name="Line 29"/>
            <p:cNvSpPr>
              <a:spLocks noChangeShapeType="1"/>
            </p:cNvSpPr>
            <p:nvPr/>
          </p:nvSpPr>
          <p:spPr bwMode="auto">
            <a:xfrm>
              <a:off x="3081" y="2119"/>
              <a:ext cx="6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7" name="Line 30"/>
            <p:cNvSpPr>
              <a:spLocks noChangeShapeType="1"/>
            </p:cNvSpPr>
            <p:nvPr/>
          </p:nvSpPr>
          <p:spPr bwMode="auto">
            <a:xfrm>
              <a:off x="3276" y="2230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8" name="AutoShape 31"/>
            <p:cNvSpPr>
              <a:spLocks noChangeArrowheads="1"/>
            </p:cNvSpPr>
            <p:nvPr/>
          </p:nvSpPr>
          <p:spPr bwMode="auto">
            <a:xfrm>
              <a:off x="2097" y="2214"/>
              <a:ext cx="393" cy="445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779" name="AutoShape 32"/>
            <p:cNvSpPr>
              <a:spLocks noChangeArrowheads="1"/>
            </p:cNvSpPr>
            <p:nvPr/>
          </p:nvSpPr>
          <p:spPr bwMode="auto">
            <a:xfrm>
              <a:off x="2097" y="2849"/>
              <a:ext cx="393" cy="445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780" name="Line 33"/>
            <p:cNvSpPr>
              <a:spLocks noChangeShapeType="1"/>
            </p:cNvSpPr>
            <p:nvPr/>
          </p:nvSpPr>
          <p:spPr bwMode="auto">
            <a:xfrm>
              <a:off x="3082" y="2113"/>
              <a:ext cx="1" cy="3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1" name="Line 34"/>
            <p:cNvSpPr>
              <a:spLocks noChangeShapeType="1"/>
            </p:cNvSpPr>
            <p:nvPr/>
          </p:nvSpPr>
          <p:spPr bwMode="auto">
            <a:xfrm flipH="1">
              <a:off x="2485" y="2450"/>
              <a:ext cx="5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2" name="Line 35"/>
            <p:cNvSpPr>
              <a:spLocks noChangeShapeType="1"/>
            </p:cNvSpPr>
            <p:nvPr/>
          </p:nvSpPr>
          <p:spPr bwMode="auto">
            <a:xfrm>
              <a:off x="3271" y="2230"/>
              <a:ext cx="5" cy="8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3" name="Line 36"/>
            <p:cNvSpPr>
              <a:spLocks noChangeShapeType="1"/>
            </p:cNvSpPr>
            <p:nvPr/>
          </p:nvSpPr>
          <p:spPr bwMode="auto">
            <a:xfrm>
              <a:off x="2475" y="3077"/>
              <a:ext cx="7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4" name="Text Box 37"/>
            <p:cNvSpPr txBox="1">
              <a:spLocks noChangeArrowheads="1"/>
            </p:cNvSpPr>
            <p:nvPr/>
          </p:nvSpPr>
          <p:spPr bwMode="auto">
            <a:xfrm>
              <a:off x="446" y="2258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I</a:t>
              </a:r>
              <a:r>
                <a:rPr lang="en-US" sz="2000" baseline="-25000"/>
                <a:t>2</a:t>
              </a:r>
              <a:endParaRPr lang="en-US" sz="2000"/>
            </a:p>
          </p:txBody>
        </p:sp>
        <p:sp>
          <p:nvSpPr>
            <p:cNvPr id="73785" name="Line 40"/>
            <p:cNvSpPr>
              <a:spLocks noChangeShapeType="1"/>
            </p:cNvSpPr>
            <p:nvPr/>
          </p:nvSpPr>
          <p:spPr bwMode="auto">
            <a:xfrm flipV="1">
              <a:off x="607" y="2956"/>
              <a:ext cx="1485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6" name="Text Box 41"/>
            <p:cNvSpPr txBox="1">
              <a:spLocks noChangeArrowheads="1"/>
            </p:cNvSpPr>
            <p:nvPr/>
          </p:nvSpPr>
          <p:spPr bwMode="auto">
            <a:xfrm>
              <a:off x="441" y="2876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I</a:t>
              </a:r>
              <a:r>
                <a:rPr lang="en-US" sz="2000" baseline="-25000"/>
                <a:t>3</a:t>
              </a:r>
              <a:endParaRPr lang="en-US" sz="2000"/>
            </a:p>
          </p:txBody>
        </p:sp>
        <p:grpSp>
          <p:nvGrpSpPr>
            <p:cNvPr id="4" name="Group 42"/>
            <p:cNvGrpSpPr>
              <a:grpSpLocks/>
            </p:cNvGrpSpPr>
            <p:nvPr/>
          </p:nvGrpSpPr>
          <p:grpSpPr bwMode="auto">
            <a:xfrm rot="-5400000">
              <a:off x="1485" y="3513"/>
              <a:ext cx="537" cy="213"/>
              <a:chOff x="960" y="1824"/>
              <a:chExt cx="1015" cy="457"/>
            </a:xfrm>
          </p:grpSpPr>
          <p:sp>
            <p:nvSpPr>
              <p:cNvPr id="73807" name="AutoShape 43"/>
              <p:cNvSpPr>
                <a:spLocks noChangeArrowheads="1"/>
              </p:cNvSpPr>
              <p:nvPr/>
            </p:nvSpPr>
            <p:spPr bwMode="auto">
              <a:xfrm rot="5400000">
                <a:off x="1186" y="1870"/>
                <a:ext cx="457" cy="366"/>
              </a:xfrm>
              <a:prstGeom prst="flowChartExtract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73808" name="Oval 44"/>
              <p:cNvSpPr>
                <a:spLocks noChangeArrowheads="1"/>
              </p:cNvSpPr>
              <p:nvPr/>
            </p:nvSpPr>
            <p:spPr bwMode="auto">
              <a:xfrm>
                <a:off x="1584" y="1980"/>
                <a:ext cx="128" cy="14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73809" name="Line 45"/>
              <p:cNvSpPr>
                <a:spLocks noChangeShapeType="1"/>
              </p:cNvSpPr>
              <p:nvPr/>
            </p:nvSpPr>
            <p:spPr bwMode="auto">
              <a:xfrm>
                <a:off x="960" y="2059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810" name="Line 46"/>
              <p:cNvSpPr>
                <a:spLocks noChangeShapeType="1"/>
              </p:cNvSpPr>
              <p:nvPr/>
            </p:nvSpPr>
            <p:spPr bwMode="auto">
              <a:xfrm>
                <a:off x="1702" y="2047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788" name="Line 47"/>
            <p:cNvSpPr>
              <a:spLocks noChangeShapeType="1"/>
            </p:cNvSpPr>
            <p:nvPr/>
          </p:nvSpPr>
          <p:spPr bwMode="auto">
            <a:xfrm>
              <a:off x="480" y="4114"/>
              <a:ext cx="1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89" name="Line 48"/>
            <p:cNvSpPr>
              <a:spLocks noChangeShapeType="1"/>
            </p:cNvSpPr>
            <p:nvPr/>
          </p:nvSpPr>
          <p:spPr bwMode="auto">
            <a:xfrm flipV="1">
              <a:off x="1751" y="1163"/>
              <a:ext cx="0" cy="21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0" name="Line 49"/>
            <p:cNvSpPr>
              <a:spLocks noChangeShapeType="1"/>
            </p:cNvSpPr>
            <p:nvPr/>
          </p:nvSpPr>
          <p:spPr bwMode="auto">
            <a:xfrm>
              <a:off x="1751" y="2560"/>
              <a:ext cx="3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1" name="Oval 50"/>
            <p:cNvSpPr>
              <a:spLocks noChangeArrowheads="1"/>
            </p:cNvSpPr>
            <p:nvPr/>
          </p:nvSpPr>
          <p:spPr bwMode="auto">
            <a:xfrm>
              <a:off x="1721" y="2518"/>
              <a:ext cx="73" cy="8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792" name="Line 51"/>
            <p:cNvSpPr>
              <a:spLocks noChangeShapeType="1"/>
            </p:cNvSpPr>
            <p:nvPr/>
          </p:nvSpPr>
          <p:spPr bwMode="auto">
            <a:xfrm flipH="1" flipV="1">
              <a:off x="1048" y="1038"/>
              <a:ext cx="6" cy="23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3" name="Line 52"/>
            <p:cNvSpPr>
              <a:spLocks noChangeShapeType="1"/>
            </p:cNvSpPr>
            <p:nvPr/>
          </p:nvSpPr>
          <p:spPr bwMode="auto">
            <a:xfrm>
              <a:off x="1063" y="1047"/>
              <a:ext cx="10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4" name="Line 53"/>
            <p:cNvSpPr>
              <a:spLocks noChangeShapeType="1"/>
            </p:cNvSpPr>
            <p:nvPr/>
          </p:nvSpPr>
          <p:spPr bwMode="auto">
            <a:xfrm flipH="1">
              <a:off x="480" y="3884"/>
              <a:ext cx="5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5" name="Text Box 54"/>
            <p:cNvSpPr txBox="1">
              <a:spLocks noChangeArrowheads="1"/>
            </p:cNvSpPr>
            <p:nvPr/>
          </p:nvSpPr>
          <p:spPr bwMode="auto">
            <a:xfrm>
              <a:off x="276" y="3745"/>
              <a:ext cx="1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S</a:t>
              </a:r>
              <a:r>
                <a:rPr lang="en-US" sz="2000" baseline="-25000"/>
                <a:t>1</a:t>
              </a:r>
            </a:p>
          </p:txBody>
        </p:sp>
        <p:sp>
          <p:nvSpPr>
            <p:cNvPr id="73796" name="Line 55"/>
            <p:cNvSpPr>
              <a:spLocks noChangeShapeType="1"/>
            </p:cNvSpPr>
            <p:nvPr/>
          </p:nvSpPr>
          <p:spPr bwMode="auto">
            <a:xfrm flipV="1">
              <a:off x="786" y="2450"/>
              <a:ext cx="0" cy="14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7" name="Line 56"/>
            <p:cNvSpPr>
              <a:spLocks noChangeShapeType="1"/>
            </p:cNvSpPr>
            <p:nvPr/>
          </p:nvSpPr>
          <p:spPr bwMode="auto">
            <a:xfrm>
              <a:off x="786" y="2450"/>
              <a:ext cx="1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8" name="Oval 57"/>
            <p:cNvSpPr>
              <a:spLocks noChangeArrowheads="1"/>
            </p:cNvSpPr>
            <p:nvPr/>
          </p:nvSpPr>
          <p:spPr bwMode="auto">
            <a:xfrm>
              <a:off x="749" y="3842"/>
              <a:ext cx="73" cy="8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799" name="Line 58"/>
            <p:cNvSpPr>
              <a:spLocks noChangeShapeType="1"/>
            </p:cNvSpPr>
            <p:nvPr/>
          </p:nvSpPr>
          <p:spPr bwMode="auto">
            <a:xfrm>
              <a:off x="780" y="3099"/>
              <a:ext cx="1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0" name="Oval 59"/>
            <p:cNvSpPr>
              <a:spLocks noChangeArrowheads="1"/>
            </p:cNvSpPr>
            <p:nvPr/>
          </p:nvSpPr>
          <p:spPr bwMode="auto">
            <a:xfrm>
              <a:off x="753" y="3057"/>
              <a:ext cx="73" cy="8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801" name="Line 60"/>
            <p:cNvSpPr>
              <a:spLocks noChangeShapeType="1"/>
            </p:cNvSpPr>
            <p:nvPr/>
          </p:nvSpPr>
          <p:spPr bwMode="auto">
            <a:xfrm flipV="1">
              <a:off x="1320" y="1782"/>
              <a:ext cx="0" cy="23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2" name="Line 61"/>
            <p:cNvSpPr>
              <a:spLocks noChangeShapeType="1"/>
            </p:cNvSpPr>
            <p:nvPr/>
          </p:nvSpPr>
          <p:spPr bwMode="auto">
            <a:xfrm>
              <a:off x="1311" y="1789"/>
              <a:ext cx="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3" name="Oval 62"/>
            <p:cNvSpPr>
              <a:spLocks noChangeArrowheads="1"/>
            </p:cNvSpPr>
            <p:nvPr/>
          </p:nvSpPr>
          <p:spPr bwMode="auto">
            <a:xfrm>
              <a:off x="1283" y="4072"/>
              <a:ext cx="73" cy="8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804" name="Line 63"/>
            <p:cNvSpPr>
              <a:spLocks noChangeShapeType="1"/>
            </p:cNvSpPr>
            <p:nvPr/>
          </p:nvSpPr>
          <p:spPr bwMode="auto">
            <a:xfrm>
              <a:off x="1302" y="3222"/>
              <a:ext cx="7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5" name="Oval 64"/>
            <p:cNvSpPr>
              <a:spLocks noChangeArrowheads="1"/>
            </p:cNvSpPr>
            <p:nvPr/>
          </p:nvSpPr>
          <p:spPr bwMode="auto">
            <a:xfrm>
              <a:off x="1283" y="3180"/>
              <a:ext cx="73" cy="83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3806" name="Line 65"/>
            <p:cNvSpPr>
              <a:spLocks noChangeShapeType="1"/>
            </p:cNvSpPr>
            <p:nvPr/>
          </p:nvSpPr>
          <p:spPr bwMode="auto">
            <a:xfrm>
              <a:off x="1058" y="1672"/>
              <a:ext cx="10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798891" y="2154241"/>
            <a:ext cx="2619375" cy="2833687"/>
            <a:chOff x="809" y="2231"/>
            <a:chExt cx="1650" cy="1785"/>
          </a:xfrm>
        </p:grpSpPr>
        <p:sp>
          <p:nvSpPr>
            <p:cNvPr id="73735" name="AutoShape 5"/>
            <p:cNvSpPr>
              <a:spLocks noChangeArrowheads="1"/>
            </p:cNvSpPr>
            <p:nvPr/>
          </p:nvSpPr>
          <p:spPr bwMode="auto">
            <a:xfrm rot="-5400000">
              <a:off x="936" y="2716"/>
              <a:ext cx="1444" cy="47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2 w 21600"/>
                <a:gd name="T13" fmla="*/ 4521 h 21600"/>
                <a:gd name="T14" fmla="*/ 17098 w 21600"/>
                <a:gd name="T15" fmla="*/ 170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73736" name="Text Box 6"/>
            <p:cNvSpPr txBox="1">
              <a:spLocks noChangeArrowheads="1"/>
            </p:cNvSpPr>
            <p:nvPr/>
          </p:nvSpPr>
          <p:spPr bwMode="auto">
            <a:xfrm>
              <a:off x="809" y="2417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2000"/>
                <a:t>I</a:t>
              </a:r>
              <a:r>
                <a:rPr lang="tr-TR" sz="2000" baseline="-25000"/>
                <a:t>0</a:t>
              </a:r>
              <a:endParaRPr lang="en-US" sz="2000" baseline="-25000"/>
            </a:p>
          </p:txBody>
        </p:sp>
        <p:sp>
          <p:nvSpPr>
            <p:cNvPr id="73737" name="Line 7"/>
            <p:cNvSpPr>
              <a:spLocks noChangeShapeType="1"/>
            </p:cNvSpPr>
            <p:nvPr/>
          </p:nvSpPr>
          <p:spPr bwMode="auto">
            <a:xfrm>
              <a:off x="1031" y="2495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Text Box 8"/>
            <p:cNvSpPr txBox="1">
              <a:spLocks noChangeArrowheads="1"/>
            </p:cNvSpPr>
            <p:nvPr/>
          </p:nvSpPr>
          <p:spPr bwMode="auto">
            <a:xfrm>
              <a:off x="829" y="2722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2000"/>
                <a:t>I</a:t>
              </a:r>
              <a:r>
                <a:rPr lang="tr-TR" sz="2000" baseline="-25000"/>
                <a:t>1</a:t>
              </a:r>
              <a:endParaRPr lang="en-US" sz="2000" baseline="-25000"/>
            </a:p>
          </p:txBody>
        </p:sp>
        <p:sp>
          <p:nvSpPr>
            <p:cNvPr id="73739" name="Line 9"/>
            <p:cNvSpPr>
              <a:spLocks noChangeShapeType="1"/>
            </p:cNvSpPr>
            <p:nvPr/>
          </p:nvSpPr>
          <p:spPr bwMode="auto">
            <a:xfrm>
              <a:off x="1031" y="2800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0" name="Line 10"/>
            <p:cNvSpPr>
              <a:spLocks noChangeShapeType="1"/>
            </p:cNvSpPr>
            <p:nvPr/>
          </p:nvSpPr>
          <p:spPr bwMode="auto">
            <a:xfrm>
              <a:off x="1583" y="3544"/>
              <a:ext cx="0" cy="2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1" name="Line 11"/>
            <p:cNvSpPr>
              <a:spLocks noChangeShapeType="1"/>
            </p:cNvSpPr>
            <p:nvPr/>
          </p:nvSpPr>
          <p:spPr bwMode="auto">
            <a:xfrm>
              <a:off x="1894" y="2945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2" name="Text Box 12"/>
            <p:cNvSpPr txBox="1">
              <a:spLocks noChangeArrowheads="1"/>
            </p:cNvSpPr>
            <p:nvPr/>
          </p:nvSpPr>
          <p:spPr bwMode="auto">
            <a:xfrm>
              <a:off x="1517" y="2871"/>
              <a:ext cx="33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/>
                <a:t>MUX</a:t>
              </a:r>
            </a:p>
          </p:txBody>
        </p:sp>
        <p:sp>
          <p:nvSpPr>
            <p:cNvPr id="73743" name="Text Box 13"/>
            <p:cNvSpPr txBox="1">
              <a:spLocks noChangeArrowheads="1"/>
            </p:cNvSpPr>
            <p:nvPr/>
          </p:nvSpPr>
          <p:spPr bwMode="auto">
            <a:xfrm>
              <a:off x="2357" y="2847"/>
              <a:ext cx="1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Y</a:t>
              </a:r>
            </a:p>
          </p:txBody>
        </p:sp>
        <p:sp>
          <p:nvSpPr>
            <p:cNvPr id="73744" name="Text Box 14"/>
            <p:cNvSpPr txBox="1">
              <a:spLocks noChangeArrowheads="1"/>
            </p:cNvSpPr>
            <p:nvPr/>
          </p:nvSpPr>
          <p:spPr bwMode="auto">
            <a:xfrm>
              <a:off x="1497" y="3822"/>
              <a:ext cx="1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S</a:t>
              </a:r>
              <a:r>
                <a:rPr lang="en-US" sz="2000" baseline="-25000"/>
                <a:t>1</a:t>
              </a:r>
            </a:p>
          </p:txBody>
        </p:sp>
        <p:sp>
          <p:nvSpPr>
            <p:cNvPr id="73745" name="Text Box 15"/>
            <p:cNvSpPr txBox="1">
              <a:spLocks noChangeArrowheads="1"/>
            </p:cNvSpPr>
            <p:nvPr/>
          </p:nvSpPr>
          <p:spPr bwMode="auto">
            <a:xfrm>
              <a:off x="1445" y="2417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0</a:t>
              </a:r>
            </a:p>
          </p:txBody>
        </p:sp>
        <p:sp>
          <p:nvSpPr>
            <p:cNvPr id="73746" name="Text Box 16"/>
            <p:cNvSpPr txBox="1">
              <a:spLocks noChangeArrowheads="1"/>
            </p:cNvSpPr>
            <p:nvPr/>
          </p:nvSpPr>
          <p:spPr bwMode="auto">
            <a:xfrm>
              <a:off x="1445" y="2704"/>
              <a:ext cx="9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1</a:t>
              </a:r>
            </a:p>
          </p:txBody>
        </p:sp>
        <p:sp>
          <p:nvSpPr>
            <p:cNvPr id="73747" name="Text Box 17"/>
            <p:cNvSpPr txBox="1">
              <a:spLocks noChangeArrowheads="1"/>
            </p:cNvSpPr>
            <p:nvPr/>
          </p:nvSpPr>
          <p:spPr bwMode="auto">
            <a:xfrm>
              <a:off x="823" y="3052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2000"/>
                <a:t>I</a:t>
              </a:r>
              <a:r>
                <a:rPr lang="tr-TR" sz="2000" baseline="-25000"/>
                <a:t>2</a:t>
              </a:r>
              <a:endParaRPr lang="en-US" sz="2000" baseline="-25000"/>
            </a:p>
          </p:txBody>
        </p:sp>
        <p:sp>
          <p:nvSpPr>
            <p:cNvPr id="73748" name="Line 18"/>
            <p:cNvSpPr>
              <a:spLocks noChangeShapeType="1"/>
            </p:cNvSpPr>
            <p:nvPr/>
          </p:nvSpPr>
          <p:spPr bwMode="auto">
            <a:xfrm>
              <a:off x="1045" y="3130"/>
              <a:ext cx="3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49" name="Text Box 19"/>
            <p:cNvSpPr txBox="1">
              <a:spLocks noChangeArrowheads="1"/>
            </p:cNvSpPr>
            <p:nvPr/>
          </p:nvSpPr>
          <p:spPr bwMode="auto">
            <a:xfrm>
              <a:off x="843" y="3393"/>
              <a:ext cx="15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tr-TR" sz="2000"/>
                <a:t>I</a:t>
              </a:r>
              <a:r>
                <a:rPr lang="tr-TR" sz="2000" baseline="-25000"/>
                <a:t>3</a:t>
              </a:r>
              <a:endParaRPr lang="en-US" sz="2000" baseline="-25000"/>
            </a:p>
          </p:txBody>
        </p:sp>
        <p:sp>
          <p:nvSpPr>
            <p:cNvPr id="73750" name="Line 20"/>
            <p:cNvSpPr>
              <a:spLocks noChangeShapeType="1"/>
            </p:cNvSpPr>
            <p:nvPr/>
          </p:nvSpPr>
          <p:spPr bwMode="auto">
            <a:xfrm>
              <a:off x="1045" y="3471"/>
              <a:ext cx="3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1" name="Text Box 21"/>
            <p:cNvSpPr txBox="1">
              <a:spLocks noChangeArrowheads="1"/>
            </p:cNvSpPr>
            <p:nvPr/>
          </p:nvSpPr>
          <p:spPr bwMode="auto">
            <a:xfrm>
              <a:off x="1459" y="3052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2</a:t>
              </a:r>
            </a:p>
          </p:txBody>
        </p:sp>
        <p:sp>
          <p:nvSpPr>
            <p:cNvPr id="73752" name="Text Box 22"/>
            <p:cNvSpPr txBox="1">
              <a:spLocks noChangeArrowheads="1"/>
            </p:cNvSpPr>
            <p:nvPr/>
          </p:nvSpPr>
          <p:spPr bwMode="auto">
            <a:xfrm>
              <a:off x="1459" y="3375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3</a:t>
              </a:r>
            </a:p>
          </p:txBody>
        </p:sp>
        <p:sp>
          <p:nvSpPr>
            <p:cNvPr id="73753" name="Line 23"/>
            <p:cNvSpPr>
              <a:spLocks noChangeShapeType="1"/>
            </p:cNvSpPr>
            <p:nvPr/>
          </p:nvSpPr>
          <p:spPr bwMode="auto">
            <a:xfrm>
              <a:off x="1769" y="3410"/>
              <a:ext cx="0" cy="4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54" name="Text Box 24"/>
            <p:cNvSpPr txBox="1">
              <a:spLocks noChangeArrowheads="1"/>
            </p:cNvSpPr>
            <p:nvPr/>
          </p:nvSpPr>
          <p:spPr bwMode="auto">
            <a:xfrm>
              <a:off x="1690" y="3822"/>
              <a:ext cx="1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S</a:t>
              </a:r>
              <a:r>
                <a:rPr lang="en-US" sz="2000" baseline="-25000"/>
                <a:t>0</a:t>
              </a:r>
            </a:p>
          </p:txBody>
        </p:sp>
      </p:grpSp>
      <p:sp>
        <p:nvSpPr>
          <p:cNvPr id="71772" name="Rectangle 92"/>
          <p:cNvSpPr>
            <a:spLocks noChangeArrowheads="1"/>
          </p:cNvSpPr>
          <p:nvPr/>
        </p:nvSpPr>
        <p:spPr bwMode="auto">
          <a:xfrm>
            <a:off x="4359849" y="5370514"/>
            <a:ext cx="63498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 = 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’S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’I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 + 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’S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 + 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’I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2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 + 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1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S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0</a:t>
            </a:r>
            <a:r>
              <a:rPr lang="tr-TR">
                <a:solidFill>
                  <a:srgbClr val="FF0000"/>
                </a:solidFill>
                <a:sym typeface="Symbol" pitchFamily="18" charset="2"/>
              </a:rPr>
              <a:t>I</a:t>
            </a:r>
            <a:r>
              <a:rPr lang="tr-TR" baseline="-25000">
                <a:solidFill>
                  <a:srgbClr val="FF0000"/>
                </a:solidFill>
                <a:sym typeface="Symbol" pitchFamily="18" charset="2"/>
              </a:rPr>
              <a:t>3</a:t>
            </a:r>
            <a:endParaRPr lang="tr-TR">
              <a:solidFill>
                <a:srgbClr val="FF0000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F1E1-7F5B-2CF8-5908-A720AE13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06AF-D7F6-F23E-4B88-F756A768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4828"/>
            <a:ext cx="8229600" cy="622828"/>
          </a:xfrm>
        </p:spPr>
        <p:txBody>
          <a:bodyPr/>
          <a:lstStyle/>
          <a:p>
            <a:r>
              <a:rPr lang="en-US" dirty="0">
                <a:latin typeface="+mj-lt"/>
              </a:rPr>
              <a:t>Digital Design</a:t>
            </a:r>
            <a:endParaRPr lang="en-US" b="1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422D4-F004-46B0-04DA-C489DC3669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5420" y="937236"/>
            <a:ext cx="11449272" cy="533399"/>
          </a:xfrm>
        </p:spPr>
        <p:txBody>
          <a:bodyPr/>
          <a:lstStyle/>
          <a:p>
            <a:r>
              <a:rPr lang="en-US" sz="3200" dirty="0"/>
              <a:t>With an Introduction to the Verilog HDL, VHDL, and </a:t>
            </a:r>
            <a:r>
              <a:rPr lang="en-US" sz="3200" dirty="0" err="1"/>
              <a:t>SystemVerilog</a:t>
            </a:r>
            <a:r>
              <a:rPr lang="en-US" sz="3200" dirty="0"/>
              <a:t> </a:t>
            </a:r>
            <a:r>
              <a:rPr lang="en-US" sz="3200" dirty="0">
                <a:latin typeface="+mj-lt"/>
              </a:rPr>
              <a:t>6</a:t>
            </a:r>
            <a:r>
              <a:rPr lang="en-US" sz="3200" baseline="30000" dirty="0">
                <a:latin typeface="+mj-lt"/>
              </a:rPr>
              <a:t>th</a:t>
            </a:r>
            <a:r>
              <a:rPr lang="en-US" sz="32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Edition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8ADF8-664A-7F96-E7D3-B565C4981E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3048005"/>
            <a:ext cx="3657600" cy="533399"/>
          </a:xfrm>
        </p:spPr>
        <p:txBody>
          <a:bodyPr/>
          <a:lstStyle/>
          <a:p>
            <a:pPr algn="ctr"/>
            <a:r>
              <a:rPr lang="en-US" dirty="0"/>
              <a:t>Chapter 05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DA6520-0138-A8EF-A842-9721B13079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15001" y="3581404"/>
            <a:ext cx="5701208" cy="1071732"/>
          </a:xfrm>
        </p:spPr>
        <p:txBody>
          <a:bodyPr/>
          <a:lstStyle/>
          <a:p>
            <a:pPr algn="ctr"/>
            <a:r>
              <a:rPr lang="en-IN" sz="2800" b="1" dirty="0"/>
              <a:t>Synchronous Sequential Logic</a:t>
            </a:r>
            <a:endParaRPr lang="en-US" sz="2800" b="1" dirty="0"/>
          </a:p>
        </p:txBody>
      </p:sp>
      <p:pic>
        <p:nvPicPr>
          <p:cNvPr id="1026" name="Picture 2" descr="G:\08VOL4\Graphics\Powerpoint\PEARSON\CRAIG-PPT\Final files\Craig_final_CVR_HiRes.jpg">
            <a:extLst>
              <a:ext uri="{FF2B5EF4-FFF2-40B4-BE49-F238E27FC236}">
                <a16:creationId xmlns:a16="http://schemas.microsoft.com/office/drawing/2014/main" id="{EF681CAC-DB8B-D136-51CB-31CDDF0E5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09800" y="1995029"/>
            <a:ext cx="3302862" cy="4141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406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6E3558E-166D-4C03-9112-FFF4C171CD00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Circuits Model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170113" y="1538288"/>
            <a:ext cx="7885112" cy="1727200"/>
            <a:chOff x="407" y="969"/>
            <a:chExt cx="4967" cy="1088"/>
          </a:xfrm>
        </p:grpSpPr>
        <p:sp>
          <p:nvSpPr>
            <p:cNvPr id="4113" name="Rectangle 4"/>
            <p:cNvSpPr>
              <a:spLocks noChangeArrowheads="1"/>
            </p:cNvSpPr>
            <p:nvPr/>
          </p:nvSpPr>
          <p:spPr bwMode="auto">
            <a:xfrm>
              <a:off x="1828" y="969"/>
              <a:ext cx="1527" cy="10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bg1"/>
                  </a:solidFill>
                </a:rPr>
                <a:t>Combinational </a:t>
              </a:r>
            </a:p>
            <a:p>
              <a:pPr algn="ctr"/>
              <a:r>
                <a:rPr lang="en-US" b="0" dirty="0">
                  <a:solidFill>
                    <a:schemeClr val="bg1"/>
                  </a:solidFill>
                </a:rPr>
                <a:t>Circuit</a:t>
              </a:r>
            </a:p>
          </p:txBody>
        </p:sp>
        <p:sp>
          <p:nvSpPr>
            <p:cNvPr id="4114" name="Line 7"/>
            <p:cNvSpPr>
              <a:spLocks noChangeShapeType="1"/>
            </p:cNvSpPr>
            <p:nvPr/>
          </p:nvSpPr>
          <p:spPr bwMode="auto">
            <a:xfrm flipV="1">
              <a:off x="1125" y="1216"/>
              <a:ext cx="703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5" name="Text Box 8"/>
            <p:cNvSpPr txBox="1">
              <a:spLocks noChangeArrowheads="1"/>
            </p:cNvSpPr>
            <p:nvPr/>
          </p:nvSpPr>
          <p:spPr bwMode="auto">
            <a:xfrm>
              <a:off x="407" y="1068"/>
              <a:ext cx="6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inputs</a:t>
              </a:r>
            </a:p>
          </p:txBody>
        </p:sp>
        <p:sp>
          <p:nvSpPr>
            <p:cNvPr id="4116" name="Line 9"/>
            <p:cNvSpPr>
              <a:spLocks noChangeShapeType="1"/>
            </p:cNvSpPr>
            <p:nvPr/>
          </p:nvSpPr>
          <p:spPr bwMode="auto">
            <a:xfrm>
              <a:off x="3355" y="1216"/>
              <a:ext cx="1226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Text Box 10"/>
            <p:cNvSpPr txBox="1">
              <a:spLocks noChangeArrowheads="1"/>
            </p:cNvSpPr>
            <p:nvPr/>
          </p:nvSpPr>
          <p:spPr bwMode="auto">
            <a:xfrm>
              <a:off x="4581" y="1072"/>
              <a:ext cx="7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outputs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170113" y="2965455"/>
            <a:ext cx="4679950" cy="2759075"/>
            <a:chOff x="407" y="1868"/>
            <a:chExt cx="2948" cy="1738"/>
          </a:xfrm>
        </p:grpSpPr>
        <p:sp>
          <p:nvSpPr>
            <p:cNvPr id="4108" name="Rectangle 6"/>
            <p:cNvSpPr>
              <a:spLocks noChangeArrowheads="1"/>
            </p:cNvSpPr>
            <p:nvPr/>
          </p:nvSpPr>
          <p:spPr bwMode="auto">
            <a:xfrm>
              <a:off x="1828" y="2518"/>
              <a:ext cx="1527" cy="10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solidFill>
                    <a:schemeClr val="bg1"/>
                  </a:solidFill>
                </a:rPr>
                <a:t>Memory </a:t>
              </a:r>
            </a:p>
            <a:p>
              <a:pPr algn="ctr"/>
              <a:r>
                <a:rPr lang="en-US" b="0">
                  <a:solidFill>
                    <a:schemeClr val="bg1"/>
                  </a:solidFill>
                </a:rPr>
                <a:t>Elements</a:t>
              </a:r>
            </a:p>
          </p:txBody>
        </p:sp>
        <p:sp>
          <p:nvSpPr>
            <p:cNvPr id="4109" name="Line 15"/>
            <p:cNvSpPr>
              <a:spLocks noChangeShapeType="1"/>
            </p:cNvSpPr>
            <p:nvPr/>
          </p:nvSpPr>
          <p:spPr bwMode="auto">
            <a:xfrm>
              <a:off x="1389" y="1868"/>
              <a:ext cx="439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Line 16"/>
            <p:cNvSpPr>
              <a:spLocks noChangeShapeType="1"/>
            </p:cNvSpPr>
            <p:nvPr/>
          </p:nvSpPr>
          <p:spPr bwMode="auto">
            <a:xfrm>
              <a:off x="1398" y="1877"/>
              <a:ext cx="0" cy="12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Line 17"/>
            <p:cNvSpPr>
              <a:spLocks noChangeShapeType="1"/>
            </p:cNvSpPr>
            <p:nvPr/>
          </p:nvSpPr>
          <p:spPr bwMode="auto">
            <a:xfrm flipH="1">
              <a:off x="1389" y="3084"/>
              <a:ext cx="4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Text Box 18"/>
            <p:cNvSpPr txBox="1">
              <a:spLocks noChangeArrowheads="1"/>
            </p:cNvSpPr>
            <p:nvPr/>
          </p:nvSpPr>
          <p:spPr bwMode="auto">
            <a:xfrm>
              <a:off x="407" y="2374"/>
              <a:ext cx="802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current</a:t>
              </a:r>
            </a:p>
            <a:p>
              <a:r>
                <a:rPr lang="en-US" b="0"/>
                <a:t>state</a:t>
              </a:r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6850065" y="2946400"/>
            <a:ext cx="1716088" cy="1930400"/>
            <a:chOff x="3355" y="1856"/>
            <a:chExt cx="1081" cy="1216"/>
          </a:xfrm>
        </p:grpSpPr>
        <p:sp>
          <p:nvSpPr>
            <p:cNvPr id="4104" name="Line 11"/>
            <p:cNvSpPr>
              <a:spLocks noChangeShapeType="1"/>
            </p:cNvSpPr>
            <p:nvPr/>
          </p:nvSpPr>
          <p:spPr bwMode="auto">
            <a:xfrm>
              <a:off x="3355" y="1856"/>
              <a:ext cx="439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12"/>
            <p:cNvSpPr>
              <a:spLocks noChangeShapeType="1"/>
            </p:cNvSpPr>
            <p:nvPr/>
          </p:nvSpPr>
          <p:spPr bwMode="auto">
            <a:xfrm>
              <a:off x="3794" y="1865"/>
              <a:ext cx="0" cy="12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13"/>
            <p:cNvSpPr>
              <a:spLocks noChangeShapeType="1"/>
            </p:cNvSpPr>
            <p:nvPr/>
          </p:nvSpPr>
          <p:spPr bwMode="auto">
            <a:xfrm flipH="1">
              <a:off x="3355" y="3072"/>
              <a:ext cx="4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Text Box 19"/>
            <p:cNvSpPr txBox="1">
              <a:spLocks noChangeArrowheads="1"/>
            </p:cNvSpPr>
            <p:nvPr/>
          </p:nvSpPr>
          <p:spPr bwMode="auto">
            <a:xfrm>
              <a:off x="3839" y="2374"/>
              <a:ext cx="597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next</a:t>
              </a:r>
            </a:p>
            <a:p>
              <a:r>
                <a:rPr lang="en-US" b="0"/>
                <a:t>state</a:t>
              </a:r>
            </a:p>
          </p:txBody>
        </p:sp>
      </p:grpSp>
      <p:sp>
        <p:nvSpPr>
          <p:cNvPr id="200724" name="Text Box 20"/>
          <p:cNvSpPr txBox="1">
            <a:spLocks noChangeArrowheads="1"/>
          </p:cNvSpPr>
          <p:nvPr/>
        </p:nvSpPr>
        <p:spPr bwMode="auto">
          <a:xfrm>
            <a:off x="1752605" y="5881693"/>
            <a:ext cx="85918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0" dirty="0"/>
              <a:t>current state is a function of past inputs</a:t>
            </a:r>
            <a:r>
              <a:rPr lang="tr-TR" b="0" dirty="0"/>
              <a:t> and initial state</a:t>
            </a: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A88A62D-FEB9-46A2-A390-B6562A1C289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1295405"/>
            <a:ext cx="1098122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/>
              <a:t>Two types of sequential circuits</a:t>
            </a:r>
          </a:p>
          <a:p>
            <a:pPr marL="533400" indent="-533400" algn="just">
              <a:buFontTx/>
              <a:buAutoNum type="arabicPeriod"/>
            </a:pPr>
            <a:r>
              <a:rPr lang="en-US" sz="2400" dirty="0"/>
              <a:t>Synchronous</a:t>
            </a:r>
          </a:p>
          <a:p>
            <a:pPr marL="922338" lvl="1" indent="-457200" algn="just">
              <a:buFontTx/>
              <a:buChar char="•"/>
            </a:pPr>
            <a:r>
              <a:rPr lang="en-US" dirty="0"/>
              <a:t>The state of the memory elements are updated with the arrival of each pulse</a:t>
            </a:r>
          </a:p>
          <a:p>
            <a:pPr marL="922338" lvl="1" indent="-457200" algn="just">
              <a:buFontTx/>
              <a:buChar char="•"/>
            </a:pPr>
            <a:r>
              <a:rPr lang="en-US" dirty="0"/>
              <a:t>Synchronization is usually achieved through the use of a common </a:t>
            </a:r>
            <a:r>
              <a:rPr lang="en-US" u="sng" dirty="0">
                <a:solidFill>
                  <a:srgbClr val="FF0000"/>
                </a:solidFill>
              </a:rPr>
              <a:t>clock</a:t>
            </a:r>
          </a:p>
          <a:p>
            <a:pPr marL="922338" lvl="1" indent="-457200" algn="just">
              <a:buFontTx/>
              <a:buChar char="•"/>
            </a:pPr>
            <a:endParaRPr lang="en-US" dirty="0"/>
          </a:p>
          <a:p>
            <a:pPr marL="922338" lvl="1" indent="-457200" algn="just">
              <a:buFontTx/>
              <a:buChar char="•"/>
            </a:pPr>
            <a:endParaRPr lang="en-US" dirty="0"/>
          </a:p>
          <a:p>
            <a:pPr marL="533400" indent="-533400" algn="just">
              <a:buFontTx/>
              <a:buAutoNum type="arabicPeriod"/>
            </a:pPr>
            <a:r>
              <a:rPr lang="en-US" sz="2400" dirty="0"/>
              <a:t>Asynchronous</a:t>
            </a:r>
          </a:p>
          <a:p>
            <a:pPr marL="922338" lvl="1" indent="-457200" algn="just">
              <a:buFontTx/>
              <a:buChar char="•"/>
            </a:pPr>
            <a:r>
              <a:rPr lang="en-US" dirty="0"/>
              <a:t>No clock</a:t>
            </a:r>
          </a:p>
          <a:p>
            <a:pPr marL="922338" lvl="1" indent="-457200" algn="just">
              <a:buFontTx/>
              <a:buChar char="•"/>
            </a:pPr>
            <a:r>
              <a:rPr lang="en-US" dirty="0"/>
              <a:t>behavior of an asynchronous sequential circuits depends upon the input signals at any instant of time and the order in which the inputs change.</a:t>
            </a:r>
          </a:p>
        </p:txBody>
      </p:sp>
      <p:grpSp>
        <p:nvGrpSpPr>
          <p:cNvPr id="5" name="Group 22">
            <a:extLst>
              <a:ext uri="{FF2B5EF4-FFF2-40B4-BE49-F238E27FC236}">
                <a16:creationId xmlns:a16="http://schemas.microsoft.com/office/drawing/2014/main" id="{5A620A1A-5E82-4CE8-A895-A1F1491B2796}"/>
              </a:ext>
            </a:extLst>
          </p:cNvPr>
          <p:cNvGrpSpPr>
            <a:grpSpLocks/>
          </p:cNvGrpSpPr>
          <p:nvPr/>
        </p:nvGrpSpPr>
        <p:grpSpPr bwMode="auto">
          <a:xfrm>
            <a:off x="2855640" y="3715345"/>
            <a:ext cx="7431087" cy="579438"/>
            <a:chOff x="521" y="3310"/>
            <a:chExt cx="4681" cy="365"/>
          </a:xfrm>
        </p:grpSpPr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5EFDB9F1-D806-4404-B2CF-36FE28E9A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3675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81474C4C-BEB4-4C34-B773-B222A53C54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3" y="3319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87117BB1-899D-4ADB-B549-AE655D5B0E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" y="3319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EDCBB2A6-7BE3-46D2-8B82-F0467DBF4F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9" y="3319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951DC506-ADCD-443E-9F6F-B5AC546CD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0" y="3666"/>
              <a:ext cx="866" cy="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828700A0-AB2F-4FEF-BA02-CE56D6F83F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310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4314E501-A39A-4C79-8F1A-B64959017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9" y="3310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9D3E51D9-6A5C-4DB7-9A9A-4DE0C524C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5" y="3310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1CB6B2F4-F554-4835-AABC-3645B611F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6" y="3657"/>
              <a:ext cx="866" cy="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86813051-2483-4CB5-95AB-2D8CC91270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2" y="3314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733C3112-1E9C-441B-ACE6-61E0B696F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3314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60F5459D-1913-43AE-ABCD-A1D40A5FE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8" y="3314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6062BF5A-2724-403B-B179-010F82007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3661"/>
              <a:ext cx="866" cy="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8EE4F765-06B4-4089-AEAC-094A88AB46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3" y="3314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FFB438A4-EBFD-4CED-A062-8C70F756A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3" y="3314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177E5161-D3B9-4AD7-93DD-B0E390F0F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9" y="3314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9D5E9B69-B760-4F1A-9A25-F49C72B1C0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0" y="3657"/>
              <a:ext cx="122" cy="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2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A23C26-FEE9-4D74-8CCF-04EC6C5C67C0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Clocked Sequential Circuits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800100"/>
            <a:ext cx="10981220" cy="1430338"/>
          </a:xfrm>
        </p:spPr>
        <p:txBody>
          <a:bodyPr/>
          <a:lstStyle/>
          <a:p>
            <a:pPr algn="just"/>
            <a:r>
              <a:rPr lang="en-US" dirty="0"/>
              <a:t>Memory elements are flip-flops which are logic devices</a:t>
            </a:r>
            <a:r>
              <a:rPr lang="tr-TR" dirty="0"/>
              <a:t>, each of which is</a:t>
            </a:r>
            <a:r>
              <a:rPr lang="en-US" dirty="0"/>
              <a:t> capable of storing one bit of information.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2170113" y="2260600"/>
            <a:ext cx="7885112" cy="3995738"/>
            <a:chOff x="407" y="1513"/>
            <a:chExt cx="4967" cy="2517"/>
          </a:xfrm>
        </p:grpSpPr>
        <p:sp>
          <p:nvSpPr>
            <p:cNvPr id="7190" name="Rectangle 4"/>
            <p:cNvSpPr>
              <a:spLocks noChangeArrowheads="1"/>
            </p:cNvSpPr>
            <p:nvPr/>
          </p:nvSpPr>
          <p:spPr bwMode="auto">
            <a:xfrm>
              <a:off x="1828" y="1513"/>
              <a:ext cx="1527" cy="108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solidFill>
                    <a:schemeClr val="bg1"/>
                  </a:solidFill>
                </a:rPr>
                <a:t>Combinational </a:t>
              </a:r>
            </a:p>
            <a:p>
              <a:pPr algn="ctr"/>
              <a:r>
                <a:rPr lang="en-US" b="0">
                  <a:solidFill>
                    <a:schemeClr val="bg1"/>
                  </a:solidFill>
                </a:rPr>
                <a:t>Circuit</a:t>
              </a:r>
            </a:p>
          </p:txBody>
        </p:sp>
        <p:sp>
          <p:nvSpPr>
            <p:cNvPr id="7191" name="Rectangle 5"/>
            <p:cNvSpPr>
              <a:spLocks noChangeArrowheads="1"/>
            </p:cNvSpPr>
            <p:nvPr/>
          </p:nvSpPr>
          <p:spPr bwMode="auto">
            <a:xfrm>
              <a:off x="1828" y="3215"/>
              <a:ext cx="1527" cy="81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0">
                  <a:solidFill>
                    <a:schemeClr val="bg1"/>
                  </a:solidFill>
                </a:rPr>
                <a:t>Flip-Flops</a:t>
              </a:r>
            </a:p>
          </p:txBody>
        </p:sp>
        <p:sp>
          <p:nvSpPr>
            <p:cNvPr id="7192" name="Line 6"/>
            <p:cNvSpPr>
              <a:spLocks noChangeShapeType="1"/>
            </p:cNvSpPr>
            <p:nvPr/>
          </p:nvSpPr>
          <p:spPr bwMode="auto">
            <a:xfrm flipV="1">
              <a:off x="1125" y="1760"/>
              <a:ext cx="703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Text Box 7"/>
            <p:cNvSpPr txBox="1">
              <a:spLocks noChangeArrowheads="1"/>
            </p:cNvSpPr>
            <p:nvPr/>
          </p:nvSpPr>
          <p:spPr bwMode="auto">
            <a:xfrm>
              <a:off x="407" y="1612"/>
              <a:ext cx="6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inputs</a:t>
              </a:r>
            </a:p>
          </p:txBody>
        </p:sp>
        <p:sp>
          <p:nvSpPr>
            <p:cNvPr id="7194" name="Line 8"/>
            <p:cNvSpPr>
              <a:spLocks noChangeShapeType="1"/>
            </p:cNvSpPr>
            <p:nvPr/>
          </p:nvSpPr>
          <p:spPr bwMode="auto">
            <a:xfrm>
              <a:off x="3355" y="1760"/>
              <a:ext cx="1226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Text Box 9"/>
            <p:cNvSpPr txBox="1">
              <a:spLocks noChangeArrowheads="1"/>
            </p:cNvSpPr>
            <p:nvPr/>
          </p:nvSpPr>
          <p:spPr bwMode="auto">
            <a:xfrm>
              <a:off x="4581" y="1616"/>
              <a:ext cx="7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outputs</a:t>
              </a:r>
            </a:p>
          </p:txBody>
        </p:sp>
        <p:sp>
          <p:nvSpPr>
            <p:cNvPr id="7196" name="Line 10"/>
            <p:cNvSpPr>
              <a:spLocks noChangeShapeType="1"/>
            </p:cNvSpPr>
            <p:nvPr/>
          </p:nvSpPr>
          <p:spPr bwMode="auto">
            <a:xfrm>
              <a:off x="3355" y="2400"/>
              <a:ext cx="439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7" name="Line 11"/>
            <p:cNvSpPr>
              <a:spLocks noChangeShapeType="1"/>
            </p:cNvSpPr>
            <p:nvPr/>
          </p:nvSpPr>
          <p:spPr bwMode="auto">
            <a:xfrm>
              <a:off x="3794" y="2409"/>
              <a:ext cx="0" cy="12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Line 12"/>
            <p:cNvSpPr>
              <a:spLocks noChangeShapeType="1"/>
            </p:cNvSpPr>
            <p:nvPr/>
          </p:nvSpPr>
          <p:spPr bwMode="auto">
            <a:xfrm flipH="1">
              <a:off x="3355" y="3616"/>
              <a:ext cx="4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9" name="Line 13"/>
            <p:cNvSpPr>
              <a:spLocks noChangeShapeType="1"/>
            </p:cNvSpPr>
            <p:nvPr/>
          </p:nvSpPr>
          <p:spPr bwMode="auto">
            <a:xfrm>
              <a:off x="1389" y="2412"/>
              <a:ext cx="439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Line 14"/>
            <p:cNvSpPr>
              <a:spLocks noChangeShapeType="1"/>
            </p:cNvSpPr>
            <p:nvPr/>
          </p:nvSpPr>
          <p:spPr bwMode="auto">
            <a:xfrm>
              <a:off x="1398" y="2421"/>
              <a:ext cx="0" cy="12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15"/>
            <p:cNvSpPr>
              <a:spLocks noChangeShapeType="1"/>
            </p:cNvSpPr>
            <p:nvPr/>
          </p:nvSpPr>
          <p:spPr bwMode="auto">
            <a:xfrm flipH="1">
              <a:off x="1389" y="3628"/>
              <a:ext cx="4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2" name="Text Box 16"/>
            <p:cNvSpPr txBox="1">
              <a:spLocks noChangeArrowheads="1"/>
            </p:cNvSpPr>
            <p:nvPr/>
          </p:nvSpPr>
          <p:spPr bwMode="auto">
            <a:xfrm>
              <a:off x="407" y="2918"/>
              <a:ext cx="802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current</a:t>
              </a:r>
            </a:p>
            <a:p>
              <a:r>
                <a:rPr lang="en-US" b="0"/>
                <a:t>state</a:t>
              </a:r>
            </a:p>
          </p:txBody>
        </p:sp>
        <p:sp>
          <p:nvSpPr>
            <p:cNvPr id="7203" name="Text Box 17"/>
            <p:cNvSpPr txBox="1">
              <a:spLocks noChangeArrowheads="1"/>
            </p:cNvSpPr>
            <p:nvPr/>
          </p:nvSpPr>
          <p:spPr bwMode="auto">
            <a:xfrm>
              <a:off x="3839" y="2918"/>
              <a:ext cx="597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next</a:t>
              </a:r>
            </a:p>
            <a:p>
              <a:r>
                <a:rPr lang="en-US" b="0"/>
                <a:t>state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389193" y="5799138"/>
            <a:ext cx="2192337" cy="457200"/>
            <a:chOff x="545" y="3742"/>
            <a:chExt cx="1381" cy="288"/>
          </a:xfrm>
        </p:grpSpPr>
        <p:sp>
          <p:nvSpPr>
            <p:cNvPr id="7187" name="AutoShape 18"/>
            <p:cNvSpPr>
              <a:spLocks noChangeArrowheads="1"/>
            </p:cNvSpPr>
            <p:nvPr/>
          </p:nvSpPr>
          <p:spPr bwMode="auto">
            <a:xfrm rot="5400000">
              <a:off x="1819" y="3844"/>
              <a:ext cx="113" cy="10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7188" name="Line 19"/>
            <p:cNvSpPr>
              <a:spLocks noChangeShapeType="1"/>
            </p:cNvSpPr>
            <p:nvPr/>
          </p:nvSpPr>
          <p:spPr bwMode="auto">
            <a:xfrm>
              <a:off x="1389" y="3906"/>
              <a:ext cx="4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Text Box 20"/>
            <p:cNvSpPr txBox="1">
              <a:spLocks noChangeArrowheads="1"/>
            </p:cNvSpPr>
            <p:nvPr/>
          </p:nvSpPr>
          <p:spPr bwMode="auto">
            <a:xfrm>
              <a:off x="545" y="3742"/>
              <a:ext cx="5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clock</a:t>
              </a:r>
            </a:p>
          </p:txBody>
        </p:sp>
      </p:grpSp>
      <p:cxnSp>
        <p:nvCxnSpPr>
          <p:cNvPr id="25" name="Straight Connector 24"/>
          <p:cNvCxnSpPr>
            <a:cxnSpLocks noChangeShapeType="1"/>
          </p:cNvCxnSpPr>
          <p:nvPr/>
        </p:nvCxnSpPr>
        <p:spPr bwMode="auto">
          <a:xfrm>
            <a:off x="3729038" y="6700843"/>
            <a:ext cx="728662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7" name="Straight Connector 26"/>
          <p:cNvCxnSpPr>
            <a:cxnSpLocks noChangeShapeType="1"/>
          </p:cNvCxnSpPr>
          <p:nvPr/>
        </p:nvCxnSpPr>
        <p:spPr bwMode="auto">
          <a:xfrm rot="5400000" flipH="1" flipV="1">
            <a:off x="4314830" y="6561143"/>
            <a:ext cx="284163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29" name="Straight Connector 28"/>
          <p:cNvCxnSpPr>
            <a:cxnSpLocks noChangeShapeType="1"/>
          </p:cNvCxnSpPr>
          <p:nvPr/>
        </p:nvCxnSpPr>
        <p:spPr bwMode="auto">
          <a:xfrm>
            <a:off x="4457705" y="6419850"/>
            <a:ext cx="639763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1" name="Straight Connector 30"/>
          <p:cNvCxnSpPr>
            <a:cxnSpLocks noChangeShapeType="1"/>
          </p:cNvCxnSpPr>
          <p:nvPr/>
        </p:nvCxnSpPr>
        <p:spPr bwMode="auto">
          <a:xfrm rot="5400000">
            <a:off x="4958557" y="6561936"/>
            <a:ext cx="279400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2" name="Straight Connector 31"/>
          <p:cNvCxnSpPr>
            <a:cxnSpLocks noChangeShapeType="1"/>
          </p:cNvCxnSpPr>
          <p:nvPr/>
        </p:nvCxnSpPr>
        <p:spPr bwMode="auto">
          <a:xfrm>
            <a:off x="5097468" y="6699250"/>
            <a:ext cx="727075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3" name="Straight Connector 32"/>
          <p:cNvCxnSpPr>
            <a:cxnSpLocks noChangeShapeType="1"/>
          </p:cNvCxnSpPr>
          <p:nvPr/>
        </p:nvCxnSpPr>
        <p:spPr bwMode="auto">
          <a:xfrm rot="5400000" flipH="1" flipV="1">
            <a:off x="5684049" y="6558762"/>
            <a:ext cx="282575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4" name="Straight Connector 33"/>
          <p:cNvCxnSpPr>
            <a:cxnSpLocks noChangeShapeType="1"/>
          </p:cNvCxnSpPr>
          <p:nvPr/>
        </p:nvCxnSpPr>
        <p:spPr bwMode="auto">
          <a:xfrm>
            <a:off x="5826130" y="6418268"/>
            <a:ext cx="639763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5" name="Straight Connector 34"/>
          <p:cNvCxnSpPr>
            <a:cxnSpLocks noChangeShapeType="1"/>
          </p:cNvCxnSpPr>
          <p:nvPr/>
        </p:nvCxnSpPr>
        <p:spPr bwMode="auto">
          <a:xfrm rot="5400000">
            <a:off x="6325394" y="6558756"/>
            <a:ext cx="279400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6" name="Straight Connector 35"/>
          <p:cNvCxnSpPr>
            <a:cxnSpLocks noChangeShapeType="1"/>
          </p:cNvCxnSpPr>
          <p:nvPr/>
        </p:nvCxnSpPr>
        <p:spPr bwMode="auto">
          <a:xfrm>
            <a:off x="6465888" y="6696075"/>
            <a:ext cx="728662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7" name="Straight Connector 36"/>
          <p:cNvCxnSpPr>
            <a:cxnSpLocks noChangeShapeType="1"/>
          </p:cNvCxnSpPr>
          <p:nvPr/>
        </p:nvCxnSpPr>
        <p:spPr bwMode="auto">
          <a:xfrm rot="5400000" flipH="1" flipV="1">
            <a:off x="7051676" y="6556380"/>
            <a:ext cx="284162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8" name="Straight Connector 37"/>
          <p:cNvCxnSpPr>
            <a:cxnSpLocks noChangeShapeType="1"/>
          </p:cNvCxnSpPr>
          <p:nvPr/>
        </p:nvCxnSpPr>
        <p:spPr bwMode="auto">
          <a:xfrm>
            <a:off x="7194555" y="6415093"/>
            <a:ext cx="639763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9" name="Straight Connector 38"/>
          <p:cNvCxnSpPr>
            <a:cxnSpLocks noChangeShapeType="1"/>
          </p:cNvCxnSpPr>
          <p:nvPr/>
        </p:nvCxnSpPr>
        <p:spPr bwMode="auto">
          <a:xfrm rot="5400000">
            <a:off x="7695407" y="6557174"/>
            <a:ext cx="279400" cy="1587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4BE64E-89C6-49A3-826D-5CFC96BCD62E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Clocked Sequential Circuits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The outputs of a clocked sequential circuit can come from the combinational circuit, from the outputs of the flip-flops or both.</a:t>
            </a:r>
          </a:p>
          <a:p>
            <a:pPr algn="just"/>
            <a:r>
              <a:rPr lang="en-US" dirty="0"/>
              <a:t>The state of the flip-flops can change only during a clock pulse transition </a:t>
            </a:r>
          </a:p>
          <a:p>
            <a:pPr lvl="1" algn="just"/>
            <a:r>
              <a:rPr lang="en-US" dirty="0"/>
              <a:t>i.e. </a:t>
            </a:r>
            <a:r>
              <a:rPr lang="en-US" dirty="0">
                <a:solidFill>
                  <a:srgbClr val="FF0000"/>
                </a:solidFill>
              </a:rPr>
              <a:t>low-to-high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high-to-low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clock edge</a:t>
            </a:r>
          </a:p>
          <a:p>
            <a:pPr algn="just"/>
            <a:r>
              <a:rPr lang="en-US" dirty="0"/>
              <a:t>When the clock maintains its value, the flip-flop output does not change</a:t>
            </a:r>
          </a:p>
          <a:p>
            <a:pPr algn="just"/>
            <a:r>
              <a:rPr lang="en-US" dirty="0"/>
              <a:t>The transition from one state to the </a:t>
            </a:r>
            <a:r>
              <a:rPr lang="tr-TR" dirty="0"/>
              <a:t>next</a:t>
            </a:r>
            <a:r>
              <a:rPr lang="en-US" dirty="0"/>
              <a:t> occurs at the clock edge.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4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4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2F571D-EF91-4C71-8CD2-8789000096C5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Latches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3600" dirty="0"/>
              <a:t>The most basic types of memory elements are latches.</a:t>
            </a:r>
          </a:p>
          <a:p>
            <a:pPr algn="just"/>
            <a:r>
              <a:rPr lang="en-US" sz="3600" dirty="0"/>
              <a:t>A latch is a memory device that can maintain a binary state.</a:t>
            </a:r>
          </a:p>
          <a:p>
            <a:pPr algn="just"/>
            <a:r>
              <a:rPr lang="en-US" sz="3600" dirty="0"/>
              <a:t>Latches are, in fact, asynchronous devices and they usually do not require a clock to operate.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E125A-0180-5419-359D-2502D17A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NAND/NOR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65D7-F60A-0B19-D605-111CBD911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3432" y="3789040"/>
            <a:ext cx="5074468" cy="25355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NAND</a:t>
            </a:r>
          </a:p>
          <a:p>
            <a:r>
              <a:rPr lang="en-US" dirty="0"/>
              <a:t>Any I/P =0 </a:t>
            </a:r>
            <a:r>
              <a:rPr lang="en-US" dirty="0">
                <a:sym typeface="Wingdings" panose="05000000000000000000" pitchFamily="2" charset="2"/>
              </a:rPr>
              <a:t> O/P = 1</a:t>
            </a:r>
          </a:p>
          <a:p>
            <a:r>
              <a:rPr lang="en-US" dirty="0">
                <a:sym typeface="Wingdings" panose="05000000000000000000" pitchFamily="2" charset="2"/>
              </a:rPr>
              <a:t>All I/Ps =1  O/P = 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F2DC38-819E-54FA-8CD3-4583F3117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0300" y="3789040"/>
            <a:ext cx="5074468" cy="25355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NOR</a:t>
            </a:r>
          </a:p>
          <a:p>
            <a:r>
              <a:rPr lang="en-US" dirty="0"/>
              <a:t>Any I/P =1 </a:t>
            </a:r>
            <a:r>
              <a:rPr lang="en-US" dirty="0">
                <a:sym typeface="Wingdings" panose="05000000000000000000" pitchFamily="2" charset="2"/>
              </a:rPr>
              <a:t> O/P = 0</a:t>
            </a:r>
          </a:p>
          <a:p>
            <a:r>
              <a:rPr lang="en-US" dirty="0">
                <a:sym typeface="Wingdings" panose="05000000000000000000" pitchFamily="2" charset="2"/>
              </a:rPr>
              <a:t>All I/Ps =0 O/P =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D531E-26C2-BFE4-F689-8F3DE50E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7866E3-3991-45BC-A688-9D32DAFA61E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941F3-0A1C-6EF5-EF5F-9A7005283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95" y="1160751"/>
            <a:ext cx="4609423" cy="275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69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05D98E9-EB38-426D-8A61-31B7F83D3733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SR-Latch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747713"/>
            <a:ext cx="10441160" cy="557212"/>
          </a:xfrm>
        </p:spPr>
        <p:txBody>
          <a:bodyPr/>
          <a:lstStyle/>
          <a:p>
            <a:r>
              <a:rPr lang="en-US" sz="3600" dirty="0"/>
              <a:t>made of cross-coupled NOR (or NAND) gates</a:t>
            </a:r>
          </a:p>
        </p:txBody>
      </p:sp>
      <p:grpSp>
        <p:nvGrpSpPr>
          <p:cNvPr id="2" name="Group 198"/>
          <p:cNvGrpSpPr>
            <a:grpSpLocks/>
          </p:cNvGrpSpPr>
          <p:nvPr/>
        </p:nvGrpSpPr>
        <p:grpSpPr bwMode="auto">
          <a:xfrm>
            <a:off x="1117605" y="2841631"/>
            <a:ext cx="4397375" cy="2127251"/>
            <a:chOff x="171" y="1108"/>
            <a:chExt cx="2770" cy="1340"/>
          </a:xfrm>
        </p:grpSpPr>
        <p:sp>
          <p:nvSpPr>
            <p:cNvPr id="10277" name="Text Box 14"/>
            <p:cNvSpPr txBox="1">
              <a:spLocks noChangeArrowheads="1"/>
            </p:cNvSpPr>
            <p:nvPr/>
          </p:nvSpPr>
          <p:spPr bwMode="auto">
            <a:xfrm>
              <a:off x="188" y="1127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R</a:t>
              </a:r>
            </a:p>
          </p:txBody>
        </p:sp>
        <p:sp>
          <p:nvSpPr>
            <p:cNvPr id="10278" name="Line 16"/>
            <p:cNvSpPr>
              <a:spLocks noChangeShapeType="1"/>
            </p:cNvSpPr>
            <p:nvPr/>
          </p:nvSpPr>
          <p:spPr bwMode="auto">
            <a:xfrm flipV="1">
              <a:off x="380" y="1238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Line 17"/>
            <p:cNvSpPr>
              <a:spLocks noChangeShapeType="1"/>
            </p:cNvSpPr>
            <p:nvPr/>
          </p:nvSpPr>
          <p:spPr bwMode="auto">
            <a:xfrm flipV="1">
              <a:off x="1799" y="1357"/>
              <a:ext cx="8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18"/>
            <p:cNvSpPr>
              <a:spLocks/>
            </p:cNvSpPr>
            <p:nvPr/>
          </p:nvSpPr>
          <p:spPr bwMode="auto">
            <a:xfrm>
              <a:off x="1318" y="1108"/>
              <a:ext cx="397" cy="497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281" name="Line 19"/>
            <p:cNvSpPr>
              <a:spLocks noChangeShapeType="1"/>
            </p:cNvSpPr>
            <p:nvPr/>
          </p:nvSpPr>
          <p:spPr bwMode="auto">
            <a:xfrm flipV="1">
              <a:off x="1148" y="1480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Oval 20"/>
            <p:cNvSpPr>
              <a:spLocks noChangeArrowheads="1"/>
            </p:cNvSpPr>
            <p:nvPr/>
          </p:nvSpPr>
          <p:spPr bwMode="auto">
            <a:xfrm>
              <a:off x="1716" y="1314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283" name="Text Box 67"/>
            <p:cNvSpPr txBox="1">
              <a:spLocks noChangeArrowheads="1"/>
            </p:cNvSpPr>
            <p:nvPr/>
          </p:nvSpPr>
          <p:spPr bwMode="auto">
            <a:xfrm>
              <a:off x="2735" y="1235"/>
              <a:ext cx="1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 dirty="0"/>
                <a:t>Q</a:t>
              </a:r>
              <a:endParaRPr lang="en-US" b="0" baseline="-25000" dirty="0"/>
            </a:p>
          </p:txBody>
        </p:sp>
        <p:sp>
          <p:nvSpPr>
            <p:cNvPr id="10284" name="Line 69"/>
            <p:cNvSpPr>
              <a:spLocks noChangeShapeType="1"/>
            </p:cNvSpPr>
            <p:nvPr/>
          </p:nvSpPr>
          <p:spPr bwMode="auto">
            <a:xfrm>
              <a:off x="1148" y="1605"/>
              <a:ext cx="1136" cy="4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Text Box 70"/>
            <p:cNvSpPr txBox="1">
              <a:spLocks noChangeArrowheads="1"/>
            </p:cNvSpPr>
            <p:nvPr/>
          </p:nvSpPr>
          <p:spPr bwMode="auto">
            <a:xfrm>
              <a:off x="171" y="2215"/>
              <a:ext cx="1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S</a:t>
              </a:r>
            </a:p>
          </p:txBody>
        </p:sp>
        <p:sp>
          <p:nvSpPr>
            <p:cNvPr id="10286" name="Line 71"/>
            <p:cNvSpPr>
              <a:spLocks noChangeShapeType="1"/>
            </p:cNvSpPr>
            <p:nvPr/>
          </p:nvSpPr>
          <p:spPr bwMode="auto">
            <a:xfrm flipV="1">
              <a:off x="363" y="2326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Line 72"/>
            <p:cNvSpPr>
              <a:spLocks noChangeShapeType="1"/>
            </p:cNvSpPr>
            <p:nvPr/>
          </p:nvSpPr>
          <p:spPr bwMode="auto">
            <a:xfrm flipV="1">
              <a:off x="1800" y="2184"/>
              <a:ext cx="87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8" name="Freeform 73"/>
            <p:cNvSpPr>
              <a:spLocks/>
            </p:cNvSpPr>
            <p:nvPr/>
          </p:nvSpPr>
          <p:spPr bwMode="auto">
            <a:xfrm>
              <a:off x="1319" y="1935"/>
              <a:ext cx="397" cy="497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289" name="Line 74"/>
            <p:cNvSpPr>
              <a:spLocks noChangeShapeType="1"/>
            </p:cNvSpPr>
            <p:nvPr/>
          </p:nvSpPr>
          <p:spPr bwMode="auto">
            <a:xfrm flipV="1">
              <a:off x="1132" y="2060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Oval 75"/>
            <p:cNvSpPr>
              <a:spLocks noChangeArrowheads="1"/>
            </p:cNvSpPr>
            <p:nvPr/>
          </p:nvSpPr>
          <p:spPr bwMode="auto">
            <a:xfrm>
              <a:off x="1717" y="2141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291" name="Text Box 76"/>
            <p:cNvSpPr txBox="1">
              <a:spLocks noChangeArrowheads="1"/>
            </p:cNvSpPr>
            <p:nvPr/>
          </p:nvSpPr>
          <p:spPr bwMode="auto">
            <a:xfrm>
              <a:off x="2736" y="2062"/>
              <a:ext cx="20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 dirty="0">
                  <a:solidFill>
                    <a:srgbClr val="FF0000"/>
                  </a:solidFill>
                </a:rPr>
                <a:t>Q’</a:t>
              </a:r>
            </a:p>
          </p:txBody>
        </p:sp>
        <p:sp>
          <p:nvSpPr>
            <p:cNvPr id="10292" name="Line 79"/>
            <p:cNvSpPr>
              <a:spLocks noChangeShapeType="1"/>
            </p:cNvSpPr>
            <p:nvPr/>
          </p:nvSpPr>
          <p:spPr bwMode="auto">
            <a:xfrm>
              <a:off x="2284" y="2060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Line 80"/>
            <p:cNvSpPr>
              <a:spLocks noChangeShapeType="1"/>
            </p:cNvSpPr>
            <p:nvPr/>
          </p:nvSpPr>
          <p:spPr bwMode="auto">
            <a:xfrm>
              <a:off x="1148" y="1481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Line 81"/>
            <p:cNvSpPr>
              <a:spLocks noChangeShapeType="1"/>
            </p:cNvSpPr>
            <p:nvPr/>
          </p:nvSpPr>
          <p:spPr bwMode="auto">
            <a:xfrm>
              <a:off x="1129" y="1938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Line 82"/>
            <p:cNvSpPr>
              <a:spLocks noChangeShapeType="1"/>
            </p:cNvSpPr>
            <p:nvPr/>
          </p:nvSpPr>
          <p:spPr bwMode="auto">
            <a:xfrm>
              <a:off x="2283" y="1357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Line 83"/>
            <p:cNvSpPr>
              <a:spLocks noChangeShapeType="1"/>
            </p:cNvSpPr>
            <p:nvPr/>
          </p:nvSpPr>
          <p:spPr bwMode="auto">
            <a:xfrm flipV="1">
              <a:off x="1129" y="1465"/>
              <a:ext cx="1156" cy="4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Oval 84"/>
            <p:cNvSpPr>
              <a:spLocks noChangeArrowheads="1"/>
            </p:cNvSpPr>
            <p:nvPr/>
          </p:nvSpPr>
          <p:spPr bwMode="auto">
            <a:xfrm>
              <a:off x="2257" y="1332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298" name="Oval 85"/>
            <p:cNvSpPr>
              <a:spLocks noChangeArrowheads="1"/>
            </p:cNvSpPr>
            <p:nvPr/>
          </p:nvSpPr>
          <p:spPr bwMode="auto">
            <a:xfrm>
              <a:off x="2257" y="2156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D929BF-F809-DAFA-88EA-119550525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689651"/>
              </p:ext>
            </p:extLst>
          </p:nvPr>
        </p:nvGraphicFramePr>
        <p:xfrm>
          <a:off x="5957892" y="1662113"/>
          <a:ext cx="4430261" cy="394461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58333">
                  <a:extLst>
                    <a:ext uri="{9D8B030D-6E8A-4147-A177-3AD203B41FA5}">
                      <a16:colId xmlns:a16="http://schemas.microsoft.com/office/drawing/2014/main" val="2686443422"/>
                    </a:ext>
                  </a:extLst>
                </a:gridCol>
                <a:gridCol w="758333">
                  <a:extLst>
                    <a:ext uri="{9D8B030D-6E8A-4147-A177-3AD203B41FA5}">
                      <a16:colId xmlns:a16="http://schemas.microsoft.com/office/drawing/2014/main" val="3673276468"/>
                    </a:ext>
                  </a:extLst>
                </a:gridCol>
                <a:gridCol w="758333">
                  <a:extLst>
                    <a:ext uri="{9D8B030D-6E8A-4147-A177-3AD203B41FA5}">
                      <a16:colId xmlns:a16="http://schemas.microsoft.com/office/drawing/2014/main" val="807434318"/>
                    </a:ext>
                  </a:extLst>
                </a:gridCol>
                <a:gridCol w="1077631">
                  <a:extLst>
                    <a:ext uri="{9D8B030D-6E8A-4147-A177-3AD203B41FA5}">
                      <a16:colId xmlns:a16="http://schemas.microsoft.com/office/drawing/2014/main" val="1188672350"/>
                    </a:ext>
                  </a:extLst>
                </a:gridCol>
                <a:gridCol w="1077631">
                  <a:extLst>
                    <a:ext uri="{9D8B030D-6E8A-4147-A177-3AD203B41FA5}">
                      <a16:colId xmlns:a16="http://schemas.microsoft.com/office/drawing/2014/main" val="3574945608"/>
                    </a:ext>
                  </a:extLst>
                </a:gridCol>
              </a:tblGrid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Q(t+1)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656561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83302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14870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077335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055072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72393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309686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761694"/>
                  </a:ext>
                </a:extLst>
              </a:tr>
              <a:tr h="438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2028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3C8D-5DAB-C87C-59D2-D1731580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0984EDA6-D4D7-3F4F-9200-3DBC1506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05D98E9-EB38-426D-8A61-31B7F83D3733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1BF697C9-9618-3ED9-A61E-3111D6075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SR-Latch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9BD28B11-F018-641A-2C85-E6674D6D2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416" y="747713"/>
            <a:ext cx="10801200" cy="735912"/>
          </a:xfrm>
        </p:spPr>
        <p:txBody>
          <a:bodyPr/>
          <a:lstStyle/>
          <a:p>
            <a:r>
              <a:rPr lang="en-US" sz="3200" dirty="0"/>
              <a:t>made of cross-coupled NOR (or NAND) gates</a:t>
            </a:r>
          </a:p>
        </p:txBody>
      </p:sp>
      <p:grpSp>
        <p:nvGrpSpPr>
          <p:cNvPr id="2" name="Group 198">
            <a:extLst>
              <a:ext uri="{FF2B5EF4-FFF2-40B4-BE49-F238E27FC236}">
                <a16:creationId xmlns:a16="http://schemas.microsoft.com/office/drawing/2014/main" id="{C153939C-F3BD-3BA2-A6FF-EEF82B95F842}"/>
              </a:ext>
            </a:extLst>
          </p:cNvPr>
          <p:cNvGrpSpPr>
            <a:grpSpLocks/>
          </p:cNvGrpSpPr>
          <p:nvPr/>
        </p:nvGrpSpPr>
        <p:grpSpPr bwMode="auto">
          <a:xfrm>
            <a:off x="3978137" y="1317031"/>
            <a:ext cx="4126224" cy="1945021"/>
            <a:chOff x="171" y="1108"/>
            <a:chExt cx="2785" cy="1366"/>
          </a:xfrm>
        </p:grpSpPr>
        <p:sp>
          <p:nvSpPr>
            <p:cNvPr id="10277" name="Text Box 14">
              <a:extLst>
                <a:ext uri="{FF2B5EF4-FFF2-40B4-BE49-F238E27FC236}">
                  <a16:creationId xmlns:a16="http://schemas.microsoft.com/office/drawing/2014/main" id="{61B1E4D9-7A31-9302-BB4A-4A6E472C6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" y="1127"/>
              <a:ext cx="13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R</a:t>
              </a:r>
            </a:p>
          </p:txBody>
        </p:sp>
        <p:sp>
          <p:nvSpPr>
            <p:cNvPr id="10278" name="Line 16">
              <a:extLst>
                <a:ext uri="{FF2B5EF4-FFF2-40B4-BE49-F238E27FC236}">
                  <a16:creationId xmlns:a16="http://schemas.microsoft.com/office/drawing/2014/main" id="{D440B329-FA8F-2B92-5BB5-41EE4A79C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0" y="1238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Line 17">
              <a:extLst>
                <a:ext uri="{FF2B5EF4-FFF2-40B4-BE49-F238E27FC236}">
                  <a16:creationId xmlns:a16="http://schemas.microsoft.com/office/drawing/2014/main" id="{3318A50A-4E60-EC38-FA76-B8D95E4AE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9" y="1357"/>
              <a:ext cx="8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18">
              <a:extLst>
                <a:ext uri="{FF2B5EF4-FFF2-40B4-BE49-F238E27FC236}">
                  <a16:creationId xmlns:a16="http://schemas.microsoft.com/office/drawing/2014/main" id="{C54AC08E-6032-8C49-AEAA-AE74119D8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108"/>
              <a:ext cx="397" cy="497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281" name="Line 19">
              <a:extLst>
                <a:ext uri="{FF2B5EF4-FFF2-40B4-BE49-F238E27FC236}">
                  <a16:creationId xmlns:a16="http://schemas.microsoft.com/office/drawing/2014/main" id="{B64040BA-A593-82C0-6E08-2D8BBCB565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8" y="1480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Oval 20">
              <a:extLst>
                <a:ext uri="{FF2B5EF4-FFF2-40B4-BE49-F238E27FC236}">
                  <a16:creationId xmlns:a16="http://schemas.microsoft.com/office/drawing/2014/main" id="{2FF40BE1-376D-CD9F-50B5-9C26612F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" y="1314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283" name="Text Box 67">
              <a:extLst>
                <a:ext uri="{FF2B5EF4-FFF2-40B4-BE49-F238E27FC236}">
                  <a16:creationId xmlns:a16="http://schemas.microsoft.com/office/drawing/2014/main" id="{A4BB1111-426B-2958-BFA0-6E147897E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1235"/>
              <a:ext cx="18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 dirty="0"/>
                <a:t>Q</a:t>
              </a:r>
              <a:endParaRPr lang="en-US" b="0" baseline="-25000" dirty="0"/>
            </a:p>
          </p:txBody>
        </p:sp>
        <p:sp>
          <p:nvSpPr>
            <p:cNvPr id="10284" name="Line 69">
              <a:extLst>
                <a:ext uri="{FF2B5EF4-FFF2-40B4-BE49-F238E27FC236}">
                  <a16:creationId xmlns:a16="http://schemas.microsoft.com/office/drawing/2014/main" id="{A959220D-009D-02EF-B46A-40C74C2EE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8" y="1605"/>
              <a:ext cx="1136" cy="4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Text Box 70">
              <a:extLst>
                <a:ext uri="{FF2B5EF4-FFF2-40B4-BE49-F238E27FC236}">
                  <a16:creationId xmlns:a16="http://schemas.microsoft.com/office/drawing/2014/main" id="{88244895-6C43-AAC4-48D9-CCFD01B2C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" y="2215"/>
              <a:ext cx="14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S</a:t>
              </a:r>
            </a:p>
          </p:txBody>
        </p:sp>
        <p:sp>
          <p:nvSpPr>
            <p:cNvPr id="10286" name="Line 71">
              <a:extLst>
                <a:ext uri="{FF2B5EF4-FFF2-40B4-BE49-F238E27FC236}">
                  <a16:creationId xmlns:a16="http://schemas.microsoft.com/office/drawing/2014/main" id="{CD8470AF-7587-0C8E-B680-AB9A91FE1F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" y="2326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Line 72">
              <a:extLst>
                <a:ext uri="{FF2B5EF4-FFF2-40B4-BE49-F238E27FC236}">
                  <a16:creationId xmlns:a16="http://schemas.microsoft.com/office/drawing/2014/main" id="{F73B7668-1721-6670-6F22-61EAF411B7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00" y="2184"/>
              <a:ext cx="87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88" name="Freeform 73">
              <a:extLst>
                <a:ext uri="{FF2B5EF4-FFF2-40B4-BE49-F238E27FC236}">
                  <a16:creationId xmlns:a16="http://schemas.microsoft.com/office/drawing/2014/main" id="{092FF06B-4BA4-DCEE-B5E4-770E2339D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1935"/>
              <a:ext cx="397" cy="497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0289" name="Line 74">
              <a:extLst>
                <a:ext uri="{FF2B5EF4-FFF2-40B4-BE49-F238E27FC236}">
                  <a16:creationId xmlns:a16="http://schemas.microsoft.com/office/drawing/2014/main" id="{C04F6E84-EA64-7836-9DD4-933F534E4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2" y="2060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Oval 75">
              <a:extLst>
                <a:ext uri="{FF2B5EF4-FFF2-40B4-BE49-F238E27FC236}">
                  <a16:creationId xmlns:a16="http://schemas.microsoft.com/office/drawing/2014/main" id="{31F9AA3D-AF59-1BB9-8B21-3AE7E46B8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2141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291" name="Text Box 76">
              <a:extLst>
                <a:ext uri="{FF2B5EF4-FFF2-40B4-BE49-F238E27FC236}">
                  <a16:creationId xmlns:a16="http://schemas.microsoft.com/office/drawing/2014/main" id="{D2C03DE9-A2F8-EA0D-4DD3-ADBDFCEED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062"/>
              <a:ext cx="220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 dirty="0">
                  <a:solidFill>
                    <a:srgbClr val="FF0000"/>
                  </a:solidFill>
                </a:rPr>
                <a:t>Q’</a:t>
              </a:r>
            </a:p>
          </p:txBody>
        </p:sp>
        <p:sp>
          <p:nvSpPr>
            <p:cNvPr id="10292" name="Line 79">
              <a:extLst>
                <a:ext uri="{FF2B5EF4-FFF2-40B4-BE49-F238E27FC236}">
                  <a16:creationId xmlns:a16="http://schemas.microsoft.com/office/drawing/2014/main" id="{9903DD06-B72C-37FA-5C82-7664FD2F8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4" y="2060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Line 80">
              <a:extLst>
                <a:ext uri="{FF2B5EF4-FFF2-40B4-BE49-F238E27FC236}">
                  <a16:creationId xmlns:a16="http://schemas.microsoft.com/office/drawing/2014/main" id="{4D783DCC-7753-1AB4-DD58-84FAEB27C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8" y="1481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Line 81">
              <a:extLst>
                <a:ext uri="{FF2B5EF4-FFF2-40B4-BE49-F238E27FC236}">
                  <a16:creationId xmlns:a16="http://schemas.microsoft.com/office/drawing/2014/main" id="{B438DC43-B2D3-0408-7954-425E99346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9" y="1938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Line 82">
              <a:extLst>
                <a:ext uri="{FF2B5EF4-FFF2-40B4-BE49-F238E27FC236}">
                  <a16:creationId xmlns:a16="http://schemas.microsoft.com/office/drawing/2014/main" id="{0BE80CA3-7BC8-8F80-61C6-C3A1F7370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3" y="1357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Line 83">
              <a:extLst>
                <a:ext uri="{FF2B5EF4-FFF2-40B4-BE49-F238E27FC236}">
                  <a16:creationId xmlns:a16="http://schemas.microsoft.com/office/drawing/2014/main" id="{65BC6DBB-21D0-5CA4-1D2A-1855F6DC19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9" y="1465"/>
              <a:ext cx="1156" cy="4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Oval 84">
              <a:extLst>
                <a:ext uri="{FF2B5EF4-FFF2-40B4-BE49-F238E27FC236}">
                  <a16:creationId xmlns:a16="http://schemas.microsoft.com/office/drawing/2014/main" id="{2E2BD332-7AAC-74B3-5B8E-4B016A56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1332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0298" name="Oval 85">
              <a:extLst>
                <a:ext uri="{FF2B5EF4-FFF2-40B4-BE49-F238E27FC236}">
                  <a16:creationId xmlns:a16="http://schemas.microsoft.com/office/drawing/2014/main" id="{2AABDBFB-FE8A-392C-E648-0C69BD9AF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7" y="2156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8AC2D7-7B35-D4E3-89DE-E1C031DB1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45685"/>
              </p:ext>
            </p:extLst>
          </p:nvPr>
        </p:nvGraphicFramePr>
        <p:xfrm>
          <a:off x="3071664" y="3237131"/>
          <a:ext cx="5558250" cy="3291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51412">
                  <a:extLst>
                    <a:ext uri="{9D8B030D-6E8A-4147-A177-3AD203B41FA5}">
                      <a16:colId xmlns:a16="http://schemas.microsoft.com/office/drawing/2014/main" val="2686443422"/>
                    </a:ext>
                  </a:extLst>
                </a:gridCol>
                <a:gridCol w="951412">
                  <a:extLst>
                    <a:ext uri="{9D8B030D-6E8A-4147-A177-3AD203B41FA5}">
                      <a16:colId xmlns:a16="http://schemas.microsoft.com/office/drawing/2014/main" val="3673276468"/>
                    </a:ext>
                  </a:extLst>
                </a:gridCol>
                <a:gridCol w="951412">
                  <a:extLst>
                    <a:ext uri="{9D8B030D-6E8A-4147-A177-3AD203B41FA5}">
                      <a16:colId xmlns:a16="http://schemas.microsoft.com/office/drawing/2014/main" val="807434318"/>
                    </a:ext>
                  </a:extLst>
                </a:gridCol>
                <a:gridCol w="1352007">
                  <a:extLst>
                    <a:ext uri="{9D8B030D-6E8A-4147-A177-3AD203B41FA5}">
                      <a16:colId xmlns:a16="http://schemas.microsoft.com/office/drawing/2014/main" val="1188672350"/>
                    </a:ext>
                  </a:extLst>
                </a:gridCol>
                <a:gridCol w="1352007">
                  <a:extLst>
                    <a:ext uri="{9D8B030D-6E8A-4147-A177-3AD203B41FA5}">
                      <a16:colId xmlns:a16="http://schemas.microsoft.com/office/drawing/2014/main" val="3574945608"/>
                    </a:ext>
                  </a:extLst>
                </a:gridCol>
              </a:tblGrid>
              <a:tr h="3101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Q(t+1)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656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83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1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mic Sans MS"/>
                          <a:ea typeface="+mn-ea"/>
                          <a:cs typeface="+mn-cs"/>
                        </a:rPr>
                        <a:t>Set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mic Sans M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07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mic Sans MS"/>
                          <a:ea typeface="+mn-ea"/>
                          <a:cs typeface="+mn-cs"/>
                        </a:rPr>
                        <a:t>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05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7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30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Undefined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76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Undefined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202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74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7B3B28F-AEB8-4013-8074-053A5FF01A03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SR-Latches with NAND Gates</a:t>
            </a:r>
          </a:p>
        </p:txBody>
      </p:sp>
      <p:grpSp>
        <p:nvGrpSpPr>
          <p:cNvPr id="2" name="Group 82"/>
          <p:cNvGrpSpPr>
            <a:grpSpLocks noChangeAspect="1"/>
          </p:cNvGrpSpPr>
          <p:nvPr/>
        </p:nvGrpSpPr>
        <p:grpSpPr bwMode="auto">
          <a:xfrm>
            <a:off x="2432663" y="1067535"/>
            <a:ext cx="3956783" cy="1919955"/>
            <a:chOff x="466" y="782"/>
            <a:chExt cx="2776" cy="1347"/>
          </a:xfrm>
        </p:grpSpPr>
        <p:sp>
          <p:nvSpPr>
            <p:cNvPr id="12326" name="Text Box 5"/>
            <p:cNvSpPr txBox="1">
              <a:spLocks noChangeArrowheads="1"/>
            </p:cNvSpPr>
            <p:nvPr/>
          </p:nvSpPr>
          <p:spPr bwMode="auto">
            <a:xfrm>
              <a:off x="466" y="782"/>
              <a:ext cx="150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S</a:t>
              </a:r>
            </a:p>
          </p:txBody>
        </p:sp>
        <p:sp>
          <p:nvSpPr>
            <p:cNvPr id="12327" name="Line 6"/>
            <p:cNvSpPr>
              <a:spLocks noChangeShapeType="1"/>
            </p:cNvSpPr>
            <p:nvPr/>
          </p:nvSpPr>
          <p:spPr bwMode="auto">
            <a:xfrm flipV="1">
              <a:off x="658" y="893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Line 7"/>
            <p:cNvSpPr>
              <a:spLocks noChangeShapeType="1"/>
            </p:cNvSpPr>
            <p:nvPr/>
          </p:nvSpPr>
          <p:spPr bwMode="auto">
            <a:xfrm flipV="1">
              <a:off x="2077" y="1012"/>
              <a:ext cx="8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Line 9"/>
            <p:cNvSpPr>
              <a:spLocks noChangeShapeType="1"/>
            </p:cNvSpPr>
            <p:nvPr/>
          </p:nvSpPr>
          <p:spPr bwMode="auto">
            <a:xfrm flipV="1">
              <a:off x="1426" y="1135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Oval 10"/>
            <p:cNvSpPr>
              <a:spLocks noChangeArrowheads="1"/>
            </p:cNvSpPr>
            <p:nvPr/>
          </p:nvSpPr>
          <p:spPr bwMode="auto">
            <a:xfrm>
              <a:off x="1994" y="969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331" name="Text Box 11"/>
            <p:cNvSpPr txBox="1">
              <a:spLocks noChangeArrowheads="1"/>
            </p:cNvSpPr>
            <p:nvPr/>
          </p:nvSpPr>
          <p:spPr bwMode="auto">
            <a:xfrm>
              <a:off x="3013" y="890"/>
              <a:ext cx="18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Q</a:t>
              </a:r>
            </a:p>
          </p:txBody>
        </p:sp>
        <p:sp>
          <p:nvSpPr>
            <p:cNvPr id="12332" name="Line 12"/>
            <p:cNvSpPr>
              <a:spLocks noChangeShapeType="1"/>
            </p:cNvSpPr>
            <p:nvPr/>
          </p:nvSpPr>
          <p:spPr bwMode="auto">
            <a:xfrm>
              <a:off x="1426" y="1260"/>
              <a:ext cx="1136" cy="4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333" name="Text Box 13"/>
            <p:cNvSpPr txBox="1">
              <a:spLocks noChangeArrowheads="1"/>
            </p:cNvSpPr>
            <p:nvPr/>
          </p:nvSpPr>
          <p:spPr bwMode="auto">
            <a:xfrm>
              <a:off x="503" y="1870"/>
              <a:ext cx="13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R</a:t>
              </a:r>
            </a:p>
          </p:txBody>
        </p:sp>
        <p:sp>
          <p:nvSpPr>
            <p:cNvPr id="12334" name="Line 14"/>
            <p:cNvSpPr>
              <a:spLocks noChangeShapeType="1"/>
            </p:cNvSpPr>
            <p:nvPr/>
          </p:nvSpPr>
          <p:spPr bwMode="auto">
            <a:xfrm flipV="1">
              <a:off x="705" y="1981"/>
              <a:ext cx="946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Line 15"/>
            <p:cNvSpPr>
              <a:spLocks noChangeShapeType="1"/>
            </p:cNvSpPr>
            <p:nvPr/>
          </p:nvSpPr>
          <p:spPr bwMode="auto">
            <a:xfrm flipV="1">
              <a:off x="2078" y="1839"/>
              <a:ext cx="87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Line 17"/>
            <p:cNvSpPr>
              <a:spLocks noChangeShapeType="1"/>
            </p:cNvSpPr>
            <p:nvPr/>
          </p:nvSpPr>
          <p:spPr bwMode="auto">
            <a:xfrm flipV="1">
              <a:off x="1410" y="1715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Oval 18"/>
            <p:cNvSpPr>
              <a:spLocks noChangeArrowheads="1"/>
            </p:cNvSpPr>
            <p:nvPr/>
          </p:nvSpPr>
          <p:spPr bwMode="auto">
            <a:xfrm>
              <a:off x="1995" y="1796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338" name="Text Box 19"/>
            <p:cNvSpPr txBox="1">
              <a:spLocks noChangeArrowheads="1"/>
            </p:cNvSpPr>
            <p:nvPr/>
          </p:nvSpPr>
          <p:spPr bwMode="auto">
            <a:xfrm>
              <a:off x="3014" y="1717"/>
              <a:ext cx="228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Q’</a:t>
              </a:r>
            </a:p>
          </p:txBody>
        </p:sp>
        <p:sp>
          <p:nvSpPr>
            <p:cNvPr id="12339" name="Line 20"/>
            <p:cNvSpPr>
              <a:spLocks noChangeShapeType="1"/>
            </p:cNvSpPr>
            <p:nvPr/>
          </p:nvSpPr>
          <p:spPr bwMode="auto">
            <a:xfrm>
              <a:off x="2562" y="1715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Line 21"/>
            <p:cNvSpPr>
              <a:spLocks noChangeShapeType="1"/>
            </p:cNvSpPr>
            <p:nvPr/>
          </p:nvSpPr>
          <p:spPr bwMode="auto">
            <a:xfrm>
              <a:off x="1426" y="1136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Line 22"/>
            <p:cNvSpPr>
              <a:spLocks noChangeShapeType="1"/>
            </p:cNvSpPr>
            <p:nvPr/>
          </p:nvSpPr>
          <p:spPr bwMode="auto">
            <a:xfrm>
              <a:off x="1407" y="1593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Line 23"/>
            <p:cNvSpPr>
              <a:spLocks noChangeShapeType="1"/>
            </p:cNvSpPr>
            <p:nvPr/>
          </p:nvSpPr>
          <p:spPr bwMode="auto">
            <a:xfrm>
              <a:off x="2561" y="1012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Line 24"/>
            <p:cNvSpPr>
              <a:spLocks noChangeShapeType="1"/>
            </p:cNvSpPr>
            <p:nvPr/>
          </p:nvSpPr>
          <p:spPr bwMode="auto">
            <a:xfrm flipV="1">
              <a:off x="1407" y="1120"/>
              <a:ext cx="1156" cy="4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Oval 25"/>
            <p:cNvSpPr>
              <a:spLocks noChangeArrowheads="1"/>
            </p:cNvSpPr>
            <p:nvPr/>
          </p:nvSpPr>
          <p:spPr bwMode="auto">
            <a:xfrm>
              <a:off x="2535" y="98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345" name="Oval 26"/>
            <p:cNvSpPr>
              <a:spLocks noChangeArrowheads="1"/>
            </p:cNvSpPr>
            <p:nvPr/>
          </p:nvSpPr>
          <p:spPr bwMode="auto">
            <a:xfrm>
              <a:off x="2535" y="181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346" name="AutoShape 27"/>
            <p:cNvSpPr>
              <a:spLocks noChangeArrowheads="1"/>
            </p:cNvSpPr>
            <p:nvPr/>
          </p:nvSpPr>
          <p:spPr bwMode="auto">
            <a:xfrm>
              <a:off x="1651" y="797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347" name="AutoShape 28"/>
            <p:cNvSpPr>
              <a:spLocks noChangeArrowheads="1"/>
            </p:cNvSpPr>
            <p:nvPr/>
          </p:nvSpPr>
          <p:spPr bwMode="auto">
            <a:xfrm>
              <a:off x="1632" y="1623"/>
              <a:ext cx="344" cy="432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208977" name="Text Box 81"/>
          <p:cNvSpPr txBox="1">
            <a:spLocks noChangeArrowheads="1"/>
          </p:cNvSpPr>
          <p:nvPr/>
        </p:nvSpPr>
        <p:spPr bwMode="auto">
          <a:xfrm>
            <a:off x="6619880" y="1876706"/>
            <a:ext cx="3584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 dirty="0"/>
              <a:t>Also known as S’R’-latch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24B07-1A63-8E2D-156D-ED2251972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322154"/>
              </p:ext>
            </p:extLst>
          </p:nvPr>
        </p:nvGraphicFramePr>
        <p:xfrm>
          <a:off x="3202667" y="3196788"/>
          <a:ext cx="5558250" cy="3291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51412">
                  <a:extLst>
                    <a:ext uri="{9D8B030D-6E8A-4147-A177-3AD203B41FA5}">
                      <a16:colId xmlns:a16="http://schemas.microsoft.com/office/drawing/2014/main" val="2686443422"/>
                    </a:ext>
                  </a:extLst>
                </a:gridCol>
                <a:gridCol w="951412">
                  <a:extLst>
                    <a:ext uri="{9D8B030D-6E8A-4147-A177-3AD203B41FA5}">
                      <a16:colId xmlns:a16="http://schemas.microsoft.com/office/drawing/2014/main" val="3673276468"/>
                    </a:ext>
                  </a:extLst>
                </a:gridCol>
                <a:gridCol w="951412">
                  <a:extLst>
                    <a:ext uri="{9D8B030D-6E8A-4147-A177-3AD203B41FA5}">
                      <a16:colId xmlns:a16="http://schemas.microsoft.com/office/drawing/2014/main" val="807434318"/>
                    </a:ext>
                  </a:extLst>
                </a:gridCol>
                <a:gridCol w="1352007">
                  <a:extLst>
                    <a:ext uri="{9D8B030D-6E8A-4147-A177-3AD203B41FA5}">
                      <a16:colId xmlns:a16="http://schemas.microsoft.com/office/drawing/2014/main" val="1188672350"/>
                    </a:ext>
                  </a:extLst>
                </a:gridCol>
                <a:gridCol w="1352007">
                  <a:extLst>
                    <a:ext uri="{9D8B030D-6E8A-4147-A177-3AD203B41FA5}">
                      <a16:colId xmlns:a16="http://schemas.microsoft.com/office/drawing/2014/main" val="3574945608"/>
                    </a:ext>
                  </a:extLst>
                </a:gridCol>
              </a:tblGrid>
              <a:tr h="31019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Q(t)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Q(t+1)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9656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mic Sans MS"/>
                          <a:ea typeface="+mn-ea"/>
                          <a:cs typeface="+mn-cs"/>
                        </a:rPr>
                        <a:t>Undefined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mic Sans MS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83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mic Sans MS"/>
                          <a:ea typeface="+mn-ea"/>
                          <a:cs typeface="+mn-cs"/>
                        </a:rPr>
                        <a:t>Undefined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71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07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05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7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30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76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2028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D6402E-F9D2-4909-BF13-CC9A60BFBA02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8763000" cy="649288"/>
          </a:xfrm>
        </p:spPr>
        <p:txBody>
          <a:bodyPr/>
          <a:lstStyle/>
          <a:p>
            <a:r>
              <a:rPr lang="en-US" sz="3600"/>
              <a:t>SR-Latch with Control Input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649293"/>
            <a:ext cx="11233248" cy="835025"/>
          </a:xfrm>
        </p:spPr>
        <p:txBody>
          <a:bodyPr/>
          <a:lstStyle/>
          <a:p>
            <a:r>
              <a:rPr lang="en-US" sz="3200" dirty="0"/>
              <a:t>Control inputs allow the changes at S and R to change the state of the latch.</a:t>
            </a:r>
          </a:p>
        </p:txBody>
      </p:sp>
      <p:grpSp>
        <p:nvGrpSpPr>
          <p:cNvPr id="2" name="Group 215"/>
          <p:cNvGrpSpPr>
            <a:grpSpLocks/>
          </p:cNvGrpSpPr>
          <p:nvPr/>
        </p:nvGrpSpPr>
        <p:grpSpPr bwMode="auto">
          <a:xfrm>
            <a:off x="4953005" y="1825630"/>
            <a:ext cx="4092575" cy="1997075"/>
            <a:chOff x="2160" y="1150"/>
            <a:chExt cx="2578" cy="1258"/>
          </a:xfrm>
        </p:grpSpPr>
        <p:sp>
          <p:nvSpPr>
            <p:cNvPr id="13363" name="Line 5"/>
            <p:cNvSpPr>
              <a:spLocks noChangeShapeType="1"/>
            </p:cNvSpPr>
            <p:nvPr/>
          </p:nvSpPr>
          <p:spPr bwMode="auto">
            <a:xfrm flipV="1">
              <a:off x="2177" y="1246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Line 6"/>
            <p:cNvSpPr>
              <a:spLocks noChangeShapeType="1"/>
            </p:cNvSpPr>
            <p:nvPr/>
          </p:nvSpPr>
          <p:spPr bwMode="auto">
            <a:xfrm flipV="1">
              <a:off x="3596" y="1365"/>
              <a:ext cx="8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Line 7"/>
            <p:cNvSpPr>
              <a:spLocks noChangeShapeType="1"/>
            </p:cNvSpPr>
            <p:nvPr/>
          </p:nvSpPr>
          <p:spPr bwMode="auto">
            <a:xfrm flipV="1">
              <a:off x="2945" y="1488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Oval 8"/>
            <p:cNvSpPr>
              <a:spLocks noChangeArrowheads="1"/>
            </p:cNvSpPr>
            <p:nvPr/>
          </p:nvSpPr>
          <p:spPr bwMode="auto">
            <a:xfrm>
              <a:off x="3513" y="1322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67" name="Text Box 9"/>
            <p:cNvSpPr txBox="1">
              <a:spLocks noChangeArrowheads="1"/>
            </p:cNvSpPr>
            <p:nvPr/>
          </p:nvSpPr>
          <p:spPr bwMode="auto">
            <a:xfrm>
              <a:off x="4532" y="1243"/>
              <a:ext cx="1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Q</a:t>
              </a:r>
            </a:p>
          </p:txBody>
        </p:sp>
        <p:sp>
          <p:nvSpPr>
            <p:cNvPr id="13368" name="Line 10"/>
            <p:cNvSpPr>
              <a:spLocks noChangeShapeType="1"/>
            </p:cNvSpPr>
            <p:nvPr/>
          </p:nvSpPr>
          <p:spPr bwMode="auto">
            <a:xfrm>
              <a:off x="2945" y="1613"/>
              <a:ext cx="1136" cy="4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Line 12"/>
            <p:cNvSpPr>
              <a:spLocks noChangeShapeType="1"/>
            </p:cNvSpPr>
            <p:nvPr/>
          </p:nvSpPr>
          <p:spPr bwMode="auto">
            <a:xfrm flipV="1">
              <a:off x="2160" y="2334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Line 13"/>
            <p:cNvSpPr>
              <a:spLocks noChangeShapeType="1"/>
            </p:cNvSpPr>
            <p:nvPr/>
          </p:nvSpPr>
          <p:spPr bwMode="auto">
            <a:xfrm flipV="1">
              <a:off x="3597" y="2192"/>
              <a:ext cx="87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Line 14"/>
            <p:cNvSpPr>
              <a:spLocks noChangeShapeType="1"/>
            </p:cNvSpPr>
            <p:nvPr/>
          </p:nvSpPr>
          <p:spPr bwMode="auto">
            <a:xfrm flipV="1">
              <a:off x="2929" y="2068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Oval 15"/>
            <p:cNvSpPr>
              <a:spLocks noChangeArrowheads="1"/>
            </p:cNvSpPr>
            <p:nvPr/>
          </p:nvSpPr>
          <p:spPr bwMode="auto">
            <a:xfrm>
              <a:off x="3514" y="2149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73" name="Text Box 16"/>
            <p:cNvSpPr txBox="1">
              <a:spLocks noChangeArrowheads="1"/>
            </p:cNvSpPr>
            <p:nvPr/>
          </p:nvSpPr>
          <p:spPr bwMode="auto">
            <a:xfrm>
              <a:off x="4533" y="2070"/>
              <a:ext cx="20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Q’</a:t>
              </a:r>
            </a:p>
          </p:txBody>
        </p:sp>
        <p:sp>
          <p:nvSpPr>
            <p:cNvPr id="13374" name="Line 17"/>
            <p:cNvSpPr>
              <a:spLocks noChangeShapeType="1"/>
            </p:cNvSpPr>
            <p:nvPr/>
          </p:nvSpPr>
          <p:spPr bwMode="auto">
            <a:xfrm>
              <a:off x="4081" y="2068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Line 18"/>
            <p:cNvSpPr>
              <a:spLocks noChangeShapeType="1"/>
            </p:cNvSpPr>
            <p:nvPr/>
          </p:nvSpPr>
          <p:spPr bwMode="auto">
            <a:xfrm>
              <a:off x="2945" y="1489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Line 19"/>
            <p:cNvSpPr>
              <a:spLocks noChangeShapeType="1"/>
            </p:cNvSpPr>
            <p:nvPr/>
          </p:nvSpPr>
          <p:spPr bwMode="auto">
            <a:xfrm>
              <a:off x="2926" y="1946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Line 20"/>
            <p:cNvSpPr>
              <a:spLocks noChangeShapeType="1"/>
            </p:cNvSpPr>
            <p:nvPr/>
          </p:nvSpPr>
          <p:spPr bwMode="auto">
            <a:xfrm>
              <a:off x="4080" y="1365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Line 21"/>
            <p:cNvSpPr>
              <a:spLocks noChangeShapeType="1"/>
            </p:cNvSpPr>
            <p:nvPr/>
          </p:nvSpPr>
          <p:spPr bwMode="auto">
            <a:xfrm flipV="1">
              <a:off x="2926" y="1473"/>
              <a:ext cx="1156" cy="4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Oval 22"/>
            <p:cNvSpPr>
              <a:spLocks noChangeArrowheads="1"/>
            </p:cNvSpPr>
            <p:nvPr/>
          </p:nvSpPr>
          <p:spPr bwMode="auto">
            <a:xfrm>
              <a:off x="4054" y="1340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80" name="Oval 23"/>
            <p:cNvSpPr>
              <a:spLocks noChangeArrowheads="1"/>
            </p:cNvSpPr>
            <p:nvPr/>
          </p:nvSpPr>
          <p:spPr bwMode="auto">
            <a:xfrm>
              <a:off x="4054" y="2164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81" name="AutoShape 24"/>
            <p:cNvSpPr>
              <a:spLocks noChangeArrowheads="1"/>
            </p:cNvSpPr>
            <p:nvPr/>
          </p:nvSpPr>
          <p:spPr bwMode="auto">
            <a:xfrm>
              <a:off x="3170" y="1150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82" name="AutoShape 25"/>
            <p:cNvSpPr>
              <a:spLocks noChangeArrowheads="1"/>
            </p:cNvSpPr>
            <p:nvPr/>
          </p:nvSpPr>
          <p:spPr bwMode="auto">
            <a:xfrm>
              <a:off x="3151" y="1976"/>
              <a:ext cx="344" cy="432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3" name="Group 216"/>
          <p:cNvGrpSpPr>
            <a:grpSpLocks/>
          </p:cNvGrpSpPr>
          <p:nvPr/>
        </p:nvGrpSpPr>
        <p:grpSpPr bwMode="auto">
          <a:xfrm>
            <a:off x="3276600" y="1608143"/>
            <a:ext cx="1703388" cy="2428875"/>
            <a:chOff x="1104" y="1013"/>
            <a:chExt cx="1073" cy="1530"/>
          </a:xfrm>
        </p:grpSpPr>
        <p:sp>
          <p:nvSpPr>
            <p:cNvPr id="13349" name="Text Box 4"/>
            <p:cNvSpPr txBox="1">
              <a:spLocks noChangeArrowheads="1"/>
            </p:cNvSpPr>
            <p:nvPr/>
          </p:nvSpPr>
          <p:spPr bwMode="auto">
            <a:xfrm>
              <a:off x="1104" y="2297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R</a:t>
              </a:r>
            </a:p>
          </p:txBody>
        </p:sp>
        <p:sp>
          <p:nvSpPr>
            <p:cNvPr id="13350" name="Text Box 11"/>
            <p:cNvSpPr txBox="1">
              <a:spLocks noChangeArrowheads="1"/>
            </p:cNvSpPr>
            <p:nvPr/>
          </p:nvSpPr>
          <p:spPr bwMode="auto">
            <a:xfrm>
              <a:off x="1104" y="1013"/>
              <a:ext cx="1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S</a:t>
              </a:r>
            </a:p>
          </p:txBody>
        </p:sp>
        <p:sp>
          <p:nvSpPr>
            <p:cNvPr id="13351" name="Oval 26"/>
            <p:cNvSpPr>
              <a:spLocks noChangeArrowheads="1"/>
            </p:cNvSpPr>
            <p:nvPr/>
          </p:nvSpPr>
          <p:spPr bwMode="auto">
            <a:xfrm>
              <a:off x="2094" y="1206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52" name="AutoShape 27"/>
            <p:cNvSpPr>
              <a:spLocks noChangeArrowheads="1"/>
            </p:cNvSpPr>
            <p:nvPr/>
          </p:nvSpPr>
          <p:spPr bwMode="auto">
            <a:xfrm>
              <a:off x="1751" y="1034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53" name="Oval 28"/>
            <p:cNvSpPr>
              <a:spLocks noChangeArrowheads="1"/>
            </p:cNvSpPr>
            <p:nvPr/>
          </p:nvSpPr>
          <p:spPr bwMode="auto">
            <a:xfrm>
              <a:off x="2077" y="2297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54" name="AutoShape 29"/>
            <p:cNvSpPr>
              <a:spLocks noChangeArrowheads="1"/>
            </p:cNvSpPr>
            <p:nvPr/>
          </p:nvSpPr>
          <p:spPr bwMode="auto">
            <a:xfrm>
              <a:off x="1734" y="2125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55" name="Line 30"/>
            <p:cNvSpPr>
              <a:spLocks noChangeShapeType="1"/>
            </p:cNvSpPr>
            <p:nvPr/>
          </p:nvSpPr>
          <p:spPr bwMode="auto">
            <a:xfrm flipV="1">
              <a:off x="1282" y="1141"/>
              <a:ext cx="4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Line 33"/>
            <p:cNvSpPr>
              <a:spLocks noChangeShapeType="1"/>
            </p:cNvSpPr>
            <p:nvPr/>
          </p:nvSpPr>
          <p:spPr bwMode="auto">
            <a:xfrm flipV="1">
              <a:off x="1265" y="2435"/>
              <a:ext cx="4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Line 34"/>
            <p:cNvSpPr>
              <a:spLocks noChangeShapeType="1"/>
            </p:cNvSpPr>
            <p:nvPr/>
          </p:nvSpPr>
          <p:spPr bwMode="auto">
            <a:xfrm flipV="1">
              <a:off x="1529" y="1321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Line 35"/>
            <p:cNvSpPr>
              <a:spLocks noChangeShapeType="1"/>
            </p:cNvSpPr>
            <p:nvPr/>
          </p:nvSpPr>
          <p:spPr bwMode="auto">
            <a:xfrm flipH="1">
              <a:off x="1510" y="1322"/>
              <a:ext cx="19" cy="8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Line 36"/>
            <p:cNvSpPr>
              <a:spLocks noChangeShapeType="1"/>
            </p:cNvSpPr>
            <p:nvPr/>
          </p:nvSpPr>
          <p:spPr bwMode="auto">
            <a:xfrm flipV="1">
              <a:off x="1510" y="2229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Line 37"/>
            <p:cNvSpPr>
              <a:spLocks noChangeShapeType="1"/>
            </p:cNvSpPr>
            <p:nvPr/>
          </p:nvSpPr>
          <p:spPr bwMode="auto">
            <a:xfrm flipV="1">
              <a:off x="1307" y="1754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Oval 38"/>
            <p:cNvSpPr>
              <a:spLocks noChangeArrowheads="1"/>
            </p:cNvSpPr>
            <p:nvPr/>
          </p:nvSpPr>
          <p:spPr bwMode="auto">
            <a:xfrm>
              <a:off x="1483" y="1726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362" name="Text Box 39"/>
            <p:cNvSpPr txBox="1">
              <a:spLocks noChangeArrowheads="1"/>
            </p:cNvSpPr>
            <p:nvPr/>
          </p:nvSpPr>
          <p:spPr bwMode="auto">
            <a:xfrm>
              <a:off x="1108" y="1630"/>
              <a:ext cx="1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C</a:t>
              </a:r>
            </a:p>
          </p:txBody>
        </p:sp>
      </p:grpSp>
      <p:graphicFrame>
        <p:nvGraphicFramePr>
          <p:cNvPr id="210134" name="Group 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716412"/>
              </p:ext>
            </p:extLst>
          </p:nvPr>
        </p:nvGraphicFramePr>
        <p:xfrm>
          <a:off x="3578225" y="4414843"/>
          <a:ext cx="5111750" cy="2377440"/>
        </p:xfrm>
        <a:graphic>
          <a:graphicData uri="http://schemas.openxmlformats.org/drawingml/2006/table">
            <a:tbl>
              <a:tblPr/>
              <a:tblGrid>
                <a:gridCol w="871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Q’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No 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No change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 =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Reset state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 =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Set state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Indeterminate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19BB0B-4F98-4BB4-8217-E9D145DAE7FD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210986" name="Rectangle 42"/>
          <p:cNvSpPr>
            <a:spLocks noChangeArrowheads="1"/>
          </p:cNvSpPr>
          <p:nvPr/>
        </p:nvSpPr>
        <p:spPr bwMode="auto">
          <a:xfrm>
            <a:off x="6096000" y="2946400"/>
            <a:ext cx="2540000" cy="24145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D-Latch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68" y="1066805"/>
            <a:ext cx="11053228" cy="1516063"/>
          </a:xfrm>
        </p:spPr>
        <p:txBody>
          <a:bodyPr/>
          <a:lstStyle/>
          <a:p>
            <a:r>
              <a:rPr lang="en-US" sz="3200" dirty="0"/>
              <a:t>SR latches are seldom used in practice because the indeterminate state may cause instability</a:t>
            </a:r>
          </a:p>
          <a:p>
            <a:r>
              <a:rPr lang="en-US" sz="3200" u="sng" dirty="0"/>
              <a:t>Remedy</a:t>
            </a:r>
            <a:r>
              <a:rPr lang="en-US" sz="3200" dirty="0"/>
              <a:t>: D-latches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5251455" y="2946405"/>
            <a:ext cx="4092575" cy="2200275"/>
            <a:chOff x="2348" y="1856"/>
            <a:chExt cx="2578" cy="1386"/>
          </a:xfrm>
        </p:grpSpPr>
        <p:sp>
          <p:nvSpPr>
            <p:cNvPr id="14365" name="Text Box 4"/>
            <p:cNvSpPr txBox="1">
              <a:spLocks noChangeArrowheads="1"/>
            </p:cNvSpPr>
            <p:nvPr/>
          </p:nvSpPr>
          <p:spPr bwMode="auto">
            <a:xfrm>
              <a:off x="2588" y="2921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R</a:t>
              </a:r>
            </a:p>
          </p:txBody>
        </p:sp>
        <p:sp>
          <p:nvSpPr>
            <p:cNvPr id="14366" name="Line 5"/>
            <p:cNvSpPr>
              <a:spLocks noChangeShapeType="1"/>
            </p:cNvSpPr>
            <p:nvPr/>
          </p:nvSpPr>
          <p:spPr bwMode="auto">
            <a:xfrm flipV="1">
              <a:off x="2365" y="2080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Line 6"/>
            <p:cNvSpPr>
              <a:spLocks noChangeShapeType="1"/>
            </p:cNvSpPr>
            <p:nvPr/>
          </p:nvSpPr>
          <p:spPr bwMode="auto">
            <a:xfrm flipV="1">
              <a:off x="3784" y="2199"/>
              <a:ext cx="8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Line 7"/>
            <p:cNvSpPr>
              <a:spLocks noChangeShapeType="1"/>
            </p:cNvSpPr>
            <p:nvPr/>
          </p:nvSpPr>
          <p:spPr bwMode="auto">
            <a:xfrm flipV="1">
              <a:off x="3133" y="232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Oval 8"/>
            <p:cNvSpPr>
              <a:spLocks noChangeArrowheads="1"/>
            </p:cNvSpPr>
            <p:nvPr/>
          </p:nvSpPr>
          <p:spPr bwMode="auto">
            <a:xfrm>
              <a:off x="3701" y="2156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70" name="Text Box 9"/>
            <p:cNvSpPr txBox="1">
              <a:spLocks noChangeArrowheads="1"/>
            </p:cNvSpPr>
            <p:nvPr/>
          </p:nvSpPr>
          <p:spPr bwMode="auto">
            <a:xfrm>
              <a:off x="4720" y="2077"/>
              <a:ext cx="1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Q</a:t>
              </a:r>
            </a:p>
          </p:txBody>
        </p:sp>
        <p:sp>
          <p:nvSpPr>
            <p:cNvPr id="14371" name="Line 10"/>
            <p:cNvSpPr>
              <a:spLocks noChangeShapeType="1"/>
            </p:cNvSpPr>
            <p:nvPr/>
          </p:nvSpPr>
          <p:spPr bwMode="auto">
            <a:xfrm>
              <a:off x="3133" y="2447"/>
              <a:ext cx="1136" cy="4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Text Box 11"/>
            <p:cNvSpPr txBox="1">
              <a:spLocks noChangeArrowheads="1"/>
            </p:cNvSpPr>
            <p:nvPr/>
          </p:nvSpPr>
          <p:spPr bwMode="auto">
            <a:xfrm>
              <a:off x="2540" y="1856"/>
              <a:ext cx="1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S</a:t>
              </a:r>
            </a:p>
          </p:txBody>
        </p:sp>
        <p:sp>
          <p:nvSpPr>
            <p:cNvPr id="14373" name="Line 12"/>
            <p:cNvSpPr>
              <a:spLocks noChangeShapeType="1"/>
            </p:cNvSpPr>
            <p:nvPr/>
          </p:nvSpPr>
          <p:spPr bwMode="auto">
            <a:xfrm flipV="1">
              <a:off x="2348" y="3168"/>
              <a:ext cx="1010" cy="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Line 13"/>
            <p:cNvSpPr>
              <a:spLocks noChangeShapeType="1"/>
            </p:cNvSpPr>
            <p:nvPr/>
          </p:nvSpPr>
          <p:spPr bwMode="auto">
            <a:xfrm flipV="1">
              <a:off x="3785" y="3026"/>
              <a:ext cx="87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Line 14"/>
            <p:cNvSpPr>
              <a:spLocks noChangeShapeType="1"/>
            </p:cNvSpPr>
            <p:nvPr/>
          </p:nvSpPr>
          <p:spPr bwMode="auto">
            <a:xfrm flipV="1">
              <a:off x="3117" y="290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Oval 15"/>
            <p:cNvSpPr>
              <a:spLocks noChangeArrowheads="1"/>
            </p:cNvSpPr>
            <p:nvPr/>
          </p:nvSpPr>
          <p:spPr bwMode="auto">
            <a:xfrm>
              <a:off x="3702" y="2983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77" name="Text Box 16"/>
            <p:cNvSpPr txBox="1">
              <a:spLocks noChangeArrowheads="1"/>
            </p:cNvSpPr>
            <p:nvPr/>
          </p:nvSpPr>
          <p:spPr bwMode="auto">
            <a:xfrm>
              <a:off x="4721" y="2904"/>
              <a:ext cx="20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Q’</a:t>
              </a:r>
            </a:p>
          </p:txBody>
        </p:sp>
        <p:sp>
          <p:nvSpPr>
            <p:cNvPr id="14378" name="Line 17"/>
            <p:cNvSpPr>
              <a:spLocks noChangeShapeType="1"/>
            </p:cNvSpPr>
            <p:nvPr/>
          </p:nvSpPr>
          <p:spPr bwMode="auto">
            <a:xfrm>
              <a:off x="4269" y="2902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Line 18"/>
            <p:cNvSpPr>
              <a:spLocks noChangeShapeType="1"/>
            </p:cNvSpPr>
            <p:nvPr/>
          </p:nvSpPr>
          <p:spPr bwMode="auto">
            <a:xfrm>
              <a:off x="3133" y="2323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Line 19"/>
            <p:cNvSpPr>
              <a:spLocks noChangeShapeType="1"/>
            </p:cNvSpPr>
            <p:nvPr/>
          </p:nvSpPr>
          <p:spPr bwMode="auto">
            <a:xfrm>
              <a:off x="3114" y="2780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Line 20"/>
            <p:cNvSpPr>
              <a:spLocks noChangeShapeType="1"/>
            </p:cNvSpPr>
            <p:nvPr/>
          </p:nvSpPr>
          <p:spPr bwMode="auto">
            <a:xfrm>
              <a:off x="4268" y="2199"/>
              <a:ext cx="1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Line 21"/>
            <p:cNvSpPr>
              <a:spLocks noChangeShapeType="1"/>
            </p:cNvSpPr>
            <p:nvPr/>
          </p:nvSpPr>
          <p:spPr bwMode="auto">
            <a:xfrm flipV="1">
              <a:off x="3114" y="2307"/>
              <a:ext cx="1156" cy="4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Oval 22"/>
            <p:cNvSpPr>
              <a:spLocks noChangeArrowheads="1"/>
            </p:cNvSpPr>
            <p:nvPr/>
          </p:nvSpPr>
          <p:spPr bwMode="auto">
            <a:xfrm>
              <a:off x="4242" y="2174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84" name="Oval 23"/>
            <p:cNvSpPr>
              <a:spLocks noChangeArrowheads="1"/>
            </p:cNvSpPr>
            <p:nvPr/>
          </p:nvSpPr>
          <p:spPr bwMode="auto">
            <a:xfrm>
              <a:off x="4242" y="2998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85" name="AutoShape 24"/>
            <p:cNvSpPr>
              <a:spLocks noChangeArrowheads="1"/>
            </p:cNvSpPr>
            <p:nvPr/>
          </p:nvSpPr>
          <p:spPr bwMode="auto">
            <a:xfrm>
              <a:off x="3358" y="1984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86" name="AutoShape 25"/>
            <p:cNvSpPr>
              <a:spLocks noChangeArrowheads="1"/>
            </p:cNvSpPr>
            <p:nvPr/>
          </p:nvSpPr>
          <p:spPr bwMode="auto">
            <a:xfrm>
              <a:off x="3339" y="2810"/>
              <a:ext cx="344" cy="432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210985" name="Text Box 41"/>
          <p:cNvSpPr txBox="1">
            <a:spLocks noChangeArrowheads="1"/>
          </p:cNvSpPr>
          <p:nvPr/>
        </p:nvSpPr>
        <p:spPr bwMode="auto">
          <a:xfrm>
            <a:off x="1055443" y="5651505"/>
            <a:ext cx="1069318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0" dirty="0"/>
              <a:t>This circuit guarantees that the inputs to the S</a:t>
            </a:r>
            <a:r>
              <a:rPr lang="tr-TR" sz="2800" b="0" dirty="0"/>
              <a:t>’</a:t>
            </a:r>
            <a:r>
              <a:rPr lang="en-US" sz="2800" b="0" dirty="0"/>
              <a:t>R</a:t>
            </a:r>
            <a:r>
              <a:rPr lang="tr-TR" sz="2800" b="0" dirty="0"/>
              <a:t>’</a:t>
            </a:r>
            <a:r>
              <a:rPr lang="en-US" sz="2800" b="0" dirty="0"/>
              <a:t>-latch</a:t>
            </a:r>
          </a:p>
          <a:p>
            <a:r>
              <a:rPr lang="en-US" sz="2800" b="0" dirty="0"/>
              <a:t>is always complement of each other when C = 1.</a:t>
            </a: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281238" y="2965450"/>
            <a:ext cx="2997200" cy="2406650"/>
            <a:chOff x="477" y="1868"/>
            <a:chExt cx="1888" cy="1516"/>
          </a:xfrm>
        </p:grpSpPr>
        <p:sp>
          <p:nvSpPr>
            <p:cNvPr id="14345" name="Oval 26"/>
            <p:cNvSpPr>
              <a:spLocks noChangeArrowheads="1"/>
            </p:cNvSpPr>
            <p:nvPr/>
          </p:nvSpPr>
          <p:spPr bwMode="auto">
            <a:xfrm>
              <a:off x="2282" y="2040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6" name="AutoShape 27"/>
            <p:cNvSpPr>
              <a:spLocks noChangeArrowheads="1"/>
            </p:cNvSpPr>
            <p:nvPr/>
          </p:nvSpPr>
          <p:spPr bwMode="auto">
            <a:xfrm>
              <a:off x="1939" y="1868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7" name="Oval 28"/>
            <p:cNvSpPr>
              <a:spLocks noChangeArrowheads="1"/>
            </p:cNvSpPr>
            <p:nvPr/>
          </p:nvSpPr>
          <p:spPr bwMode="auto">
            <a:xfrm>
              <a:off x="2265" y="3131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8" name="AutoShape 29"/>
            <p:cNvSpPr>
              <a:spLocks noChangeArrowheads="1"/>
            </p:cNvSpPr>
            <p:nvPr/>
          </p:nvSpPr>
          <p:spPr bwMode="auto">
            <a:xfrm>
              <a:off x="1922" y="2959"/>
              <a:ext cx="344" cy="418"/>
            </a:xfrm>
            <a:prstGeom prst="flowChartDelay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49" name="Line 30"/>
            <p:cNvSpPr>
              <a:spLocks noChangeShapeType="1"/>
            </p:cNvSpPr>
            <p:nvPr/>
          </p:nvSpPr>
          <p:spPr bwMode="auto">
            <a:xfrm flipV="1">
              <a:off x="665" y="1975"/>
              <a:ext cx="1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31"/>
            <p:cNvSpPr>
              <a:spLocks noChangeShapeType="1"/>
            </p:cNvSpPr>
            <p:nvPr/>
          </p:nvSpPr>
          <p:spPr bwMode="auto">
            <a:xfrm flipV="1">
              <a:off x="1470" y="3269"/>
              <a:ext cx="4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32"/>
            <p:cNvSpPr>
              <a:spLocks noChangeShapeType="1"/>
            </p:cNvSpPr>
            <p:nvPr/>
          </p:nvSpPr>
          <p:spPr bwMode="auto">
            <a:xfrm flipV="1">
              <a:off x="1717" y="2155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Line 33"/>
            <p:cNvSpPr>
              <a:spLocks noChangeShapeType="1"/>
            </p:cNvSpPr>
            <p:nvPr/>
          </p:nvSpPr>
          <p:spPr bwMode="auto">
            <a:xfrm flipH="1">
              <a:off x="1717" y="2156"/>
              <a:ext cx="0" cy="8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Line 34"/>
            <p:cNvSpPr>
              <a:spLocks noChangeShapeType="1"/>
            </p:cNvSpPr>
            <p:nvPr/>
          </p:nvSpPr>
          <p:spPr bwMode="auto">
            <a:xfrm flipV="1">
              <a:off x="1727" y="3063"/>
              <a:ext cx="19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Line 35"/>
            <p:cNvSpPr>
              <a:spLocks noChangeShapeType="1"/>
            </p:cNvSpPr>
            <p:nvPr/>
          </p:nvSpPr>
          <p:spPr bwMode="auto">
            <a:xfrm flipV="1">
              <a:off x="665" y="2588"/>
              <a:ext cx="10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Oval 36"/>
            <p:cNvSpPr>
              <a:spLocks noChangeArrowheads="1"/>
            </p:cNvSpPr>
            <p:nvPr/>
          </p:nvSpPr>
          <p:spPr bwMode="auto">
            <a:xfrm>
              <a:off x="1689" y="2560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6" name="Text Box 37"/>
            <p:cNvSpPr txBox="1">
              <a:spLocks noChangeArrowheads="1"/>
            </p:cNvSpPr>
            <p:nvPr/>
          </p:nvSpPr>
          <p:spPr bwMode="auto">
            <a:xfrm>
              <a:off x="480" y="2473"/>
              <a:ext cx="1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C</a:t>
              </a:r>
            </a:p>
          </p:txBody>
        </p:sp>
        <p:sp>
          <p:nvSpPr>
            <p:cNvPr id="14357" name="Line 38"/>
            <p:cNvSpPr>
              <a:spLocks noChangeShapeType="1"/>
            </p:cNvSpPr>
            <p:nvPr/>
          </p:nvSpPr>
          <p:spPr bwMode="auto">
            <a:xfrm flipV="1">
              <a:off x="967" y="1975"/>
              <a:ext cx="0" cy="12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Oval 39"/>
            <p:cNvSpPr>
              <a:spLocks noChangeArrowheads="1"/>
            </p:cNvSpPr>
            <p:nvPr/>
          </p:nvSpPr>
          <p:spPr bwMode="auto">
            <a:xfrm>
              <a:off x="938" y="1948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359" name="Text Box 40"/>
            <p:cNvSpPr txBox="1">
              <a:spLocks noChangeArrowheads="1"/>
            </p:cNvSpPr>
            <p:nvPr/>
          </p:nvSpPr>
          <p:spPr bwMode="auto">
            <a:xfrm>
              <a:off x="477" y="1868"/>
              <a:ext cx="1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b="0"/>
                <a:t>D</a:t>
              </a:r>
            </a:p>
          </p:txBody>
        </p:sp>
        <p:grpSp>
          <p:nvGrpSpPr>
            <p:cNvPr id="14360" name="Group 45"/>
            <p:cNvGrpSpPr>
              <a:grpSpLocks/>
            </p:cNvGrpSpPr>
            <p:nvPr/>
          </p:nvGrpSpPr>
          <p:grpSpPr bwMode="auto">
            <a:xfrm>
              <a:off x="980" y="3166"/>
              <a:ext cx="531" cy="218"/>
              <a:chOff x="960" y="1824"/>
              <a:chExt cx="1015" cy="457"/>
            </a:xfrm>
          </p:grpSpPr>
          <p:sp>
            <p:nvSpPr>
              <p:cNvPr id="14361" name="AutoShape 46"/>
              <p:cNvSpPr>
                <a:spLocks noChangeArrowheads="1"/>
              </p:cNvSpPr>
              <p:nvPr/>
            </p:nvSpPr>
            <p:spPr bwMode="auto">
              <a:xfrm rot="5400000">
                <a:off x="1186" y="1870"/>
                <a:ext cx="457" cy="366"/>
              </a:xfrm>
              <a:prstGeom prst="flowChartExtract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4362" name="Oval 47"/>
              <p:cNvSpPr>
                <a:spLocks noChangeArrowheads="1"/>
              </p:cNvSpPr>
              <p:nvPr/>
            </p:nvSpPr>
            <p:spPr bwMode="auto">
              <a:xfrm>
                <a:off x="1584" y="1980"/>
                <a:ext cx="128" cy="14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4363" name="Line 48"/>
              <p:cNvSpPr>
                <a:spLocks noChangeShapeType="1"/>
              </p:cNvSpPr>
              <p:nvPr/>
            </p:nvSpPr>
            <p:spPr bwMode="auto">
              <a:xfrm>
                <a:off x="960" y="2059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4" name="Line 49"/>
              <p:cNvSpPr>
                <a:spLocks noChangeShapeType="1"/>
              </p:cNvSpPr>
              <p:nvPr/>
            </p:nvSpPr>
            <p:spPr bwMode="auto">
              <a:xfrm>
                <a:off x="1702" y="2047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0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0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0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86" grpId="0" animBg="1"/>
      <p:bldP spid="210947" grpId="0" build="p"/>
      <p:bldP spid="21098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B9FDB0-8A66-4059-A909-52247C7A787E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2"/>
            <a:ext cx="8229600" cy="775228"/>
          </a:xfrm>
        </p:spPr>
        <p:txBody>
          <a:bodyPr/>
          <a:lstStyle/>
          <a:p>
            <a:r>
              <a:rPr lang="en-US" dirty="0"/>
              <a:t>D-Latch as a Storage Unit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363662"/>
            <a:ext cx="10945216" cy="5494338"/>
          </a:xfrm>
        </p:spPr>
        <p:txBody>
          <a:bodyPr/>
          <a:lstStyle/>
          <a:p>
            <a:r>
              <a:rPr lang="en-US" sz="3200" dirty="0"/>
              <a:t>D–latches can be used as temporary storage</a:t>
            </a:r>
          </a:p>
          <a:p>
            <a:r>
              <a:rPr lang="en-US" sz="3200" dirty="0"/>
              <a:t>The input of D-latch is transferred to the Q output when C = 1 </a:t>
            </a:r>
          </a:p>
          <a:p>
            <a:r>
              <a:rPr lang="en-US" sz="3200" dirty="0"/>
              <a:t>When C = 0 the binary information is retained.</a:t>
            </a:r>
          </a:p>
        </p:txBody>
      </p:sp>
      <p:pic>
        <p:nvPicPr>
          <p:cNvPr id="5" name="Picture 2" descr="Part ay: logic diagram. The structure resembles the structure for an S R latch with control unit. However, in place of S and R, the n and gates of the control unit receive D and E n, and D prime and E n, respectively. Part b: function table. The table has columns for the following entries from left to right: E n, D, next state of Q. The row entries are as follows from left to right: row 1, 0, X, no change; row 2, 1, 0, Q = 0 at reset state; row 3, 1, 1, Q = 1 at set state.">
            <a:extLst>
              <a:ext uri="{FF2B5EF4-FFF2-40B4-BE49-F238E27FC236}">
                <a16:creationId xmlns:a16="http://schemas.microsoft.com/office/drawing/2014/main" id="{873C9165-ED82-4327-B9C5-726FA06D5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588220"/>
            <a:ext cx="8534400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710244"/>
          </a:xfrm>
        </p:spPr>
        <p:txBody>
          <a:bodyPr/>
          <a:lstStyle/>
          <a:p>
            <a:r>
              <a:rPr lang="en-IN" sz="3200" dirty="0">
                <a:latin typeface="+mn-lt"/>
              </a:rPr>
              <a:t>Graphic symbols for latches.</a:t>
            </a:r>
            <a:endParaRPr lang="en-US" sz="3200" dirty="0">
              <a:latin typeface="+mn-lt"/>
            </a:endParaRPr>
          </a:p>
        </p:txBody>
      </p:sp>
      <p:pic>
        <p:nvPicPr>
          <p:cNvPr id="7170" name="Picture 2" descr="Each symbol is based on a vertical rectangle with two horizontal line segments extending to the left side, and two corresponding horizontal segments extending from the right side. First latch: S R. The top left and bottom left segments intersect the rectangle at S and R, respectively. The bottom right segment intersects the rectangle at a bubble. Second latch: S R bar. The S R symbol with additional bubbles at S and R. Third latch: D. The S R symbol with S and R replaced by D and E 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97" y="2473778"/>
            <a:ext cx="10163475" cy="2359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00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47225D-2F1E-4CC9-9E4C-3D40FFB828E5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Flip-Flops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909643"/>
            <a:ext cx="8763000" cy="890587"/>
          </a:xfrm>
        </p:spPr>
        <p:txBody>
          <a:bodyPr/>
          <a:lstStyle/>
          <a:p>
            <a:r>
              <a:rPr lang="en-US"/>
              <a:t>Outputs may keep changing so long as C = 1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2170113" y="2401893"/>
            <a:ext cx="7885112" cy="3995737"/>
            <a:chOff x="407" y="1513"/>
            <a:chExt cx="4967" cy="2517"/>
          </a:xfrm>
        </p:grpSpPr>
        <p:grpSp>
          <p:nvGrpSpPr>
            <p:cNvPr id="17414" name="Group 4"/>
            <p:cNvGrpSpPr>
              <a:grpSpLocks/>
            </p:cNvGrpSpPr>
            <p:nvPr/>
          </p:nvGrpSpPr>
          <p:grpSpPr bwMode="auto">
            <a:xfrm>
              <a:off x="407" y="1513"/>
              <a:ext cx="4967" cy="2517"/>
              <a:chOff x="407" y="1513"/>
              <a:chExt cx="4967" cy="2517"/>
            </a:xfrm>
          </p:grpSpPr>
          <p:sp>
            <p:nvSpPr>
              <p:cNvPr id="17417" name="Rectangle 5"/>
              <p:cNvSpPr>
                <a:spLocks noChangeArrowheads="1"/>
              </p:cNvSpPr>
              <p:nvPr/>
            </p:nvSpPr>
            <p:spPr bwMode="auto">
              <a:xfrm>
                <a:off x="1828" y="1513"/>
                <a:ext cx="1527" cy="108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b="0">
                    <a:solidFill>
                      <a:schemeClr val="bg1"/>
                    </a:solidFill>
                  </a:rPr>
                  <a:t>Combinational </a:t>
                </a:r>
              </a:p>
              <a:p>
                <a:pPr algn="ctr"/>
                <a:r>
                  <a:rPr lang="en-US" b="0">
                    <a:solidFill>
                      <a:schemeClr val="bg1"/>
                    </a:solidFill>
                  </a:rPr>
                  <a:t>Circuit</a:t>
                </a:r>
              </a:p>
            </p:txBody>
          </p:sp>
          <p:sp>
            <p:nvSpPr>
              <p:cNvPr id="17418" name="Rectangle 6"/>
              <p:cNvSpPr>
                <a:spLocks noChangeArrowheads="1"/>
              </p:cNvSpPr>
              <p:nvPr/>
            </p:nvSpPr>
            <p:spPr bwMode="auto">
              <a:xfrm>
                <a:off x="1828" y="3215"/>
                <a:ext cx="1527" cy="815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b="0">
                    <a:solidFill>
                      <a:schemeClr val="bg1"/>
                    </a:solidFill>
                  </a:rPr>
                  <a:t>Latches</a:t>
                </a:r>
              </a:p>
            </p:txBody>
          </p:sp>
          <p:sp>
            <p:nvSpPr>
              <p:cNvPr id="17419" name="Line 7"/>
              <p:cNvSpPr>
                <a:spLocks noChangeShapeType="1"/>
              </p:cNvSpPr>
              <p:nvPr/>
            </p:nvSpPr>
            <p:spPr bwMode="auto">
              <a:xfrm flipV="1">
                <a:off x="1125" y="1760"/>
                <a:ext cx="703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0" name="Text Box 8"/>
              <p:cNvSpPr txBox="1">
                <a:spLocks noChangeArrowheads="1"/>
              </p:cNvSpPr>
              <p:nvPr/>
            </p:nvSpPr>
            <p:spPr bwMode="auto">
              <a:xfrm>
                <a:off x="407" y="1612"/>
                <a:ext cx="65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0"/>
                  <a:t>inputs</a:t>
                </a:r>
              </a:p>
            </p:txBody>
          </p:sp>
          <p:sp>
            <p:nvSpPr>
              <p:cNvPr id="17421" name="Line 9"/>
              <p:cNvSpPr>
                <a:spLocks noChangeShapeType="1"/>
              </p:cNvSpPr>
              <p:nvPr/>
            </p:nvSpPr>
            <p:spPr bwMode="auto">
              <a:xfrm>
                <a:off x="3355" y="1760"/>
                <a:ext cx="1226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2" name="Text Box 10"/>
              <p:cNvSpPr txBox="1">
                <a:spLocks noChangeArrowheads="1"/>
              </p:cNvSpPr>
              <p:nvPr/>
            </p:nvSpPr>
            <p:spPr bwMode="auto">
              <a:xfrm>
                <a:off x="4581" y="1616"/>
                <a:ext cx="79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0"/>
                  <a:t>outputs</a:t>
                </a:r>
              </a:p>
            </p:txBody>
          </p:sp>
          <p:sp>
            <p:nvSpPr>
              <p:cNvPr id="17423" name="Line 11"/>
              <p:cNvSpPr>
                <a:spLocks noChangeShapeType="1"/>
              </p:cNvSpPr>
              <p:nvPr/>
            </p:nvSpPr>
            <p:spPr bwMode="auto">
              <a:xfrm>
                <a:off x="3355" y="2400"/>
                <a:ext cx="439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4" name="Line 12"/>
              <p:cNvSpPr>
                <a:spLocks noChangeShapeType="1"/>
              </p:cNvSpPr>
              <p:nvPr/>
            </p:nvSpPr>
            <p:spPr bwMode="auto">
              <a:xfrm>
                <a:off x="3794" y="2409"/>
                <a:ext cx="0" cy="120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5" name="Line 13"/>
              <p:cNvSpPr>
                <a:spLocks noChangeShapeType="1"/>
              </p:cNvSpPr>
              <p:nvPr/>
            </p:nvSpPr>
            <p:spPr bwMode="auto">
              <a:xfrm flipH="1">
                <a:off x="3355" y="3616"/>
                <a:ext cx="4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6" name="Line 14"/>
              <p:cNvSpPr>
                <a:spLocks noChangeShapeType="1"/>
              </p:cNvSpPr>
              <p:nvPr/>
            </p:nvSpPr>
            <p:spPr bwMode="auto">
              <a:xfrm>
                <a:off x="1389" y="2412"/>
                <a:ext cx="439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7" name="Line 15"/>
              <p:cNvSpPr>
                <a:spLocks noChangeShapeType="1"/>
              </p:cNvSpPr>
              <p:nvPr/>
            </p:nvSpPr>
            <p:spPr bwMode="auto">
              <a:xfrm>
                <a:off x="1398" y="2421"/>
                <a:ext cx="0" cy="120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8" name="Line 16"/>
              <p:cNvSpPr>
                <a:spLocks noChangeShapeType="1"/>
              </p:cNvSpPr>
              <p:nvPr/>
            </p:nvSpPr>
            <p:spPr bwMode="auto">
              <a:xfrm flipH="1">
                <a:off x="1389" y="3628"/>
                <a:ext cx="43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9" name="Text Box 17"/>
              <p:cNvSpPr txBox="1">
                <a:spLocks noChangeArrowheads="1"/>
              </p:cNvSpPr>
              <p:nvPr/>
            </p:nvSpPr>
            <p:spPr bwMode="auto">
              <a:xfrm>
                <a:off x="407" y="2918"/>
                <a:ext cx="802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0"/>
                  <a:t>current</a:t>
                </a:r>
              </a:p>
              <a:p>
                <a:r>
                  <a:rPr lang="en-US" b="0"/>
                  <a:t>state</a:t>
                </a:r>
              </a:p>
            </p:txBody>
          </p:sp>
          <p:sp>
            <p:nvSpPr>
              <p:cNvPr id="17430" name="Text Box 18"/>
              <p:cNvSpPr txBox="1">
                <a:spLocks noChangeArrowheads="1"/>
              </p:cNvSpPr>
              <p:nvPr/>
            </p:nvSpPr>
            <p:spPr bwMode="auto">
              <a:xfrm>
                <a:off x="3839" y="2918"/>
                <a:ext cx="597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b="0"/>
                  <a:t>next</a:t>
                </a:r>
              </a:p>
              <a:p>
                <a:r>
                  <a:rPr lang="en-US" b="0"/>
                  <a:t>state</a:t>
                </a:r>
              </a:p>
            </p:txBody>
          </p:sp>
        </p:grpSp>
        <p:sp>
          <p:nvSpPr>
            <p:cNvPr id="17415" name="Line 21"/>
            <p:cNvSpPr>
              <a:spLocks noChangeShapeType="1"/>
            </p:cNvSpPr>
            <p:nvPr/>
          </p:nvSpPr>
          <p:spPr bwMode="auto">
            <a:xfrm>
              <a:off x="777" y="3906"/>
              <a:ext cx="10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Text Box 22"/>
            <p:cNvSpPr txBox="1">
              <a:spLocks noChangeArrowheads="1"/>
            </p:cNvSpPr>
            <p:nvPr/>
          </p:nvSpPr>
          <p:spPr bwMode="auto">
            <a:xfrm>
              <a:off x="545" y="3742"/>
              <a:ext cx="2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build="p" bldLvl="3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024490-15C7-46B5-9B6E-24D28136EBCD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Flip-Flops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0496"/>
            <a:ext cx="11407824" cy="4650792"/>
          </a:xfrm>
        </p:spPr>
        <p:txBody>
          <a:bodyPr/>
          <a:lstStyle/>
          <a:p>
            <a:pPr lvl="1" algn="just"/>
            <a:r>
              <a:rPr lang="en-US" sz="3200" dirty="0">
                <a:solidFill>
                  <a:srgbClr val="FF0000"/>
                </a:solidFill>
              </a:rPr>
              <a:t>The states of the memory elements </a:t>
            </a:r>
            <a:r>
              <a:rPr lang="tr-TR" sz="3200" dirty="0">
                <a:solidFill>
                  <a:srgbClr val="FF0000"/>
                </a:solidFill>
              </a:rPr>
              <a:t>must</a:t>
            </a:r>
            <a:r>
              <a:rPr lang="en-US" sz="3200" dirty="0">
                <a:solidFill>
                  <a:srgbClr val="FF0000"/>
                </a:solidFill>
              </a:rPr>
              <a:t> change synchronously</a:t>
            </a:r>
          </a:p>
          <a:p>
            <a:pPr lvl="1" algn="just"/>
            <a:r>
              <a:rPr lang="en-US" sz="3200" dirty="0"/>
              <a:t>memory elements should respond to the changes in input at certain points in time.</a:t>
            </a:r>
          </a:p>
          <a:p>
            <a:pPr lvl="1" algn="just"/>
            <a:r>
              <a:rPr lang="en-US" sz="3200" dirty="0"/>
              <a:t>This is the very characteristics of synchronous circuits.</a:t>
            </a:r>
          </a:p>
          <a:p>
            <a:pPr lvl="1" algn="just"/>
            <a:r>
              <a:rPr lang="en-US" sz="3200" dirty="0"/>
              <a:t>To this end, we use flip-flops that change states during a signal transition of control input (clock)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710244"/>
          </a:xfrm>
        </p:spPr>
        <p:txBody>
          <a:bodyPr/>
          <a:lstStyle/>
          <a:p>
            <a:r>
              <a:rPr lang="en-IN" sz="2800" dirty="0">
                <a:latin typeface="+mn-lt"/>
              </a:rPr>
              <a:t>Clock response in flip-flop.</a:t>
            </a:r>
            <a:endParaRPr lang="en-US" sz="2800" dirty="0">
              <a:latin typeface="+mn-lt"/>
            </a:endParaRPr>
          </a:p>
        </p:txBody>
      </p:sp>
      <p:pic>
        <p:nvPicPr>
          <p:cNvPr id="8194" name="Picture 2" descr="Part ay: response to positive level. The regions at the graph maximum are indicated. Part b: positive edge response. Movement is upward along the vertical segments of the waveform. Part c: negative edge response. Movement is downward along the vertical segments of the waveform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516" y="1278886"/>
            <a:ext cx="8568952" cy="522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004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9179EA-4379-4EF4-B522-4EBB6EC87592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Edge-Triggered D Flip-Flop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7371" y="692153"/>
            <a:ext cx="11305251" cy="1052513"/>
          </a:xfrm>
        </p:spPr>
        <p:txBody>
          <a:bodyPr/>
          <a:lstStyle/>
          <a:p>
            <a:r>
              <a:rPr lang="en-US" dirty="0"/>
              <a:t>An edge-triggered D flip-flop can be constructed using two D latches</a:t>
            </a:r>
          </a:p>
        </p:txBody>
      </p:sp>
      <p:sp>
        <p:nvSpPr>
          <p:cNvPr id="216068" name="Rectangle 4"/>
          <p:cNvSpPr>
            <a:spLocks noChangeArrowheads="1"/>
          </p:cNvSpPr>
          <p:nvPr/>
        </p:nvSpPr>
        <p:spPr bwMode="auto">
          <a:xfrm>
            <a:off x="3313113" y="1817688"/>
            <a:ext cx="1103312" cy="13636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D latch</a:t>
            </a:r>
          </a:p>
          <a:p>
            <a:pPr algn="ctr"/>
            <a:r>
              <a:rPr lang="en-US" sz="1800" b="0">
                <a:solidFill>
                  <a:schemeClr val="bg1"/>
                </a:solidFill>
              </a:rPr>
              <a:t>(master)</a:t>
            </a:r>
          </a:p>
        </p:txBody>
      </p:sp>
      <p:sp>
        <p:nvSpPr>
          <p:cNvPr id="19462" name="Text Box 7"/>
          <p:cNvSpPr txBox="1">
            <a:spLocks noChangeArrowheads="1"/>
          </p:cNvSpPr>
          <p:nvPr/>
        </p:nvSpPr>
        <p:spPr bwMode="auto">
          <a:xfrm>
            <a:off x="3355975" y="1938341"/>
            <a:ext cx="1651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9463" name="Text Box 8"/>
          <p:cNvSpPr txBox="1">
            <a:spLocks noChangeArrowheads="1"/>
          </p:cNvSpPr>
          <p:nvPr/>
        </p:nvSpPr>
        <p:spPr bwMode="auto">
          <a:xfrm>
            <a:off x="3336928" y="2798766"/>
            <a:ext cx="1381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464" name="Text Box 11"/>
          <p:cNvSpPr txBox="1">
            <a:spLocks noChangeArrowheads="1"/>
          </p:cNvSpPr>
          <p:nvPr/>
        </p:nvSpPr>
        <p:spPr bwMode="auto">
          <a:xfrm>
            <a:off x="4121153" y="1919291"/>
            <a:ext cx="200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216080" name="Rectangle 16"/>
          <p:cNvSpPr>
            <a:spLocks noChangeArrowheads="1"/>
          </p:cNvSpPr>
          <p:nvPr/>
        </p:nvSpPr>
        <p:spPr bwMode="auto">
          <a:xfrm>
            <a:off x="5945188" y="1811338"/>
            <a:ext cx="1103312" cy="13636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r>
              <a:rPr lang="en-US" sz="1800" b="0">
                <a:solidFill>
                  <a:schemeClr val="bg1"/>
                </a:solidFill>
              </a:rPr>
              <a:t>D latch</a:t>
            </a:r>
          </a:p>
          <a:p>
            <a:pPr algn="ctr"/>
            <a:r>
              <a:rPr lang="en-US" sz="1800" b="0">
                <a:solidFill>
                  <a:schemeClr val="bg1"/>
                </a:solidFill>
              </a:rPr>
              <a:t>(slave)</a:t>
            </a:r>
          </a:p>
        </p:txBody>
      </p:sp>
      <p:sp>
        <p:nvSpPr>
          <p:cNvPr id="19466" name="Text Box 18"/>
          <p:cNvSpPr txBox="1">
            <a:spLocks noChangeArrowheads="1"/>
          </p:cNvSpPr>
          <p:nvPr/>
        </p:nvSpPr>
        <p:spPr bwMode="auto">
          <a:xfrm>
            <a:off x="5988050" y="1931991"/>
            <a:ext cx="1651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9467" name="Text Box 19"/>
          <p:cNvSpPr txBox="1">
            <a:spLocks noChangeArrowheads="1"/>
          </p:cNvSpPr>
          <p:nvPr/>
        </p:nvSpPr>
        <p:spPr bwMode="auto">
          <a:xfrm>
            <a:off x="5969003" y="2792416"/>
            <a:ext cx="1381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468" name="Text Box 21"/>
          <p:cNvSpPr txBox="1">
            <a:spLocks noChangeArrowheads="1"/>
          </p:cNvSpPr>
          <p:nvPr/>
        </p:nvSpPr>
        <p:spPr bwMode="auto">
          <a:xfrm>
            <a:off x="6753228" y="1912941"/>
            <a:ext cx="200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0">
                <a:solidFill>
                  <a:schemeClr val="bg1"/>
                </a:solidFill>
              </a:rPr>
              <a:t>Q</a:t>
            </a: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1666875" y="2909888"/>
            <a:ext cx="1646238" cy="965200"/>
            <a:chOff x="240" y="2267"/>
            <a:chExt cx="1037" cy="608"/>
          </a:xfrm>
        </p:grpSpPr>
        <p:sp>
          <p:nvSpPr>
            <p:cNvPr id="19553" name="Line 6"/>
            <p:cNvSpPr>
              <a:spLocks noChangeShapeType="1"/>
            </p:cNvSpPr>
            <p:nvPr/>
          </p:nvSpPr>
          <p:spPr bwMode="auto">
            <a:xfrm flipH="1">
              <a:off x="1003" y="2267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4" name="Line 28"/>
            <p:cNvSpPr>
              <a:spLocks noChangeShapeType="1"/>
            </p:cNvSpPr>
            <p:nvPr/>
          </p:nvSpPr>
          <p:spPr bwMode="auto">
            <a:xfrm flipH="1">
              <a:off x="539" y="2803"/>
              <a:ext cx="4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5" name="Line 29"/>
            <p:cNvSpPr>
              <a:spLocks noChangeShapeType="1"/>
            </p:cNvSpPr>
            <p:nvPr/>
          </p:nvSpPr>
          <p:spPr bwMode="auto">
            <a:xfrm>
              <a:off x="1003" y="2267"/>
              <a:ext cx="0" cy="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6" name="Text Box 34"/>
            <p:cNvSpPr txBox="1">
              <a:spLocks noChangeArrowheads="1"/>
            </p:cNvSpPr>
            <p:nvPr/>
          </p:nvSpPr>
          <p:spPr bwMode="auto">
            <a:xfrm>
              <a:off x="240" y="2683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</p:grp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1873250" y="1882775"/>
            <a:ext cx="6731000" cy="344488"/>
            <a:chOff x="370" y="1620"/>
            <a:chExt cx="4240" cy="217"/>
          </a:xfrm>
        </p:grpSpPr>
        <p:sp>
          <p:nvSpPr>
            <p:cNvPr id="19549" name="Line 5"/>
            <p:cNvSpPr>
              <a:spLocks noChangeShapeType="1"/>
            </p:cNvSpPr>
            <p:nvPr/>
          </p:nvSpPr>
          <p:spPr bwMode="auto">
            <a:xfrm flipH="1" flipV="1">
              <a:off x="539" y="1734"/>
              <a:ext cx="7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0" name="Line 20"/>
            <p:cNvSpPr>
              <a:spLocks noChangeShapeType="1"/>
            </p:cNvSpPr>
            <p:nvPr/>
          </p:nvSpPr>
          <p:spPr bwMode="auto">
            <a:xfrm flipH="1">
              <a:off x="3630" y="1730"/>
              <a:ext cx="7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51" name="Text Box 33"/>
            <p:cNvSpPr txBox="1">
              <a:spLocks noChangeArrowheads="1"/>
            </p:cNvSpPr>
            <p:nvPr/>
          </p:nvSpPr>
          <p:spPr bwMode="auto">
            <a:xfrm>
              <a:off x="370" y="1645"/>
              <a:ext cx="1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D</a:t>
              </a:r>
            </a:p>
          </p:txBody>
        </p:sp>
        <p:sp>
          <p:nvSpPr>
            <p:cNvPr id="19552" name="Text Box 35"/>
            <p:cNvSpPr txBox="1">
              <a:spLocks noChangeArrowheads="1"/>
            </p:cNvSpPr>
            <p:nvPr/>
          </p:nvSpPr>
          <p:spPr bwMode="auto">
            <a:xfrm>
              <a:off x="4470" y="1620"/>
              <a:ext cx="1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Q</a:t>
              </a:r>
            </a:p>
          </p:txBody>
        </p:sp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4416428" y="1665288"/>
            <a:ext cx="1528763" cy="398462"/>
            <a:chOff x="1972" y="1483"/>
            <a:chExt cx="963" cy="251"/>
          </a:xfrm>
        </p:grpSpPr>
        <p:sp>
          <p:nvSpPr>
            <p:cNvPr id="19547" name="Line 9"/>
            <p:cNvSpPr>
              <a:spLocks noChangeShapeType="1"/>
            </p:cNvSpPr>
            <p:nvPr/>
          </p:nvSpPr>
          <p:spPr bwMode="auto">
            <a:xfrm flipH="1">
              <a:off x="1972" y="1734"/>
              <a:ext cx="9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8" name="Text Box 36"/>
            <p:cNvSpPr txBox="1">
              <a:spLocks noChangeArrowheads="1"/>
            </p:cNvSpPr>
            <p:nvPr/>
          </p:nvSpPr>
          <p:spPr bwMode="auto">
            <a:xfrm>
              <a:off x="2376" y="1483"/>
              <a:ext cx="1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Y</a:t>
              </a:r>
            </a:p>
          </p:txBody>
        </p:sp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6319838" y="5054600"/>
            <a:ext cx="3270250" cy="565150"/>
            <a:chOff x="2754" y="3536"/>
            <a:chExt cx="2060" cy="356"/>
          </a:xfrm>
        </p:grpSpPr>
        <p:sp>
          <p:nvSpPr>
            <p:cNvPr id="19541" name="Line 49"/>
            <p:cNvSpPr>
              <a:spLocks noChangeShapeType="1"/>
            </p:cNvSpPr>
            <p:nvPr/>
          </p:nvSpPr>
          <p:spPr bwMode="auto">
            <a:xfrm>
              <a:off x="3117" y="3541"/>
              <a:ext cx="4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2" name="Line 50"/>
            <p:cNvSpPr>
              <a:spLocks noChangeShapeType="1"/>
            </p:cNvSpPr>
            <p:nvPr/>
          </p:nvSpPr>
          <p:spPr bwMode="auto">
            <a:xfrm flipV="1">
              <a:off x="3519" y="3536"/>
              <a:ext cx="0" cy="35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3" name="Line 51"/>
            <p:cNvSpPr>
              <a:spLocks noChangeShapeType="1"/>
            </p:cNvSpPr>
            <p:nvPr/>
          </p:nvSpPr>
          <p:spPr bwMode="auto">
            <a:xfrm>
              <a:off x="3519" y="3878"/>
              <a:ext cx="4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4" name="Line 52"/>
            <p:cNvSpPr>
              <a:spLocks noChangeShapeType="1"/>
            </p:cNvSpPr>
            <p:nvPr/>
          </p:nvSpPr>
          <p:spPr bwMode="auto">
            <a:xfrm flipV="1">
              <a:off x="3915" y="3536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5" name="Line 55"/>
            <p:cNvSpPr>
              <a:spLocks noChangeShapeType="1"/>
            </p:cNvSpPr>
            <p:nvPr/>
          </p:nvSpPr>
          <p:spPr bwMode="auto">
            <a:xfrm>
              <a:off x="3915" y="3545"/>
              <a:ext cx="89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46" name="Text Box 58"/>
            <p:cNvSpPr txBox="1">
              <a:spLocks noChangeArrowheads="1"/>
            </p:cNvSpPr>
            <p:nvPr/>
          </p:nvSpPr>
          <p:spPr bwMode="auto">
            <a:xfrm>
              <a:off x="2754" y="3600"/>
              <a:ext cx="24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clk’</a:t>
              </a:r>
            </a:p>
          </p:txBody>
        </p:sp>
      </p:grpSp>
      <p:sp>
        <p:nvSpPr>
          <p:cNvPr id="216123" name="Text Box 59"/>
          <p:cNvSpPr txBox="1">
            <a:spLocks noChangeArrowheads="1"/>
          </p:cNvSpPr>
          <p:nvPr/>
        </p:nvSpPr>
        <p:spPr bwMode="auto">
          <a:xfrm>
            <a:off x="8148641" y="4638678"/>
            <a:ext cx="1316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0"/>
              <a:t>Q = Y = D</a:t>
            </a:r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6311900" y="3517900"/>
            <a:ext cx="4406900" cy="996950"/>
            <a:chOff x="2749" y="2539"/>
            <a:chExt cx="2776" cy="628"/>
          </a:xfrm>
        </p:grpSpPr>
        <p:sp>
          <p:nvSpPr>
            <p:cNvPr id="19530" name="Text Box 46"/>
            <p:cNvSpPr txBox="1">
              <a:spLocks noChangeArrowheads="1"/>
            </p:cNvSpPr>
            <p:nvPr/>
          </p:nvSpPr>
          <p:spPr bwMode="auto">
            <a:xfrm>
              <a:off x="3474" y="2539"/>
              <a:ext cx="5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0"/>
                <a:t>Y = D</a:t>
              </a:r>
            </a:p>
          </p:txBody>
        </p:sp>
        <p:grpSp>
          <p:nvGrpSpPr>
            <p:cNvPr id="19531" name="Group 67"/>
            <p:cNvGrpSpPr>
              <a:grpSpLocks/>
            </p:cNvGrpSpPr>
            <p:nvPr/>
          </p:nvGrpSpPr>
          <p:grpSpPr bwMode="auto">
            <a:xfrm>
              <a:off x="2749" y="2811"/>
              <a:ext cx="2776" cy="356"/>
              <a:chOff x="2749" y="2811"/>
              <a:chExt cx="2776" cy="356"/>
            </a:xfrm>
          </p:grpSpPr>
          <p:sp>
            <p:nvSpPr>
              <p:cNvPr id="19532" name="Line 37"/>
              <p:cNvSpPr>
                <a:spLocks noChangeShapeType="1"/>
              </p:cNvSpPr>
              <p:nvPr/>
            </p:nvSpPr>
            <p:spPr bwMode="auto">
              <a:xfrm>
                <a:off x="3112" y="3167"/>
                <a:ext cx="40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3" name="Line 38"/>
              <p:cNvSpPr>
                <a:spLocks noChangeShapeType="1"/>
              </p:cNvSpPr>
              <p:nvPr/>
            </p:nvSpPr>
            <p:spPr bwMode="auto">
              <a:xfrm flipV="1">
                <a:off x="3514" y="2811"/>
                <a:ext cx="0" cy="35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4" name="Line 39"/>
              <p:cNvSpPr>
                <a:spLocks noChangeShapeType="1"/>
              </p:cNvSpPr>
              <p:nvPr/>
            </p:nvSpPr>
            <p:spPr bwMode="auto">
              <a:xfrm>
                <a:off x="3514" y="2811"/>
                <a:ext cx="40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5" name="Line 40"/>
              <p:cNvSpPr>
                <a:spLocks noChangeShapeType="1"/>
              </p:cNvSpPr>
              <p:nvPr/>
            </p:nvSpPr>
            <p:spPr bwMode="auto">
              <a:xfrm flipV="1">
                <a:off x="3910" y="2811"/>
                <a:ext cx="0" cy="35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6" name="Line 43"/>
              <p:cNvSpPr>
                <a:spLocks noChangeShapeType="1"/>
              </p:cNvSpPr>
              <p:nvPr/>
            </p:nvSpPr>
            <p:spPr bwMode="auto">
              <a:xfrm>
                <a:off x="3910" y="3162"/>
                <a:ext cx="904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7" name="Line 44"/>
              <p:cNvSpPr>
                <a:spLocks noChangeShapeType="1"/>
              </p:cNvSpPr>
              <p:nvPr/>
            </p:nvSpPr>
            <p:spPr bwMode="auto">
              <a:xfrm flipH="1" flipV="1">
                <a:off x="3844" y="2971"/>
                <a:ext cx="67" cy="6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8" name="Line 45"/>
              <p:cNvSpPr>
                <a:spLocks noChangeShapeType="1"/>
              </p:cNvSpPr>
              <p:nvPr/>
            </p:nvSpPr>
            <p:spPr bwMode="auto">
              <a:xfrm flipV="1">
                <a:off x="3911" y="2971"/>
                <a:ext cx="77" cy="64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9" name="Text Box 47"/>
              <p:cNvSpPr txBox="1">
                <a:spLocks noChangeArrowheads="1"/>
              </p:cNvSpPr>
              <p:nvPr/>
            </p:nvSpPr>
            <p:spPr bwMode="auto">
              <a:xfrm>
                <a:off x="2749" y="2875"/>
                <a:ext cx="212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2000" b="0"/>
                  <a:t>clk</a:t>
                </a:r>
              </a:p>
            </p:txBody>
          </p:sp>
          <p:sp>
            <p:nvSpPr>
              <p:cNvPr id="7" name="Text Box 60"/>
              <p:cNvSpPr txBox="1">
                <a:spLocks noChangeArrowheads="1"/>
              </p:cNvSpPr>
              <p:nvPr/>
            </p:nvSpPr>
            <p:spPr bwMode="auto">
              <a:xfrm>
                <a:off x="4063" y="2875"/>
                <a:ext cx="146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000" b="0" dirty="0">
                    <a:ln>
                      <a:solidFill>
                        <a:srgbClr val="FF0000"/>
                      </a:solidFill>
                    </a:ln>
                  </a:rPr>
                  <a:t>Y does not change</a:t>
                </a:r>
              </a:p>
            </p:txBody>
          </p:sp>
        </p:grpSp>
      </p:grpSp>
      <p:sp>
        <p:nvSpPr>
          <p:cNvPr id="216125" name="Text Box 61"/>
          <p:cNvSpPr txBox="1">
            <a:spLocks noChangeArrowheads="1"/>
          </p:cNvSpPr>
          <p:nvPr/>
        </p:nvSpPr>
        <p:spPr bwMode="auto">
          <a:xfrm>
            <a:off x="6484941" y="5837241"/>
            <a:ext cx="382989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/>
              <a:t>Negative edge-triggered </a:t>
            </a:r>
          </a:p>
          <a:p>
            <a:r>
              <a:rPr lang="en-US" b="0"/>
              <a:t>D flip-flop</a:t>
            </a:r>
          </a:p>
        </p:txBody>
      </p:sp>
      <p:grpSp>
        <p:nvGrpSpPr>
          <p:cNvPr id="9" name="Group 66"/>
          <p:cNvGrpSpPr>
            <a:grpSpLocks/>
          </p:cNvGrpSpPr>
          <p:nvPr/>
        </p:nvGrpSpPr>
        <p:grpSpPr bwMode="auto">
          <a:xfrm>
            <a:off x="2833688" y="2889253"/>
            <a:ext cx="3111500" cy="1039813"/>
            <a:chOff x="975" y="2254"/>
            <a:chExt cx="1960" cy="655"/>
          </a:xfrm>
        </p:grpSpPr>
        <p:sp>
          <p:nvSpPr>
            <p:cNvPr id="19519" name="Line 17"/>
            <p:cNvSpPr>
              <a:spLocks noChangeShapeType="1"/>
            </p:cNvSpPr>
            <p:nvPr/>
          </p:nvSpPr>
          <p:spPr bwMode="auto">
            <a:xfrm flipH="1">
              <a:off x="2661" y="2254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520" name="Group 23"/>
            <p:cNvGrpSpPr>
              <a:grpSpLocks/>
            </p:cNvGrpSpPr>
            <p:nvPr/>
          </p:nvGrpSpPr>
          <p:grpSpPr bwMode="auto">
            <a:xfrm>
              <a:off x="1547" y="2691"/>
              <a:ext cx="531" cy="218"/>
              <a:chOff x="960" y="1824"/>
              <a:chExt cx="1015" cy="457"/>
            </a:xfrm>
          </p:grpSpPr>
          <p:sp>
            <p:nvSpPr>
              <p:cNvPr id="19526" name="AutoShape 24"/>
              <p:cNvSpPr>
                <a:spLocks noChangeArrowheads="1"/>
              </p:cNvSpPr>
              <p:nvPr/>
            </p:nvSpPr>
            <p:spPr bwMode="auto">
              <a:xfrm rot="5400000">
                <a:off x="1186" y="1870"/>
                <a:ext cx="457" cy="366"/>
              </a:xfrm>
              <a:prstGeom prst="flowChartExtract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tr-TR"/>
              </a:p>
            </p:txBody>
          </p:sp>
          <p:sp>
            <p:nvSpPr>
              <p:cNvPr id="19527" name="Oval 25"/>
              <p:cNvSpPr>
                <a:spLocks noChangeArrowheads="1"/>
              </p:cNvSpPr>
              <p:nvPr/>
            </p:nvSpPr>
            <p:spPr bwMode="auto">
              <a:xfrm>
                <a:off x="1584" y="1980"/>
                <a:ext cx="128" cy="14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9528" name="Line 26"/>
              <p:cNvSpPr>
                <a:spLocks noChangeShapeType="1"/>
              </p:cNvSpPr>
              <p:nvPr/>
            </p:nvSpPr>
            <p:spPr bwMode="auto">
              <a:xfrm>
                <a:off x="960" y="2059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9" name="Line 27"/>
              <p:cNvSpPr>
                <a:spLocks noChangeShapeType="1"/>
              </p:cNvSpPr>
              <p:nvPr/>
            </p:nvSpPr>
            <p:spPr bwMode="auto">
              <a:xfrm>
                <a:off x="1702" y="2047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521" name="Line 30"/>
            <p:cNvSpPr>
              <a:spLocks noChangeShapeType="1"/>
            </p:cNvSpPr>
            <p:nvPr/>
          </p:nvSpPr>
          <p:spPr bwMode="auto">
            <a:xfrm>
              <a:off x="2661" y="2254"/>
              <a:ext cx="0" cy="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2" name="Line 31"/>
            <p:cNvSpPr>
              <a:spLocks noChangeShapeType="1"/>
            </p:cNvSpPr>
            <p:nvPr/>
          </p:nvSpPr>
          <p:spPr bwMode="auto">
            <a:xfrm>
              <a:off x="2078" y="2797"/>
              <a:ext cx="58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23" name="Oval 32"/>
            <p:cNvSpPr>
              <a:spLocks noChangeArrowheads="1"/>
            </p:cNvSpPr>
            <p:nvPr/>
          </p:nvSpPr>
          <p:spPr bwMode="auto">
            <a:xfrm>
              <a:off x="975" y="2770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524" name="Text Box 48"/>
            <p:cNvSpPr txBox="1">
              <a:spLocks noChangeArrowheads="1"/>
            </p:cNvSpPr>
            <p:nvPr/>
          </p:nvSpPr>
          <p:spPr bwMode="auto">
            <a:xfrm>
              <a:off x="2266" y="2595"/>
              <a:ext cx="24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clk’</a:t>
              </a:r>
            </a:p>
          </p:txBody>
        </p:sp>
        <p:sp>
          <p:nvSpPr>
            <p:cNvPr id="19525" name="Line 64"/>
            <p:cNvSpPr>
              <a:spLocks noChangeShapeType="1"/>
            </p:cNvSpPr>
            <p:nvPr/>
          </p:nvSpPr>
          <p:spPr bwMode="auto">
            <a:xfrm>
              <a:off x="1006" y="2798"/>
              <a:ext cx="5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20"/>
          <p:cNvGrpSpPr>
            <a:grpSpLocks/>
          </p:cNvGrpSpPr>
          <p:nvPr/>
        </p:nvGrpSpPr>
        <p:grpSpPr bwMode="auto">
          <a:xfrm>
            <a:off x="1601791" y="4203700"/>
            <a:ext cx="4256087" cy="2508250"/>
            <a:chOff x="49" y="2648"/>
            <a:chExt cx="2681" cy="1580"/>
          </a:xfrm>
        </p:grpSpPr>
        <p:sp>
          <p:nvSpPr>
            <p:cNvPr id="19496" name="Line 61"/>
            <p:cNvSpPr>
              <a:spLocks noChangeShapeType="1"/>
            </p:cNvSpPr>
            <p:nvPr/>
          </p:nvSpPr>
          <p:spPr bwMode="auto">
            <a:xfrm flipV="1">
              <a:off x="363" y="2648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7" name="Line 62"/>
            <p:cNvSpPr>
              <a:spLocks noChangeShapeType="1"/>
            </p:cNvSpPr>
            <p:nvPr/>
          </p:nvSpPr>
          <p:spPr bwMode="auto">
            <a:xfrm>
              <a:off x="363" y="3045"/>
              <a:ext cx="23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8" name="Line 63"/>
            <p:cNvSpPr>
              <a:spLocks noChangeShapeType="1"/>
            </p:cNvSpPr>
            <p:nvPr/>
          </p:nvSpPr>
          <p:spPr bwMode="auto">
            <a:xfrm>
              <a:off x="2091" y="2863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9" name="Line 67"/>
            <p:cNvSpPr>
              <a:spLocks noChangeShapeType="1"/>
            </p:cNvSpPr>
            <p:nvPr/>
          </p:nvSpPr>
          <p:spPr bwMode="auto">
            <a:xfrm>
              <a:off x="1846" y="2863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0" name="Line 69"/>
            <p:cNvSpPr>
              <a:spLocks noChangeShapeType="1"/>
            </p:cNvSpPr>
            <p:nvPr/>
          </p:nvSpPr>
          <p:spPr bwMode="auto">
            <a:xfrm>
              <a:off x="621" y="3045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1" name="Line 70"/>
            <p:cNvSpPr>
              <a:spLocks noChangeShapeType="1"/>
            </p:cNvSpPr>
            <p:nvPr/>
          </p:nvSpPr>
          <p:spPr bwMode="auto">
            <a:xfrm>
              <a:off x="864" y="2863"/>
              <a:ext cx="0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2" name="Line 71"/>
            <p:cNvSpPr>
              <a:spLocks noChangeShapeType="1"/>
            </p:cNvSpPr>
            <p:nvPr/>
          </p:nvSpPr>
          <p:spPr bwMode="auto">
            <a:xfrm>
              <a:off x="864" y="2863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3" name="Line 73"/>
            <p:cNvSpPr>
              <a:spLocks noChangeShapeType="1"/>
            </p:cNvSpPr>
            <p:nvPr/>
          </p:nvSpPr>
          <p:spPr bwMode="auto">
            <a:xfrm>
              <a:off x="371" y="3045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4" name="Line 74"/>
            <p:cNvSpPr>
              <a:spLocks noChangeShapeType="1"/>
            </p:cNvSpPr>
            <p:nvPr/>
          </p:nvSpPr>
          <p:spPr bwMode="auto">
            <a:xfrm>
              <a:off x="1340" y="2863"/>
              <a:ext cx="0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5" name="Line 75"/>
            <p:cNvSpPr>
              <a:spLocks noChangeShapeType="1"/>
            </p:cNvSpPr>
            <p:nvPr/>
          </p:nvSpPr>
          <p:spPr bwMode="auto">
            <a:xfrm>
              <a:off x="1095" y="2863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6" name="Line 76"/>
            <p:cNvSpPr>
              <a:spLocks noChangeShapeType="1"/>
            </p:cNvSpPr>
            <p:nvPr/>
          </p:nvSpPr>
          <p:spPr bwMode="auto">
            <a:xfrm>
              <a:off x="1597" y="3045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7" name="Line 77"/>
            <p:cNvSpPr>
              <a:spLocks noChangeShapeType="1"/>
            </p:cNvSpPr>
            <p:nvPr/>
          </p:nvSpPr>
          <p:spPr bwMode="auto">
            <a:xfrm>
              <a:off x="1840" y="2863"/>
              <a:ext cx="0" cy="18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8" name="Line 78"/>
            <p:cNvSpPr>
              <a:spLocks noChangeShapeType="1"/>
            </p:cNvSpPr>
            <p:nvPr/>
          </p:nvSpPr>
          <p:spPr bwMode="auto">
            <a:xfrm>
              <a:off x="1347" y="3045"/>
              <a:ext cx="2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09" name="Line 79"/>
            <p:cNvSpPr>
              <a:spLocks noChangeShapeType="1"/>
            </p:cNvSpPr>
            <p:nvPr/>
          </p:nvSpPr>
          <p:spPr bwMode="auto">
            <a:xfrm>
              <a:off x="363" y="3407"/>
              <a:ext cx="23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0" name="Text Box 80"/>
            <p:cNvSpPr txBox="1">
              <a:spLocks noChangeArrowheads="1"/>
            </p:cNvSpPr>
            <p:nvPr/>
          </p:nvSpPr>
          <p:spPr bwMode="auto">
            <a:xfrm>
              <a:off x="49" y="2807"/>
              <a:ext cx="28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tr-TR" sz="1600" b="0"/>
                <a:t>clk</a:t>
              </a:r>
            </a:p>
          </p:txBody>
        </p:sp>
        <p:sp>
          <p:nvSpPr>
            <p:cNvPr id="19511" name="Text Box 81"/>
            <p:cNvSpPr txBox="1">
              <a:spLocks noChangeArrowheads="1"/>
            </p:cNvSpPr>
            <p:nvPr/>
          </p:nvSpPr>
          <p:spPr bwMode="auto">
            <a:xfrm>
              <a:off x="49" y="3184"/>
              <a:ext cx="2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tr-TR" sz="1600" b="0"/>
                <a:t>D</a:t>
              </a:r>
            </a:p>
          </p:txBody>
        </p:sp>
        <p:sp>
          <p:nvSpPr>
            <p:cNvPr id="19512" name="Line 82"/>
            <p:cNvSpPr>
              <a:spLocks noChangeShapeType="1"/>
            </p:cNvSpPr>
            <p:nvPr/>
          </p:nvSpPr>
          <p:spPr bwMode="auto">
            <a:xfrm>
              <a:off x="355" y="3770"/>
              <a:ext cx="23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83"/>
            <p:cNvSpPr>
              <a:spLocks noChangeShapeType="1"/>
            </p:cNvSpPr>
            <p:nvPr/>
          </p:nvSpPr>
          <p:spPr bwMode="auto">
            <a:xfrm>
              <a:off x="363" y="4110"/>
              <a:ext cx="23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Text Box 84"/>
            <p:cNvSpPr txBox="1">
              <a:spLocks noChangeArrowheads="1"/>
            </p:cNvSpPr>
            <p:nvPr/>
          </p:nvSpPr>
          <p:spPr bwMode="auto">
            <a:xfrm>
              <a:off x="90" y="3540"/>
              <a:ext cx="19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tr-TR" sz="1600" b="0"/>
                <a:t>Y</a:t>
              </a:r>
            </a:p>
          </p:txBody>
        </p:sp>
        <p:sp>
          <p:nvSpPr>
            <p:cNvPr id="19515" name="Text Box 85"/>
            <p:cNvSpPr txBox="1">
              <a:spLocks noChangeArrowheads="1"/>
            </p:cNvSpPr>
            <p:nvPr/>
          </p:nvSpPr>
          <p:spPr bwMode="auto">
            <a:xfrm>
              <a:off x="94" y="3898"/>
              <a:ext cx="22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tr-TR" sz="1600" b="0"/>
                <a:t>Q</a:t>
              </a:r>
            </a:p>
          </p:txBody>
        </p:sp>
        <p:sp>
          <p:nvSpPr>
            <p:cNvPr id="19516" name="Line 90"/>
            <p:cNvSpPr>
              <a:spLocks noChangeShapeType="1"/>
            </p:cNvSpPr>
            <p:nvPr/>
          </p:nvSpPr>
          <p:spPr bwMode="auto">
            <a:xfrm>
              <a:off x="858" y="2648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7" name="Line 91"/>
            <p:cNvSpPr>
              <a:spLocks noChangeShapeType="1"/>
            </p:cNvSpPr>
            <p:nvPr/>
          </p:nvSpPr>
          <p:spPr bwMode="auto">
            <a:xfrm>
              <a:off x="1339" y="2652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8" name="Line 92"/>
            <p:cNvSpPr>
              <a:spLocks noChangeShapeType="1"/>
            </p:cNvSpPr>
            <p:nvPr/>
          </p:nvSpPr>
          <p:spPr bwMode="auto">
            <a:xfrm>
              <a:off x="1834" y="2652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2"/>
          <p:cNvGrpSpPr>
            <a:grpSpLocks/>
          </p:cNvGrpSpPr>
          <p:nvPr/>
        </p:nvGrpSpPr>
        <p:grpSpPr bwMode="auto">
          <a:xfrm>
            <a:off x="2087566" y="5068891"/>
            <a:ext cx="414337" cy="1119187"/>
            <a:chOff x="355" y="3193"/>
            <a:chExt cx="261" cy="705"/>
          </a:xfrm>
        </p:grpSpPr>
        <p:sp>
          <p:nvSpPr>
            <p:cNvPr id="19493" name="Line 87"/>
            <p:cNvSpPr>
              <a:spLocks noChangeShapeType="1"/>
            </p:cNvSpPr>
            <p:nvPr/>
          </p:nvSpPr>
          <p:spPr bwMode="auto">
            <a:xfrm>
              <a:off x="363" y="3193"/>
              <a:ext cx="253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4" name="Line 89"/>
            <p:cNvSpPr>
              <a:spLocks noChangeShapeType="1"/>
            </p:cNvSpPr>
            <p:nvPr/>
          </p:nvSpPr>
          <p:spPr bwMode="auto">
            <a:xfrm>
              <a:off x="355" y="3540"/>
              <a:ext cx="261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5" name="Line 121"/>
            <p:cNvSpPr>
              <a:spLocks noChangeShapeType="1"/>
            </p:cNvSpPr>
            <p:nvPr/>
          </p:nvSpPr>
          <p:spPr bwMode="auto">
            <a:xfrm>
              <a:off x="366" y="3898"/>
              <a:ext cx="250" cy="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26"/>
          <p:cNvGrpSpPr>
            <a:grpSpLocks/>
          </p:cNvGrpSpPr>
          <p:nvPr/>
        </p:nvGrpSpPr>
        <p:grpSpPr bwMode="auto">
          <a:xfrm>
            <a:off x="2501903" y="5060953"/>
            <a:ext cx="2341563" cy="347663"/>
            <a:chOff x="616" y="3188"/>
            <a:chExt cx="1475" cy="219"/>
          </a:xfrm>
        </p:grpSpPr>
        <p:sp>
          <p:nvSpPr>
            <p:cNvPr id="19489" name="Line 88"/>
            <p:cNvSpPr>
              <a:spLocks noChangeShapeType="1"/>
            </p:cNvSpPr>
            <p:nvPr/>
          </p:nvSpPr>
          <p:spPr bwMode="auto">
            <a:xfrm>
              <a:off x="616" y="3193"/>
              <a:ext cx="0" cy="21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0" name="Line 123"/>
            <p:cNvSpPr>
              <a:spLocks noChangeShapeType="1"/>
            </p:cNvSpPr>
            <p:nvPr/>
          </p:nvSpPr>
          <p:spPr bwMode="auto">
            <a:xfrm>
              <a:off x="616" y="3407"/>
              <a:ext cx="981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1" name="Line 124"/>
            <p:cNvSpPr>
              <a:spLocks noChangeShapeType="1"/>
            </p:cNvSpPr>
            <p:nvPr/>
          </p:nvSpPr>
          <p:spPr bwMode="auto">
            <a:xfrm>
              <a:off x="1587" y="3193"/>
              <a:ext cx="0" cy="21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2" name="Line 125"/>
            <p:cNvSpPr>
              <a:spLocks noChangeShapeType="1"/>
            </p:cNvSpPr>
            <p:nvPr/>
          </p:nvSpPr>
          <p:spPr bwMode="auto">
            <a:xfrm>
              <a:off x="1583" y="3188"/>
              <a:ext cx="50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30"/>
          <p:cNvGrpSpPr>
            <a:grpSpLocks/>
          </p:cNvGrpSpPr>
          <p:nvPr/>
        </p:nvGrpSpPr>
        <p:grpSpPr bwMode="auto">
          <a:xfrm>
            <a:off x="2501903" y="5619753"/>
            <a:ext cx="1933575" cy="365125"/>
            <a:chOff x="616" y="3540"/>
            <a:chExt cx="1218" cy="230"/>
          </a:xfrm>
        </p:grpSpPr>
        <p:sp>
          <p:nvSpPr>
            <p:cNvPr id="19486" name="Line 127"/>
            <p:cNvSpPr>
              <a:spLocks noChangeShapeType="1"/>
            </p:cNvSpPr>
            <p:nvPr/>
          </p:nvSpPr>
          <p:spPr bwMode="auto">
            <a:xfrm>
              <a:off x="616" y="3540"/>
              <a:ext cx="242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Line 128"/>
            <p:cNvSpPr>
              <a:spLocks noChangeShapeType="1"/>
            </p:cNvSpPr>
            <p:nvPr/>
          </p:nvSpPr>
          <p:spPr bwMode="auto">
            <a:xfrm>
              <a:off x="858" y="3540"/>
              <a:ext cx="0" cy="23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8" name="Line 129"/>
            <p:cNvSpPr>
              <a:spLocks noChangeShapeType="1"/>
            </p:cNvSpPr>
            <p:nvPr/>
          </p:nvSpPr>
          <p:spPr bwMode="auto">
            <a:xfrm>
              <a:off x="853" y="3770"/>
              <a:ext cx="981" cy="0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36"/>
          <p:cNvGrpSpPr>
            <a:grpSpLocks/>
          </p:cNvGrpSpPr>
          <p:nvPr/>
        </p:nvGrpSpPr>
        <p:grpSpPr bwMode="auto">
          <a:xfrm>
            <a:off x="2886078" y="6188075"/>
            <a:ext cx="2346325" cy="336550"/>
            <a:chOff x="858" y="3898"/>
            <a:chExt cx="1478" cy="212"/>
          </a:xfrm>
        </p:grpSpPr>
        <p:sp>
          <p:nvSpPr>
            <p:cNvPr id="19483" name="Line 131"/>
            <p:cNvSpPr>
              <a:spLocks noChangeShapeType="1"/>
            </p:cNvSpPr>
            <p:nvPr/>
          </p:nvSpPr>
          <p:spPr bwMode="auto">
            <a:xfrm>
              <a:off x="858" y="3898"/>
              <a:ext cx="481" cy="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Line 132"/>
            <p:cNvSpPr>
              <a:spLocks noChangeShapeType="1"/>
            </p:cNvSpPr>
            <p:nvPr/>
          </p:nvSpPr>
          <p:spPr bwMode="auto">
            <a:xfrm>
              <a:off x="1339" y="3898"/>
              <a:ext cx="0" cy="212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Line 133"/>
            <p:cNvSpPr>
              <a:spLocks noChangeShapeType="1"/>
            </p:cNvSpPr>
            <p:nvPr/>
          </p:nvSpPr>
          <p:spPr bwMode="auto">
            <a:xfrm>
              <a:off x="1339" y="4110"/>
              <a:ext cx="997" cy="0"/>
            </a:xfrm>
            <a:prstGeom prst="line">
              <a:avLst/>
            </a:prstGeom>
            <a:noFill/>
            <a:ln w="19050">
              <a:solidFill>
                <a:srgbClr val="66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91" name="Line 135"/>
          <p:cNvSpPr>
            <a:spLocks noChangeShapeType="1"/>
          </p:cNvSpPr>
          <p:nvPr/>
        </p:nvSpPr>
        <p:spPr bwMode="auto">
          <a:xfrm>
            <a:off x="2501903" y="6188075"/>
            <a:ext cx="384175" cy="0"/>
          </a:xfrm>
          <a:prstGeom prst="line">
            <a:avLst/>
          </a:prstGeom>
          <a:noFill/>
          <a:ln w="19050">
            <a:solidFill>
              <a:srgbClr val="6633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/>
      <p:bldP spid="216068" grpId="0" animBg="1"/>
      <p:bldP spid="216080" grpId="0" animBg="1"/>
      <p:bldP spid="216123" grpId="0"/>
      <p:bldP spid="216125" grpId="0"/>
      <p:bldP spid="1959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35330DE-44C4-4A7E-84C2-3ADBE80481E0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Positive Edge-Triggered D Flip-Flop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1905003" y="1117600"/>
            <a:ext cx="6937375" cy="2209800"/>
            <a:chOff x="240" y="704"/>
            <a:chExt cx="4370" cy="1392"/>
          </a:xfrm>
        </p:grpSpPr>
        <p:sp>
          <p:nvSpPr>
            <p:cNvPr id="20504" name="Rectangle 4"/>
            <p:cNvSpPr>
              <a:spLocks noChangeArrowheads="1"/>
            </p:cNvSpPr>
            <p:nvPr/>
          </p:nvSpPr>
          <p:spPr bwMode="auto">
            <a:xfrm>
              <a:off x="1277" y="800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D latch</a:t>
              </a:r>
            </a:p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(master)</a:t>
              </a:r>
            </a:p>
          </p:txBody>
        </p:sp>
        <p:sp>
          <p:nvSpPr>
            <p:cNvPr id="20505" name="Line 5"/>
            <p:cNvSpPr>
              <a:spLocks noChangeShapeType="1"/>
            </p:cNvSpPr>
            <p:nvPr/>
          </p:nvSpPr>
          <p:spPr bwMode="auto">
            <a:xfrm flipH="1" flipV="1">
              <a:off x="539" y="955"/>
              <a:ext cx="7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Line 6"/>
            <p:cNvSpPr>
              <a:spLocks noChangeShapeType="1"/>
            </p:cNvSpPr>
            <p:nvPr/>
          </p:nvSpPr>
          <p:spPr bwMode="auto">
            <a:xfrm flipH="1">
              <a:off x="1003" y="1488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Text Box 7"/>
            <p:cNvSpPr txBox="1">
              <a:spLocks noChangeArrowheads="1"/>
            </p:cNvSpPr>
            <p:nvPr/>
          </p:nvSpPr>
          <p:spPr bwMode="auto">
            <a:xfrm>
              <a:off x="1304" y="876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0508" name="Text Box 8"/>
            <p:cNvSpPr txBox="1">
              <a:spLocks noChangeArrowheads="1"/>
            </p:cNvSpPr>
            <p:nvPr/>
          </p:nvSpPr>
          <p:spPr bwMode="auto">
            <a:xfrm>
              <a:off x="1292" y="1418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0509" name="Line 9"/>
            <p:cNvSpPr>
              <a:spLocks noChangeShapeType="1"/>
            </p:cNvSpPr>
            <p:nvPr/>
          </p:nvSpPr>
          <p:spPr bwMode="auto">
            <a:xfrm flipH="1">
              <a:off x="1972" y="955"/>
              <a:ext cx="9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Text Box 10"/>
            <p:cNvSpPr txBox="1">
              <a:spLocks noChangeArrowheads="1"/>
            </p:cNvSpPr>
            <p:nvPr/>
          </p:nvSpPr>
          <p:spPr bwMode="auto">
            <a:xfrm>
              <a:off x="1786" y="864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0511" name="Rectangle 11"/>
            <p:cNvSpPr>
              <a:spLocks noChangeArrowheads="1"/>
            </p:cNvSpPr>
            <p:nvPr/>
          </p:nvSpPr>
          <p:spPr bwMode="auto">
            <a:xfrm>
              <a:off x="2935" y="796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D latch</a:t>
              </a:r>
            </a:p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(slave)</a:t>
              </a:r>
            </a:p>
          </p:txBody>
        </p:sp>
        <p:sp>
          <p:nvSpPr>
            <p:cNvPr id="20512" name="Line 12"/>
            <p:cNvSpPr>
              <a:spLocks noChangeShapeType="1"/>
            </p:cNvSpPr>
            <p:nvPr/>
          </p:nvSpPr>
          <p:spPr bwMode="auto">
            <a:xfrm flipH="1">
              <a:off x="2661" y="1475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Text Box 13"/>
            <p:cNvSpPr txBox="1">
              <a:spLocks noChangeArrowheads="1"/>
            </p:cNvSpPr>
            <p:nvPr/>
          </p:nvSpPr>
          <p:spPr bwMode="auto">
            <a:xfrm>
              <a:off x="2962" y="872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0514" name="Text Box 14"/>
            <p:cNvSpPr txBox="1">
              <a:spLocks noChangeArrowheads="1"/>
            </p:cNvSpPr>
            <p:nvPr/>
          </p:nvSpPr>
          <p:spPr bwMode="auto">
            <a:xfrm>
              <a:off x="2950" y="1414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0515" name="Line 15"/>
            <p:cNvSpPr>
              <a:spLocks noChangeShapeType="1"/>
            </p:cNvSpPr>
            <p:nvPr/>
          </p:nvSpPr>
          <p:spPr bwMode="auto">
            <a:xfrm flipH="1">
              <a:off x="3630" y="951"/>
              <a:ext cx="7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Text Box 16"/>
            <p:cNvSpPr txBox="1">
              <a:spLocks noChangeArrowheads="1"/>
            </p:cNvSpPr>
            <p:nvPr/>
          </p:nvSpPr>
          <p:spPr bwMode="auto">
            <a:xfrm>
              <a:off x="3444" y="860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grpSp>
          <p:nvGrpSpPr>
            <p:cNvPr id="20517" name="Group 17"/>
            <p:cNvGrpSpPr>
              <a:grpSpLocks/>
            </p:cNvGrpSpPr>
            <p:nvPr/>
          </p:nvGrpSpPr>
          <p:grpSpPr bwMode="auto">
            <a:xfrm rot="-5400000">
              <a:off x="736" y="1640"/>
              <a:ext cx="531" cy="218"/>
              <a:chOff x="960" y="1824"/>
              <a:chExt cx="1015" cy="457"/>
            </a:xfrm>
          </p:grpSpPr>
          <p:sp>
            <p:nvSpPr>
              <p:cNvPr id="20528" name="AutoShape 18"/>
              <p:cNvSpPr>
                <a:spLocks noChangeArrowheads="1"/>
              </p:cNvSpPr>
              <p:nvPr/>
            </p:nvSpPr>
            <p:spPr bwMode="auto">
              <a:xfrm rot="5400000">
                <a:off x="1186" y="1870"/>
                <a:ext cx="457" cy="366"/>
              </a:xfrm>
              <a:prstGeom prst="flowChartExtract">
                <a:avLst/>
              </a:prstGeom>
              <a:solidFill>
                <a:srgbClr val="FF33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0529" name="Oval 19"/>
              <p:cNvSpPr>
                <a:spLocks noChangeArrowheads="1"/>
              </p:cNvSpPr>
              <p:nvPr/>
            </p:nvSpPr>
            <p:spPr bwMode="auto">
              <a:xfrm>
                <a:off x="1584" y="1980"/>
                <a:ext cx="128" cy="14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0530" name="Line 20"/>
              <p:cNvSpPr>
                <a:spLocks noChangeShapeType="1"/>
              </p:cNvSpPr>
              <p:nvPr/>
            </p:nvSpPr>
            <p:spPr bwMode="auto">
              <a:xfrm>
                <a:off x="960" y="2059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31" name="Line 21"/>
              <p:cNvSpPr>
                <a:spLocks noChangeShapeType="1"/>
              </p:cNvSpPr>
              <p:nvPr/>
            </p:nvSpPr>
            <p:spPr bwMode="auto">
              <a:xfrm>
                <a:off x="1702" y="2047"/>
                <a:ext cx="27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18" name="Line 22"/>
            <p:cNvSpPr>
              <a:spLocks noChangeShapeType="1"/>
            </p:cNvSpPr>
            <p:nvPr/>
          </p:nvSpPr>
          <p:spPr bwMode="auto">
            <a:xfrm flipH="1">
              <a:off x="539" y="2024"/>
              <a:ext cx="15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Line 24"/>
            <p:cNvSpPr>
              <a:spLocks noChangeShapeType="1"/>
            </p:cNvSpPr>
            <p:nvPr/>
          </p:nvSpPr>
          <p:spPr bwMode="auto">
            <a:xfrm>
              <a:off x="2661" y="1475"/>
              <a:ext cx="0" cy="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Line 25"/>
            <p:cNvSpPr>
              <a:spLocks noChangeShapeType="1"/>
            </p:cNvSpPr>
            <p:nvPr/>
          </p:nvSpPr>
          <p:spPr bwMode="auto">
            <a:xfrm flipV="1">
              <a:off x="2078" y="2018"/>
              <a:ext cx="583" cy="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Oval 26"/>
            <p:cNvSpPr>
              <a:spLocks noChangeArrowheads="1"/>
            </p:cNvSpPr>
            <p:nvPr/>
          </p:nvSpPr>
          <p:spPr bwMode="auto">
            <a:xfrm>
              <a:off x="975" y="1991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522" name="Text Box 27"/>
            <p:cNvSpPr txBox="1">
              <a:spLocks noChangeArrowheads="1"/>
            </p:cNvSpPr>
            <p:nvPr/>
          </p:nvSpPr>
          <p:spPr bwMode="auto">
            <a:xfrm>
              <a:off x="370" y="866"/>
              <a:ext cx="1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D</a:t>
              </a:r>
            </a:p>
          </p:txBody>
        </p:sp>
        <p:sp>
          <p:nvSpPr>
            <p:cNvPr id="20523" name="Text Box 28"/>
            <p:cNvSpPr txBox="1">
              <a:spLocks noChangeArrowheads="1"/>
            </p:cNvSpPr>
            <p:nvPr/>
          </p:nvSpPr>
          <p:spPr bwMode="auto">
            <a:xfrm>
              <a:off x="240" y="1904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  <p:sp>
          <p:nvSpPr>
            <p:cNvPr id="20524" name="Text Box 29"/>
            <p:cNvSpPr txBox="1">
              <a:spLocks noChangeArrowheads="1"/>
            </p:cNvSpPr>
            <p:nvPr/>
          </p:nvSpPr>
          <p:spPr bwMode="auto">
            <a:xfrm>
              <a:off x="4470" y="841"/>
              <a:ext cx="14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Q</a:t>
              </a:r>
            </a:p>
          </p:txBody>
        </p:sp>
        <p:sp>
          <p:nvSpPr>
            <p:cNvPr id="20525" name="Text Box 30"/>
            <p:cNvSpPr txBox="1">
              <a:spLocks noChangeArrowheads="1"/>
            </p:cNvSpPr>
            <p:nvPr/>
          </p:nvSpPr>
          <p:spPr bwMode="auto">
            <a:xfrm>
              <a:off x="2376" y="704"/>
              <a:ext cx="1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Y</a:t>
              </a:r>
            </a:p>
          </p:txBody>
        </p:sp>
        <p:sp>
          <p:nvSpPr>
            <p:cNvPr id="20526" name="Text Box 33"/>
            <p:cNvSpPr txBox="1">
              <a:spLocks noChangeArrowheads="1"/>
            </p:cNvSpPr>
            <p:nvPr/>
          </p:nvSpPr>
          <p:spPr bwMode="auto">
            <a:xfrm>
              <a:off x="2266" y="1816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  <p:sp>
          <p:nvSpPr>
            <p:cNvPr id="20527" name="Text Box 34"/>
            <p:cNvSpPr txBox="1">
              <a:spLocks noChangeArrowheads="1"/>
            </p:cNvSpPr>
            <p:nvPr/>
          </p:nvSpPr>
          <p:spPr bwMode="auto">
            <a:xfrm>
              <a:off x="652" y="1418"/>
              <a:ext cx="24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clk’</a:t>
              </a:r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6216650" y="3246438"/>
            <a:ext cx="4406900" cy="996950"/>
            <a:chOff x="370" y="2287"/>
            <a:chExt cx="2776" cy="628"/>
          </a:xfrm>
        </p:grpSpPr>
        <p:sp>
          <p:nvSpPr>
            <p:cNvPr id="20496" name="Line 35"/>
            <p:cNvSpPr>
              <a:spLocks noChangeShapeType="1"/>
            </p:cNvSpPr>
            <p:nvPr/>
          </p:nvSpPr>
          <p:spPr bwMode="auto">
            <a:xfrm>
              <a:off x="733" y="2915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Line 36"/>
            <p:cNvSpPr>
              <a:spLocks noChangeShapeType="1"/>
            </p:cNvSpPr>
            <p:nvPr/>
          </p:nvSpPr>
          <p:spPr bwMode="auto">
            <a:xfrm flipV="1">
              <a:off x="1135" y="2559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Line 37"/>
            <p:cNvSpPr>
              <a:spLocks noChangeShapeType="1"/>
            </p:cNvSpPr>
            <p:nvPr/>
          </p:nvSpPr>
          <p:spPr bwMode="auto">
            <a:xfrm>
              <a:off x="1135" y="2559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Line 38"/>
            <p:cNvSpPr>
              <a:spLocks noChangeShapeType="1"/>
            </p:cNvSpPr>
            <p:nvPr/>
          </p:nvSpPr>
          <p:spPr bwMode="auto">
            <a:xfrm flipV="1">
              <a:off x="1531" y="2559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Line 39"/>
            <p:cNvSpPr>
              <a:spLocks noChangeShapeType="1"/>
            </p:cNvSpPr>
            <p:nvPr/>
          </p:nvSpPr>
          <p:spPr bwMode="auto">
            <a:xfrm>
              <a:off x="1531" y="2910"/>
              <a:ext cx="90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Text Box 42"/>
            <p:cNvSpPr txBox="1">
              <a:spLocks noChangeArrowheads="1"/>
            </p:cNvSpPr>
            <p:nvPr/>
          </p:nvSpPr>
          <p:spPr bwMode="auto">
            <a:xfrm>
              <a:off x="1113" y="2287"/>
              <a:ext cx="4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0"/>
                <a:t>Y= D</a:t>
              </a:r>
            </a:p>
          </p:txBody>
        </p:sp>
        <p:sp>
          <p:nvSpPr>
            <p:cNvPr id="20502" name="Text Box 43"/>
            <p:cNvSpPr txBox="1">
              <a:spLocks noChangeArrowheads="1"/>
            </p:cNvSpPr>
            <p:nvPr/>
          </p:nvSpPr>
          <p:spPr bwMode="auto">
            <a:xfrm>
              <a:off x="370" y="2623"/>
              <a:ext cx="24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clk’</a:t>
              </a:r>
            </a:p>
          </p:txBody>
        </p:sp>
        <p:sp>
          <p:nvSpPr>
            <p:cNvPr id="20503" name="Text Box 51"/>
            <p:cNvSpPr txBox="1">
              <a:spLocks noChangeArrowheads="1"/>
            </p:cNvSpPr>
            <p:nvPr/>
          </p:nvSpPr>
          <p:spPr bwMode="auto">
            <a:xfrm>
              <a:off x="1684" y="2623"/>
              <a:ext cx="146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0"/>
                <a:t>Y does not change</a:t>
              </a:r>
            </a:p>
          </p:txBody>
        </p:sp>
      </p:grpSp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6224588" y="4432303"/>
            <a:ext cx="3270250" cy="962025"/>
            <a:chOff x="375" y="3034"/>
            <a:chExt cx="2060" cy="606"/>
          </a:xfrm>
        </p:grpSpPr>
        <p:sp>
          <p:nvSpPr>
            <p:cNvPr id="20487" name="Line 44"/>
            <p:cNvSpPr>
              <a:spLocks noChangeShapeType="1"/>
            </p:cNvSpPr>
            <p:nvPr/>
          </p:nvSpPr>
          <p:spPr bwMode="auto">
            <a:xfrm>
              <a:off x="738" y="3289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Line 45"/>
            <p:cNvSpPr>
              <a:spLocks noChangeShapeType="1"/>
            </p:cNvSpPr>
            <p:nvPr/>
          </p:nvSpPr>
          <p:spPr bwMode="auto">
            <a:xfrm flipV="1">
              <a:off x="1140" y="3284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Line 46"/>
            <p:cNvSpPr>
              <a:spLocks noChangeShapeType="1"/>
            </p:cNvSpPr>
            <p:nvPr/>
          </p:nvSpPr>
          <p:spPr bwMode="auto">
            <a:xfrm>
              <a:off x="1140" y="3626"/>
              <a:ext cx="40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Line 47"/>
            <p:cNvSpPr>
              <a:spLocks noChangeShapeType="1"/>
            </p:cNvSpPr>
            <p:nvPr/>
          </p:nvSpPr>
          <p:spPr bwMode="auto">
            <a:xfrm flipV="1">
              <a:off x="1536" y="3284"/>
              <a:ext cx="0" cy="3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Line 48"/>
            <p:cNvSpPr>
              <a:spLocks noChangeShapeType="1"/>
            </p:cNvSpPr>
            <p:nvPr/>
          </p:nvSpPr>
          <p:spPr bwMode="auto">
            <a:xfrm>
              <a:off x="1536" y="3293"/>
              <a:ext cx="899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Text Box 49"/>
            <p:cNvSpPr txBox="1">
              <a:spLocks noChangeArrowheads="1"/>
            </p:cNvSpPr>
            <p:nvPr/>
          </p:nvSpPr>
          <p:spPr bwMode="auto">
            <a:xfrm>
              <a:off x="375" y="3348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  <p:sp>
          <p:nvSpPr>
            <p:cNvPr id="20493" name="Text Box 50"/>
            <p:cNvSpPr txBox="1">
              <a:spLocks noChangeArrowheads="1"/>
            </p:cNvSpPr>
            <p:nvPr/>
          </p:nvSpPr>
          <p:spPr bwMode="auto">
            <a:xfrm>
              <a:off x="1606" y="3034"/>
              <a:ext cx="8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0"/>
                <a:t>Q = Y = D</a:t>
              </a:r>
            </a:p>
          </p:txBody>
        </p:sp>
        <p:sp>
          <p:nvSpPr>
            <p:cNvPr id="20494" name="Line 52"/>
            <p:cNvSpPr>
              <a:spLocks noChangeShapeType="1"/>
            </p:cNvSpPr>
            <p:nvPr/>
          </p:nvSpPr>
          <p:spPr bwMode="auto">
            <a:xfrm flipH="1">
              <a:off x="1453" y="3437"/>
              <a:ext cx="83" cy="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Line 53"/>
            <p:cNvSpPr>
              <a:spLocks noChangeShapeType="1"/>
            </p:cNvSpPr>
            <p:nvPr/>
          </p:nvSpPr>
          <p:spPr bwMode="auto">
            <a:xfrm>
              <a:off x="1536" y="3437"/>
              <a:ext cx="73" cy="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4F85F8-0340-40F0-8F15-D5E72337815A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Symbols for D Flip-Flops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895600" y="1384303"/>
            <a:ext cx="6846888" cy="1363663"/>
            <a:chOff x="864" y="872"/>
            <a:chExt cx="4313" cy="859"/>
          </a:xfrm>
        </p:grpSpPr>
        <p:sp>
          <p:nvSpPr>
            <p:cNvPr id="21523" name="Rectangle 4"/>
            <p:cNvSpPr>
              <a:spLocks noChangeArrowheads="1"/>
            </p:cNvSpPr>
            <p:nvPr/>
          </p:nvSpPr>
          <p:spPr bwMode="auto">
            <a:xfrm>
              <a:off x="1427" y="872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D FF</a:t>
              </a:r>
            </a:p>
          </p:txBody>
        </p:sp>
        <p:sp>
          <p:nvSpPr>
            <p:cNvPr id="21524" name="Line 5"/>
            <p:cNvSpPr>
              <a:spLocks noChangeShapeType="1"/>
            </p:cNvSpPr>
            <p:nvPr/>
          </p:nvSpPr>
          <p:spPr bwMode="auto">
            <a:xfrm flipH="1">
              <a:off x="1153" y="1551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Text Box 6"/>
            <p:cNvSpPr txBox="1">
              <a:spLocks noChangeArrowheads="1"/>
            </p:cNvSpPr>
            <p:nvPr/>
          </p:nvSpPr>
          <p:spPr bwMode="auto">
            <a:xfrm>
              <a:off x="1454" y="948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1526" name="Line 8"/>
            <p:cNvSpPr>
              <a:spLocks noChangeShapeType="1"/>
            </p:cNvSpPr>
            <p:nvPr/>
          </p:nvSpPr>
          <p:spPr bwMode="auto">
            <a:xfrm flipH="1">
              <a:off x="2122" y="1027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Text Box 9"/>
            <p:cNvSpPr txBox="1">
              <a:spLocks noChangeArrowheads="1"/>
            </p:cNvSpPr>
            <p:nvPr/>
          </p:nvSpPr>
          <p:spPr bwMode="auto">
            <a:xfrm>
              <a:off x="1936" y="936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1528" name="Text Box 12"/>
            <p:cNvSpPr txBox="1">
              <a:spLocks noChangeArrowheads="1"/>
            </p:cNvSpPr>
            <p:nvPr/>
          </p:nvSpPr>
          <p:spPr bwMode="auto">
            <a:xfrm>
              <a:off x="864" y="1455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  <p:sp>
          <p:nvSpPr>
            <p:cNvPr id="21529" name="AutoShape 13"/>
            <p:cNvSpPr>
              <a:spLocks noChangeArrowheads="1"/>
            </p:cNvSpPr>
            <p:nvPr/>
          </p:nvSpPr>
          <p:spPr bwMode="auto">
            <a:xfrm rot="5400000">
              <a:off x="1427" y="1491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0" name="Text Box 14"/>
            <p:cNvSpPr txBox="1">
              <a:spLocks noChangeArrowheads="1"/>
            </p:cNvSpPr>
            <p:nvPr/>
          </p:nvSpPr>
          <p:spPr bwMode="auto">
            <a:xfrm>
              <a:off x="1558" y="1464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1531" name="Line 15"/>
            <p:cNvSpPr>
              <a:spLocks noChangeShapeType="1"/>
            </p:cNvSpPr>
            <p:nvPr/>
          </p:nvSpPr>
          <p:spPr bwMode="auto">
            <a:xfrm flipH="1">
              <a:off x="1156" y="1036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Oval 16"/>
            <p:cNvSpPr>
              <a:spLocks noChangeArrowheads="1"/>
            </p:cNvSpPr>
            <p:nvPr/>
          </p:nvSpPr>
          <p:spPr bwMode="auto">
            <a:xfrm>
              <a:off x="2131" y="1516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33" name="Line 17"/>
            <p:cNvSpPr>
              <a:spLocks noChangeShapeType="1"/>
            </p:cNvSpPr>
            <p:nvPr/>
          </p:nvSpPr>
          <p:spPr bwMode="auto">
            <a:xfrm flipH="1">
              <a:off x="2223" y="1557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Text Box 18"/>
            <p:cNvSpPr txBox="1">
              <a:spLocks noChangeArrowheads="1"/>
            </p:cNvSpPr>
            <p:nvPr/>
          </p:nvSpPr>
          <p:spPr bwMode="auto">
            <a:xfrm>
              <a:off x="2933" y="998"/>
              <a:ext cx="2244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Positive edge-triggered</a:t>
              </a:r>
            </a:p>
            <a:p>
              <a:r>
                <a:rPr lang="en-US" b="0"/>
                <a:t>D Flip-Flop</a:t>
              </a: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2909888" y="4083053"/>
            <a:ext cx="7023100" cy="1363663"/>
            <a:chOff x="873" y="2572"/>
            <a:chExt cx="4424" cy="859"/>
          </a:xfrm>
        </p:grpSpPr>
        <p:sp>
          <p:nvSpPr>
            <p:cNvPr id="21510" name="Rectangle 19"/>
            <p:cNvSpPr>
              <a:spLocks noChangeArrowheads="1"/>
            </p:cNvSpPr>
            <p:nvPr/>
          </p:nvSpPr>
          <p:spPr bwMode="auto">
            <a:xfrm>
              <a:off x="1436" y="2572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D FF</a:t>
              </a:r>
            </a:p>
          </p:txBody>
        </p:sp>
        <p:sp>
          <p:nvSpPr>
            <p:cNvPr id="21511" name="Line 20"/>
            <p:cNvSpPr>
              <a:spLocks noChangeShapeType="1"/>
            </p:cNvSpPr>
            <p:nvPr/>
          </p:nvSpPr>
          <p:spPr bwMode="auto">
            <a:xfrm flipH="1">
              <a:off x="1162" y="3251"/>
              <a:ext cx="1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2" name="Text Box 21"/>
            <p:cNvSpPr txBox="1">
              <a:spLocks noChangeArrowheads="1"/>
            </p:cNvSpPr>
            <p:nvPr/>
          </p:nvSpPr>
          <p:spPr bwMode="auto">
            <a:xfrm>
              <a:off x="1463" y="2648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1513" name="Line 22"/>
            <p:cNvSpPr>
              <a:spLocks noChangeShapeType="1"/>
            </p:cNvSpPr>
            <p:nvPr/>
          </p:nvSpPr>
          <p:spPr bwMode="auto">
            <a:xfrm flipH="1">
              <a:off x="2131" y="2727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Text Box 23"/>
            <p:cNvSpPr txBox="1">
              <a:spLocks noChangeArrowheads="1"/>
            </p:cNvSpPr>
            <p:nvPr/>
          </p:nvSpPr>
          <p:spPr bwMode="auto">
            <a:xfrm>
              <a:off x="1945" y="2636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1515" name="Text Box 24"/>
            <p:cNvSpPr txBox="1">
              <a:spLocks noChangeArrowheads="1"/>
            </p:cNvSpPr>
            <p:nvPr/>
          </p:nvSpPr>
          <p:spPr bwMode="auto">
            <a:xfrm>
              <a:off x="873" y="3155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  <p:sp>
          <p:nvSpPr>
            <p:cNvPr id="21516" name="AutoShape 25"/>
            <p:cNvSpPr>
              <a:spLocks noChangeArrowheads="1"/>
            </p:cNvSpPr>
            <p:nvPr/>
          </p:nvSpPr>
          <p:spPr bwMode="auto">
            <a:xfrm rot="5400000">
              <a:off x="1436" y="3191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17" name="Text Box 26"/>
            <p:cNvSpPr txBox="1">
              <a:spLocks noChangeArrowheads="1"/>
            </p:cNvSpPr>
            <p:nvPr/>
          </p:nvSpPr>
          <p:spPr bwMode="auto">
            <a:xfrm>
              <a:off x="1567" y="3164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1518" name="Line 27"/>
            <p:cNvSpPr>
              <a:spLocks noChangeShapeType="1"/>
            </p:cNvSpPr>
            <p:nvPr/>
          </p:nvSpPr>
          <p:spPr bwMode="auto">
            <a:xfrm flipH="1">
              <a:off x="1165" y="2736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Oval 28"/>
            <p:cNvSpPr>
              <a:spLocks noChangeArrowheads="1"/>
            </p:cNvSpPr>
            <p:nvPr/>
          </p:nvSpPr>
          <p:spPr bwMode="auto">
            <a:xfrm>
              <a:off x="2140" y="3216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520" name="Line 29"/>
            <p:cNvSpPr>
              <a:spLocks noChangeShapeType="1"/>
            </p:cNvSpPr>
            <p:nvPr/>
          </p:nvSpPr>
          <p:spPr bwMode="auto">
            <a:xfrm flipH="1">
              <a:off x="2232" y="3257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Text Box 30"/>
            <p:cNvSpPr txBox="1">
              <a:spLocks noChangeArrowheads="1"/>
            </p:cNvSpPr>
            <p:nvPr/>
          </p:nvSpPr>
          <p:spPr bwMode="auto">
            <a:xfrm>
              <a:off x="2942" y="2698"/>
              <a:ext cx="2355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Negative edge-triggered</a:t>
              </a:r>
            </a:p>
            <a:p>
              <a:r>
                <a:rPr lang="en-US" b="0"/>
                <a:t>D Flip-Flop</a:t>
              </a:r>
            </a:p>
          </p:txBody>
        </p:sp>
        <p:sp>
          <p:nvSpPr>
            <p:cNvPr id="21522" name="Oval 31"/>
            <p:cNvSpPr>
              <a:spLocks noChangeArrowheads="1"/>
            </p:cNvSpPr>
            <p:nvPr/>
          </p:nvSpPr>
          <p:spPr bwMode="auto">
            <a:xfrm>
              <a:off x="1349" y="3202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D Flip-Flop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360" y="3644435"/>
            <a:ext cx="8763000" cy="1008063"/>
          </a:xfrm>
        </p:spPr>
        <p:txBody>
          <a:bodyPr/>
          <a:lstStyle/>
          <a:p>
            <a:r>
              <a:rPr lang="en-US" dirty="0"/>
              <a:t>Characteristic equation</a:t>
            </a:r>
          </a:p>
          <a:p>
            <a:pPr lvl="1"/>
            <a:r>
              <a:rPr lang="en-US" dirty="0"/>
              <a:t>Q(t+1) = </a:t>
            </a:r>
            <a:r>
              <a:rPr lang="tr-TR" dirty="0"/>
              <a:t>D</a:t>
            </a: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773363" y="1250953"/>
            <a:ext cx="6846888" cy="1363663"/>
            <a:chOff x="864" y="872"/>
            <a:chExt cx="4313" cy="859"/>
          </a:xfrm>
        </p:grpSpPr>
        <p:sp>
          <p:nvSpPr>
            <p:cNvPr id="25615" name="Rectangle 4"/>
            <p:cNvSpPr>
              <a:spLocks noChangeArrowheads="1"/>
            </p:cNvSpPr>
            <p:nvPr/>
          </p:nvSpPr>
          <p:spPr bwMode="auto">
            <a:xfrm>
              <a:off x="1427" y="872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800" b="0">
                  <a:solidFill>
                    <a:schemeClr val="bg1"/>
                  </a:solidFill>
                </a:rPr>
                <a:t>D FF</a:t>
              </a:r>
            </a:p>
          </p:txBody>
        </p:sp>
        <p:sp>
          <p:nvSpPr>
            <p:cNvPr id="25616" name="Line 5"/>
            <p:cNvSpPr>
              <a:spLocks noChangeShapeType="1"/>
            </p:cNvSpPr>
            <p:nvPr/>
          </p:nvSpPr>
          <p:spPr bwMode="auto">
            <a:xfrm flipH="1">
              <a:off x="1153" y="1551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7" name="Text Box 6"/>
            <p:cNvSpPr txBox="1">
              <a:spLocks noChangeArrowheads="1"/>
            </p:cNvSpPr>
            <p:nvPr/>
          </p:nvSpPr>
          <p:spPr bwMode="auto">
            <a:xfrm>
              <a:off x="1454" y="948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5618" name="Line 8"/>
            <p:cNvSpPr>
              <a:spLocks noChangeShapeType="1"/>
            </p:cNvSpPr>
            <p:nvPr/>
          </p:nvSpPr>
          <p:spPr bwMode="auto">
            <a:xfrm flipH="1">
              <a:off x="2122" y="1027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Text Box 9"/>
            <p:cNvSpPr txBox="1">
              <a:spLocks noChangeArrowheads="1"/>
            </p:cNvSpPr>
            <p:nvPr/>
          </p:nvSpPr>
          <p:spPr bwMode="auto">
            <a:xfrm>
              <a:off x="1936" y="936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5620" name="Text Box 12"/>
            <p:cNvSpPr txBox="1">
              <a:spLocks noChangeArrowheads="1"/>
            </p:cNvSpPr>
            <p:nvPr/>
          </p:nvSpPr>
          <p:spPr bwMode="auto">
            <a:xfrm>
              <a:off x="864" y="1455"/>
              <a:ext cx="2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/>
                <a:t>clk</a:t>
              </a:r>
            </a:p>
          </p:txBody>
        </p:sp>
        <p:sp>
          <p:nvSpPr>
            <p:cNvPr id="25621" name="AutoShape 13"/>
            <p:cNvSpPr>
              <a:spLocks noChangeArrowheads="1"/>
            </p:cNvSpPr>
            <p:nvPr/>
          </p:nvSpPr>
          <p:spPr bwMode="auto">
            <a:xfrm rot="5400000">
              <a:off x="1427" y="1491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tr-TR"/>
            </a:p>
          </p:txBody>
        </p:sp>
        <p:sp>
          <p:nvSpPr>
            <p:cNvPr id="25622" name="Text Box 14"/>
            <p:cNvSpPr txBox="1">
              <a:spLocks noChangeArrowheads="1"/>
            </p:cNvSpPr>
            <p:nvPr/>
          </p:nvSpPr>
          <p:spPr bwMode="auto">
            <a:xfrm>
              <a:off x="1558" y="1464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5623" name="Line 15"/>
            <p:cNvSpPr>
              <a:spLocks noChangeShapeType="1"/>
            </p:cNvSpPr>
            <p:nvPr/>
          </p:nvSpPr>
          <p:spPr bwMode="auto">
            <a:xfrm flipH="1">
              <a:off x="1156" y="1036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Oval 16"/>
            <p:cNvSpPr>
              <a:spLocks noChangeArrowheads="1"/>
            </p:cNvSpPr>
            <p:nvPr/>
          </p:nvSpPr>
          <p:spPr bwMode="auto">
            <a:xfrm>
              <a:off x="2131" y="1516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625" name="Line 17"/>
            <p:cNvSpPr>
              <a:spLocks noChangeShapeType="1"/>
            </p:cNvSpPr>
            <p:nvPr/>
          </p:nvSpPr>
          <p:spPr bwMode="auto">
            <a:xfrm flipH="1">
              <a:off x="2223" y="1557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Text Box 18"/>
            <p:cNvSpPr txBox="1">
              <a:spLocks noChangeArrowheads="1"/>
            </p:cNvSpPr>
            <p:nvPr/>
          </p:nvSpPr>
          <p:spPr bwMode="auto">
            <a:xfrm>
              <a:off x="2933" y="998"/>
              <a:ext cx="2244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Positive edge-triggered</a:t>
              </a:r>
            </a:p>
            <a:p>
              <a:r>
                <a:rPr lang="en-US" b="0"/>
                <a:t>D Flip-Flop</a:t>
              </a:r>
            </a:p>
          </p:txBody>
        </p:sp>
      </p:grpSp>
      <p:graphicFrame>
        <p:nvGraphicFramePr>
          <p:cNvPr id="112670" name="Group 30"/>
          <p:cNvGraphicFramePr>
            <a:graphicFrameLocks noGrp="1"/>
          </p:cNvGraphicFramePr>
          <p:nvPr/>
        </p:nvGraphicFramePr>
        <p:xfrm>
          <a:off x="7630002" y="3544739"/>
          <a:ext cx="2365375" cy="1207453"/>
        </p:xfrm>
        <a:graphic>
          <a:graphicData uri="http://schemas.openxmlformats.org/drawingml/2006/table">
            <a:tbl>
              <a:tblPr/>
              <a:tblGrid>
                <a:gridCol w="59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Q(t+1)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r-T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313" name="Text Box 57"/>
          <p:cNvSpPr txBox="1">
            <a:spLocks noChangeArrowheads="1"/>
          </p:cNvSpPr>
          <p:nvPr/>
        </p:nvSpPr>
        <p:spPr bwMode="auto">
          <a:xfrm>
            <a:off x="7252970" y="4953182"/>
            <a:ext cx="3119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</a:rPr>
              <a:t>Characteristic Table</a:t>
            </a:r>
          </a:p>
        </p:txBody>
      </p:sp>
      <p:sp>
        <p:nvSpPr>
          <p:cNvPr id="25614" name="Slide Number Placeholder 1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832CA6-36E1-42C9-92B8-5DAE7B9E1E8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  <p:bldP spid="2243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CBC8F9-79F0-441F-A1DB-DAA1D103B1A3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Flip-Flops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404" y="1066800"/>
            <a:ext cx="10945216" cy="5530850"/>
          </a:xfrm>
        </p:spPr>
        <p:txBody>
          <a:bodyPr/>
          <a:lstStyle/>
          <a:p>
            <a:pPr marL="533400" indent="-533400">
              <a:lnSpc>
                <a:spcPct val="105000"/>
              </a:lnSpc>
            </a:pPr>
            <a:r>
              <a:rPr lang="en-US" sz="3200" dirty="0"/>
              <a:t>D flip-flop is the most common</a:t>
            </a:r>
          </a:p>
          <a:p>
            <a:pPr marL="914400" lvl="1" indent="-457200">
              <a:lnSpc>
                <a:spcPct val="105000"/>
              </a:lnSpc>
            </a:pPr>
            <a:r>
              <a:rPr lang="en-US" sz="2800" dirty="0"/>
              <a:t>since it requires the fewest number of gates to construct.</a:t>
            </a:r>
          </a:p>
          <a:p>
            <a:pPr marL="533400" indent="-533400">
              <a:lnSpc>
                <a:spcPct val="105000"/>
              </a:lnSpc>
            </a:pPr>
            <a:r>
              <a:rPr lang="en-US" sz="3200" dirty="0"/>
              <a:t>Two other widely used flip-flops</a:t>
            </a:r>
          </a:p>
          <a:p>
            <a:pPr marL="914400" lvl="1" indent="-457200">
              <a:lnSpc>
                <a:spcPct val="105000"/>
              </a:lnSpc>
            </a:pPr>
            <a:r>
              <a:rPr lang="en-US" sz="2800" dirty="0"/>
              <a:t>JK flip-flops </a:t>
            </a:r>
          </a:p>
          <a:p>
            <a:pPr marL="914400" lvl="1" indent="-457200">
              <a:lnSpc>
                <a:spcPct val="105000"/>
              </a:lnSpc>
            </a:pPr>
            <a:r>
              <a:rPr lang="en-US" sz="2800" dirty="0"/>
              <a:t>T flip-flops</a:t>
            </a:r>
          </a:p>
          <a:p>
            <a:pPr marL="533400" indent="-533400">
              <a:lnSpc>
                <a:spcPct val="105000"/>
              </a:lnSpc>
            </a:pPr>
            <a:r>
              <a:rPr lang="en-US" sz="3200" dirty="0"/>
              <a:t>JK flip-flops</a:t>
            </a:r>
          </a:p>
          <a:p>
            <a:pPr marL="914400" lvl="1" indent="-457200">
              <a:lnSpc>
                <a:spcPct val="105000"/>
              </a:lnSpc>
            </a:pPr>
            <a:r>
              <a:rPr lang="en-US" sz="2800" dirty="0"/>
              <a:t>Three FF operations</a:t>
            </a:r>
          </a:p>
          <a:p>
            <a:pPr marL="1371600" lvl="2" indent="-457200">
              <a:lnSpc>
                <a:spcPct val="105000"/>
              </a:lnSpc>
              <a:buFontTx/>
              <a:buAutoNum type="arabicPeriod"/>
            </a:pPr>
            <a:r>
              <a:rPr lang="en-US" sz="2800" dirty="0"/>
              <a:t>Set</a:t>
            </a:r>
          </a:p>
          <a:p>
            <a:pPr marL="1371600" lvl="2" indent="-457200">
              <a:lnSpc>
                <a:spcPct val="105000"/>
              </a:lnSpc>
              <a:buFontTx/>
              <a:buAutoNum type="arabicPeriod"/>
            </a:pPr>
            <a:r>
              <a:rPr lang="en-US" sz="2800" dirty="0"/>
              <a:t>Reset </a:t>
            </a:r>
          </a:p>
          <a:p>
            <a:pPr marL="1371600" lvl="2" indent="-457200">
              <a:lnSpc>
                <a:spcPct val="105000"/>
              </a:lnSpc>
              <a:buFontTx/>
              <a:buAutoNum type="arabicPeriod"/>
            </a:pPr>
            <a:r>
              <a:rPr lang="en-US" sz="2800" dirty="0"/>
              <a:t>Complement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2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2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2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2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2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2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2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2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2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22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710244"/>
          </a:xfrm>
        </p:spPr>
        <p:txBody>
          <a:bodyPr/>
          <a:lstStyle/>
          <a:p>
            <a:r>
              <a:rPr lang="en-IN" sz="3600" i="1" dirty="0">
                <a:latin typeface="+mn-lt"/>
              </a:rPr>
              <a:t>JK</a:t>
            </a:r>
            <a:r>
              <a:rPr lang="en-IN" sz="3600" dirty="0">
                <a:latin typeface="+mn-lt"/>
              </a:rPr>
              <a:t> flip-flop.</a:t>
            </a:r>
            <a:endParaRPr lang="en-US" sz="3600" dirty="0">
              <a:latin typeface="+mn-lt"/>
            </a:endParaRPr>
          </a:p>
        </p:txBody>
      </p:sp>
      <p:pic>
        <p:nvPicPr>
          <p:cNvPr id="12290" name="Picture 2" descr="Part ay: circuit diagram. The structure has three levels. Level 1. First and gate: inputs J and feedback Q prime. Second and gate: K prime and feedback Q. Level 2. Or gate: inputs from first and second level 1 and gates. Level 3. Positive edge latch: input from level 2 or gate at D. The latch produces outputs Q and Q prime corresponding to D and C l k. Part b: graphic symbol. The latch rectangle has the following inputs on its left side from top to bottom: J, arrowhead with C l k, and K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42" y="1376772"/>
            <a:ext cx="11013084" cy="406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669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B7E7-F0BC-4386-B00A-BBC2538521BD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JK Flip-Flops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31504" y="4598105"/>
            <a:ext cx="8763000" cy="974725"/>
          </a:xfrm>
        </p:spPr>
        <p:txBody>
          <a:bodyPr/>
          <a:lstStyle/>
          <a:p>
            <a:r>
              <a:rPr lang="en-US" sz="3200" dirty="0"/>
              <a:t>Characteristic equation</a:t>
            </a:r>
          </a:p>
          <a:p>
            <a:pPr lvl="1"/>
            <a:r>
              <a:rPr lang="en-US" sz="2800" dirty="0"/>
              <a:t>Q(t+1) = JQ’(t) + K’Q(t)</a:t>
            </a:r>
          </a:p>
        </p:txBody>
      </p:sp>
      <p:grpSp>
        <p:nvGrpSpPr>
          <p:cNvPr id="2" name="Group 112"/>
          <p:cNvGrpSpPr>
            <a:grpSpLocks/>
          </p:cNvGrpSpPr>
          <p:nvPr/>
        </p:nvGrpSpPr>
        <p:grpSpPr bwMode="auto">
          <a:xfrm>
            <a:off x="2080422" y="1822792"/>
            <a:ext cx="2233613" cy="1363662"/>
            <a:chOff x="562" y="771"/>
            <a:chExt cx="1407" cy="859"/>
          </a:xfrm>
        </p:grpSpPr>
        <p:sp>
          <p:nvSpPr>
            <p:cNvPr id="27678" name="Rectangle 5"/>
            <p:cNvSpPr>
              <a:spLocks noChangeArrowheads="1"/>
            </p:cNvSpPr>
            <p:nvPr/>
          </p:nvSpPr>
          <p:spPr bwMode="auto">
            <a:xfrm>
              <a:off x="836" y="771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tr-TR" sz="1800" b="0">
                <a:solidFill>
                  <a:schemeClr val="bg1"/>
                </a:solidFill>
              </a:endParaRPr>
            </a:p>
          </p:txBody>
        </p:sp>
        <p:sp>
          <p:nvSpPr>
            <p:cNvPr id="27679" name="Line 6"/>
            <p:cNvSpPr>
              <a:spLocks noChangeShapeType="1"/>
            </p:cNvSpPr>
            <p:nvPr/>
          </p:nvSpPr>
          <p:spPr bwMode="auto">
            <a:xfrm flipH="1">
              <a:off x="562" y="1225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Text Box 7"/>
            <p:cNvSpPr txBox="1">
              <a:spLocks noChangeArrowheads="1"/>
            </p:cNvSpPr>
            <p:nvPr/>
          </p:nvSpPr>
          <p:spPr bwMode="auto">
            <a:xfrm>
              <a:off x="863" y="847"/>
              <a:ext cx="9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27681" name="Line 8"/>
            <p:cNvSpPr>
              <a:spLocks noChangeShapeType="1"/>
            </p:cNvSpPr>
            <p:nvPr/>
          </p:nvSpPr>
          <p:spPr bwMode="auto">
            <a:xfrm flipH="1">
              <a:off x="1531" y="926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Text Box 9"/>
            <p:cNvSpPr txBox="1">
              <a:spLocks noChangeArrowheads="1"/>
            </p:cNvSpPr>
            <p:nvPr/>
          </p:nvSpPr>
          <p:spPr bwMode="auto">
            <a:xfrm>
              <a:off x="1345" y="835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7683" name="AutoShape 11"/>
            <p:cNvSpPr>
              <a:spLocks noChangeArrowheads="1"/>
            </p:cNvSpPr>
            <p:nvPr/>
          </p:nvSpPr>
          <p:spPr bwMode="auto">
            <a:xfrm rot="5400000">
              <a:off x="836" y="1165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7684" name="Text Box 12"/>
            <p:cNvSpPr txBox="1">
              <a:spLocks noChangeArrowheads="1"/>
            </p:cNvSpPr>
            <p:nvPr/>
          </p:nvSpPr>
          <p:spPr bwMode="auto">
            <a:xfrm>
              <a:off x="967" y="1138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7685" name="Line 13"/>
            <p:cNvSpPr>
              <a:spLocks noChangeShapeType="1"/>
            </p:cNvSpPr>
            <p:nvPr/>
          </p:nvSpPr>
          <p:spPr bwMode="auto">
            <a:xfrm flipH="1">
              <a:off x="565" y="935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Oval 14"/>
            <p:cNvSpPr>
              <a:spLocks noChangeArrowheads="1"/>
            </p:cNvSpPr>
            <p:nvPr/>
          </p:nvSpPr>
          <p:spPr bwMode="auto">
            <a:xfrm>
              <a:off x="1540" y="1415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7687" name="Line 15"/>
            <p:cNvSpPr>
              <a:spLocks noChangeShapeType="1"/>
            </p:cNvSpPr>
            <p:nvPr/>
          </p:nvSpPr>
          <p:spPr bwMode="auto">
            <a:xfrm flipH="1">
              <a:off x="1632" y="1456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Text Box 17"/>
            <p:cNvSpPr txBox="1">
              <a:spLocks noChangeArrowheads="1"/>
            </p:cNvSpPr>
            <p:nvPr/>
          </p:nvSpPr>
          <p:spPr bwMode="auto">
            <a:xfrm>
              <a:off x="868" y="1401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27689" name="Line 18"/>
            <p:cNvSpPr>
              <a:spLocks noChangeShapeType="1"/>
            </p:cNvSpPr>
            <p:nvPr/>
          </p:nvSpPr>
          <p:spPr bwMode="auto">
            <a:xfrm flipH="1">
              <a:off x="570" y="1489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23342" name="Group 110"/>
          <p:cNvGraphicFramePr>
            <a:graphicFrameLocks noGrp="1"/>
          </p:cNvGraphicFramePr>
          <p:nvPr/>
        </p:nvGraphicFramePr>
        <p:xfrm>
          <a:off x="5661025" y="1077913"/>
          <a:ext cx="4891088" cy="1981200"/>
        </p:xfrm>
        <a:graphic>
          <a:graphicData uri="http://schemas.openxmlformats.org/drawingml/2006/table">
            <a:tbl>
              <a:tblPr/>
              <a:tblGrid>
                <a:gridCol w="595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J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K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Q(t+1)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next state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Q(t)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no change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Reset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Set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Q’(t)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Complement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331" name="Text Box 99"/>
          <p:cNvSpPr txBox="1">
            <a:spLocks noChangeArrowheads="1"/>
          </p:cNvSpPr>
          <p:nvPr/>
        </p:nvSpPr>
        <p:spPr bwMode="auto">
          <a:xfrm>
            <a:off x="6249991" y="3178175"/>
            <a:ext cx="3119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 dirty="0">
                <a:solidFill>
                  <a:srgbClr val="FF0000"/>
                </a:solidFill>
              </a:rPr>
              <a:t>Characteristic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3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5" grpId="0" build="p"/>
      <p:bldP spid="2233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3D17175-E00D-44E2-916C-1028705E4F36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 (Toggle) Flip-Flop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823913"/>
            <a:ext cx="8763000" cy="569912"/>
          </a:xfrm>
        </p:spPr>
        <p:txBody>
          <a:bodyPr/>
          <a:lstStyle/>
          <a:p>
            <a:r>
              <a:rPr lang="en-US"/>
              <a:t>Complementing flip-flop</a:t>
            </a:r>
          </a:p>
        </p:txBody>
      </p:sp>
      <p:grpSp>
        <p:nvGrpSpPr>
          <p:cNvPr id="2" name="Group 100"/>
          <p:cNvGrpSpPr>
            <a:grpSpLocks/>
          </p:cNvGrpSpPr>
          <p:nvPr/>
        </p:nvGrpSpPr>
        <p:grpSpPr bwMode="auto">
          <a:xfrm>
            <a:off x="2182813" y="1851028"/>
            <a:ext cx="2233612" cy="1363663"/>
            <a:chOff x="415" y="1166"/>
            <a:chExt cx="1407" cy="859"/>
          </a:xfrm>
        </p:grpSpPr>
        <p:sp>
          <p:nvSpPr>
            <p:cNvPr id="28728" name="Rectangle 4"/>
            <p:cNvSpPr>
              <a:spLocks noChangeArrowheads="1"/>
            </p:cNvSpPr>
            <p:nvPr/>
          </p:nvSpPr>
          <p:spPr bwMode="auto">
            <a:xfrm>
              <a:off x="689" y="1166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tr-TR" sz="1800" b="0">
                <a:solidFill>
                  <a:schemeClr val="bg1"/>
                </a:solidFill>
              </a:endParaRPr>
            </a:p>
          </p:txBody>
        </p:sp>
        <p:sp>
          <p:nvSpPr>
            <p:cNvPr id="28729" name="Line 5"/>
            <p:cNvSpPr>
              <a:spLocks noChangeShapeType="1"/>
            </p:cNvSpPr>
            <p:nvPr/>
          </p:nvSpPr>
          <p:spPr bwMode="auto">
            <a:xfrm flipH="1">
              <a:off x="415" y="1620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30" name="Text Box 6"/>
            <p:cNvSpPr txBox="1">
              <a:spLocks noChangeArrowheads="1"/>
            </p:cNvSpPr>
            <p:nvPr/>
          </p:nvSpPr>
          <p:spPr bwMode="auto">
            <a:xfrm>
              <a:off x="716" y="1242"/>
              <a:ext cx="9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T</a:t>
              </a:r>
            </a:p>
          </p:txBody>
        </p:sp>
        <p:sp>
          <p:nvSpPr>
            <p:cNvPr id="28731" name="Line 7"/>
            <p:cNvSpPr>
              <a:spLocks noChangeShapeType="1"/>
            </p:cNvSpPr>
            <p:nvPr/>
          </p:nvSpPr>
          <p:spPr bwMode="auto">
            <a:xfrm flipH="1">
              <a:off x="1384" y="1321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32" name="Text Box 8"/>
            <p:cNvSpPr txBox="1">
              <a:spLocks noChangeArrowheads="1"/>
            </p:cNvSpPr>
            <p:nvPr/>
          </p:nvSpPr>
          <p:spPr bwMode="auto">
            <a:xfrm>
              <a:off x="1198" y="1230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8733" name="AutoShape 9"/>
            <p:cNvSpPr>
              <a:spLocks noChangeArrowheads="1"/>
            </p:cNvSpPr>
            <p:nvPr/>
          </p:nvSpPr>
          <p:spPr bwMode="auto">
            <a:xfrm rot="5400000">
              <a:off x="689" y="1560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34" name="Text Box 10"/>
            <p:cNvSpPr txBox="1">
              <a:spLocks noChangeArrowheads="1"/>
            </p:cNvSpPr>
            <p:nvPr/>
          </p:nvSpPr>
          <p:spPr bwMode="auto">
            <a:xfrm>
              <a:off x="820" y="1533"/>
              <a:ext cx="8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8735" name="Line 11"/>
            <p:cNvSpPr>
              <a:spLocks noChangeShapeType="1"/>
            </p:cNvSpPr>
            <p:nvPr/>
          </p:nvSpPr>
          <p:spPr bwMode="auto">
            <a:xfrm flipH="1">
              <a:off x="418" y="1330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36" name="Oval 12"/>
            <p:cNvSpPr>
              <a:spLocks noChangeArrowheads="1"/>
            </p:cNvSpPr>
            <p:nvPr/>
          </p:nvSpPr>
          <p:spPr bwMode="auto">
            <a:xfrm>
              <a:off x="1393" y="1810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37" name="Line 13"/>
            <p:cNvSpPr>
              <a:spLocks noChangeShapeType="1"/>
            </p:cNvSpPr>
            <p:nvPr/>
          </p:nvSpPr>
          <p:spPr bwMode="auto">
            <a:xfrm flipH="1">
              <a:off x="1485" y="1851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24318" name="Group 62"/>
          <p:cNvGraphicFramePr>
            <a:graphicFrameLocks noGrp="1"/>
          </p:cNvGraphicFramePr>
          <p:nvPr/>
        </p:nvGraphicFramePr>
        <p:xfrm>
          <a:off x="5840413" y="1614488"/>
          <a:ext cx="4165600" cy="1188720"/>
        </p:xfrm>
        <a:graphic>
          <a:graphicData uri="http://schemas.openxmlformats.org/drawingml/2006/table">
            <a:tbl>
              <a:tblPr/>
              <a:tblGrid>
                <a:gridCol w="595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Q(t+1)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next state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Q(t)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no change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Q’(t)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Complement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4313" name="Text Box 57"/>
          <p:cNvSpPr txBox="1">
            <a:spLocks noChangeArrowheads="1"/>
          </p:cNvSpPr>
          <p:nvPr/>
        </p:nvSpPr>
        <p:spPr bwMode="auto">
          <a:xfrm>
            <a:off x="6311900" y="2889250"/>
            <a:ext cx="3119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0">
                <a:solidFill>
                  <a:srgbClr val="FF0000"/>
                </a:solidFill>
              </a:rPr>
              <a:t>Characteristic Table</a:t>
            </a:r>
          </a:p>
        </p:txBody>
      </p:sp>
      <p:sp>
        <p:nvSpPr>
          <p:cNvPr id="224319" name="Rectangle 63"/>
          <p:cNvSpPr>
            <a:spLocks noChangeArrowheads="1"/>
          </p:cNvSpPr>
          <p:nvPr/>
        </p:nvSpPr>
        <p:spPr bwMode="auto">
          <a:xfrm>
            <a:off x="1666875" y="3468691"/>
            <a:ext cx="8763000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b="0"/>
              <a:t>Characteristic equation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b="0"/>
              <a:t>Q(t+1) =</a:t>
            </a:r>
          </a:p>
        </p:txBody>
      </p:sp>
      <p:grpSp>
        <p:nvGrpSpPr>
          <p:cNvPr id="3" name="Group 101"/>
          <p:cNvGrpSpPr>
            <a:grpSpLocks/>
          </p:cNvGrpSpPr>
          <p:nvPr/>
        </p:nvGrpSpPr>
        <p:grpSpPr bwMode="auto">
          <a:xfrm>
            <a:off x="1755775" y="5113338"/>
            <a:ext cx="3132138" cy="1363662"/>
            <a:chOff x="146" y="3221"/>
            <a:chExt cx="1973" cy="859"/>
          </a:xfrm>
        </p:grpSpPr>
        <p:sp>
          <p:nvSpPr>
            <p:cNvPr id="28713" name="Rectangle 64"/>
            <p:cNvSpPr>
              <a:spLocks noChangeArrowheads="1"/>
            </p:cNvSpPr>
            <p:nvPr/>
          </p:nvSpPr>
          <p:spPr bwMode="auto">
            <a:xfrm>
              <a:off x="986" y="3221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tr-TR" sz="1800" b="0">
                <a:solidFill>
                  <a:schemeClr val="bg1"/>
                </a:solidFill>
              </a:endParaRPr>
            </a:p>
          </p:txBody>
        </p:sp>
        <p:sp>
          <p:nvSpPr>
            <p:cNvPr id="28714" name="Line 65"/>
            <p:cNvSpPr>
              <a:spLocks noChangeShapeType="1"/>
            </p:cNvSpPr>
            <p:nvPr/>
          </p:nvSpPr>
          <p:spPr bwMode="auto">
            <a:xfrm flipH="1">
              <a:off x="712" y="3675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5" name="Text Box 66"/>
            <p:cNvSpPr txBox="1">
              <a:spLocks noChangeArrowheads="1"/>
            </p:cNvSpPr>
            <p:nvPr/>
          </p:nvSpPr>
          <p:spPr bwMode="auto">
            <a:xfrm>
              <a:off x="1013" y="3297"/>
              <a:ext cx="9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J</a:t>
              </a:r>
            </a:p>
          </p:txBody>
        </p:sp>
        <p:sp>
          <p:nvSpPr>
            <p:cNvPr id="28716" name="Line 67"/>
            <p:cNvSpPr>
              <a:spLocks noChangeShapeType="1"/>
            </p:cNvSpPr>
            <p:nvPr/>
          </p:nvSpPr>
          <p:spPr bwMode="auto">
            <a:xfrm flipH="1">
              <a:off x="1681" y="3376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Text Box 68"/>
            <p:cNvSpPr txBox="1">
              <a:spLocks noChangeArrowheads="1"/>
            </p:cNvSpPr>
            <p:nvPr/>
          </p:nvSpPr>
          <p:spPr bwMode="auto">
            <a:xfrm>
              <a:off x="1495" y="3285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8718" name="AutoShape 69"/>
            <p:cNvSpPr>
              <a:spLocks noChangeArrowheads="1"/>
            </p:cNvSpPr>
            <p:nvPr/>
          </p:nvSpPr>
          <p:spPr bwMode="auto">
            <a:xfrm rot="5400000">
              <a:off x="986" y="3615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19" name="Text Box 70"/>
            <p:cNvSpPr txBox="1">
              <a:spLocks noChangeArrowheads="1"/>
            </p:cNvSpPr>
            <p:nvPr/>
          </p:nvSpPr>
          <p:spPr bwMode="auto">
            <a:xfrm>
              <a:off x="1117" y="3588"/>
              <a:ext cx="8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8720" name="Line 71"/>
            <p:cNvSpPr>
              <a:spLocks noChangeShapeType="1"/>
            </p:cNvSpPr>
            <p:nvPr/>
          </p:nvSpPr>
          <p:spPr bwMode="auto">
            <a:xfrm flipH="1">
              <a:off x="431" y="3385"/>
              <a:ext cx="5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1" name="Oval 72"/>
            <p:cNvSpPr>
              <a:spLocks noChangeArrowheads="1"/>
            </p:cNvSpPr>
            <p:nvPr/>
          </p:nvSpPr>
          <p:spPr bwMode="auto">
            <a:xfrm>
              <a:off x="1690" y="3865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22" name="Line 73"/>
            <p:cNvSpPr>
              <a:spLocks noChangeShapeType="1"/>
            </p:cNvSpPr>
            <p:nvPr/>
          </p:nvSpPr>
          <p:spPr bwMode="auto">
            <a:xfrm flipH="1">
              <a:off x="1782" y="3906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Text Box 74"/>
            <p:cNvSpPr txBox="1">
              <a:spLocks noChangeArrowheads="1"/>
            </p:cNvSpPr>
            <p:nvPr/>
          </p:nvSpPr>
          <p:spPr bwMode="auto">
            <a:xfrm>
              <a:off x="1018" y="3851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K</a:t>
              </a:r>
            </a:p>
          </p:txBody>
        </p:sp>
        <p:sp>
          <p:nvSpPr>
            <p:cNvPr id="28724" name="Line 75"/>
            <p:cNvSpPr>
              <a:spLocks noChangeShapeType="1"/>
            </p:cNvSpPr>
            <p:nvPr/>
          </p:nvSpPr>
          <p:spPr bwMode="auto">
            <a:xfrm flipH="1">
              <a:off x="533" y="3939"/>
              <a:ext cx="4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Line 76"/>
            <p:cNvSpPr>
              <a:spLocks noChangeShapeType="1"/>
            </p:cNvSpPr>
            <p:nvPr/>
          </p:nvSpPr>
          <p:spPr bwMode="auto">
            <a:xfrm>
              <a:off x="536" y="3382"/>
              <a:ext cx="0" cy="5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6" name="Oval 77"/>
            <p:cNvSpPr>
              <a:spLocks noChangeArrowheads="1"/>
            </p:cNvSpPr>
            <p:nvPr/>
          </p:nvSpPr>
          <p:spPr bwMode="auto">
            <a:xfrm>
              <a:off x="512" y="3357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27" name="Text Box 78"/>
            <p:cNvSpPr txBox="1">
              <a:spLocks noChangeArrowheads="1"/>
            </p:cNvSpPr>
            <p:nvPr/>
          </p:nvSpPr>
          <p:spPr bwMode="auto">
            <a:xfrm>
              <a:off x="146" y="3238"/>
              <a:ext cx="2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T</a:t>
              </a:r>
            </a:p>
          </p:txBody>
        </p:sp>
      </p:grp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6719888" y="5105403"/>
            <a:ext cx="2233612" cy="1363663"/>
            <a:chOff x="3273" y="3216"/>
            <a:chExt cx="1407" cy="859"/>
          </a:xfrm>
        </p:grpSpPr>
        <p:sp>
          <p:nvSpPr>
            <p:cNvPr id="28704" name="Rectangle 79"/>
            <p:cNvSpPr>
              <a:spLocks noChangeArrowheads="1"/>
            </p:cNvSpPr>
            <p:nvPr/>
          </p:nvSpPr>
          <p:spPr bwMode="auto">
            <a:xfrm>
              <a:off x="3547" y="3216"/>
              <a:ext cx="695" cy="85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endParaRPr lang="tr-TR" sz="1800" b="0">
                <a:solidFill>
                  <a:schemeClr val="bg1"/>
                </a:solidFill>
              </a:endParaRPr>
            </a:p>
          </p:txBody>
        </p:sp>
        <p:sp>
          <p:nvSpPr>
            <p:cNvPr id="28705" name="Line 80"/>
            <p:cNvSpPr>
              <a:spLocks noChangeShapeType="1"/>
            </p:cNvSpPr>
            <p:nvPr/>
          </p:nvSpPr>
          <p:spPr bwMode="auto">
            <a:xfrm flipH="1">
              <a:off x="3273" y="3670"/>
              <a:ext cx="2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6" name="Text Box 81"/>
            <p:cNvSpPr txBox="1">
              <a:spLocks noChangeArrowheads="1"/>
            </p:cNvSpPr>
            <p:nvPr/>
          </p:nvSpPr>
          <p:spPr bwMode="auto">
            <a:xfrm>
              <a:off x="3574" y="3292"/>
              <a:ext cx="10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28707" name="Line 82"/>
            <p:cNvSpPr>
              <a:spLocks noChangeShapeType="1"/>
            </p:cNvSpPr>
            <p:nvPr/>
          </p:nvSpPr>
          <p:spPr bwMode="auto">
            <a:xfrm flipH="1">
              <a:off x="4242" y="3371"/>
              <a:ext cx="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8" name="Text Box 83"/>
            <p:cNvSpPr txBox="1">
              <a:spLocks noChangeArrowheads="1"/>
            </p:cNvSpPr>
            <p:nvPr/>
          </p:nvSpPr>
          <p:spPr bwMode="auto">
            <a:xfrm>
              <a:off x="4056" y="3280"/>
              <a:ext cx="12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Q</a:t>
              </a:r>
            </a:p>
          </p:txBody>
        </p:sp>
        <p:sp>
          <p:nvSpPr>
            <p:cNvPr id="28709" name="AutoShape 84"/>
            <p:cNvSpPr>
              <a:spLocks noChangeArrowheads="1"/>
            </p:cNvSpPr>
            <p:nvPr/>
          </p:nvSpPr>
          <p:spPr bwMode="auto">
            <a:xfrm rot="5400000">
              <a:off x="3547" y="3610"/>
              <a:ext cx="131" cy="119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10" name="Text Box 85"/>
            <p:cNvSpPr txBox="1">
              <a:spLocks noChangeArrowheads="1"/>
            </p:cNvSpPr>
            <p:nvPr/>
          </p:nvSpPr>
          <p:spPr bwMode="auto">
            <a:xfrm>
              <a:off x="3678" y="3583"/>
              <a:ext cx="88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28711" name="Oval 87"/>
            <p:cNvSpPr>
              <a:spLocks noChangeArrowheads="1"/>
            </p:cNvSpPr>
            <p:nvPr/>
          </p:nvSpPr>
          <p:spPr bwMode="auto">
            <a:xfrm>
              <a:off x="4251" y="3860"/>
              <a:ext cx="83" cy="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712" name="Line 88"/>
            <p:cNvSpPr>
              <a:spLocks noChangeShapeType="1"/>
            </p:cNvSpPr>
            <p:nvPr/>
          </p:nvSpPr>
          <p:spPr bwMode="auto">
            <a:xfrm flipH="1">
              <a:off x="4343" y="3901"/>
              <a:ext cx="3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04"/>
          <p:cNvGrpSpPr>
            <a:grpSpLocks/>
          </p:cNvGrpSpPr>
          <p:nvPr/>
        </p:nvGrpSpPr>
        <p:grpSpPr bwMode="auto">
          <a:xfrm>
            <a:off x="5318125" y="4789488"/>
            <a:ext cx="3309938" cy="933450"/>
            <a:chOff x="2390" y="3017"/>
            <a:chExt cx="2085" cy="588"/>
          </a:xfrm>
        </p:grpSpPr>
        <p:sp>
          <p:nvSpPr>
            <p:cNvPr id="28694" name="Line 86"/>
            <p:cNvSpPr>
              <a:spLocks noChangeShapeType="1"/>
            </p:cNvSpPr>
            <p:nvPr/>
          </p:nvSpPr>
          <p:spPr bwMode="auto">
            <a:xfrm flipH="1">
              <a:off x="2819" y="3023"/>
              <a:ext cx="16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95" name="Group 90"/>
            <p:cNvGrpSpPr>
              <a:grpSpLocks/>
            </p:cNvGrpSpPr>
            <p:nvPr/>
          </p:nvGrpSpPr>
          <p:grpSpPr bwMode="auto">
            <a:xfrm>
              <a:off x="2830" y="3210"/>
              <a:ext cx="706" cy="333"/>
              <a:chOff x="3280" y="1859"/>
              <a:chExt cx="706" cy="333"/>
            </a:xfrm>
          </p:grpSpPr>
          <p:sp>
            <p:nvSpPr>
              <p:cNvPr id="28701" name="Freeform 91"/>
              <p:cNvSpPr>
                <a:spLocks noEditPoints="1"/>
              </p:cNvSpPr>
              <p:nvPr/>
            </p:nvSpPr>
            <p:spPr bwMode="auto">
              <a:xfrm>
                <a:off x="3280" y="1936"/>
                <a:ext cx="706" cy="178"/>
              </a:xfrm>
              <a:custGeom>
                <a:avLst/>
                <a:gdLst>
                  <a:gd name="T0" fmla="*/ 0 w 493"/>
                  <a:gd name="T1" fmla="*/ 0 h 130"/>
                  <a:gd name="T2" fmla="*/ 1948310 w 493"/>
                  <a:gd name="T3" fmla="*/ 0 h 130"/>
                  <a:gd name="T4" fmla="*/ 0 w 493"/>
                  <a:gd name="T5" fmla="*/ 335633 h 130"/>
                  <a:gd name="T6" fmla="*/ 1948310 w 493"/>
                  <a:gd name="T7" fmla="*/ 335633 h 130"/>
                  <a:gd name="T8" fmla="*/ 3907964 w 493"/>
                  <a:gd name="T9" fmla="*/ 168495 h 130"/>
                  <a:gd name="T10" fmla="*/ 1948310 w 493"/>
                  <a:gd name="T11" fmla="*/ 168495 h 1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93"/>
                  <a:gd name="T19" fmla="*/ 0 h 130"/>
                  <a:gd name="T20" fmla="*/ 493 w 493"/>
                  <a:gd name="T21" fmla="*/ 130 h 1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93" h="130">
                    <a:moveTo>
                      <a:pt x="0" y="0"/>
                    </a:moveTo>
                    <a:lnTo>
                      <a:pt x="246" y="0"/>
                    </a:lnTo>
                    <a:moveTo>
                      <a:pt x="0" y="130"/>
                    </a:moveTo>
                    <a:lnTo>
                      <a:pt x="246" y="130"/>
                    </a:lnTo>
                    <a:moveTo>
                      <a:pt x="493" y="65"/>
                    </a:moveTo>
                    <a:lnTo>
                      <a:pt x="246" y="65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702" name="Freeform 92"/>
              <p:cNvSpPr>
                <a:spLocks/>
              </p:cNvSpPr>
              <p:nvPr/>
            </p:nvSpPr>
            <p:spPr bwMode="auto">
              <a:xfrm>
                <a:off x="3471" y="1859"/>
                <a:ext cx="349" cy="333"/>
              </a:xfrm>
              <a:custGeom>
                <a:avLst/>
                <a:gdLst>
                  <a:gd name="T0" fmla="*/ 2147483647 w 40"/>
                  <a:gd name="T1" fmla="*/ 2147483647 h 30"/>
                  <a:gd name="T2" fmla="*/ 2147483647 w 40"/>
                  <a:gd name="T3" fmla="*/ 2147483647 h 30"/>
                  <a:gd name="T4" fmla="*/ 2147483647 w 40"/>
                  <a:gd name="T5" fmla="*/ 2147483647 h 30"/>
                  <a:gd name="T6" fmla="*/ 0 w 40"/>
                  <a:gd name="T7" fmla="*/ 2147483647 h 30"/>
                  <a:gd name="T8" fmla="*/ 0 w 40"/>
                  <a:gd name="T9" fmla="*/ 0 h 30"/>
                  <a:gd name="T10" fmla="*/ 0 w 40"/>
                  <a:gd name="T11" fmla="*/ 0 h 30"/>
                  <a:gd name="T12" fmla="*/ 2147483647 w 40"/>
                  <a:gd name="T13" fmla="*/ 0 h 30"/>
                  <a:gd name="T14" fmla="*/ 2147483647 w 40"/>
                  <a:gd name="T15" fmla="*/ 2147483647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0"/>
                  <a:gd name="T25" fmla="*/ 0 h 30"/>
                  <a:gd name="T26" fmla="*/ 40 w 40"/>
                  <a:gd name="T27" fmla="*/ 30 h 3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0" h="30">
                    <a:moveTo>
                      <a:pt x="40" y="15"/>
                    </a:moveTo>
                    <a:cubicBezTo>
                      <a:pt x="35" y="23"/>
                      <a:pt x="25" y="28"/>
                      <a:pt x="12" y="30"/>
                    </a:cubicBezTo>
                    <a:lnTo>
                      <a:pt x="0" y="30"/>
                    </a:lnTo>
                    <a:cubicBezTo>
                      <a:pt x="8" y="21"/>
                      <a:pt x="8" y="10"/>
                      <a:pt x="0" y="0"/>
                    </a:cubicBezTo>
                    <a:lnTo>
                      <a:pt x="12" y="0"/>
                    </a:lnTo>
                    <a:cubicBezTo>
                      <a:pt x="25" y="2"/>
                      <a:pt x="35" y="8"/>
                      <a:pt x="40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8703" name="Freeform 93"/>
              <p:cNvSpPr>
                <a:spLocks noEditPoints="1"/>
              </p:cNvSpPr>
              <p:nvPr/>
            </p:nvSpPr>
            <p:spPr bwMode="auto">
              <a:xfrm>
                <a:off x="3436" y="1859"/>
                <a:ext cx="384" cy="333"/>
              </a:xfrm>
              <a:custGeom>
                <a:avLst/>
                <a:gdLst>
                  <a:gd name="T0" fmla="*/ 2147483647 w 44"/>
                  <a:gd name="T1" fmla="*/ 2147483647 h 30"/>
                  <a:gd name="T2" fmla="*/ 2147483647 w 44"/>
                  <a:gd name="T3" fmla="*/ 2147483647 h 30"/>
                  <a:gd name="T4" fmla="*/ 2147483647 w 44"/>
                  <a:gd name="T5" fmla="*/ 2147483647 h 30"/>
                  <a:gd name="T6" fmla="*/ 2147483647 w 44"/>
                  <a:gd name="T7" fmla="*/ 2147483647 h 30"/>
                  <a:gd name="T8" fmla="*/ 2147483647 w 44"/>
                  <a:gd name="T9" fmla="*/ 0 h 30"/>
                  <a:gd name="T10" fmla="*/ 2147483647 w 44"/>
                  <a:gd name="T11" fmla="*/ 0 h 30"/>
                  <a:gd name="T12" fmla="*/ 2147483647 w 44"/>
                  <a:gd name="T13" fmla="*/ 0 h 30"/>
                  <a:gd name="T14" fmla="*/ 2147483647 w 44"/>
                  <a:gd name="T15" fmla="*/ 2147483647 h 30"/>
                  <a:gd name="T16" fmla="*/ 0 w 44"/>
                  <a:gd name="T17" fmla="*/ 2147483647 h 30"/>
                  <a:gd name="T18" fmla="*/ 0 w 44"/>
                  <a:gd name="T19" fmla="*/ 0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30"/>
                  <a:gd name="T32" fmla="*/ 44 w 44"/>
                  <a:gd name="T33" fmla="*/ 30 h 3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30">
                    <a:moveTo>
                      <a:pt x="44" y="15"/>
                    </a:moveTo>
                    <a:cubicBezTo>
                      <a:pt x="39" y="23"/>
                      <a:pt x="29" y="28"/>
                      <a:pt x="16" y="30"/>
                    </a:cubicBezTo>
                    <a:lnTo>
                      <a:pt x="4" y="30"/>
                    </a:lnTo>
                    <a:cubicBezTo>
                      <a:pt x="12" y="21"/>
                      <a:pt x="12" y="10"/>
                      <a:pt x="4" y="0"/>
                    </a:cubicBezTo>
                    <a:lnTo>
                      <a:pt x="16" y="0"/>
                    </a:lnTo>
                    <a:cubicBezTo>
                      <a:pt x="29" y="2"/>
                      <a:pt x="39" y="8"/>
                      <a:pt x="44" y="15"/>
                    </a:cubicBezTo>
                    <a:moveTo>
                      <a:pt x="0" y="30"/>
                    </a:moveTo>
                    <a:cubicBezTo>
                      <a:pt x="8" y="21"/>
                      <a:pt x="8" y="10"/>
                      <a:pt x="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28696" name="Line 95"/>
            <p:cNvSpPr>
              <a:spLocks noChangeShapeType="1"/>
            </p:cNvSpPr>
            <p:nvPr/>
          </p:nvSpPr>
          <p:spPr bwMode="auto">
            <a:xfrm>
              <a:off x="4443" y="3017"/>
              <a:ext cx="0" cy="3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Oval 96"/>
            <p:cNvSpPr>
              <a:spLocks noChangeArrowheads="1"/>
            </p:cNvSpPr>
            <p:nvPr/>
          </p:nvSpPr>
          <p:spPr bwMode="auto">
            <a:xfrm>
              <a:off x="4419" y="3333"/>
              <a:ext cx="56" cy="5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8698" name="Line 97"/>
            <p:cNvSpPr>
              <a:spLocks noChangeShapeType="1"/>
            </p:cNvSpPr>
            <p:nvPr/>
          </p:nvSpPr>
          <p:spPr bwMode="auto">
            <a:xfrm>
              <a:off x="2830" y="3017"/>
              <a:ext cx="0" cy="26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98"/>
            <p:cNvSpPr>
              <a:spLocks noChangeShapeType="1"/>
            </p:cNvSpPr>
            <p:nvPr/>
          </p:nvSpPr>
          <p:spPr bwMode="auto">
            <a:xfrm flipH="1">
              <a:off x="2624" y="3464"/>
              <a:ext cx="2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Text Box 99"/>
            <p:cNvSpPr txBox="1">
              <a:spLocks noChangeArrowheads="1"/>
            </p:cNvSpPr>
            <p:nvPr/>
          </p:nvSpPr>
          <p:spPr bwMode="auto">
            <a:xfrm>
              <a:off x="2390" y="3317"/>
              <a:ext cx="2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0"/>
                <a:t>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4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9" grpId="0" build="p"/>
      <p:bldP spid="224313" grpId="0"/>
      <p:bldP spid="2243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71472" y="432756"/>
            <a:ext cx="8391728" cy="634044"/>
          </a:xfrm>
        </p:spPr>
        <p:txBody>
          <a:bodyPr/>
          <a:lstStyle/>
          <a:p>
            <a:r>
              <a:rPr lang="en-US" sz="2000" b="1" dirty="0">
                <a:latin typeface="+mn-lt"/>
              </a:rPr>
              <a:t>Table 5</a:t>
            </a:r>
            <a:r>
              <a:rPr lang="en-US" sz="2000" dirty="0">
                <a:latin typeface="+mn-lt"/>
              </a:rPr>
              <a:t>.1</a:t>
            </a:r>
            <a:br>
              <a:rPr lang="en-US" sz="2000" b="1" dirty="0">
                <a:latin typeface="+mn-lt"/>
              </a:rPr>
            </a:br>
            <a:r>
              <a:rPr lang="en-IN" sz="2000" dirty="0">
                <a:latin typeface="+mn-lt"/>
              </a:rPr>
              <a:t>Flip-Flop Characteristic Tables.</a:t>
            </a:r>
            <a:endParaRPr lang="en-US" sz="2000" dirty="0">
              <a:latin typeface="+mn-lt"/>
            </a:endParaRPr>
          </a:p>
        </p:txBody>
      </p:sp>
      <p:pic>
        <p:nvPicPr>
          <p:cNvPr id="14338" name="Picture 2" descr="Z:\NewMedia\Ebook-Novella\Wiley\jira\Mano_Ciletti6e\Work\Images\ch05\ciletti_6e_table_05_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207" y="1295400"/>
            <a:ext cx="5589588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1396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B4874-E73E-D460-A6B5-CE64DE39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00B2350-5261-4F5C-9DF5-EF0D264FC8D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074AA8-BF2A-85D9-9D8C-03DE19A1E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051"/>
          <a:stretch>
            <a:fillRect/>
          </a:stretch>
        </p:blipFill>
        <p:spPr>
          <a:xfrm>
            <a:off x="1021080" y="285543"/>
            <a:ext cx="10149840" cy="628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29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F9B43-252F-7DBF-F8E4-04194188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6DE446-D86B-4BD4-BD42-9985C2EE21AD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7DF9E-E9BF-19A7-EFB8-76AAEDF7F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627176"/>
            <a:ext cx="9073362" cy="4718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958A6A-DF94-295D-E2E1-0D003AB2D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8" y="650124"/>
            <a:ext cx="9097029" cy="130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0966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10935</TotalTime>
  <Words>1420</Words>
  <Application>Microsoft Office PowerPoint</Application>
  <PresentationFormat>Widescreen</PresentationFormat>
  <Paragraphs>649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Comic Sans MS</vt:lpstr>
      <vt:lpstr>MathematicalPi 1</vt:lpstr>
      <vt:lpstr>Symbol</vt:lpstr>
      <vt:lpstr>Times New Roman</vt:lpstr>
      <vt:lpstr>TimesTen</vt:lpstr>
      <vt:lpstr>Verdana</vt:lpstr>
      <vt:lpstr>Wingdings</vt:lpstr>
      <vt:lpstr>Default Design</vt:lpstr>
      <vt:lpstr>508 Lecture</vt:lpstr>
      <vt:lpstr>PowerPoint Presentation</vt:lpstr>
      <vt:lpstr>Course Contents</vt:lpstr>
      <vt:lpstr>PowerPoint Presentation</vt:lpstr>
      <vt:lpstr>PowerPoint Presentation</vt:lpstr>
      <vt:lpstr>Logic Gates</vt:lpstr>
      <vt:lpstr>Combinational Circuits</vt:lpstr>
      <vt:lpstr>Full Adder Using Half Adders</vt:lpstr>
      <vt:lpstr>Integer Addition 2/2</vt:lpstr>
      <vt:lpstr>Decoders</vt:lpstr>
      <vt:lpstr>Decoder Example</vt:lpstr>
      <vt:lpstr>4-to-1-Line Multiplexer: Circuit</vt:lpstr>
      <vt:lpstr>Digital Design</vt:lpstr>
      <vt:lpstr>Sequential Circuits Model</vt:lpstr>
      <vt:lpstr>Classification</vt:lpstr>
      <vt:lpstr>Clocked Sequential Circuits</vt:lpstr>
      <vt:lpstr>Clocked Sequential Circuits</vt:lpstr>
      <vt:lpstr>Latches</vt:lpstr>
      <vt:lpstr>NAND/NOR</vt:lpstr>
      <vt:lpstr>SR-Latch</vt:lpstr>
      <vt:lpstr>SR-Latch</vt:lpstr>
      <vt:lpstr>SR-Latches with NAND Gates</vt:lpstr>
      <vt:lpstr>SR-Latch with Control Input</vt:lpstr>
      <vt:lpstr>D-Latch</vt:lpstr>
      <vt:lpstr>D-Latch as a Storage Unit</vt:lpstr>
      <vt:lpstr>Graphic symbols for latches.</vt:lpstr>
      <vt:lpstr>Need for Flip-Flops</vt:lpstr>
      <vt:lpstr>Need for Flip-Flops</vt:lpstr>
      <vt:lpstr>Clock response in flip-flop.</vt:lpstr>
      <vt:lpstr>Edge-Triggered D Flip-Flop</vt:lpstr>
      <vt:lpstr>Positive Edge-Triggered D Flip-Flop</vt:lpstr>
      <vt:lpstr>Symbols for D Flip-Flops</vt:lpstr>
      <vt:lpstr>D Flip-Flop</vt:lpstr>
      <vt:lpstr>Other Flip-Flops</vt:lpstr>
      <vt:lpstr>JK flip-flop.</vt:lpstr>
      <vt:lpstr>JK Flip-Flops</vt:lpstr>
      <vt:lpstr>T (Toggle) Flip-Flop</vt:lpstr>
      <vt:lpstr>Table 5.1 Flip-Flop Characteristic Tables.</vt:lpstr>
      <vt:lpstr>PowerPoint Presentation</vt:lpstr>
      <vt:lpstr>PowerPoint Presentation</vt:lpstr>
    </vt:vector>
  </TitlesOfParts>
  <Company>LASER WORDS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LW1</dc:creator>
  <cp:lastModifiedBy>Ahmed khedr</cp:lastModifiedBy>
  <cp:revision>2410</cp:revision>
  <dcterms:created xsi:type="dcterms:W3CDTF">2001-08-27T04:06:43Z</dcterms:created>
  <dcterms:modified xsi:type="dcterms:W3CDTF">2026-02-15T19:16:20Z</dcterms:modified>
</cp:coreProperties>
</file>