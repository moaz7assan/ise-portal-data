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30"/>
  </p:notesMasterIdLst>
  <p:handoutMasterIdLst>
    <p:handoutMasterId r:id="rId31"/>
  </p:handoutMasterIdLst>
  <p:sldIdLst>
    <p:sldId id="318" r:id="rId3"/>
    <p:sldId id="444" r:id="rId4"/>
    <p:sldId id="303" r:id="rId5"/>
    <p:sldId id="455" r:id="rId6"/>
    <p:sldId id="459" r:id="rId7"/>
    <p:sldId id="456" r:id="rId8"/>
    <p:sldId id="457" r:id="rId9"/>
    <p:sldId id="458" r:id="rId10"/>
    <p:sldId id="468" r:id="rId11"/>
    <p:sldId id="461" r:id="rId12"/>
    <p:sldId id="469" r:id="rId13"/>
    <p:sldId id="462" r:id="rId14"/>
    <p:sldId id="320" r:id="rId15"/>
    <p:sldId id="463" r:id="rId16"/>
    <p:sldId id="464" r:id="rId17"/>
    <p:sldId id="467" r:id="rId18"/>
    <p:sldId id="465" r:id="rId19"/>
    <p:sldId id="466" r:id="rId20"/>
    <p:sldId id="304" r:id="rId21"/>
    <p:sldId id="306" r:id="rId22"/>
    <p:sldId id="309" r:id="rId23"/>
    <p:sldId id="472" r:id="rId24"/>
    <p:sldId id="317" r:id="rId25"/>
    <p:sldId id="470" r:id="rId26"/>
    <p:sldId id="319" r:id="rId27"/>
    <p:sldId id="315" r:id="rId28"/>
    <p:sldId id="316" r:id="rId29"/>
  </p:sldIdLst>
  <p:sldSz cx="12192000" cy="6858000"/>
  <p:notesSz cx="7026275" cy="9312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CC"/>
    <a:srgbClr val="CCFF33"/>
    <a:srgbClr val="009900"/>
    <a:srgbClr val="FFFF00"/>
    <a:srgbClr val="CCFFF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137" autoAdjust="0"/>
  </p:normalViewPr>
  <p:slideViewPr>
    <p:cSldViewPr snapToObjects="1">
      <p:cViewPr varScale="1">
        <p:scale>
          <a:sx n="47" d="100"/>
          <a:sy n="47" d="100"/>
        </p:scale>
        <p:origin x="1324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3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9863" y="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pPr>
              <a:defRPr/>
            </a:pPr>
            <a:fld id="{54691465-93AC-4282-A02C-0AC5BBCA3F40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555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9863" y="884555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pPr>
              <a:defRPr/>
            </a:pPr>
            <a:fld id="{93303ECF-C36D-4C3D-8A49-733ADE8746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8145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8500"/>
            <a:ext cx="6207125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22775"/>
            <a:ext cx="51530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8145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29576CE8-DD80-43BA-A72A-2E63F6E2E3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starting with state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0, the reset state. While the input is 0, the circuit stays in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0, but if the input is 1, it goes to state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 to indicate that a 1 was detected. If the next input is 1, the change is to state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2 to indicate the arrival of two consecutive 1’s, but if the input is 0, the state goes back to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0. The third consecutive 1 sends the circuit to state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3. If more 1’s are detected, the circuit stays in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3. Any 0 input sends the circuit back to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0. In this way, the circuit stays in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3 as long as there are three or more consecutive 1’s received. This is a Moore model sequential circuit, since the output is 1 when the circuit is in state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3 and is 0 otherwise.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2B8A-51A7-DCE2-F298-0C8121353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FE47E-D190-6F5D-1BD9-EF171F812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91520D-C0CE-B3DE-FBFD-73ADC63B5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07845-52BC-31ED-6F46-566086541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381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94C96-6D65-C2C1-C70D-CCC9A463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6917A-C193-0C18-D31A-F6CAE06CD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28532-9911-8019-80B6-E7EA2DECF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3C52-70FE-A98E-A27F-4C0AFF921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837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E3C0024-3BE9-4CFB-B469-EC55CC4BF5A1}" type="slidenum">
              <a:rPr lang="ar-SA" smtClean="0"/>
              <a:pPr/>
              <a:t>19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21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543B4D2-0156-48FF-8C4F-F099DEA692E1}" type="slidenum">
              <a:rPr lang="ar-SA" smtClean="0"/>
              <a:pPr/>
              <a:t>20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562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20A7109-8B9D-405D-96BD-4417F23C75EC}" type="slidenum">
              <a:rPr lang="ar-SA" smtClean="0"/>
              <a:pPr/>
              <a:t>21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92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C39D0-B4AC-62F9-834C-20066E6E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3CA056A-91AC-6F00-8080-FD3DC17908B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220A7109-8B9D-405D-96BD-4417F23C75EC}" type="slidenum">
              <a:rPr lang="ar-SA" smtClean="0"/>
              <a:pPr/>
              <a:t>22</a:t>
            </a:fld>
            <a:endParaRPr 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CEB40A0-7241-F2D6-7CEF-5E356E9DC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354FCE9-301D-566C-8AF4-AEC7CEEE25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70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ED43B3C-F2F5-4277-B0A6-94652CF1C2AD}" type="slidenum">
              <a:rPr lang="ar-SA" smtClean="0"/>
              <a:pPr/>
              <a:t>23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672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0A993B66-F02A-4269-BEA6-240421ED5DA9}" type="slidenum">
              <a:rPr lang="ar-SA" smtClean="0"/>
              <a:pPr/>
              <a:t>24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958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4653996-31C5-42F9-857E-2EE60939A6BC}" type="slidenum">
              <a:rPr lang="ar-SA" smtClean="0"/>
              <a:pPr/>
              <a:t>25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55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6CDD9-AAF3-4D7A-B9DD-E21DD7F8CA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165D6-F57E-4659-BCC2-46CC9D1946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57404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066800"/>
            <a:ext cx="57404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97E28-E625-42B2-971F-6E3434970C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5AA38-6820-4694-AEAD-ECF6A28390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A4373-465E-4191-B5C6-B506004FE8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DE446-D86B-4BD4-BD42-9985C2EE2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2D973-540E-4773-BC4D-7DCBD02334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1DC8F-0E9B-4889-83C7-DC84216F1D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FD9F6-4AC5-420F-8915-A9F9F8A877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67800" y="0"/>
            <a:ext cx="29210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55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144B8-9A85-4C33-9CD3-4CF2731566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368160"/>
            <a:ext cx="109728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" y="6376790"/>
            <a:ext cx="1224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2133600" y="6429346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288942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12192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62001"/>
            <a:ext cx="103632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83" y="3962400"/>
            <a:ext cx="10392835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133600" y="6429346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4264381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16430"/>
            <a:ext cx="109728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600202"/>
            <a:ext cx="48768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3200401"/>
            <a:ext cx="48768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25292" y="6165338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76790"/>
            <a:ext cx="1224000" cy="279915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2133600" y="6429346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998174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16430"/>
            <a:ext cx="109728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609600" y="1600201"/>
            <a:ext cx="109728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540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447617" y="113072"/>
            <a:ext cx="28448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2417" y="113072"/>
            <a:ext cx="735711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751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353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368160"/>
            <a:ext cx="109728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" y="6376790"/>
            <a:ext cx="1224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2133600" y="6429346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10452630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1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8274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47801"/>
            <a:ext cx="103632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9583" y="3962400"/>
            <a:ext cx="10392836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741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355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1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" y="6376790"/>
            <a:ext cx="1224000" cy="279915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2133600" y="6429346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267987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bg1"/>
          </a:fgClr>
          <a:bgClr>
            <a:srgbClr val="66CCFF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11684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066800"/>
            <a:ext cx="11684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292" y="6172201"/>
            <a:ext cx="1146048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47617" y="113072"/>
            <a:ext cx="284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417" y="113072"/>
            <a:ext cx="735711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76790"/>
            <a:ext cx="1224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133600" y="6429346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189517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34828"/>
            <a:ext cx="8229600" cy="622828"/>
          </a:xfrm>
        </p:spPr>
        <p:txBody>
          <a:bodyPr/>
          <a:lstStyle/>
          <a:p>
            <a:r>
              <a:rPr lang="en-US" dirty="0">
                <a:latin typeface="+mj-lt"/>
              </a:rPr>
              <a:t>Digital Design</a:t>
            </a:r>
            <a:endParaRPr lang="en-US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981200" y="771294"/>
            <a:ext cx="8229600" cy="478970"/>
          </a:xfrm>
        </p:spPr>
        <p:txBody>
          <a:bodyPr/>
          <a:lstStyle/>
          <a:p>
            <a:r>
              <a:rPr lang="en-US" sz="2400" dirty="0"/>
              <a:t>With an Introduction to the Verilog HDL, VHDL, and SystemVerilog</a:t>
            </a:r>
          </a:p>
          <a:p>
            <a:r>
              <a:rPr lang="en-US" sz="2400" dirty="0">
                <a:latin typeface="+mj-lt"/>
              </a:rPr>
              <a:t>6</a:t>
            </a:r>
            <a:r>
              <a:rPr lang="en-US" sz="2400" baseline="30000" dirty="0">
                <a:latin typeface="+mj-lt"/>
              </a:rPr>
              <a:t>th</a:t>
            </a:r>
            <a:r>
              <a:rPr lang="en-US" sz="2400" dirty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477000" y="3048001"/>
            <a:ext cx="3657600" cy="533399"/>
          </a:xfrm>
        </p:spPr>
        <p:txBody>
          <a:bodyPr/>
          <a:lstStyle/>
          <a:p>
            <a:pPr algn="ctr"/>
            <a:r>
              <a:rPr lang="en-US" dirty="0"/>
              <a:t>Chapter 05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867400" y="3581400"/>
            <a:ext cx="4876800" cy="457201"/>
          </a:xfrm>
        </p:spPr>
        <p:txBody>
          <a:bodyPr/>
          <a:lstStyle/>
          <a:p>
            <a:pPr algn="ctr"/>
            <a:r>
              <a:rPr lang="en-IN" dirty="0"/>
              <a:t>Synchronous Sequential Logic</a:t>
            </a:r>
          </a:p>
          <a:p>
            <a:pPr algn="ctr"/>
            <a:endParaRPr lang="en-US" altLang="ar-EG" dirty="0"/>
          </a:p>
          <a:p>
            <a:pPr algn="ctr"/>
            <a:r>
              <a:rPr lang="en-US" altLang="ar-EG" dirty="0"/>
              <a:t>Sequential Circuit Design</a:t>
            </a:r>
            <a:endParaRPr lang="en-US" dirty="0"/>
          </a:p>
        </p:txBody>
      </p:sp>
      <p:pic>
        <p:nvPicPr>
          <p:cNvPr id="1026" name="Picture 2" descr="G:\08VOL4\Graphics\Powerpoint\PEARSON\CRAIG-PPT\Final files\Craig_final_CVR_HiRes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209800" y="1995029"/>
            <a:ext cx="3302862" cy="41418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53861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516870-1712-45AC-BAAD-D4B866568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35540"/>
            <a:ext cx="8064896" cy="677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49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of Synchronous Sequential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u="sng" dirty="0"/>
              <a:t>Design Procedure: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dirty="0"/>
              <a:t>Obtain a state diagram from the word description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dirty="0"/>
              <a:t>State reduction if necessary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dirty="0"/>
              <a:t>Obtain State Table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dirty="0"/>
              <a:t>State Assignment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dirty="0"/>
              <a:t>Choose type of flip-flops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dirty="0"/>
              <a:t>Use FF’s excitation table to complete the table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dirty="0"/>
              <a:t>Derive state equations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dirty="0"/>
              <a:t>Obtain the FF input  equations and the output equations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dirty="0"/>
              <a:t>Use K-Maps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dirty="0"/>
              <a:t>Draw the circuit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7368" y="432756"/>
            <a:ext cx="11089232" cy="710244"/>
          </a:xfrm>
        </p:spPr>
        <p:txBody>
          <a:bodyPr/>
          <a:lstStyle/>
          <a:p>
            <a:r>
              <a:rPr lang="en-IN" sz="4000" b="1" dirty="0">
                <a:latin typeface="+mn-lt"/>
              </a:rPr>
              <a:t>1. State diagram for sequence detector</a:t>
            </a:r>
            <a:endParaRPr lang="en-US" sz="4000" b="1" dirty="0">
              <a:latin typeface="+mn-lt"/>
            </a:endParaRPr>
          </a:p>
        </p:txBody>
      </p:sp>
      <p:pic>
        <p:nvPicPr>
          <p:cNvPr id="37890" name="Picture 2" descr="The circuit has four states: S sub 0 slash 0, S sub 1 slash 0, S sub 2 slash 0, and S sub 3 slash 1. The paths and their values are as follows, with each state identified by its S value: S sub 0 to S sub o, 0; S sub 0 to S sub 1, 1; S sub 1 to S sub 0, 0; S sub 1 to S sub 2, 1; S sub 2 to S sub 0, 0; S sub 2 to S sub 3, 1; S sub 3 to S sub 3, 1; S sub 3 to S sub 0, 0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196" y="1484784"/>
            <a:ext cx="3200400" cy="40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170EE-EEDF-9B77-6681-F2D253ED1B37}"/>
              </a:ext>
            </a:extLst>
          </p:cNvPr>
          <p:cNvSpPr txBox="1"/>
          <p:nvPr/>
        </p:nvSpPr>
        <p:spPr>
          <a:xfrm>
            <a:off x="731404" y="2132856"/>
            <a:ext cx="66967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/>
            <a:r>
              <a:rPr lang="en-US" sz="2400" b="1" dirty="0"/>
              <a:t>Example: </a:t>
            </a:r>
            <a:r>
              <a:rPr lang="en-US" sz="2400" dirty="0"/>
              <a:t>Design a circuit that detects a sequence of three consecutive 1’s in a string of bits coming through an input line (serial bit stream)</a:t>
            </a:r>
          </a:p>
        </p:txBody>
      </p:sp>
    </p:spTree>
    <p:extLst>
      <p:ext uri="{BB962C8B-B14F-4D97-AF65-F5344CB8AC3E}">
        <p14:creationId xmlns:p14="http://schemas.microsoft.com/office/powerpoint/2010/main" val="85013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9C1F4-1F7F-72CA-5FC7-0756C82D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61269E-DB07-115B-FD32-FCED487C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428" y="432756"/>
            <a:ext cx="10189132" cy="634044"/>
          </a:xfrm>
        </p:spPr>
        <p:txBody>
          <a:bodyPr/>
          <a:lstStyle/>
          <a:p>
            <a:r>
              <a:rPr lang="en-IN" sz="3600" b="1" dirty="0">
                <a:latin typeface="+mn-lt"/>
              </a:rPr>
              <a:t>2. State Table for Sequence Detector</a:t>
            </a:r>
            <a:endParaRPr lang="en-US" sz="3600" b="1" dirty="0">
              <a:latin typeface="+mn-lt"/>
            </a:endParaRPr>
          </a:p>
        </p:txBody>
      </p:sp>
      <p:pic>
        <p:nvPicPr>
          <p:cNvPr id="38914" name="Picture 2" descr="Z:\NewMedia\Ebook-Novella\Wiley\jira\Mano_Ciletti6e\Work\Images\ch05\ciletti_6e_table_05_11.jpg">
            <a:extLst>
              <a:ext uri="{FF2B5EF4-FFF2-40B4-BE49-F238E27FC236}">
                <a16:creationId xmlns:a16="http://schemas.microsoft.com/office/drawing/2014/main" id="{5D092A1B-5408-6EDF-9315-ADEE254CD5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01"/>
          <a:stretch>
            <a:fillRect/>
          </a:stretch>
        </p:blipFill>
        <p:spPr bwMode="auto">
          <a:xfrm>
            <a:off x="1199456" y="2483940"/>
            <a:ext cx="3744416" cy="395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The circuit has four states: S sub 0 slash 0, S sub 1 slash 0, S sub 2 slash 0, and S sub 3 slash 1. The paths and their values are as follows, with each state identified by its S value: S sub 0 to S sub o, 0; S sub 0 to S sub 1, 1; S sub 1 to S sub 0, 0; S sub 1 to S sub 2, 1; S sub 2 to S sub 0, 0; S sub 2 to S sub 3, 1; S sub 3 to S sub 3, 1; S sub 3 to S sub 0, 0.">
            <a:extLst>
              <a:ext uri="{FF2B5EF4-FFF2-40B4-BE49-F238E27FC236}">
                <a16:creationId xmlns:a16="http://schemas.microsoft.com/office/drawing/2014/main" id="{A7A0A30B-7C78-8E6C-7934-AE85CD947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252" y="2175189"/>
            <a:ext cx="3200400" cy="40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0062A8-866C-8AC9-0C98-9B47B546234B}"/>
              </a:ext>
            </a:extLst>
          </p:cNvPr>
          <p:cNvSpPr txBox="1"/>
          <p:nvPr/>
        </p:nvSpPr>
        <p:spPr>
          <a:xfrm>
            <a:off x="1319028" y="1159526"/>
            <a:ext cx="102456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charset="0"/>
              <a:buChar char="•"/>
            </a:pPr>
            <a:r>
              <a:rPr lang="en-US" sz="2000" dirty="0"/>
              <a:t>Assign binary codes for the states</a:t>
            </a:r>
          </a:p>
          <a:p>
            <a:pPr marL="0" indent="0">
              <a:buFont typeface="Arial" charset="0"/>
              <a:buChar char="•"/>
            </a:pPr>
            <a:r>
              <a:rPr lang="en-US" sz="2000" dirty="0"/>
              <a:t>We choose 2 D-FF</a:t>
            </a:r>
          </a:p>
          <a:p>
            <a:pPr marL="457200" lvl="1" indent="0">
              <a:buFont typeface="Arial" charset="0"/>
              <a:buChar char="•"/>
            </a:pPr>
            <a:r>
              <a:rPr lang="en-US" sz="2000" dirty="0"/>
              <a:t>Next state specifies what should be the input to each FF</a:t>
            </a:r>
          </a:p>
        </p:txBody>
      </p:sp>
    </p:spTree>
    <p:extLst>
      <p:ext uri="{BB962C8B-B14F-4D97-AF65-F5344CB8AC3E}">
        <p14:creationId xmlns:p14="http://schemas.microsoft.com/office/powerpoint/2010/main" val="425993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634044"/>
          </a:xfrm>
        </p:spPr>
        <p:txBody>
          <a:bodyPr/>
          <a:lstStyle/>
          <a:p>
            <a:r>
              <a:rPr lang="en-IN" sz="3600" b="1" dirty="0">
                <a:latin typeface="+mn-lt"/>
              </a:rPr>
              <a:t>State Table for Sequence Detector</a:t>
            </a:r>
            <a:endParaRPr lang="en-US" sz="3600" b="1" dirty="0">
              <a:latin typeface="+mn-lt"/>
            </a:endParaRPr>
          </a:p>
        </p:txBody>
      </p:sp>
      <p:pic>
        <p:nvPicPr>
          <p:cNvPr id="38914" name="Picture 2" descr="Z:\NewMedia\Ebook-Novella\Wiley\jira\Mano_Ciletti6e\Work\Images\ch05\ciletti_6e_table_05_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452194"/>
            <a:ext cx="6858000" cy="395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The circuit has four states: S sub 0 slash 0, S sub 1 slash 0, S sub 2 slash 0, and S sub 3 slash 1. The paths and their values are as follows, with each state identified by its S value: S sub 0 to S sub o, 0; S sub 0 to S sub 1, 1; S sub 1 to S sub 0, 0; S sub 1 to S sub 2, 1; S sub 2 to S sub 0, 0; S sub 2 to S sub 3, 1; S sub 3 to S sub 3, 1; S sub 3 to S sub 0, 0.">
            <a:extLst>
              <a:ext uri="{FF2B5EF4-FFF2-40B4-BE49-F238E27FC236}">
                <a16:creationId xmlns:a16="http://schemas.microsoft.com/office/drawing/2014/main" id="{9C19A03C-387B-38DF-A15E-96292FB85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264" y="1484784"/>
            <a:ext cx="3200400" cy="40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9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07468" y="432756"/>
            <a:ext cx="9720124" cy="710244"/>
          </a:xfrm>
        </p:spPr>
        <p:txBody>
          <a:bodyPr/>
          <a:lstStyle/>
          <a:p>
            <a:r>
              <a:rPr lang="en-IN" sz="4000" b="1" dirty="0">
                <a:latin typeface="+mn-lt"/>
              </a:rPr>
              <a:t>3. K-Maps for sequence detector</a:t>
            </a:r>
            <a:endParaRPr lang="en-US" sz="4000" b="1" dirty="0">
              <a:latin typeface="+mn-lt"/>
            </a:endParaRPr>
          </a:p>
        </p:txBody>
      </p:sp>
      <p:pic>
        <p:nvPicPr>
          <p:cNvPr id="39938" name="Picture 2" descr="Each map has m entries equal to 1 and variously shaded. First map: D sub Ay = Ay x + B x. m sub 3 and m sub 7 are lightly shaded, and m sub 5 and m sub 7 are darkly shaded. Second map: D sub B = Ay x + B prime x. m sub 1 and m sub 5 are lightly shaded, and m sub 5 and m sub 7 are darkly shaded. Third map: y = Ay B. m sub 7 and m sub 6 are darkly shad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36" y="3427772"/>
            <a:ext cx="9720124" cy="248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5D6073-0174-7117-DF4C-390F135793B7}"/>
              </a:ext>
            </a:extLst>
          </p:cNvPr>
          <p:cNvSpPr txBox="1"/>
          <p:nvPr/>
        </p:nvSpPr>
        <p:spPr>
          <a:xfrm>
            <a:off x="1775520" y="1528303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US" sz="2800" dirty="0"/>
              <a:t>Using K-Maps</a:t>
            </a:r>
          </a:p>
          <a:p>
            <a:pPr marL="0" indent="0"/>
            <a:r>
              <a:rPr lang="en-US" sz="2400" dirty="0"/>
              <a:t>A(t + 1) = D</a:t>
            </a:r>
            <a:r>
              <a:rPr lang="en-US" sz="2400" baseline="-25000" dirty="0"/>
              <a:t>A</a:t>
            </a:r>
            <a:r>
              <a:rPr lang="en-US" sz="2400" dirty="0"/>
              <a:t> = ∑(3,5,7) = A x + B x</a:t>
            </a:r>
          </a:p>
          <a:p>
            <a:pPr marL="0" indent="0"/>
            <a:r>
              <a:rPr lang="en-US" sz="2400" dirty="0"/>
              <a:t>B(t + 1) = D</a:t>
            </a:r>
            <a:r>
              <a:rPr lang="en-US" sz="2400" baseline="-25000" dirty="0"/>
              <a:t>B</a:t>
            </a:r>
            <a:r>
              <a:rPr lang="en-US" sz="2400" dirty="0"/>
              <a:t> = ∑(1,5,7) = A x + B’ x</a:t>
            </a:r>
          </a:p>
          <a:p>
            <a:pPr marL="0" indent="0"/>
            <a:r>
              <a:rPr lang="en-US" sz="2400" dirty="0"/>
              <a:t>y = ∑(6,7) = A B</a:t>
            </a:r>
          </a:p>
        </p:txBody>
      </p:sp>
    </p:spTree>
    <p:extLst>
      <p:ext uri="{BB962C8B-B14F-4D97-AF65-F5344CB8AC3E}">
        <p14:creationId xmlns:p14="http://schemas.microsoft.com/office/powerpoint/2010/main" val="344165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7388" y="432756"/>
            <a:ext cx="10945216" cy="710244"/>
          </a:xfrm>
        </p:spPr>
        <p:txBody>
          <a:bodyPr/>
          <a:lstStyle/>
          <a:p>
            <a:r>
              <a:rPr lang="en-IN" sz="3200" b="1" dirty="0">
                <a:latin typeface="+mn-lt"/>
              </a:rPr>
              <a:t>4. Logic diagram of a Moore-type sequence detector.</a:t>
            </a:r>
            <a:endParaRPr lang="en-US" sz="3200" b="1" dirty="0">
              <a:latin typeface="+mn-lt"/>
            </a:endParaRPr>
          </a:p>
        </p:txBody>
      </p:sp>
      <p:pic>
        <p:nvPicPr>
          <p:cNvPr id="40962" name="Picture 2" descr="The D terminal of the first D flip flop receives the following input: x and Ay, or, x and B. The flip flop produces Ay at the Q terminal. The D terminal of the second flip flop receives the following input: x and B prime, or, x and Ay. This flip flop produces B at B, and it produces B prime. Input x and B yield y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816" y="1143000"/>
            <a:ext cx="6192688" cy="519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4E87F1-002C-C820-895D-86F5E3F75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08" y="2636912"/>
            <a:ext cx="3170620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634044"/>
          </a:xfrm>
        </p:spPr>
        <p:txBody>
          <a:bodyPr/>
          <a:lstStyle/>
          <a:p>
            <a:r>
              <a:rPr lang="en-US" sz="2000" b="1" dirty="0">
                <a:latin typeface="+mn-lt"/>
              </a:rPr>
              <a:t>Table 5</a:t>
            </a:r>
            <a:r>
              <a:rPr lang="en-US" sz="2000" dirty="0">
                <a:latin typeface="+mn-lt"/>
              </a:rPr>
              <a:t>.12</a:t>
            </a:r>
            <a:br>
              <a:rPr lang="en-US" sz="2000" b="1" dirty="0">
                <a:latin typeface="+mn-lt"/>
              </a:rPr>
            </a:br>
            <a:r>
              <a:rPr lang="en-IN" sz="2000" dirty="0">
                <a:latin typeface="+mn-lt"/>
              </a:rPr>
              <a:t>Flip-Flop Excitation Tables.</a:t>
            </a:r>
            <a:endParaRPr lang="en-US" sz="2000" dirty="0">
              <a:latin typeface="+mn-lt"/>
            </a:endParaRPr>
          </a:p>
        </p:txBody>
      </p:sp>
      <p:pic>
        <p:nvPicPr>
          <p:cNvPr id="41986" name="Picture 2" descr="Z:\NewMedia\Ebook-Novella\Wiley\jira\Mano_Ciletti6e\Work\Images\ch05\ciletti_6e_table_05_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471" y="1664804"/>
            <a:ext cx="10085835" cy="320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64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634044"/>
          </a:xfrm>
        </p:spPr>
        <p:txBody>
          <a:bodyPr/>
          <a:lstStyle/>
          <a:p>
            <a:r>
              <a:rPr lang="en-US" sz="2000" b="1" dirty="0">
                <a:latin typeface="+mn-lt"/>
              </a:rPr>
              <a:t>Table 5</a:t>
            </a:r>
            <a:r>
              <a:rPr lang="en-US" sz="2000" dirty="0">
                <a:latin typeface="+mn-lt"/>
              </a:rPr>
              <a:t>.13</a:t>
            </a:r>
            <a:br>
              <a:rPr lang="en-US" sz="2000" b="1" dirty="0">
                <a:latin typeface="+mn-lt"/>
              </a:rPr>
            </a:br>
            <a:r>
              <a:rPr lang="en-IN" sz="2000" dirty="0">
                <a:latin typeface="+mn-lt"/>
              </a:rPr>
              <a:t>State Table and JK Flip-Flop Inputs.</a:t>
            </a:r>
            <a:endParaRPr lang="en-US" sz="2000" dirty="0">
              <a:latin typeface="+mn-lt"/>
            </a:endParaRPr>
          </a:p>
        </p:txBody>
      </p:sp>
      <p:pic>
        <p:nvPicPr>
          <p:cNvPr id="43010" name="Picture 2" descr="Z:\NewMedia\Ebook-Novella\Wiley\jira\Mano_Ciletti6e\Work\Images\ch05\ciletti_6e_table_05_1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814" y="1752600"/>
            <a:ext cx="6474372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504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710244"/>
          </a:xfrm>
        </p:spPr>
        <p:txBody>
          <a:bodyPr/>
          <a:lstStyle/>
          <a:p>
            <a:r>
              <a:rPr lang="en-US" sz="2000" b="1" dirty="0"/>
              <a:t>Figure 5</a:t>
            </a:r>
            <a:r>
              <a:rPr lang="en-US" sz="2000" dirty="0"/>
              <a:t>.30</a:t>
            </a:r>
            <a:br>
              <a:rPr lang="en-US" sz="2000" b="1" dirty="0"/>
            </a:br>
            <a:r>
              <a:rPr lang="en-IN" sz="2000" dirty="0">
                <a:latin typeface="+mn-lt"/>
              </a:rPr>
              <a:t>Maps for </a:t>
            </a:r>
            <a:r>
              <a:rPr lang="en-IN" sz="2000" i="1" dirty="0">
                <a:latin typeface="+mn-lt"/>
              </a:rPr>
              <a:t>J</a:t>
            </a:r>
            <a:r>
              <a:rPr lang="en-IN" sz="2000" dirty="0">
                <a:latin typeface="+mn-lt"/>
              </a:rPr>
              <a:t> and </a:t>
            </a:r>
            <a:r>
              <a:rPr lang="en-IN" sz="2000" i="1" dirty="0">
                <a:latin typeface="+mn-lt"/>
              </a:rPr>
              <a:t>K</a:t>
            </a:r>
            <a:r>
              <a:rPr lang="en-IN" sz="2000" dirty="0">
                <a:latin typeface="+mn-lt"/>
              </a:rPr>
              <a:t> input equations.</a:t>
            </a:r>
            <a:endParaRPr lang="en-US" sz="2000" dirty="0">
              <a:latin typeface="+mn-lt"/>
            </a:endParaRPr>
          </a:p>
        </p:txBody>
      </p:sp>
      <p:pic>
        <p:nvPicPr>
          <p:cNvPr id="44034" name="Picture 2" descr="First map: J sub Ay = B x prime. m sub 1 = 1. The following m entries = X: m sub 4, m sub 5, m sub 7, m sub 6. m sub 2 and m sub 6 are shaded. Second map: K sub Ay = B x. m sub 7 = 1. The following m entries = X: m sub 0, m sub 1, m sub 3, m sub 2. m sub 3 and m sub 7 are shaded. Third map: J sub B = x. The following m entries = 1: m sub 1 and m sub 5. The following m entries = X: m sub 3, m sub 2, m sub 7, and m sub 6. The following entries are shaded: m sub 1, m sub 3, m sub 5, m sub 7. Fourth map: K sub B = the complement of Ay x or x. The following entries = 1: m sub 2, m sub 7. The following entries = X: m sub 0, m sub 1, m sub 4, m sub 5. The following entries are lightly shaded: m sub 5, m sub 7. The following entries are darkly shaded: m sub 0, m sub 2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253707"/>
            <a:ext cx="5334000" cy="435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92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710244"/>
          </a:xfrm>
        </p:spPr>
        <p:txBody>
          <a:bodyPr/>
          <a:lstStyle/>
          <a:p>
            <a:r>
              <a:rPr lang="en-US" sz="2000" b="1" dirty="0"/>
              <a:t>Figure 5</a:t>
            </a:r>
            <a:r>
              <a:rPr lang="en-US" sz="2000" dirty="0"/>
              <a:t>.31</a:t>
            </a:r>
            <a:br>
              <a:rPr lang="en-US" sz="2000" b="1" dirty="0"/>
            </a:br>
            <a:r>
              <a:rPr lang="en-IN" sz="2000" dirty="0">
                <a:latin typeface="+mn-lt"/>
              </a:rPr>
              <a:t>Logic diagram for sequential circuit with </a:t>
            </a:r>
            <a:r>
              <a:rPr lang="en-IN" sz="2000" i="1" dirty="0">
                <a:latin typeface="+mn-lt"/>
              </a:rPr>
              <a:t>JK</a:t>
            </a:r>
            <a:r>
              <a:rPr lang="en-IN" sz="2000" dirty="0">
                <a:latin typeface="+mn-lt"/>
              </a:rPr>
              <a:t> flip-flops.</a:t>
            </a:r>
            <a:endParaRPr lang="en-US" sz="2000" dirty="0">
              <a:latin typeface="+mn-lt"/>
            </a:endParaRPr>
          </a:p>
        </p:txBody>
      </p:sp>
      <p:pic>
        <p:nvPicPr>
          <p:cNvPr id="45058" name="Picture 2" descr="Terminal J on the first flip flop receives the following input: x prime and B. The corresponding output is Ay. Terminal K on the first flip flop receives the following input: x and B. The corresponding output is B prime. Terminal J on the second flip flop receives input x. The corresponding output is B. Terminal K on the second flip flop receives the following input: x exclusive or Ay. The corresponding output is B prim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724" y="1295400"/>
            <a:ext cx="5952966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11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1404" y="1376772"/>
            <a:ext cx="10981219" cy="32043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775"/>
              </a:spcBef>
              <a:defRPr/>
            </a:pPr>
            <a:r>
              <a:rPr lang="en-US" sz="3200" kern="0" dirty="0">
                <a:solidFill>
                  <a:srgbClr val="000000"/>
                </a:solidFill>
                <a:latin typeface="+mn-lt"/>
              </a:rPr>
              <a:t>Problem: Design of A 3-bit Counter</a:t>
            </a:r>
          </a:p>
          <a:p>
            <a:pPr marL="342900" indent="-342900">
              <a:lnSpc>
                <a:spcPct val="150000"/>
              </a:lnSpc>
              <a:spcBef>
                <a:spcPts val="775"/>
              </a:spcBef>
              <a:defRPr/>
            </a:pPr>
            <a:r>
              <a:rPr lang="en-US" sz="3200" kern="0" dirty="0">
                <a:solidFill>
                  <a:srgbClr val="000000"/>
                </a:solidFill>
                <a:latin typeface="+mn-lt"/>
              </a:rPr>
              <a:t>Design a circuit that counts in binary form as follows 000, 001, 010, … 111, 000, 001, …</a:t>
            </a:r>
            <a:endParaRPr lang="ar-SA" sz="3200" kern="0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7448" y="432756"/>
            <a:ext cx="10189132" cy="475964"/>
          </a:xfrm>
        </p:spPr>
        <p:txBody>
          <a:bodyPr/>
          <a:lstStyle/>
          <a:p>
            <a:r>
              <a:rPr lang="en-IN" sz="3600" b="1" dirty="0">
                <a:latin typeface="+mn-lt"/>
              </a:rPr>
              <a:t>State diagram of three-bit binary counter.</a:t>
            </a:r>
            <a:endParaRPr lang="en-US" sz="3600" b="1" dirty="0">
              <a:latin typeface="+mn-lt"/>
            </a:endParaRPr>
          </a:p>
        </p:txBody>
      </p:sp>
      <p:pic>
        <p:nvPicPr>
          <p:cNvPr id="46082" name="Picture 2" descr="A state diagram shows the following sequence of states: 0 0 0, 0 0 1, 0 1 0, 0 1 1, 1 0 0, 1 0 1, 1 1 0, 1 1 1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036" y="1016732"/>
            <a:ext cx="5184576" cy="520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737C76-CD82-5881-3269-D8ACD29C3794}"/>
              </a:ext>
            </a:extLst>
          </p:cNvPr>
          <p:cNvSpPr txBox="1"/>
          <p:nvPr/>
        </p:nvSpPr>
        <p:spPr>
          <a:xfrm>
            <a:off x="605242" y="2618911"/>
            <a:ext cx="668236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/>
              <a:t>Step1: State Diagram </a:t>
            </a:r>
          </a:p>
          <a:p>
            <a:endParaRPr lang="en-US" sz="2400" b="0" dirty="0"/>
          </a:p>
          <a:p>
            <a:pPr>
              <a:buFontTx/>
              <a:buChar char="-"/>
            </a:pPr>
            <a:r>
              <a:rPr lang="en-US" sz="2400" b="0" dirty="0"/>
              <a:t>The outputs = the states</a:t>
            </a:r>
          </a:p>
          <a:p>
            <a:pPr>
              <a:buFontTx/>
              <a:buChar char="-"/>
            </a:pPr>
            <a:r>
              <a:rPr lang="en-US" sz="2400" b="0" dirty="0">
                <a:solidFill>
                  <a:srgbClr val="FF0000"/>
                </a:solidFill>
              </a:rPr>
              <a:t>Where is the input?</a:t>
            </a:r>
          </a:p>
          <a:p>
            <a:pPr>
              <a:buFontTx/>
              <a:buChar char="-"/>
            </a:pPr>
            <a:r>
              <a:rPr lang="en-US" sz="2400" b="0" dirty="0">
                <a:solidFill>
                  <a:srgbClr val="FF0000"/>
                </a:solidFill>
              </a:rPr>
              <a:t>What is the type of this sequential circuit?</a:t>
            </a:r>
          </a:p>
        </p:txBody>
      </p:sp>
    </p:spTree>
    <p:extLst>
      <p:ext uri="{BB962C8B-B14F-4D97-AF65-F5344CB8AC3E}">
        <p14:creationId xmlns:p14="http://schemas.microsoft.com/office/powerpoint/2010/main" val="121483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83432" y="432756"/>
            <a:ext cx="10693188" cy="634044"/>
          </a:xfrm>
        </p:spPr>
        <p:txBody>
          <a:bodyPr/>
          <a:lstStyle/>
          <a:p>
            <a:r>
              <a:rPr lang="en-IN" sz="3600" b="1" dirty="0">
                <a:latin typeface="+mn-lt"/>
              </a:rPr>
              <a:t>State Table for Three-Bit Counter</a:t>
            </a:r>
            <a:endParaRPr lang="en-US" sz="3600" b="1" dirty="0">
              <a:latin typeface="+mn-lt"/>
            </a:endParaRPr>
          </a:p>
        </p:txBody>
      </p:sp>
      <p:pic>
        <p:nvPicPr>
          <p:cNvPr id="47106" name="Picture 2" descr="Z:\NewMedia\Ebook-Novella\Wiley\jira\Mano_Ciletti6e\Work\Images\ch05\ciletti_6e_table_05_14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802"/>
          <a:stretch>
            <a:fillRect/>
          </a:stretch>
        </p:blipFill>
        <p:spPr bwMode="auto">
          <a:xfrm>
            <a:off x="976748" y="1196752"/>
            <a:ext cx="3499072" cy="475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892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CA26-9A62-4B4F-601A-220EDFD6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0F41E4-A803-B313-A78D-81C4B6400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32" y="432756"/>
            <a:ext cx="10693188" cy="634044"/>
          </a:xfrm>
        </p:spPr>
        <p:txBody>
          <a:bodyPr/>
          <a:lstStyle/>
          <a:p>
            <a:r>
              <a:rPr lang="en-IN" sz="3600" b="1" dirty="0">
                <a:latin typeface="+mn-lt"/>
              </a:rPr>
              <a:t>State Table for Three-Bit Counter</a:t>
            </a:r>
            <a:endParaRPr lang="en-US" sz="3600" b="1" dirty="0">
              <a:latin typeface="+mn-lt"/>
            </a:endParaRPr>
          </a:p>
        </p:txBody>
      </p:sp>
      <p:pic>
        <p:nvPicPr>
          <p:cNvPr id="47106" name="Picture 2" descr="Z:\NewMedia\Ebook-Novella\Wiley\jira\Mano_Ciletti6e\Work\Images\ch05\ciletti_6e_table_05_14.jpg">
            <a:extLst>
              <a:ext uri="{FF2B5EF4-FFF2-40B4-BE49-F238E27FC236}">
                <a16:creationId xmlns:a16="http://schemas.microsoft.com/office/drawing/2014/main" id="{A262E1A7-E5E2-89F6-8CF5-D8F2A6106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48" y="1196752"/>
            <a:ext cx="10231820" cy="475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883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7447" y="432756"/>
            <a:ext cx="10194413" cy="710244"/>
          </a:xfrm>
        </p:spPr>
        <p:txBody>
          <a:bodyPr/>
          <a:lstStyle/>
          <a:p>
            <a:r>
              <a:rPr lang="en-IN" sz="3600" b="1" dirty="0">
                <a:latin typeface="+mn-lt"/>
              </a:rPr>
              <a:t>Maps for three-bit binary counter.</a:t>
            </a:r>
            <a:endParaRPr lang="en-US" sz="3600" b="1" dirty="0">
              <a:latin typeface="+mn-lt"/>
            </a:endParaRPr>
          </a:p>
        </p:txBody>
      </p:sp>
      <p:pic>
        <p:nvPicPr>
          <p:cNvPr id="48130" name="Picture 2" descr="For each map the following list provides the m entries that are both shaded and equal to 1. First map, T sub Ay 2 = Ay sub 1 A y sub 0: m sub 3, m sub 7. Second map, T sub Ay 1 = Ay sub 0: m sub 1, m sub 3, m sub 5, m sub 7. Third map, T sub Ay 0 = 1: all m entri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12" y="1952836"/>
            <a:ext cx="10462549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614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27448" y="432756"/>
            <a:ext cx="10153128" cy="710244"/>
          </a:xfrm>
        </p:spPr>
        <p:txBody>
          <a:bodyPr/>
          <a:lstStyle/>
          <a:p>
            <a:r>
              <a:rPr lang="en-IN" sz="3600" b="1" dirty="0">
                <a:latin typeface="+mn-lt"/>
              </a:rPr>
              <a:t>Logic diagram of three-bit binary counter.</a:t>
            </a:r>
            <a:endParaRPr lang="en-US" sz="3600" b="1" dirty="0">
              <a:latin typeface="+mn-lt"/>
            </a:endParaRPr>
          </a:p>
        </p:txBody>
      </p:sp>
      <p:pic>
        <p:nvPicPr>
          <p:cNvPr id="49154" name="Picture 2" descr="The counter has a series of 3 T flip flops, with each flip flop receiving clock input. for each flip flop, the following list provides the input at the T terminal and the corresponding output. first flip flop: input 1, output A sub 0. Second flip flop: input Ay sub 0, output Ay sub 1. Third flip flop: input Ay sub 0 and Ay sub 1, output Ay sub 2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1" y="1808820"/>
            <a:ext cx="10057399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018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5" y="1446074"/>
            <a:ext cx="10837204" cy="17543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400" b="1" dirty="0"/>
              <a:t>Problem: Design of A Sequence Recognizer 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/>
              <a:t>Design a circuit that reads as inputs continuous bits, and generates an output of ‘1’ if the sequence (1011) is detected</a:t>
            </a:r>
            <a:endParaRPr lang="ar-SA" sz="2400" dirty="0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5548313" y="3581400"/>
            <a:ext cx="914400" cy="11430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22535" name="Straight Arrow Connector 8"/>
          <p:cNvCxnSpPr>
            <a:cxnSpLocks noChangeShapeType="1"/>
          </p:cNvCxnSpPr>
          <p:nvPr/>
        </p:nvCxnSpPr>
        <p:spPr bwMode="auto">
          <a:xfrm>
            <a:off x="4481513" y="4114800"/>
            <a:ext cx="10668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2536" name="Straight Arrow Connector 10"/>
          <p:cNvCxnSpPr>
            <a:cxnSpLocks noChangeShapeType="1"/>
          </p:cNvCxnSpPr>
          <p:nvPr/>
        </p:nvCxnSpPr>
        <p:spPr bwMode="auto">
          <a:xfrm>
            <a:off x="6491288" y="4114800"/>
            <a:ext cx="10668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2537" name="TextBox 11"/>
          <p:cNvSpPr txBox="1">
            <a:spLocks noChangeArrowheads="1"/>
          </p:cNvSpPr>
          <p:nvPr/>
        </p:nvSpPr>
        <p:spPr bwMode="auto">
          <a:xfrm>
            <a:off x="4098925" y="3917951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22538" name="TextBox 12"/>
          <p:cNvSpPr txBox="1">
            <a:spLocks noChangeArrowheads="1"/>
          </p:cNvSpPr>
          <p:nvPr/>
        </p:nvSpPr>
        <p:spPr bwMode="auto">
          <a:xfrm>
            <a:off x="7586663" y="3886201"/>
            <a:ext cx="3802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04BE9B-DD61-1D82-37F1-A11CF53A3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77" y="4881267"/>
            <a:ext cx="11272052" cy="13348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(cont.)</a:t>
            </a:r>
          </a:p>
        </p:txBody>
      </p:sp>
      <p:sp>
        <p:nvSpPr>
          <p:cNvPr id="23555" name="Content Placeholder 12"/>
          <p:cNvSpPr>
            <a:spLocks noGrp="1"/>
          </p:cNvSpPr>
          <p:nvPr>
            <p:ph idx="1"/>
          </p:nvPr>
        </p:nvSpPr>
        <p:spPr>
          <a:xfrm>
            <a:off x="1055440" y="1235827"/>
            <a:ext cx="5112527" cy="685800"/>
          </a:xfrm>
        </p:spPr>
        <p:txBody>
          <a:bodyPr/>
          <a:lstStyle/>
          <a:p>
            <a:r>
              <a:rPr lang="en-US" sz="2400" b="1" dirty="0"/>
              <a:t>Step1: State Diagram </a:t>
            </a: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03512" y="2132389"/>
            <a:ext cx="1752600" cy="224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62100" y="4626418"/>
            <a:ext cx="2819400" cy="150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72200" y="2133601"/>
            <a:ext cx="3657600" cy="409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0" name="Rectangle 13"/>
          <p:cNvSpPr>
            <a:spLocks noChangeArrowheads="1"/>
          </p:cNvSpPr>
          <p:nvPr/>
        </p:nvSpPr>
        <p:spPr bwMode="auto">
          <a:xfrm>
            <a:off x="6316010" y="1347894"/>
            <a:ext cx="4820550" cy="461665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Sequence to be detected:1011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(cont.)</a:t>
            </a:r>
          </a:p>
        </p:txBody>
      </p:sp>
      <p:pic>
        <p:nvPicPr>
          <p:cNvPr id="2458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4854" y="965200"/>
            <a:ext cx="5185721" cy="26122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4581" name="Content Placeholder 12"/>
          <p:cNvSpPr>
            <a:spLocks noGrp="1"/>
          </p:cNvSpPr>
          <p:nvPr>
            <p:ph idx="1"/>
          </p:nvPr>
        </p:nvSpPr>
        <p:spPr>
          <a:xfrm>
            <a:off x="911424" y="1078090"/>
            <a:ext cx="3581400" cy="685800"/>
          </a:xfrm>
        </p:spPr>
        <p:txBody>
          <a:bodyPr/>
          <a:lstStyle/>
          <a:p>
            <a:r>
              <a:rPr lang="en-US" sz="2400" b="1"/>
              <a:t>Step 2: State Table </a:t>
            </a:r>
          </a:p>
        </p:txBody>
      </p:sp>
      <p:sp>
        <p:nvSpPr>
          <p:cNvPr id="24582" name="TextBox 10"/>
          <p:cNvSpPr txBox="1">
            <a:spLocks noChangeArrowheads="1"/>
          </p:cNvSpPr>
          <p:nvPr/>
        </p:nvSpPr>
        <p:spPr bwMode="auto">
          <a:xfrm>
            <a:off x="6019801" y="4724400"/>
            <a:ext cx="5699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OR</a:t>
            </a:r>
          </a:p>
        </p:txBody>
      </p:sp>
      <p:pic>
        <p:nvPicPr>
          <p:cNvPr id="2458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1004" y="3658794"/>
            <a:ext cx="4246204" cy="19664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4584" name="Picture 4"/>
          <p:cNvPicPr>
            <a:picLocks noChangeAspect="1" noChangeArrowheads="1"/>
          </p:cNvPicPr>
          <p:nvPr/>
        </p:nvPicPr>
        <p:blipFill>
          <a:blip r:embed="rId5" cstate="print"/>
          <a:srcRect r="48762"/>
          <a:stretch>
            <a:fillRect/>
          </a:stretch>
        </p:blipFill>
        <p:spPr bwMode="auto">
          <a:xfrm>
            <a:off x="496943" y="2528900"/>
            <a:ext cx="2790745" cy="3414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916F-0CFF-5F04-CBBE-809B5CC39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6A54335-8480-BA55-D61B-41748D1764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(cont.)</a:t>
            </a:r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E6FDE8E5-376A-2D9C-F412-1CB75A6B4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4854" y="965200"/>
            <a:ext cx="5185721" cy="26122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4581" name="Content Placeholder 12">
            <a:extLst>
              <a:ext uri="{FF2B5EF4-FFF2-40B4-BE49-F238E27FC236}">
                <a16:creationId xmlns:a16="http://schemas.microsoft.com/office/drawing/2014/main" id="{257A16E7-B33E-C8BC-FDAD-D8A76BDCD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1078090"/>
            <a:ext cx="3581400" cy="685800"/>
          </a:xfrm>
        </p:spPr>
        <p:txBody>
          <a:bodyPr/>
          <a:lstStyle/>
          <a:p>
            <a:r>
              <a:rPr lang="en-US" sz="2400" b="1"/>
              <a:t>Step 2: State Table </a:t>
            </a:r>
          </a:p>
        </p:txBody>
      </p:sp>
      <p:sp>
        <p:nvSpPr>
          <p:cNvPr id="24582" name="TextBox 10">
            <a:extLst>
              <a:ext uri="{FF2B5EF4-FFF2-40B4-BE49-F238E27FC236}">
                <a16:creationId xmlns:a16="http://schemas.microsoft.com/office/drawing/2014/main" id="{6D558979-9E59-6596-72E9-FD59687FA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1" y="4724400"/>
            <a:ext cx="5699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OR</a:t>
            </a:r>
          </a:p>
        </p:txBody>
      </p:sp>
      <p:pic>
        <p:nvPicPr>
          <p:cNvPr id="24583" name="Picture 3">
            <a:extLst>
              <a:ext uri="{FF2B5EF4-FFF2-40B4-BE49-F238E27FC236}">
                <a16:creationId xmlns:a16="http://schemas.microsoft.com/office/drawing/2014/main" id="{67A6FE8A-EF9E-945A-8A04-502C788B8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1004" y="3658794"/>
            <a:ext cx="4246204" cy="19664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4584" name="Picture 4">
            <a:extLst>
              <a:ext uri="{FF2B5EF4-FFF2-40B4-BE49-F238E27FC236}">
                <a16:creationId xmlns:a16="http://schemas.microsoft.com/office/drawing/2014/main" id="{55D54323-3F48-5E07-79DD-8C116C6F8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6943" y="2528900"/>
            <a:ext cx="5446657" cy="3414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9954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(cont.)</a:t>
            </a:r>
          </a:p>
        </p:txBody>
      </p:sp>
      <p:sp>
        <p:nvSpPr>
          <p:cNvPr id="25604" name="Content Placeholder 12"/>
          <p:cNvSpPr>
            <a:spLocks noGrp="1"/>
          </p:cNvSpPr>
          <p:nvPr>
            <p:ph idx="1"/>
          </p:nvPr>
        </p:nvSpPr>
        <p:spPr>
          <a:xfrm>
            <a:off x="659396" y="916341"/>
            <a:ext cx="5148572" cy="1143000"/>
          </a:xfrm>
        </p:spPr>
        <p:txBody>
          <a:bodyPr/>
          <a:lstStyle/>
          <a:p>
            <a:r>
              <a:rPr lang="en-US" sz="2400" b="1" dirty="0"/>
              <a:t>Step 2: State Table</a:t>
            </a:r>
          </a:p>
          <a:p>
            <a:r>
              <a:rPr lang="en-US" sz="2400" b="1" dirty="0"/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state assignment</a:t>
            </a:r>
          </a:p>
        </p:txBody>
      </p:sp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5750" y="3024270"/>
            <a:ext cx="5086850" cy="31891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560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2913" y="1147390"/>
            <a:ext cx="2667745" cy="17815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5608" name="Right Arrow 20"/>
          <p:cNvSpPr>
            <a:spLocks noChangeArrowheads="1"/>
          </p:cNvSpPr>
          <p:nvPr/>
        </p:nvSpPr>
        <p:spPr bwMode="auto">
          <a:xfrm>
            <a:off x="6019800" y="4724400"/>
            <a:ext cx="381000" cy="1524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2560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74393" y="3071915"/>
            <a:ext cx="4653299" cy="31891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5610" name="Rectangle 21"/>
          <p:cNvSpPr>
            <a:spLocks noChangeArrowheads="1"/>
          </p:cNvSpPr>
          <p:nvPr/>
        </p:nvSpPr>
        <p:spPr bwMode="auto">
          <a:xfrm>
            <a:off x="7548630" y="1487841"/>
            <a:ext cx="4128628" cy="120032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dirty="0"/>
              <a:t>Q: How many FF?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log</a:t>
            </a:r>
            <a:r>
              <a:rPr lang="en-US" baseline="-25000" dirty="0"/>
              <a:t>2</a:t>
            </a:r>
            <a:r>
              <a:rPr lang="en-US" dirty="0"/>
              <a:t>(no. of states)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(cont.)</a:t>
            </a:r>
          </a:p>
        </p:txBody>
      </p:sp>
      <p:sp>
        <p:nvSpPr>
          <p:cNvPr id="26628" name="Content Placeholder 12"/>
          <p:cNvSpPr>
            <a:spLocks noGrp="1"/>
          </p:cNvSpPr>
          <p:nvPr>
            <p:ph idx="1"/>
          </p:nvPr>
        </p:nvSpPr>
        <p:spPr>
          <a:xfrm>
            <a:off x="1271464" y="1982787"/>
            <a:ext cx="3996444" cy="1676400"/>
          </a:xfrm>
        </p:spPr>
        <p:txBody>
          <a:bodyPr/>
          <a:lstStyle/>
          <a:p>
            <a:r>
              <a:rPr lang="en-US" sz="2400" b="1" dirty="0"/>
              <a:t>Step 2: State Table</a:t>
            </a:r>
          </a:p>
          <a:p>
            <a:r>
              <a:rPr lang="en-US" sz="2400" b="1" dirty="0"/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choose FF</a:t>
            </a:r>
          </a:p>
          <a:p>
            <a:r>
              <a:rPr lang="en-US" sz="2000" b="1" dirty="0"/>
              <a:t>Lets use </a:t>
            </a:r>
            <a:r>
              <a:rPr lang="en-US" sz="2000" b="1" dirty="0">
                <a:solidFill>
                  <a:schemeClr val="accent2"/>
                </a:solidFill>
              </a:rPr>
              <a:t>JK–FF</a:t>
            </a:r>
            <a:r>
              <a:rPr lang="en-US" sz="2000" b="1" dirty="0"/>
              <a:t> for A  and </a:t>
            </a:r>
            <a:r>
              <a:rPr lang="en-US" sz="2000" b="1" dirty="0">
                <a:solidFill>
                  <a:schemeClr val="accent2"/>
                </a:solidFill>
              </a:rPr>
              <a:t>D-FF</a:t>
            </a:r>
            <a:r>
              <a:rPr lang="en-US" sz="2000" b="1" dirty="0"/>
              <a:t> for B</a:t>
            </a:r>
            <a:endParaRPr lang="en-US" sz="2400" b="1" dirty="0"/>
          </a:p>
          <a:p>
            <a:endParaRPr lang="en-US" sz="2400" b="1" i="1" dirty="0">
              <a:solidFill>
                <a:srgbClr val="FF0000"/>
              </a:solidFill>
            </a:endParaRPr>
          </a:p>
        </p:txBody>
      </p:sp>
      <p:pic>
        <p:nvPicPr>
          <p:cNvPr id="2662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27948" y="1134810"/>
            <a:ext cx="6199010" cy="424847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(cont.)</a:t>
            </a:r>
          </a:p>
        </p:txBody>
      </p:sp>
      <p:sp>
        <p:nvSpPr>
          <p:cNvPr id="27652" name="Content Placeholder 12"/>
          <p:cNvSpPr>
            <a:spLocks noGrp="1"/>
          </p:cNvSpPr>
          <p:nvPr>
            <p:ph idx="1"/>
          </p:nvPr>
        </p:nvSpPr>
        <p:spPr>
          <a:xfrm>
            <a:off x="979796" y="936978"/>
            <a:ext cx="6952408" cy="1676400"/>
          </a:xfrm>
        </p:spPr>
        <p:txBody>
          <a:bodyPr/>
          <a:lstStyle/>
          <a:p>
            <a:r>
              <a:rPr lang="en-US" sz="2400" b="1" dirty="0"/>
              <a:t>Step 2: State Table</a:t>
            </a:r>
          </a:p>
          <a:p>
            <a:r>
              <a:rPr lang="en-US" sz="2400" b="1" dirty="0"/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complete state table</a:t>
            </a:r>
          </a:p>
          <a:p>
            <a:r>
              <a:rPr lang="en-US" sz="2000" b="1" dirty="0"/>
              <a:t>use excitation tables for </a:t>
            </a:r>
            <a:r>
              <a:rPr lang="en-US" sz="2000" b="1" dirty="0">
                <a:solidFill>
                  <a:schemeClr val="accent2"/>
                </a:solidFill>
              </a:rPr>
              <a:t>JK–FF</a:t>
            </a:r>
            <a:r>
              <a:rPr lang="en-US" sz="2000" b="1" dirty="0"/>
              <a:t> and </a:t>
            </a:r>
            <a:r>
              <a:rPr lang="en-US" sz="2000" b="1" dirty="0">
                <a:solidFill>
                  <a:schemeClr val="accent2"/>
                </a:solidFill>
              </a:rPr>
              <a:t>D-FF</a:t>
            </a:r>
            <a:endParaRPr lang="en-US" sz="2400" b="1" dirty="0"/>
          </a:p>
          <a:p>
            <a:endParaRPr lang="en-US" sz="2400" b="1" i="1" dirty="0">
              <a:solidFill>
                <a:srgbClr val="FF0000"/>
              </a:solidFill>
            </a:endParaRPr>
          </a:p>
        </p:txBody>
      </p:sp>
      <p:pic>
        <p:nvPicPr>
          <p:cNvPr id="2765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0908" y="2613378"/>
            <a:ext cx="5148572" cy="35167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76220" y="1209674"/>
            <a:ext cx="2933700" cy="1000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84232" y="2889250"/>
            <a:ext cx="3162300" cy="1762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7659" name="TextBox 15"/>
          <p:cNvSpPr txBox="1">
            <a:spLocks noChangeArrowheads="1"/>
          </p:cNvSpPr>
          <p:nvPr/>
        </p:nvSpPr>
        <p:spPr bwMode="auto">
          <a:xfrm>
            <a:off x="4218320" y="2953072"/>
            <a:ext cx="54292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i="1" dirty="0"/>
              <a:t>output</a:t>
            </a: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E83FFDCF-2133-B408-E991-3E1534EDE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4129" y="2692104"/>
            <a:ext cx="6223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en-GB"/>
            </a:defPPr>
            <a:lvl1pPr algn="ctr" defTabSz="457200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ctr" defTabSz="457200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ctr" defTabSz="457200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ctr" defTabSz="457200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ctr" defTabSz="457200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 sz="1400" b="1" i="1"/>
              <a:t>Next</a:t>
            </a:r>
          </a:p>
          <a:p>
            <a:r>
              <a:rPr lang="en-US" sz="1400" b="1" i="1"/>
              <a:t>State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(cont.)</a:t>
            </a:r>
          </a:p>
        </p:txBody>
      </p:sp>
      <p:sp>
        <p:nvSpPr>
          <p:cNvPr id="28676" name="Content Placeholder 12"/>
          <p:cNvSpPr>
            <a:spLocks noGrp="1"/>
          </p:cNvSpPr>
          <p:nvPr>
            <p:ph idx="1"/>
          </p:nvPr>
        </p:nvSpPr>
        <p:spPr>
          <a:xfrm>
            <a:off x="609098" y="1409700"/>
            <a:ext cx="4191000" cy="40386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Step 3: State Equations</a:t>
            </a:r>
          </a:p>
          <a:p>
            <a:pPr marL="0" indent="0">
              <a:buNone/>
            </a:pPr>
            <a:r>
              <a:rPr lang="en-US" sz="2400" b="1" dirty="0"/>
              <a:t>  </a:t>
            </a:r>
            <a:r>
              <a:rPr lang="en-US" sz="2400" b="1" i="1" dirty="0">
                <a:solidFill>
                  <a:srgbClr val="FF0000"/>
                </a:solidFill>
              </a:rPr>
              <a:t>use k-map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1800" b="1" i="1" dirty="0"/>
              <a:t>J</a:t>
            </a:r>
            <a:r>
              <a:rPr lang="en-US" sz="1800" b="1" i="1" baseline="-25000" dirty="0"/>
              <a:t>A</a:t>
            </a:r>
            <a:r>
              <a:rPr lang="en-US" sz="1800" b="1" i="1" dirty="0"/>
              <a:t> = BX’</a:t>
            </a:r>
          </a:p>
          <a:p>
            <a:pPr marL="0" indent="0">
              <a:buNone/>
            </a:pPr>
            <a:r>
              <a:rPr lang="en-US" sz="1800" b="1" i="1" dirty="0"/>
              <a:t>K</a:t>
            </a:r>
            <a:r>
              <a:rPr lang="en-US" sz="1800" b="1" i="1" baseline="-25000" dirty="0"/>
              <a:t>A</a:t>
            </a:r>
            <a:r>
              <a:rPr lang="en-US" sz="1800" b="1" i="1" dirty="0"/>
              <a:t> =  BX + B’X’</a:t>
            </a:r>
          </a:p>
          <a:p>
            <a:pPr marL="0" indent="0">
              <a:buNone/>
            </a:pPr>
            <a:r>
              <a:rPr lang="en-US" sz="1800" b="1" i="1" dirty="0"/>
              <a:t>D</a:t>
            </a:r>
            <a:r>
              <a:rPr lang="en-US" sz="1800" b="1" i="1" baseline="-25000" dirty="0"/>
              <a:t>B</a:t>
            </a:r>
            <a:r>
              <a:rPr lang="en-US" sz="1800" b="1" i="1" dirty="0"/>
              <a:t> = X</a:t>
            </a:r>
          </a:p>
          <a:p>
            <a:pPr marL="0" indent="0">
              <a:buNone/>
            </a:pPr>
            <a:r>
              <a:rPr lang="en-US" sz="1800" b="1" i="1" dirty="0"/>
              <a:t>Y = ABX’</a:t>
            </a:r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4612" y="1128634"/>
            <a:ext cx="6281097" cy="50611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 (cont.)</a:t>
            </a:r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96154" y="1471292"/>
            <a:ext cx="6468316" cy="47660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9701" name="Content Placeholder 12"/>
          <p:cNvSpPr>
            <a:spLocks noGrp="1"/>
          </p:cNvSpPr>
          <p:nvPr>
            <p:ph idx="1"/>
          </p:nvPr>
        </p:nvSpPr>
        <p:spPr>
          <a:xfrm>
            <a:off x="605154" y="1639887"/>
            <a:ext cx="5346830" cy="40386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Step 4: Draw Circuit</a:t>
            </a:r>
          </a:p>
          <a:p>
            <a:endParaRPr lang="en-US" sz="2400" b="1" i="1" dirty="0">
              <a:solidFill>
                <a:srgbClr val="FF0000"/>
              </a:solidFill>
            </a:endParaRPr>
          </a:p>
          <a:p>
            <a:endParaRPr lang="en-US" sz="2400" b="1" dirty="0"/>
          </a:p>
          <a:p>
            <a:r>
              <a:rPr lang="en-US" sz="1800" b="1" i="1" dirty="0"/>
              <a:t>J</a:t>
            </a:r>
            <a:r>
              <a:rPr lang="en-US" sz="1800" b="1" i="1" baseline="-25000" dirty="0"/>
              <a:t>A</a:t>
            </a:r>
            <a:r>
              <a:rPr lang="en-US" sz="1800" b="1" i="1" dirty="0"/>
              <a:t> = BX’</a:t>
            </a:r>
          </a:p>
          <a:p>
            <a:r>
              <a:rPr lang="en-US" sz="1800" b="1" i="1" dirty="0"/>
              <a:t>K</a:t>
            </a:r>
            <a:r>
              <a:rPr lang="en-US" sz="1800" b="1" i="1" baseline="-25000" dirty="0"/>
              <a:t>A</a:t>
            </a:r>
            <a:r>
              <a:rPr lang="en-US" sz="1800" b="1" i="1" dirty="0"/>
              <a:t> =  BX + B’X’</a:t>
            </a:r>
          </a:p>
          <a:p>
            <a:r>
              <a:rPr lang="en-US" sz="1800" b="1" i="1" dirty="0"/>
              <a:t>D</a:t>
            </a:r>
            <a:r>
              <a:rPr lang="en-US" sz="1800" b="1" i="1" baseline="-25000" dirty="0"/>
              <a:t>B</a:t>
            </a:r>
            <a:r>
              <a:rPr lang="en-US" sz="1800" b="1" i="1" dirty="0"/>
              <a:t> = X</a:t>
            </a:r>
          </a:p>
          <a:p>
            <a:r>
              <a:rPr lang="en-US" sz="1800" b="1" i="1" dirty="0"/>
              <a:t>Y = ABX’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725</Words>
  <Application>Microsoft Office PowerPoint</Application>
  <PresentationFormat>Widescreen</PresentationFormat>
  <Paragraphs>118</Paragraphs>
  <Slides>27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Comic Sans MS</vt:lpstr>
      <vt:lpstr>Times New Roman</vt:lpstr>
      <vt:lpstr>Verdana</vt:lpstr>
      <vt:lpstr>Wingdings</vt:lpstr>
      <vt:lpstr>Default Design</vt:lpstr>
      <vt:lpstr>508 Lecture</vt:lpstr>
      <vt:lpstr>Digital Design</vt:lpstr>
      <vt:lpstr>PowerPoint Presentation</vt:lpstr>
      <vt:lpstr>Design of Synchronous Sequential Circuits</vt:lpstr>
      <vt:lpstr>1. State diagram for sequence detector</vt:lpstr>
      <vt:lpstr>2. State Table for Sequence Detector</vt:lpstr>
      <vt:lpstr>State Table for Sequence Detector</vt:lpstr>
      <vt:lpstr>3. K-Maps for sequence detector</vt:lpstr>
      <vt:lpstr>4. Logic diagram of a Moore-type sequence detector.</vt:lpstr>
      <vt:lpstr>Table 5.12 Flip-Flop Excitation Tables.</vt:lpstr>
      <vt:lpstr>Table 5.13 State Table and JK Flip-Flop Inputs.</vt:lpstr>
      <vt:lpstr>Figure 5.30 Maps for J and K input equations.</vt:lpstr>
      <vt:lpstr>Figure 5.31 Logic diagram for sequential circuit with JK flip-flops.</vt:lpstr>
      <vt:lpstr>Example 2</vt:lpstr>
      <vt:lpstr>State diagram of three-bit binary counter.</vt:lpstr>
      <vt:lpstr>State Table for Three-Bit Counter</vt:lpstr>
      <vt:lpstr>State Table for Three-Bit Counter</vt:lpstr>
      <vt:lpstr>Maps for three-bit binary counter.</vt:lpstr>
      <vt:lpstr>Logic diagram of three-bit binary counter.</vt:lpstr>
      <vt:lpstr>Example 3</vt:lpstr>
      <vt:lpstr>Example 3 (cont.)</vt:lpstr>
      <vt:lpstr>Example 3 (cont.)</vt:lpstr>
      <vt:lpstr>Example 3 (cont.)</vt:lpstr>
      <vt:lpstr>Example 3 (cont.)</vt:lpstr>
      <vt:lpstr>Example 3 (cont.)</vt:lpstr>
      <vt:lpstr>Example 3 (cont.)</vt:lpstr>
      <vt:lpstr>Example 3 (cont.)</vt:lpstr>
      <vt:lpstr>Example 3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Design</dc:title>
  <dc:creator>Ahmed Youssef Mohamed Khedr</dc:creator>
  <cp:lastModifiedBy>Ahmed khedr</cp:lastModifiedBy>
  <cp:revision>10</cp:revision>
  <dcterms:created xsi:type="dcterms:W3CDTF">2021-10-22T13:33:47Z</dcterms:created>
  <dcterms:modified xsi:type="dcterms:W3CDTF">2026-03-09T18:41:44Z</dcterms:modified>
</cp:coreProperties>
</file>