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3"/>
    <p:sldMasterId id="2147483885" r:id="rId4"/>
  </p:sldMasterIdLst>
  <p:notesMasterIdLst>
    <p:notesMasterId r:id="rId30"/>
  </p:notesMasterIdLst>
  <p:handoutMasterIdLst>
    <p:handoutMasterId r:id="rId31"/>
  </p:handoutMasterIdLst>
  <p:sldIdLst>
    <p:sldId id="352" r:id="rId5"/>
    <p:sldId id="410" r:id="rId6"/>
    <p:sldId id="399" r:id="rId7"/>
    <p:sldId id="412" r:id="rId8"/>
    <p:sldId id="417" r:id="rId9"/>
    <p:sldId id="400" r:id="rId10"/>
    <p:sldId id="422" r:id="rId11"/>
    <p:sldId id="424" r:id="rId12"/>
    <p:sldId id="364" r:id="rId13"/>
    <p:sldId id="365" r:id="rId14"/>
    <p:sldId id="427" r:id="rId15"/>
    <p:sldId id="382" r:id="rId16"/>
    <p:sldId id="429" r:id="rId17"/>
    <p:sldId id="430" r:id="rId18"/>
    <p:sldId id="431" r:id="rId19"/>
    <p:sldId id="383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432" r:id="rId29"/>
  </p:sldIdLst>
  <p:sldSz cx="9144000" cy="5143500" type="screen16x9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6699"/>
    <a:srgbClr val="5B5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1" autoAdjust="0"/>
    <p:restoredTop sz="82961" autoAdjust="0"/>
  </p:normalViewPr>
  <p:slideViewPr>
    <p:cSldViewPr>
      <p:cViewPr varScale="1">
        <p:scale>
          <a:sx n="65" d="100"/>
          <a:sy n="65" d="100"/>
        </p:scale>
        <p:origin x="1232" y="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542"/>
    </p:cViewPr>
  </p:sorterViewPr>
  <p:notesViewPr>
    <p:cSldViewPr>
      <p:cViewPr varScale="1">
        <p:scale>
          <a:sx n="63" d="100"/>
          <a:sy n="63" d="100"/>
        </p:scale>
        <p:origin x="-600" y="-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2E26BD6-41FC-5DDB-A157-A75E080468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lnSpc>
                <a:spcPct val="100000"/>
              </a:lnSpc>
              <a:spcBef>
                <a:spcPct val="0"/>
              </a:spcBef>
              <a:buFontTx/>
              <a:buNone/>
              <a:defRPr sz="1200" dirty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61651F5-B470-C043-DF4A-EBFF95335A1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>
              <a:lnSpc>
                <a:spcPct val="100000"/>
              </a:lnSpc>
              <a:spcBef>
                <a:spcPct val="0"/>
              </a:spcBef>
              <a:buFontTx/>
              <a:buNone/>
              <a:defRPr sz="1200" dirty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2AC3B92D-746D-6968-1128-4958C05212E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>
              <a:lnSpc>
                <a:spcPct val="100000"/>
              </a:lnSpc>
              <a:spcBef>
                <a:spcPct val="0"/>
              </a:spcBef>
              <a:buFontTx/>
              <a:buNone/>
              <a:defRPr sz="1200" dirty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FE74FD79-8191-DBE7-0DA9-ACBC59E4762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0">
              <a:defRPr sz="1200">
                <a:latin typeface="Times New Roman" panose="02020603050405020304" pitchFamily="18" charset="0"/>
              </a:defRPr>
            </a:lvl1pPr>
          </a:lstStyle>
          <a:p>
            <a:fld id="{5DFB8FE9-EF05-43C6-8346-22F873217B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A97D31D-A685-DCEC-73E5-F48FE39D1D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lnSpc>
                <a:spcPct val="100000"/>
              </a:lnSpc>
              <a:spcBef>
                <a:spcPct val="0"/>
              </a:spcBef>
              <a:buFontTx/>
              <a:buNone/>
              <a:defRPr sz="1200" dirty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D15DC7E-C5E9-8E86-988C-24F56E9B04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>
              <a:lnSpc>
                <a:spcPct val="100000"/>
              </a:lnSpc>
              <a:spcBef>
                <a:spcPct val="0"/>
              </a:spcBef>
              <a:buFontTx/>
              <a:buNone/>
              <a:defRPr sz="1200" dirty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9F774881-58AA-9F2A-E45A-AE62542E60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359C7462-CABC-454C-3D46-68BA1033AEF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DD55E95A-270B-B3E4-578D-EB11B8B47F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>
              <a:lnSpc>
                <a:spcPct val="100000"/>
              </a:lnSpc>
              <a:spcBef>
                <a:spcPct val="0"/>
              </a:spcBef>
              <a:buFontTx/>
              <a:buNone/>
              <a:defRPr sz="1200" dirty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F4EF021C-714B-7B70-AB3B-FF02C4E01F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0">
              <a:defRPr sz="1200">
                <a:latin typeface="Times New Roman" panose="02020603050405020304" pitchFamily="18" charset="0"/>
              </a:defRPr>
            </a:lvl1pPr>
          </a:lstStyle>
          <a:p>
            <a:fld id="{27BDC9E4-E506-4994-B40E-73029D14CD8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845Rm6pGjqY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https://youtu.be/845Rm6pGjqY</a:t>
            </a:r>
            <a:endParaRPr lang="ar-EG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DC9E4-E506-4994-B40E-73029D14CD8F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264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Caslon224Std-Book"/>
              </a:rPr>
              <a:t>JWD for Job Well Done Consulting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You can download templates for creating your own project management documents from the companion Web site for this text or the author’s site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DC9E4-E506-4994-B40E-73029D14CD8F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0015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DC9E4-E506-4994-B40E-73029D14CD8F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27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8FBEE-927A-2C78-5DB2-25383F79F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1FE8B-D16A-79BD-13E0-8FB9D9E2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D207A-DF75-3BA8-96E2-5FCFF855D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B5007B-154A-451D-9D3A-A4BA136857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40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6E235-5699-9B6C-9099-A0EA9720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321D9-8C97-F26D-15D9-944B7DED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4733A-B9EA-0757-9FCD-44D451B3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5FA3-8B53-45EA-AC9B-D2ADE58B05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627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15AE-8966-45D8-96F6-7AE48170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9311C-3F87-F660-3AAA-F02F0FF30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6F3C8-C3FA-79C4-6341-B4B62AA4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C87165-72F8-4C6E-B1AA-14C8827658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4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62C13E-3ED3-B3E7-FC54-F3902917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80DF115-2454-CEDA-B6E3-B8D2685C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006AE1E-D66F-C432-2E00-76B024AF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DE51AA-F557-4E5C-A4F2-A1513CC0CC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45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23FC8B3-7310-94CD-4501-C8BD95DC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3DED61-F2DE-C525-3902-DC6B5253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A5FEDF0-010D-4D27-5725-AD206973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CFF691-89FF-4CD5-B1DC-12E9DFC839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7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80CD0D6-5355-AF9E-9CB0-CFB91CAD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B0E3CBA-0EC9-E757-B0BE-C4994305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AA223DC-A6DF-2CA1-C28C-2AA41B4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D078E-C007-478C-A68A-FD93FA7EFE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45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1AA25A0-FFAB-2E05-6FCD-12373FD9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80E3371-0FC3-08BA-57E6-0296B804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1B57E7-0682-FECD-C285-7F7AA169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286EE6-11F0-4A66-A7A8-E327B11CD5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63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079611-C873-21E6-2998-D241A440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A537A1C-140D-530C-095A-DFB7B6CF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113AD87-4C74-C6C3-AA77-D8C01202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18EE7E-EB60-42A1-A06F-2E00E9DACB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16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EEF8E23-AF06-2F1D-B321-E99FBE16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D5D7A76-4D85-FDB0-576E-3AB4C049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B204B62-77C5-EEC6-A2F3-42FF9CF3B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9C71C6-0242-4D70-99BB-2A68D5BDE7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699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59A82-ECD6-69E7-8C2E-99A2CB04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84A76-92D8-E8B4-C945-52A6AA46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A8752-E4A8-D543-2589-DDB65FFE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C69782-B211-4FB5-97E2-80672B9249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19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0FD3-A57C-ECD3-1467-9FBDA3C4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D6F1-7397-51C8-A3F3-0177BBFF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784C5-3C4F-7D4B-2834-8F5A11C6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5EFE6-3B5C-4800-AF82-E53A55CC38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7912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FE2BFC1C-55EE-0F83-084B-77BA195008D2}"/>
              </a:ext>
            </a:extLst>
          </p:cNvPr>
          <p:cNvSpPr/>
          <p:nvPr/>
        </p:nvSpPr>
        <p:spPr>
          <a:xfrm>
            <a:off x="0" y="3498056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>
              <a:defRPr/>
            </a:pPr>
            <a:endParaRPr lang="en-US" sz="1650" dirty="0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EEBD77D7-1453-4C76-AE9B-575CC54BA002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3714750"/>
            <a:ext cx="9147175" cy="1433513"/>
            <a:chOff x="-3765" y="4832896"/>
            <a:chExt cx="9147765" cy="2032192"/>
          </a:xfrm>
        </p:grpSpPr>
        <p:sp>
          <p:nvSpPr>
            <p:cNvPr id="4" name="Freeform 16">
              <a:extLst>
                <a:ext uri="{FF2B5EF4-FFF2-40B4-BE49-F238E27FC236}">
                  <a16:creationId xmlns:a16="http://schemas.microsoft.com/office/drawing/2014/main" id="{2F637474-FFA4-EC24-6BBF-79485A731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rtl="0">
                <a:defRPr/>
              </a:pPr>
              <a:endParaRPr lang="en-US" sz="1650" dirty="0">
                <a:latin typeface="Arial" charset="0"/>
                <a:cs typeface="+mn-cs"/>
              </a:endParaRPr>
            </a:p>
          </p:txBody>
        </p:sp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E294A317-D460-D7C7-C8DD-5768324EC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rtl="0">
                <a:defRPr/>
              </a:pPr>
              <a:endParaRPr lang="en-US" sz="1650" dirty="0">
                <a:latin typeface="Arial" charset="0"/>
                <a:cs typeface="+mn-cs"/>
              </a:endParaRPr>
            </a:p>
          </p:txBody>
        </p:sp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id="{87636D6B-F58D-CD1D-7DCF-B7C5777E5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50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CACC851-7A61-6B40-10A1-7D53A5D624B2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anchor="b"/>
          <a:lstStyle>
            <a:lvl1pPr algn="r">
              <a:defRPr sz="36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48006" indent="0" algn="r">
              <a:buNone/>
              <a:defRPr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>
            <a:extLst>
              <a:ext uri="{FF2B5EF4-FFF2-40B4-BE49-F238E27FC236}">
                <a16:creationId xmlns:a16="http://schemas.microsoft.com/office/drawing/2014/main" id="{27B33185-297D-CDE9-B854-30211E47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18">
            <a:extLst>
              <a:ext uri="{FF2B5EF4-FFF2-40B4-BE49-F238E27FC236}">
                <a16:creationId xmlns:a16="http://schemas.microsoft.com/office/drawing/2014/main" id="{6EC8A263-7B51-9BD1-BF2A-C76EF3EA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11" name="Slide Number Placeholder 26">
            <a:extLst>
              <a:ext uri="{FF2B5EF4-FFF2-40B4-BE49-F238E27FC236}">
                <a16:creationId xmlns:a16="http://schemas.microsoft.com/office/drawing/2014/main" id="{71338AE8-ABCF-27FF-6E88-00DFBCEF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4114F21-8245-451D-98A4-ECF40E0F9E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209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BE1C4437-CA54-CF4C-6F47-BCA26FCB5C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88376" y="4869657"/>
            <a:ext cx="555625" cy="273844"/>
          </a:xfrm>
        </p:spPr>
        <p:txBody>
          <a:bodyPr/>
          <a:lstStyle>
            <a:lvl1pPr>
              <a:defRPr sz="900"/>
            </a:lvl1pPr>
          </a:lstStyle>
          <a:p>
            <a:fld id="{59F29445-221E-4595-9368-3BB18A8323C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69C08-4D02-8054-278B-ECA6B3E7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0" y="4869657"/>
            <a:ext cx="2362200" cy="273844"/>
          </a:xfrm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algn="l">
              <a:defRPr sz="900" dirty="0" smtClean="0"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681807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>
            <a:extLst>
              <a:ext uri="{FF2B5EF4-FFF2-40B4-BE49-F238E27FC236}">
                <a16:creationId xmlns:a16="http://schemas.microsoft.com/office/drawing/2014/main" id="{45E2EC97-99F5-8B33-4BCC-3D5B10505201}"/>
              </a:ext>
            </a:extLst>
          </p:cNvPr>
          <p:cNvSpPr/>
          <p:nvPr/>
        </p:nvSpPr>
        <p:spPr>
          <a:xfrm>
            <a:off x="3636963" y="2253854"/>
            <a:ext cx="182562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>
              <a:defRPr/>
            </a:pPr>
            <a:endParaRPr lang="en-US" sz="1650" dirty="0"/>
          </a:p>
        </p:txBody>
      </p:sp>
      <p:sp>
        <p:nvSpPr>
          <p:cNvPr id="5" name="Chevron 15">
            <a:extLst>
              <a:ext uri="{FF2B5EF4-FFF2-40B4-BE49-F238E27FC236}">
                <a16:creationId xmlns:a16="http://schemas.microsoft.com/office/drawing/2014/main" id="{4703E88A-8A6D-8519-2003-C4D2EF902655}"/>
              </a:ext>
            </a:extLst>
          </p:cNvPr>
          <p:cNvSpPr/>
          <p:nvPr/>
        </p:nvSpPr>
        <p:spPr>
          <a:xfrm>
            <a:off x="3449638" y="2253854"/>
            <a:ext cx="18415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>
              <a:defRPr/>
            </a:pPr>
            <a:endParaRPr lang="en-US" sz="16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anchor="b"/>
          <a:lstStyle>
            <a:lvl1pPr algn="r">
              <a:buNone/>
              <a:defRPr sz="36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/>
          <a:lstStyle>
            <a:lvl1pPr marL="0" indent="0" algn="l">
              <a:buNone/>
              <a:defRPr sz="1725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B71C563-8DBD-2869-43CC-0D038088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E1A8363-74B6-2C41-4474-4ECF25C7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15C3910-1CE2-1C6E-A884-3F6E958C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35AF7-51A9-436A-A28B-1ED6A8F8C0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91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A52CEC9A-4F94-57BC-6FAE-56CC029E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68B9FD0-E896-89CB-51B1-66CF5251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84FB03A6-7547-3C51-F9C0-492D7D61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D17F5-85C3-4671-BD74-EAD96A74DD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589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59E13-6327-7D7C-EAC2-B198CE9B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88327-FB08-6658-2695-46F500BE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261BE-8910-BCA6-4991-9F52407D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1DEAB-63C1-4B58-8787-1D17ABF44B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3045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054BFC0E-2E37-4A9B-9E4C-452D9EEC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ED4A7B4-D1D6-96E8-8BC5-B7E4F376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FAA3888-77DF-5889-477C-652D2BAA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44F604-FCD8-4D76-A69A-AE0AB9287E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171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E3C0C18E-7F44-6F75-7C14-66424FD70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>
            <a:extLst>
              <a:ext uri="{FF2B5EF4-FFF2-40B4-BE49-F238E27FC236}">
                <a16:creationId xmlns:a16="http://schemas.microsoft.com/office/drawing/2014/main" id="{BFF5F1E5-41EF-BC8B-EE88-72ED5467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B3E27213-0E88-84E5-B1A9-6E3BB9E06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0829E7-20AB-41CF-AEF3-BA3050EAD3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714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1875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2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A02D2-E5EC-5F8E-B3BB-3330C205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130F8-F8B3-93A2-CE76-72CDFDC8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8F23B-320D-6B2E-B44A-2DA1DF20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86725B-F52A-40C6-9783-46134ED7D0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613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>
            <a:extLst>
              <a:ext uri="{FF2B5EF4-FFF2-40B4-BE49-F238E27FC236}">
                <a16:creationId xmlns:a16="http://schemas.microsoft.com/office/drawing/2014/main" id="{AF2F6F51-9AE0-BEE0-4E37-B572ED7C3E9E}"/>
              </a:ext>
            </a:extLst>
          </p:cNvPr>
          <p:cNvSpPr>
            <a:spLocks/>
          </p:cNvSpPr>
          <p:nvPr/>
        </p:nvSpPr>
        <p:spPr bwMode="auto">
          <a:xfrm>
            <a:off x="715963" y="3751660"/>
            <a:ext cx="3802062" cy="108227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>
              <a:defRPr/>
            </a:pPr>
            <a:endParaRPr lang="en-US" sz="1650" dirty="0">
              <a:latin typeface="Arial" charset="0"/>
              <a:cs typeface="+mn-cs"/>
            </a:endParaRPr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B4366110-6850-6E3D-D880-AD79CD010A45}"/>
              </a:ext>
            </a:extLst>
          </p:cNvPr>
          <p:cNvSpPr>
            <a:spLocks/>
          </p:cNvSpPr>
          <p:nvPr/>
        </p:nvSpPr>
        <p:spPr bwMode="auto">
          <a:xfrm>
            <a:off x="-53975" y="4338638"/>
            <a:ext cx="3802063" cy="6286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>
              <a:defRPr/>
            </a:pPr>
            <a:endParaRPr lang="en-US" sz="1650" dirty="0">
              <a:latin typeface="Arial" charset="0"/>
              <a:cs typeface="+mn-cs"/>
            </a:endParaRP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A9CAD3E6-D6DF-9449-6A5F-606CB1B8CE8F}"/>
              </a:ext>
            </a:extLst>
          </p:cNvPr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>
              <a:defRPr/>
            </a:pPr>
            <a:endParaRPr lang="en-US" sz="165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F8ED54-ABC9-5D43-20B5-2C8D04CFA9BD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9">
            <a:extLst>
              <a:ext uri="{FF2B5EF4-FFF2-40B4-BE49-F238E27FC236}">
                <a16:creationId xmlns:a16="http://schemas.microsoft.com/office/drawing/2014/main" id="{B12A161F-21DE-6738-0A49-A0697A35533D}"/>
              </a:ext>
            </a:extLst>
          </p:cNvPr>
          <p:cNvSpPr/>
          <p:nvPr/>
        </p:nvSpPr>
        <p:spPr>
          <a:xfrm>
            <a:off x="8664576" y="3740944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>
              <a:defRPr/>
            </a:pPr>
            <a:endParaRPr lang="en-US" sz="1650" dirty="0"/>
          </a:p>
        </p:txBody>
      </p:sp>
      <p:sp>
        <p:nvSpPr>
          <p:cNvPr id="10" name="Chevron 20">
            <a:extLst>
              <a:ext uri="{FF2B5EF4-FFF2-40B4-BE49-F238E27FC236}">
                <a16:creationId xmlns:a16="http://schemas.microsoft.com/office/drawing/2014/main" id="{B50CE05D-F628-6E8B-73B6-E77E6EBA0FFE}"/>
              </a:ext>
            </a:extLst>
          </p:cNvPr>
          <p:cNvSpPr/>
          <p:nvPr/>
        </p:nvSpPr>
        <p:spPr>
          <a:xfrm>
            <a:off x="8477251" y="3740944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>
              <a:defRPr/>
            </a:pPr>
            <a:endParaRPr lang="en-US" sz="165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tIns="0"/>
          <a:lstStyle>
            <a:lvl1pPr marL="0" marR="13716" indent="0" algn="r"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225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55EC07F0-85D8-4849-A578-2F72116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ED7FCF60-BD68-1F50-F2EC-16E14BE5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4F6878E7-18BD-E7FB-BA4A-80CF9F0B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9AFC54-702F-46D7-A3DE-33B0782C2A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731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8D14F978-FD03-5681-9D6A-F5A243DA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89351A62-026D-F3EE-7AC7-7A19C13C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1C51EF55-1315-7F26-4789-5021D48F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170B40-2EF0-4D15-9BCC-CCBFE1F20D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5714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F465D816-D78D-DA52-90E9-78B9691A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33263D62-A5B2-52F2-8766-63C5D09B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0F723B25-A72A-086D-78DA-6084EFDB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E8D4C7-8850-4FB1-8F69-FFF54BC2BB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24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EFA2941-71F9-D1CC-25B9-FE11ABAF95C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ABEBA64-FC07-1C5D-36F9-956AD904DC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50AC0-3932-9A85-1D96-4EA49ABF1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>
              <a:lnSpc>
                <a:spcPct val="90000"/>
              </a:lnSpc>
              <a:spcBef>
                <a:spcPct val="20000"/>
              </a:spcBef>
              <a:buFontTx/>
              <a:buChar char="•"/>
              <a:defRPr sz="900" dirty="0">
                <a:solidFill>
                  <a:srgbClr val="898989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9C898-9878-F6EA-0E42-0D2174C00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>
              <a:lnSpc>
                <a:spcPct val="90000"/>
              </a:lnSpc>
              <a:spcBef>
                <a:spcPct val="20000"/>
              </a:spcBef>
              <a:buFontTx/>
              <a:buChar char="•"/>
              <a:defRPr sz="900" smtClean="0">
                <a:solidFill>
                  <a:srgbClr val="898989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F8EC7-CDAD-C98D-99E0-214B5871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rtl="0">
              <a:lnSpc>
                <a:spcPct val="90000"/>
              </a:lnSpc>
              <a:spcBef>
                <a:spcPct val="20000"/>
              </a:spcBef>
              <a:buFontTx/>
              <a:buChar char="•"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fld id="{995E1D1C-BDBB-436B-89DD-9693B7633C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CED294AE-36EF-9ACD-5F8E-42AB0EB06A32}"/>
              </a:ext>
            </a:extLst>
          </p:cNvPr>
          <p:cNvSpPr>
            <a:spLocks/>
          </p:cNvSpPr>
          <p:nvPr/>
        </p:nvSpPr>
        <p:spPr bwMode="auto">
          <a:xfrm>
            <a:off x="715963" y="3751660"/>
            <a:ext cx="3802062" cy="108227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>
              <a:defRPr/>
            </a:pPr>
            <a:endParaRPr lang="en-US" sz="1650" dirty="0">
              <a:latin typeface="Arial" charset="0"/>
              <a:cs typeface="+mn-cs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44EDAE1-65E5-8AAD-618B-EDFCFC57BCB6}"/>
              </a:ext>
            </a:extLst>
          </p:cNvPr>
          <p:cNvSpPr>
            <a:spLocks/>
          </p:cNvSpPr>
          <p:nvPr/>
        </p:nvSpPr>
        <p:spPr bwMode="auto">
          <a:xfrm>
            <a:off x="-53975" y="4338638"/>
            <a:ext cx="3802063" cy="6286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>
              <a:defRPr/>
            </a:pPr>
            <a:endParaRPr lang="en-US" sz="1650" dirty="0">
              <a:latin typeface="Arial" charset="0"/>
              <a:cs typeface="+mn-cs"/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B18CA46-D8A2-8D0D-05DA-041779A43964}"/>
              </a:ext>
            </a:extLst>
          </p:cNvPr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>
              <a:defRPr/>
            </a:pPr>
            <a:endParaRPr lang="en-US" sz="165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E699A1-295B-0EB1-8DE6-2B0AAC27EC2F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C014BF55-BCC1-F874-6790-EEAE03D4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57" name="Text Placeholder 29">
            <a:extLst>
              <a:ext uri="{FF2B5EF4-FFF2-40B4-BE49-F238E27FC236}">
                <a16:creationId xmlns:a16="http://schemas.microsoft.com/office/drawing/2014/main" id="{6A4F1732-8BCF-E06A-2C98-E201F0ADAF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10853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B939E3D-BDF9-2477-B73D-3F252E85C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4806554"/>
            <a:ext cx="1919288" cy="273844"/>
          </a:xfrm>
          <a:prstGeom prst="rect">
            <a:avLst/>
          </a:prstGeom>
        </p:spPr>
        <p:txBody>
          <a:bodyPr vert="horz" anchor="b"/>
          <a:lstStyle>
            <a:lvl1pPr algn="l" rtl="0" eaLnBrk="1" latinLnBrk="0" hangingPunct="1">
              <a:defRPr kumimoji="0" sz="750" dirty="0">
                <a:solidFill>
                  <a:schemeClr val="tx1"/>
                </a:solidFill>
                <a:latin typeface="Arial" charset="0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1DD3846-5080-10AC-E3DE-ECD56EFF2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4806554"/>
            <a:ext cx="2351087" cy="273844"/>
          </a:xfrm>
          <a:prstGeom prst="rect">
            <a:avLst/>
          </a:prstGeom>
        </p:spPr>
        <p:txBody>
          <a:bodyPr vert="horz" anchor="b"/>
          <a:lstStyle>
            <a:lvl1pPr algn="r" rtl="0" eaLnBrk="1" latinLnBrk="0" hangingPunct="1">
              <a:defRPr kumimoji="0" sz="750" smtClean="0">
                <a:solidFill>
                  <a:schemeClr val="tx1"/>
                </a:solidFill>
                <a:latin typeface="Arial" charset="0"/>
                <a:cs typeface="+mn-cs"/>
              </a:defRPr>
            </a:lvl1pPr>
            <a:extLst/>
          </a:lstStyle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9C95FDC-0C31-D1DC-CEC3-C9B48D73C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4806554"/>
            <a:ext cx="366712" cy="27384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0">
              <a:defRPr sz="750"/>
            </a:lvl1pPr>
          </a:lstStyle>
          <a:p>
            <a:fld id="{2B933B82-3BAB-44C2-9A52-3299387DDC5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16" r:id="rId7"/>
    <p:sldLayoutId id="2147483925" r:id="rId8"/>
    <p:sldLayoutId id="2147483926" r:id="rId9"/>
    <p:sldLayoutId id="2147483917" r:id="rId10"/>
    <p:sldLayoutId id="2147483918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075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075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75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75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75" b="1">
          <a:solidFill>
            <a:schemeClr val="tx2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75" b="1">
          <a:solidFill>
            <a:schemeClr val="tx2"/>
          </a:solidFill>
          <a:latin typeface="Lucida Sans Unicode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75" b="1">
          <a:solidFill>
            <a:schemeClr val="tx2"/>
          </a:solidFill>
          <a:latin typeface="Lucida Sans Unicode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75" b="1">
          <a:solidFill>
            <a:schemeClr val="tx2"/>
          </a:solidFill>
          <a:latin typeface="Lucida Sans Unicode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75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273844" indent="-191691" algn="l" rtl="0" fontAlgn="base">
        <a:spcBef>
          <a:spcPts val="3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465535" indent="-171450" algn="l" rtl="0" fontAlgn="base">
        <a:spcBef>
          <a:spcPts val="244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1725" kern="1200">
          <a:solidFill>
            <a:schemeClr val="tx1"/>
          </a:solidFill>
          <a:latin typeface="+mn-lt"/>
          <a:ea typeface="+mn-ea"/>
          <a:cs typeface="+mn-cs"/>
        </a:defRPr>
      </a:lvl2pPr>
      <a:lvl3pPr marL="644129" indent="-171450" algn="l" rtl="0" fontAlgn="base">
        <a:spcBef>
          <a:spcPts val="263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rtl="0" fontAlgn="base">
        <a:spcBef>
          <a:spcPts val="263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fontAlgn="base">
        <a:spcBef>
          <a:spcPts val="263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indent="-171450" algn="l" rtl="0" eaLnBrk="1" latinLnBrk="0" hangingPunct="1">
        <a:spcBef>
          <a:spcPts val="263"/>
        </a:spcBef>
        <a:buClr>
          <a:schemeClr val="accent3"/>
        </a:buClr>
        <a:buFont typeface="Wingdings 2"/>
        <a:buChar char="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71450" algn="l" rtl="0" eaLnBrk="1" latinLnBrk="0" hangingPunct="1">
        <a:spcBef>
          <a:spcPts val="263"/>
        </a:spcBef>
        <a:buClr>
          <a:schemeClr val="accent3"/>
        </a:buClr>
        <a:buFont typeface="Wingdings 2"/>
        <a:buChar char="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71450" algn="l" rtl="0" eaLnBrk="1" latinLnBrk="0" hangingPunct="1">
        <a:spcBef>
          <a:spcPts val="263"/>
        </a:spcBef>
        <a:buClr>
          <a:schemeClr val="accent3"/>
        </a:buClr>
        <a:buFont typeface="Wingdings 2"/>
        <a:buChar char="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714500" indent="-171450" algn="l" rtl="0" eaLnBrk="1" latinLnBrk="0" hangingPunct="1">
        <a:spcBef>
          <a:spcPts val="263"/>
        </a:spcBef>
        <a:buClr>
          <a:schemeClr val="accent3"/>
        </a:buClr>
        <a:buFont typeface="Wingdings 2"/>
        <a:buChar char="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9tIyUwIVRV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youtu.be/UluNhfCZOME" TargetMode="External"/><Relationship Id="rId4" Type="http://schemas.openxmlformats.org/officeDocument/2006/relationships/hyperlink" Target="https://www.youtube.com/playlist?list=PL0g8DiuuPyjVJP9EM2YGpx6So01XifMJf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verhour.com/blog/project-charter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65CBB0-FEF6-7E7A-45AB-5F9D34B54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685800"/>
            <a:ext cx="6629400" cy="137232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Chapter 3:</a:t>
            </a:r>
            <a:br>
              <a:rPr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</a:br>
            <a:r>
              <a:rPr sz="33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The Project Management Process Groups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3023A54-468E-B7B1-2049-BD5288F44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" y="3061176"/>
            <a:ext cx="6343650" cy="1012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 rtl="0">
              <a:defRPr/>
            </a:pPr>
            <a:r>
              <a:rPr lang="en-US" sz="21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  <a:ea typeface="+mj-ea"/>
                <a:cs typeface="+mj-cs"/>
              </a:rPr>
              <a:t>Information Technology Project Management</a:t>
            </a:r>
          </a:p>
        </p:txBody>
      </p:sp>
      <p:sp>
        <p:nvSpPr>
          <p:cNvPr id="11268" name="TextBox 6">
            <a:extLst>
              <a:ext uri="{FF2B5EF4-FFF2-40B4-BE49-F238E27FC236}">
                <a16:creationId xmlns:a16="http://schemas.microsoft.com/office/drawing/2014/main" id="{39198768-273B-37C5-3DAD-DFA5214AD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343400"/>
            <a:ext cx="3898824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rtl="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50"/>
              <a:t>Note: See the text itself for full citations.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5" y="514350"/>
            <a:ext cx="6115050" cy="49816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altLang="zh-TW" sz="3000" dirty="0"/>
              <a:t>Learning Objectives / Contents</a:t>
            </a:r>
            <a:endParaRPr lang="en-US" sz="3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D1E1D95-CA8C-49A2-98E8-9BC76961021E}"/>
              </a:ext>
            </a:extLst>
          </p:cNvPr>
          <p:cNvSpPr/>
          <p:nvPr/>
        </p:nvSpPr>
        <p:spPr>
          <a:xfrm>
            <a:off x="1771650" y="1900021"/>
            <a:ext cx="2537460" cy="1757579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/>
              <a:t>The </a:t>
            </a:r>
            <a:r>
              <a:rPr lang="en-US" altLang="zh-TW" sz="1500" b="1" dirty="0">
                <a:solidFill>
                  <a:srgbClr val="FFFF00"/>
                </a:solidFill>
              </a:rPr>
              <a:t>five project management process groups</a:t>
            </a:r>
            <a:endParaRPr lang="zh-TW" altLang="en-US" sz="1500" b="1" dirty="0">
              <a:solidFill>
                <a:srgbClr val="FFFF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045DDDE-4D2F-4133-BCA2-CC96CB22A226}"/>
              </a:ext>
            </a:extLst>
          </p:cNvPr>
          <p:cNvSpPr/>
          <p:nvPr/>
        </p:nvSpPr>
        <p:spPr>
          <a:xfrm>
            <a:off x="4686302" y="1900021"/>
            <a:ext cx="2537460" cy="1757579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/>
              <a:t>The </a:t>
            </a:r>
            <a:r>
              <a:rPr lang="en-US" altLang="zh-TW" sz="1500" b="1" dirty="0">
                <a:solidFill>
                  <a:srgbClr val="FFFF00"/>
                </a:solidFill>
              </a:rPr>
              <a:t>project management knowledge areas</a:t>
            </a:r>
            <a:endParaRPr lang="zh-TW" altLang="en-US" sz="15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21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416 L 0.03559 0.04097 C 0.04323 0.0493 0.05434 0.05393 0.06597 0.05393 C 0.07934 0.05393 0.08993 0.0493 0.09757 0.04097 L 0.13333 0.00416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7" y="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.00416 L -0.0224 0.04097 C -0.02708 0.0493 -0.03403 0.05393 -0.04132 0.05393 C -0.04965 0.05393 -0.05642 0.0493 -0.06111 0.04097 L -0.08333 0.00416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8964EE-9178-643B-32B1-9954C700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  <a:p>
            <a:r>
              <a:rPr lang="en-US" dirty="0">
                <a:hlinkClick r:id="rId3"/>
              </a:rPr>
              <a:t>https://youtu.be/9tIyUwIVRV4</a:t>
            </a:r>
            <a:endParaRPr lang="ar-EG" dirty="0"/>
          </a:p>
          <a:p>
            <a:endParaRPr lang="ar-EG" dirty="0"/>
          </a:p>
          <a:p>
            <a:r>
              <a:rPr lang="ar-EG" dirty="0">
                <a:hlinkClick r:id="rId4"/>
              </a:rPr>
              <a:t>إدارة مشاريع نظم المعلومات </a:t>
            </a:r>
            <a:r>
              <a:rPr lang="en-US" dirty="0">
                <a:hlinkClick r:id="rId4"/>
              </a:rPr>
              <a:t>MISY303 – YouTube</a:t>
            </a:r>
            <a:endParaRPr lang="ar-EG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https://youtu.be/UluNhfCZOME</a:t>
            </a:r>
            <a:endParaRPr lang="en-US" dirty="0"/>
          </a:p>
          <a:p>
            <a:endParaRPr lang="ar-EG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401B48-D6BF-50F6-3BBE-B094BD5AD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7D980-6696-E9A7-5070-C70987C4C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29445-221E-4595-9368-3BB18A8323C5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77EC2-C0E9-B0CE-F009-5C00179B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Information Technology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238263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7150"/>
            <a:ext cx="6839167" cy="78394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100" dirty="0"/>
              <a:t>Project Management Process Groups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D8C8818-F05D-4AB7-AF50-9574054E404D}"/>
              </a:ext>
            </a:extLst>
          </p:cNvPr>
          <p:cNvGrpSpPr/>
          <p:nvPr/>
        </p:nvGrpSpPr>
        <p:grpSpPr>
          <a:xfrm>
            <a:off x="3853302" y="854808"/>
            <a:ext cx="1484589" cy="867261"/>
            <a:chOff x="1755026" y="1763094"/>
            <a:chExt cx="1769442" cy="1076926"/>
          </a:xfrm>
        </p:grpSpPr>
        <p:pic>
          <p:nvPicPr>
            <p:cNvPr id="21" name="Graphic 20" descr="Handshake">
              <a:extLst>
                <a:ext uri="{FF2B5EF4-FFF2-40B4-BE49-F238E27FC236}">
                  <a16:creationId xmlns:a16="http://schemas.microsoft.com/office/drawing/2014/main" id="{DB048E90-F4BD-4C2A-9EDE-B4EC26BA44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60356" y="1916986"/>
              <a:ext cx="914400" cy="9144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A24AA7-602B-4E49-A631-E4A319FC3397}"/>
                </a:ext>
              </a:extLst>
            </p:cNvPr>
            <p:cNvSpPr txBox="1"/>
            <p:nvPr/>
          </p:nvSpPr>
          <p:spPr>
            <a:xfrm>
              <a:off x="1755026" y="2553383"/>
              <a:ext cx="1511333" cy="286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dirty="0"/>
                <a:t>Define Authorize</a:t>
              </a:r>
              <a:endParaRPr lang="zh-TW" altLang="en-US" sz="9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9DB05C-BC04-41AB-BD85-A663914BCF58}"/>
                </a:ext>
              </a:extLst>
            </p:cNvPr>
            <p:cNvSpPr txBox="1"/>
            <p:nvPr/>
          </p:nvSpPr>
          <p:spPr>
            <a:xfrm>
              <a:off x="1768753" y="1763094"/>
              <a:ext cx="1755715" cy="401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rgbClr val="FF0000"/>
                  </a:solidFill>
                </a:rPr>
                <a:t>INITIATING</a:t>
              </a:r>
              <a:endParaRPr lang="zh-TW" altLang="en-US" sz="15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02315D-4A01-4D54-8C24-25227AF21D35}"/>
              </a:ext>
            </a:extLst>
          </p:cNvPr>
          <p:cNvGrpSpPr/>
          <p:nvPr/>
        </p:nvGrpSpPr>
        <p:grpSpPr>
          <a:xfrm>
            <a:off x="5786095" y="1965093"/>
            <a:ext cx="1934475" cy="1031186"/>
            <a:chOff x="3890977" y="1030274"/>
            <a:chExt cx="2305648" cy="1280481"/>
          </a:xfrm>
        </p:grpSpPr>
        <p:pic>
          <p:nvPicPr>
            <p:cNvPr id="13" name="Graphic 12" descr="List">
              <a:extLst>
                <a:ext uri="{FF2B5EF4-FFF2-40B4-BE49-F238E27FC236}">
                  <a16:creationId xmlns:a16="http://schemas.microsoft.com/office/drawing/2014/main" id="{B6557603-5E92-4CE0-86C1-38CD9E4A32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82225" y="1396355"/>
              <a:ext cx="914400" cy="914400"/>
            </a:xfrm>
            <a:prstGeom prst="rect">
              <a:avLst/>
            </a:prstGeom>
          </p:spPr>
        </p:pic>
        <p:pic>
          <p:nvPicPr>
            <p:cNvPr id="31" name="Graphic 30" descr="Bullseye">
              <a:extLst>
                <a:ext uri="{FF2B5EF4-FFF2-40B4-BE49-F238E27FC236}">
                  <a16:creationId xmlns:a16="http://schemas.microsoft.com/office/drawing/2014/main" id="{52C76A97-6937-4055-B833-573C6CDC10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75556" y="1276737"/>
              <a:ext cx="914400" cy="914400"/>
            </a:xfrm>
            <a:prstGeom prst="rect">
              <a:avLst/>
            </a:prstGeom>
          </p:spPr>
        </p:pic>
        <p:pic>
          <p:nvPicPr>
            <p:cNvPr id="39" name="Graphic 38" descr="Puzzle pieces">
              <a:extLst>
                <a:ext uri="{FF2B5EF4-FFF2-40B4-BE49-F238E27FC236}">
                  <a16:creationId xmlns:a16="http://schemas.microsoft.com/office/drawing/2014/main" id="{843B5507-544F-4998-86DC-EBEEE020A1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90977" y="1320261"/>
              <a:ext cx="914400" cy="9144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AFF6F80-EFB4-414B-A646-7C426837A7B8}"/>
                </a:ext>
              </a:extLst>
            </p:cNvPr>
            <p:cNvSpPr txBox="1"/>
            <p:nvPr/>
          </p:nvSpPr>
          <p:spPr>
            <a:xfrm>
              <a:off x="4156929" y="1030274"/>
              <a:ext cx="17557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500" dirty="0">
                  <a:solidFill>
                    <a:srgbClr val="FF0000"/>
                  </a:solidFill>
                </a:rPr>
                <a:t>PLANNING</a:t>
              </a:r>
              <a:endParaRPr lang="zh-TW" altLang="en-US" sz="15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443434C-62CA-48F2-A07F-40DC295163CD}"/>
              </a:ext>
            </a:extLst>
          </p:cNvPr>
          <p:cNvGrpSpPr/>
          <p:nvPr/>
        </p:nvGrpSpPr>
        <p:grpSpPr>
          <a:xfrm>
            <a:off x="5089439" y="3568892"/>
            <a:ext cx="2018715" cy="1286631"/>
            <a:chOff x="6373222" y="2875078"/>
            <a:chExt cx="1926258" cy="1597681"/>
          </a:xfrm>
        </p:grpSpPr>
        <p:pic>
          <p:nvPicPr>
            <p:cNvPr id="25" name="Graphic 24" descr="Boardroom">
              <a:extLst>
                <a:ext uri="{FF2B5EF4-FFF2-40B4-BE49-F238E27FC236}">
                  <a16:creationId xmlns:a16="http://schemas.microsoft.com/office/drawing/2014/main" id="{638B14D1-12DD-4D7F-936C-009E06AE3F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89831" y="3049011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Classroom">
              <a:extLst>
                <a:ext uri="{FF2B5EF4-FFF2-40B4-BE49-F238E27FC236}">
                  <a16:creationId xmlns:a16="http://schemas.microsoft.com/office/drawing/2014/main" id="{8960BEE6-6C86-4437-AA05-BC85C0CD02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88638" y="3190621"/>
              <a:ext cx="914400" cy="914400"/>
            </a:xfrm>
            <a:prstGeom prst="rect">
              <a:avLst/>
            </a:prstGeom>
          </p:spPr>
        </p:pic>
        <p:pic>
          <p:nvPicPr>
            <p:cNvPr id="53" name="Graphic 52" descr="Wheelbarrow">
              <a:extLst>
                <a:ext uri="{FF2B5EF4-FFF2-40B4-BE49-F238E27FC236}">
                  <a16:creationId xmlns:a16="http://schemas.microsoft.com/office/drawing/2014/main" id="{3A317336-919A-417F-BCEB-156E1B6E91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9200" y="3558359"/>
              <a:ext cx="914400" cy="914400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C6E4B85-4FF2-49DD-89D7-190E4A75A32C}"/>
                </a:ext>
              </a:extLst>
            </p:cNvPr>
            <p:cNvSpPr txBox="1"/>
            <p:nvPr/>
          </p:nvSpPr>
          <p:spPr>
            <a:xfrm>
              <a:off x="6373222" y="2875078"/>
              <a:ext cx="1926258" cy="401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rgbClr val="FF0000"/>
                  </a:solidFill>
                </a:rPr>
                <a:t>EXECUTING</a:t>
              </a:r>
              <a:endParaRPr lang="zh-TW" altLang="en-US" sz="15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2B16617-4CBD-4DA3-A0BD-E12F02A0AD88}"/>
              </a:ext>
            </a:extLst>
          </p:cNvPr>
          <p:cNvGrpSpPr/>
          <p:nvPr/>
        </p:nvGrpSpPr>
        <p:grpSpPr>
          <a:xfrm>
            <a:off x="1859923" y="1627943"/>
            <a:ext cx="1614650" cy="1533829"/>
            <a:chOff x="1306851" y="3808561"/>
            <a:chExt cx="1924457" cy="1904641"/>
          </a:xfrm>
        </p:grpSpPr>
        <p:pic>
          <p:nvPicPr>
            <p:cNvPr id="17" name="Graphic 16" descr="Projector screen">
              <a:extLst>
                <a:ext uri="{FF2B5EF4-FFF2-40B4-BE49-F238E27FC236}">
                  <a16:creationId xmlns:a16="http://schemas.microsoft.com/office/drawing/2014/main" id="{E596A629-B113-472C-AEDC-7F8B7105B9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06851" y="4122087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Connections">
              <a:extLst>
                <a:ext uri="{FF2B5EF4-FFF2-40B4-BE49-F238E27FC236}">
                  <a16:creationId xmlns:a16="http://schemas.microsoft.com/office/drawing/2014/main" id="{0ACA2FCA-8A5C-4421-9F86-1EF2D9B699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02064" y="4129351"/>
              <a:ext cx="914400" cy="914400"/>
            </a:xfrm>
            <a:prstGeom prst="rect">
              <a:avLst/>
            </a:prstGeom>
          </p:spPr>
        </p:pic>
        <p:pic>
          <p:nvPicPr>
            <p:cNvPr id="35" name="Graphic 34" descr="Diploma roll">
              <a:extLst>
                <a:ext uri="{FF2B5EF4-FFF2-40B4-BE49-F238E27FC236}">
                  <a16:creationId xmlns:a16="http://schemas.microsoft.com/office/drawing/2014/main" id="{DDCE9AC6-CEBE-4363-9E24-23A61C09FA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88080" y="4798802"/>
              <a:ext cx="914400" cy="9144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58420F3-127B-49C4-9AFD-B003F0BB202F}"/>
                </a:ext>
              </a:extLst>
            </p:cNvPr>
            <p:cNvSpPr txBox="1"/>
            <p:nvPr/>
          </p:nvSpPr>
          <p:spPr>
            <a:xfrm>
              <a:off x="1484258" y="3808561"/>
              <a:ext cx="1747050" cy="401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500" dirty="0">
                  <a:solidFill>
                    <a:srgbClr val="FF0000"/>
                  </a:solidFill>
                </a:rPr>
                <a:t>CLOSING</a:t>
              </a:r>
              <a:endParaRPr lang="zh-TW" altLang="en-US" sz="15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974586D-990F-4DFA-A3B6-9558BB574EFC}"/>
              </a:ext>
            </a:extLst>
          </p:cNvPr>
          <p:cNvGrpSpPr/>
          <p:nvPr/>
        </p:nvGrpSpPr>
        <p:grpSpPr>
          <a:xfrm>
            <a:off x="3289483" y="1820603"/>
            <a:ext cx="2500829" cy="2133098"/>
            <a:chOff x="3377591" y="1627619"/>
            <a:chExt cx="2980670" cy="2648786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1655052-D78F-4C0A-AC41-168D9EBD7E9B}"/>
                </a:ext>
              </a:extLst>
            </p:cNvPr>
            <p:cNvSpPr/>
            <p:nvPr/>
          </p:nvSpPr>
          <p:spPr>
            <a:xfrm>
              <a:off x="3377591" y="1627619"/>
              <a:ext cx="2980670" cy="26487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64FE95F-6701-447C-8FE3-5F17C453750A}"/>
                </a:ext>
              </a:extLst>
            </p:cNvPr>
            <p:cNvGrpSpPr/>
            <p:nvPr/>
          </p:nvGrpSpPr>
          <p:grpSpPr>
            <a:xfrm>
              <a:off x="3524468" y="1719147"/>
              <a:ext cx="2406051" cy="2406051"/>
              <a:chOff x="3695958" y="1266144"/>
              <a:chExt cx="2406051" cy="2406051"/>
            </a:xfrm>
            <a:solidFill>
              <a:schemeClr val="accent2"/>
            </a:solidFill>
          </p:grpSpPr>
          <p:pic>
            <p:nvPicPr>
              <p:cNvPr id="19" name="Graphic 18" descr="Projector">
                <a:extLst>
                  <a:ext uri="{FF2B5EF4-FFF2-40B4-BE49-F238E27FC236}">
                    <a16:creationId xmlns:a16="http://schemas.microsoft.com/office/drawing/2014/main" id="{407A6D83-D9B5-4B7A-A0F8-3395E2CE5D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321419" y="1410934"/>
                <a:ext cx="1721852" cy="1721852"/>
              </a:xfrm>
              <a:prstGeom prst="rect">
                <a:avLst/>
              </a:prstGeom>
            </p:spPr>
          </p:pic>
          <p:pic>
            <p:nvPicPr>
              <p:cNvPr id="41" name="Graphic 40" descr="Teacher">
                <a:extLst>
                  <a:ext uri="{FF2B5EF4-FFF2-40B4-BE49-F238E27FC236}">
                    <a16:creationId xmlns:a16="http://schemas.microsoft.com/office/drawing/2014/main" id="{2E8CE40D-C8A8-4BEA-BEEE-A4320C61F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695958" y="1266144"/>
                <a:ext cx="2406051" cy="2406051"/>
              </a:xfrm>
              <a:prstGeom prst="rect">
                <a:avLst/>
              </a:prstGeom>
            </p:spPr>
          </p:pic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6551D2C-1402-4CDF-96EE-158E20B403F0}"/>
              </a:ext>
            </a:extLst>
          </p:cNvPr>
          <p:cNvGrpSpPr/>
          <p:nvPr/>
        </p:nvGrpSpPr>
        <p:grpSpPr>
          <a:xfrm>
            <a:off x="1544607" y="3274907"/>
            <a:ext cx="2270986" cy="1602297"/>
            <a:chOff x="1043144" y="4369512"/>
            <a:chExt cx="2706726" cy="1989661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6C08D49-BF8E-4D54-BAC2-80BF4EE2EDB1}"/>
                </a:ext>
              </a:extLst>
            </p:cNvPr>
            <p:cNvGrpSpPr/>
            <p:nvPr/>
          </p:nvGrpSpPr>
          <p:grpSpPr>
            <a:xfrm>
              <a:off x="1043144" y="4369512"/>
              <a:ext cx="2706726" cy="1989661"/>
              <a:chOff x="5514710" y="4278279"/>
              <a:chExt cx="2706726" cy="1989661"/>
            </a:xfrm>
          </p:grpSpPr>
          <p:pic>
            <p:nvPicPr>
              <p:cNvPr id="29" name="Graphic 28" descr="Checklist RTL">
                <a:extLst>
                  <a:ext uri="{FF2B5EF4-FFF2-40B4-BE49-F238E27FC236}">
                    <a16:creationId xmlns:a16="http://schemas.microsoft.com/office/drawing/2014/main" id="{4F275A05-BE6A-4490-B683-2DD8B40A20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740981" y="495788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1" name="Graphic 50" descr="Arrow circle">
                <a:extLst>
                  <a:ext uri="{FF2B5EF4-FFF2-40B4-BE49-F238E27FC236}">
                    <a16:creationId xmlns:a16="http://schemas.microsoft.com/office/drawing/2014/main" id="{36493D3E-2D0E-4928-9687-0FB082A29E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142584" y="535354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7" name="Graphic 56" descr="Ruler">
                <a:extLst>
                  <a:ext uri="{FF2B5EF4-FFF2-40B4-BE49-F238E27FC236}">
                    <a16:creationId xmlns:a16="http://schemas.microsoft.com/office/drawing/2014/main" id="{0EA2F259-3684-485B-9853-D3ABB61A7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5893115" y="495844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2E53E2-33E4-4578-A29A-8D8CDC4D0684}"/>
                  </a:ext>
                </a:extLst>
              </p:cNvPr>
              <p:cNvSpPr txBox="1"/>
              <p:nvPr/>
            </p:nvSpPr>
            <p:spPr>
              <a:xfrm>
                <a:off x="5514710" y="4278279"/>
                <a:ext cx="2706726" cy="630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350" dirty="0">
                    <a:solidFill>
                      <a:srgbClr val="FF0000"/>
                    </a:solidFill>
                  </a:rPr>
                  <a:t>MONITORING</a:t>
                </a:r>
              </a:p>
              <a:p>
                <a:pPr algn="ctr"/>
                <a:r>
                  <a:rPr lang="en-US" altLang="zh-TW" sz="1350" dirty="0">
                    <a:solidFill>
                      <a:srgbClr val="FF0000"/>
                    </a:solidFill>
                  </a:rPr>
                  <a:t>&amp; CONTROLLING</a:t>
                </a:r>
                <a:endParaRPr lang="zh-TW" altLang="en-US" sz="135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5289C71-53A0-41D1-9E76-FD0BD89FD03B}"/>
                </a:ext>
              </a:extLst>
            </p:cNvPr>
            <p:cNvSpPr txBox="1"/>
            <p:nvPr/>
          </p:nvSpPr>
          <p:spPr>
            <a:xfrm>
              <a:off x="2421008" y="5866165"/>
              <a:ext cx="670994" cy="458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dirty="0"/>
                <a:t>Track</a:t>
              </a:r>
            </a:p>
            <a:p>
              <a:pPr algn="ctr"/>
              <a:r>
                <a:rPr lang="en-US" altLang="zh-TW" sz="900" dirty="0"/>
                <a:t>Review</a:t>
              </a:r>
              <a:endParaRPr lang="zh-TW" alt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63336354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654A42-2F59-96BB-2DE7-BF529CD6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6" b="3363"/>
          <a:stretch/>
        </p:blipFill>
        <p:spPr>
          <a:xfrm>
            <a:off x="2016000" y="977033"/>
            <a:ext cx="5112000" cy="33844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451" y="52985"/>
            <a:ext cx="6670964" cy="730097"/>
          </a:xfrm>
          <a:noFill/>
        </p:spPr>
        <p:txBody>
          <a:bodyPr>
            <a:noAutofit/>
          </a:bodyPr>
          <a:lstStyle/>
          <a:p>
            <a:r>
              <a:rPr lang="en-US" sz="2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Management Process Groups: </a:t>
            </a:r>
            <a:r>
              <a:rPr lang="en-US" sz="21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Outputs</a:t>
            </a:r>
            <a:r>
              <a:rPr lang="en-US" sz="2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C4CC8-1F2A-4C3B-8F81-11E4067CC78D}"/>
              </a:ext>
            </a:extLst>
          </p:cNvPr>
          <p:cNvSpPr txBox="1"/>
          <p:nvPr/>
        </p:nvSpPr>
        <p:spPr>
          <a:xfrm>
            <a:off x="5105400" y="914401"/>
            <a:ext cx="2880015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b="1" dirty="0">
                <a:solidFill>
                  <a:schemeClr val="accent6">
                    <a:lumMod val="50000"/>
                  </a:schemeClr>
                </a:solidFill>
              </a:rPr>
              <a:t>Project Charter</a:t>
            </a:r>
          </a:p>
          <a:p>
            <a:pPr algn="l"/>
            <a:r>
              <a:rPr lang="en-US" altLang="zh-TW" sz="1200" b="1" dirty="0">
                <a:solidFill>
                  <a:schemeClr val="accent6">
                    <a:lumMod val="50000"/>
                  </a:schemeClr>
                </a:solidFill>
              </a:rPr>
              <a:t>Stakeholder Register </a:t>
            </a:r>
          </a:p>
          <a:p>
            <a:pPr algn="l"/>
            <a:r>
              <a:rPr lang="en-US" altLang="zh-TW" sz="1200" b="1" dirty="0">
                <a:solidFill>
                  <a:schemeClr val="accent6">
                    <a:lumMod val="50000"/>
                  </a:schemeClr>
                </a:solidFill>
              </a:rPr>
              <a:t>Stakeholder Management Strategy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8C3846-FF90-484A-A450-E0F031F8D810}"/>
              </a:ext>
            </a:extLst>
          </p:cNvPr>
          <p:cNvSpPr txBox="1"/>
          <p:nvPr/>
        </p:nvSpPr>
        <p:spPr>
          <a:xfrm>
            <a:off x="6055360" y="2686051"/>
            <a:ext cx="2402840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TW" sz="1200" b="1" dirty="0">
                <a:solidFill>
                  <a:schemeClr val="accent6">
                    <a:lumMod val="50000"/>
                  </a:schemeClr>
                </a:solidFill>
              </a:rPr>
              <a:t>Project Management Plan</a:t>
            </a:r>
          </a:p>
          <a:p>
            <a:pPr algn="l"/>
            <a:r>
              <a:rPr lang="en-US" altLang="zh-TW" sz="1200" b="1" dirty="0">
                <a:solidFill>
                  <a:schemeClr val="accent6">
                    <a:lumMod val="50000"/>
                  </a:schemeClr>
                </a:solidFill>
              </a:rPr>
              <a:t>&gt;&gt;Team Contract</a:t>
            </a:r>
          </a:p>
          <a:p>
            <a:pPr algn="l"/>
            <a:r>
              <a:rPr lang="en-US" altLang="zh-TW" sz="1200" b="1" dirty="0">
                <a:solidFill>
                  <a:schemeClr val="accent6">
                    <a:lumMod val="50000"/>
                  </a:schemeClr>
                </a:solidFill>
              </a:rPr>
              <a:t>&gt;&gt; List of Prioritized Risks</a:t>
            </a:r>
            <a:endParaRPr lang="zh-TW" altLang="en-US" sz="12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C4DABC-69AB-4746-90AB-4EE2A22AC989}"/>
              </a:ext>
            </a:extLst>
          </p:cNvPr>
          <p:cNvSpPr txBox="1"/>
          <p:nvPr/>
        </p:nvSpPr>
        <p:spPr>
          <a:xfrm>
            <a:off x="5794668" y="4196723"/>
            <a:ext cx="1825332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chemeClr val="accent6">
                    <a:lumMod val="50000"/>
                  </a:schemeClr>
                </a:solidFill>
              </a:rPr>
              <a:t>Milestone Reports</a:t>
            </a:r>
            <a:endParaRPr lang="zh-TW" altLang="en-US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0F3428-0E76-48AC-8982-69632622FDF4}"/>
              </a:ext>
            </a:extLst>
          </p:cNvPr>
          <p:cNvSpPr txBox="1"/>
          <p:nvPr/>
        </p:nvSpPr>
        <p:spPr>
          <a:xfrm>
            <a:off x="376070" y="3715147"/>
            <a:ext cx="1909929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accent6">
                    <a:lumMod val="50000"/>
                  </a:schemeClr>
                </a:solidFill>
              </a:rPr>
              <a:t>Performance Report</a:t>
            </a:r>
          </a:p>
          <a:p>
            <a:pPr algn="ctr"/>
            <a:r>
              <a:rPr lang="en-US" altLang="zh-TW" sz="1200" b="1" dirty="0">
                <a:solidFill>
                  <a:schemeClr val="accent6">
                    <a:lumMod val="50000"/>
                  </a:schemeClr>
                </a:solidFill>
              </a:rPr>
              <a:t>Change Request</a:t>
            </a:r>
            <a:endParaRPr lang="zh-TW" altLang="en-US" sz="12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AA3229-2F3F-4555-B477-1007CA1611FC}"/>
              </a:ext>
            </a:extLst>
          </p:cNvPr>
          <p:cNvSpPr txBox="1"/>
          <p:nvPr/>
        </p:nvSpPr>
        <p:spPr>
          <a:xfrm>
            <a:off x="304800" y="1925419"/>
            <a:ext cx="1711200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/>
              <a:t>Lesson Learnt</a:t>
            </a:r>
          </a:p>
          <a:p>
            <a:pPr algn="ctr"/>
            <a:r>
              <a:rPr lang="en-US" altLang="zh-TW" sz="1200" b="1" dirty="0"/>
              <a:t>Final Project Report</a:t>
            </a:r>
            <a:endParaRPr lang="zh-TW" altLang="en-US" sz="12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16250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0" grpId="0" animBg="1"/>
      <p:bldP spid="50" grpId="0" animBg="1"/>
      <p:bldP spid="52" grpId="0" animBg="1"/>
      <p:bldP spid="5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0500" y="56029"/>
            <a:ext cx="8763000" cy="68692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Percentage of Time Spent on Each Process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FF075C-D7F3-0E61-7DCF-004719CE1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0189"/>
            <a:ext cx="7884000" cy="42294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76C8E0-C1A9-44D3-926B-8F86EDEF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Mapping the Process Groups to the Knowledge Areas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BA61B-B5DC-46A4-A07A-11A9F74EE4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B7E08-DFEC-6881-2C4C-C55838FAC8D7}"/>
              </a:ext>
            </a:extLst>
          </p:cNvPr>
          <p:cNvSpPr txBox="1"/>
          <p:nvPr/>
        </p:nvSpPr>
        <p:spPr>
          <a:xfrm>
            <a:off x="1657351" y="4041885"/>
            <a:ext cx="545978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650" dirty="0"/>
              <a:t>Note that there are activities from </a:t>
            </a:r>
            <a:r>
              <a:rPr lang="en-US" altLang="en-US" sz="1650" u="sng" dirty="0"/>
              <a:t>each</a:t>
            </a:r>
            <a:r>
              <a:rPr lang="en-US" altLang="en-US" sz="1650" dirty="0"/>
              <a:t> knowledge area under the planning process groups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83DD9C-6F35-877A-CAC7-5FCBBB8A5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B4FAA-3B4A-D41E-0D4B-2D2618E68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125988"/>
            <a:ext cx="6183000" cy="290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5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FAFDA7-8B8D-7D33-831F-F13E348C3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64"/>
          <a:stretch/>
        </p:blipFill>
        <p:spPr>
          <a:xfrm>
            <a:off x="381000" y="971550"/>
            <a:ext cx="7790329" cy="37758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9664"/>
            <a:ext cx="8534400" cy="730097"/>
          </a:xfrm>
          <a:noFill/>
        </p:spPr>
        <p:txBody>
          <a:bodyPr>
            <a:noAutofit/>
          </a:bodyPr>
          <a:lstStyle/>
          <a:p>
            <a:r>
              <a:rPr lang="en-US" sz="2000" dirty="0">
                <a:effectLst/>
              </a:rPr>
              <a:t>Project Management Process Groups and Knowledge Areas Mapping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B259A-64A0-44F8-8DC8-AD051E30915F}"/>
              </a:ext>
            </a:extLst>
          </p:cNvPr>
          <p:cNvSpPr txBox="1"/>
          <p:nvPr/>
        </p:nvSpPr>
        <p:spPr>
          <a:xfrm>
            <a:off x="7239000" y="1787754"/>
            <a:ext cx="1445827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  <a:p>
            <a:pPr defTabSz="342900" fontAlgn="auto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915030-890D-490E-84FD-EAD34A014ED3}"/>
              </a:ext>
            </a:extLst>
          </p:cNvPr>
          <p:cNvSpPr/>
          <p:nvPr/>
        </p:nvSpPr>
        <p:spPr>
          <a:xfrm>
            <a:off x="7371932" y="2343150"/>
            <a:ext cx="1200995" cy="41471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white"/>
                </a:solidFill>
              </a:rPr>
              <a:t>“Planning” </a:t>
            </a:r>
            <a:r>
              <a:rPr lang="en-US" altLang="zh-TW" sz="900" dirty="0">
                <a:solidFill>
                  <a:schemeClr val="bg1"/>
                </a:solidFill>
              </a:rPr>
              <a:t>process group = 24 processes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075150-1483-4D08-B004-616810500D1C}"/>
              </a:ext>
            </a:extLst>
          </p:cNvPr>
          <p:cNvSpPr/>
          <p:nvPr/>
        </p:nvSpPr>
        <p:spPr>
          <a:xfrm>
            <a:off x="7362366" y="3327553"/>
            <a:ext cx="1200996" cy="73009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white"/>
                </a:solidFill>
              </a:rPr>
              <a:t>“Monitoring and controlling” </a:t>
            </a:r>
            <a:r>
              <a:rPr lang="en-US" altLang="zh-TW" sz="900" dirty="0">
                <a:solidFill>
                  <a:schemeClr val="bg1"/>
                </a:solidFill>
              </a:rPr>
              <a:t>process groups = 12 processes</a:t>
            </a:r>
            <a:endParaRPr lang="en-US" sz="900" dirty="0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26629-D7A8-49B7-9EA0-703C5E119628}"/>
              </a:ext>
            </a:extLst>
          </p:cNvPr>
          <p:cNvSpPr/>
          <p:nvPr/>
        </p:nvSpPr>
        <p:spPr>
          <a:xfrm>
            <a:off x="7362365" y="1871287"/>
            <a:ext cx="1200995" cy="41471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white"/>
                </a:solidFill>
              </a:rPr>
              <a:t>“Initiating” </a:t>
            </a:r>
            <a:r>
              <a:rPr lang="en-US" altLang="zh-TW" sz="900" dirty="0">
                <a:solidFill>
                  <a:schemeClr val="bg1"/>
                </a:solidFill>
              </a:rPr>
              <a:t>process group = 2 processes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427861-8FE6-4D52-AB8D-8353220FD139}"/>
              </a:ext>
            </a:extLst>
          </p:cNvPr>
          <p:cNvSpPr/>
          <p:nvPr/>
        </p:nvSpPr>
        <p:spPr>
          <a:xfrm>
            <a:off x="7371932" y="4114800"/>
            <a:ext cx="1179963" cy="41471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white"/>
                </a:solidFill>
              </a:rPr>
              <a:t>“Closing” </a:t>
            </a:r>
            <a:r>
              <a:rPr lang="en-US" altLang="zh-TW" sz="900" dirty="0">
                <a:solidFill>
                  <a:schemeClr val="bg1"/>
                </a:solidFill>
              </a:rPr>
              <a:t>process group = 1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C13AAC-98C9-4608-AF3A-ACFE3AABD5C9}"/>
              </a:ext>
            </a:extLst>
          </p:cNvPr>
          <p:cNvSpPr/>
          <p:nvPr/>
        </p:nvSpPr>
        <p:spPr>
          <a:xfrm>
            <a:off x="7362365" y="2842837"/>
            <a:ext cx="1200995" cy="41471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white"/>
                </a:solidFill>
              </a:rPr>
              <a:t>“Executing” </a:t>
            </a:r>
            <a:r>
              <a:rPr lang="en-US" altLang="zh-TW" sz="900" dirty="0">
                <a:solidFill>
                  <a:schemeClr val="bg1"/>
                </a:solidFill>
              </a:rPr>
              <a:t>process group = 10 processes</a:t>
            </a:r>
          </a:p>
        </p:txBody>
      </p:sp>
    </p:spTree>
    <p:extLst>
      <p:ext uri="{BB962C8B-B14F-4D97-AF65-F5344CB8AC3E}">
        <p14:creationId xmlns:p14="http://schemas.microsoft.com/office/powerpoint/2010/main" val="58473698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0D52888F-64EB-D5B2-13A8-88133595E0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458200" cy="34290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dirty="0"/>
              <a:t>This case study provides an example of what’s involved in initiating, planning, executing, controlling, and closing an IT project</a:t>
            </a:r>
          </a:p>
          <a:p>
            <a:pPr algn="just">
              <a:lnSpc>
                <a:spcPct val="150000"/>
              </a:lnSpc>
            </a:pPr>
            <a:r>
              <a:rPr lang="en-US" altLang="en-US" dirty="0"/>
              <a:t>Note:  This case study provides a big picture view of managing a project. Later chapters provide detailed information on each knowledge area</a:t>
            </a: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A783A275-8755-49AF-BB90-7F8EE9E49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en-US" sz="2800" dirty="0"/>
              <a:t>Case Study:  JWD Consulting’s Project Management Intranet Site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0EFBF-D3BB-EF4A-18E0-EAA1C51C4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487C81EE-CF23-4BC2-B7F4-0D25318B0477}" type="slidenum">
              <a:rPr lang="en-US" altLang="en-US" sz="900"/>
              <a:pPr algn="r" eaLnBrk="1" hangingPunct="1"/>
              <a:t>9</a:t>
            </a:fld>
            <a:endParaRPr lang="en-US" alt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>
            <a:extLst>
              <a:ext uri="{FF2B5EF4-FFF2-40B4-BE49-F238E27FC236}">
                <a16:creationId xmlns:a16="http://schemas.microsoft.com/office/drawing/2014/main" id="{BCB5F119-1D2D-E2C2-8BBC-62DED8963C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71550"/>
            <a:ext cx="8382000" cy="16573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Initiating a project includes recognizing and starting a new project or project phase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main goal is to formally select and start off projects</a:t>
            </a: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41C865BB-D10A-36B4-0D59-732A2BDCA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750" y="205978"/>
            <a:ext cx="6229350" cy="708422"/>
          </a:xfrm>
        </p:spPr>
        <p:txBody>
          <a:bodyPr/>
          <a:lstStyle/>
          <a:p>
            <a:pPr algn="ctr">
              <a:defRPr/>
            </a:pPr>
            <a:r>
              <a:rPr lang="en-US" dirty="0"/>
              <a:t>1- Project Initiation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23356-C984-10E1-CCD0-50D34A691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23534163-7B44-4807-8111-EFBE54725ACA}" type="slidenum">
              <a:rPr lang="en-US" altLang="en-US" sz="900"/>
              <a:pPr algn="r" eaLnBrk="1" hangingPunct="1"/>
              <a:t>10</a:t>
            </a:fld>
            <a:endParaRPr lang="en-US" altLang="en-US" sz="9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354592-E6EE-39FD-C7A3-08E3C573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639766"/>
              </p:ext>
            </p:extLst>
          </p:nvPr>
        </p:nvGraphicFramePr>
        <p:xfrm>
          <a:off x="762000" y="2266950"/>
          <a:ext cx="8001000" cy="2209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33931900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7079813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257357289"/>
                    </a:ext>
                  </a:extLst>
                </a:gridCol>
              </a:tblGrid>
              <a:tr h="5554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>
                          <a:effectLst/>
                        </a:rPr>
                        <a:t>Knowledge area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Initiating Process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>
                          <a:effectLst/>
                        </a:rPr>
                        <a:t>Outputs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01711957"/>
                  </a:ext>
                </a:extLst>
              </a:tr>
              <a:tr h="7560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Project Integration Management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>
                          <a:effectLst/>
                        </a:rPr>
                        <a:t>Develop project charter 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Project charter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6638320"/>
                  </a:ext>
                </a:extLst>
              </a:tr>
              <a:tr h="898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Project Stakeholder Management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Identify stakeholders 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Stakeholder register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74820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DD0FF2-88F8-AA18-8883-9BB62328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153" indent="0" algn="just">
              <a:lnSpc>
                <a:spcPct val="150000"/>
              </a:lnSpc>
              <a:buNone/>
            </a:pP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Project Charter</a:t>
            </a: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 is a formal document that authorizes a project, outlines its objectives, scope, stakeholders, and key deliverables, and provides a high-level overview of how the project will be executed. It serves as a reference throughout the project lifecycle.</a:t>
            </a:r>
          </a:p>
          <a:p>
            <a:pPr marL="82153" indent="0" algn="just">
              <a:lnSpc>
                <a:spcPct val="150000"/>
              </a:lnSpc>
              <a:buNone/>
            </a:pPr>
            <a:endParaRPr lang="en-US" sz="2800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94AD64-3AF4-22A9-5B64-A2F160EF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Project Charter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03436-6B79-19E7-4662-CCC21D722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29445-221E-4595-9368-3BB18A8323C5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BB843-EED9-023D-FC83-16D71065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Information Technology Project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774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1">
            <a:extLst>
              <a:ext uri="{FF2B5EF4-FFF2-40B4-BE49-F238E27FC236}">
                <a16:creationId xmlns:a16="http://schemas.microsoft.com/office/drawing/2014/main" id="{7A9430BC-A473-C3FF-3338-05129805A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 dirty="0"/>
              <a:t>Charters are normally short and include key project information and stakeholder signatures</a:t>
            </a:r>
          </a:p>
          <a:p>
            <a:pPr algn="just"/>
            <a:r>
              <a:rPr lang="en-US" altLang="en-US" sz="2800" dirty="0"/>
              <a:t>It’s good practice to hold a </a:t>
            </a:r>
            <a:r>
              <a:rPr lang="en-US" altLang="en-US" sz="2800" b="1" dirty="0"/>
              <a:t>kick-off meeting </a:t>
            </a:r>
            <a:r>
              <a:rPr lang="en-US" altLang="en-US" sz="2800" dirty="0"/>
              <a:t>at the beginning of a project so that stakeholders can meet each other, review the goals of the project, and discuss future plans.</a:t>
            </a:r>
          </a:p>
          <a:p>
            <a:pPr algn="just"/>
            <a:endParaRPr lang="en-US" alt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8C6AE9-0C86-EE7D-7B9D-C485D9A7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3000" dirty="0"/>
              <a:t>Project Charters and Kick-off Meetings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A6E95-7AE9-8AD4-05EE-A05644769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7DE78F-964C-4BE4-A4AC-33F3BACCDF7F}" type="slidenum">
              <a:rPr lang="en-US" altLang="en-US" sz="900"/>
              <a:pPr algn="r" eaLnBrk="1" hangingPunct="1"/>
              <a:t>12</a:t>
            </a:fld>
            <a:endParaRPr lang="en-US" altLang="en-US" sz="900"/>
          </a:p>
        </p:txBody>
      </p:sp>
      <p:sp>
        <p:nvSpPr>
          <p:cNvPr id="29701" name="Footer Placeholder 4">
            <a:extLst>
              <a:ext uri="{FF2B5EF4-FFF2-40B4-BE49-F238E27FC236}">
                <a16:creationId xmlns:a16="http://schemas.microsoft.com/office/drawing/2014/main" id="{0E95C335-839F-3DE3-F2DE-5F2B98B2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Ctr="0"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 dirty="0"/>
              <a:t>Information Technology Project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A18BB-B69E-E82C-A833-D4CA3398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9445-221E-4595-9368-3BB18A8323C5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9CD0B-1C0D-1CE8-CC24-27B7F1CAC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648" y="0"/>
            <a:ext cx="719270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21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4CC16F-30DE-0408-1E7F-196E953F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6EE6-11F0-4A66-A7A8-E327B11CD54F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3B36E-462C-BEC5-6D3E-A0DA14966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742950"/>
            <a:ext cx="7884000" cy="3153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CAA6C0-9388-09D7-DB4F-1F18868A63BC}"/>
              </a:ext>
            </a:extLst>
          </p:cNvPr>
          <p:cNvSpPr txBox="1"/>
          <p:nvPr/>
        </p:nvSpPr>
        <p:spPr>
          <a:xfrm>
            <a:off x="1981200" y="4551819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800" dirty="0">
                <a:hlinkClick r:id="rId4"/>
              </a:rPr>
              <a:t>https://everhour.com/blog/project-charter/</a:t>
            </a:r>
            <a:r>
              <a:rPr lang="en-US" altLang="zh-TW" sz="8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7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622743-1175-AA61-1D1F-596B63B2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86EE6-11F0-4A66-A7A8-E327B11CD54F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49CDB-858C-30F2-023D-0746C1020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9255" y="0"/>
            <a:ext cx="64454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34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252C2B-AC2A-8970-757D-9B9ADDF8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04" y="1657350"/>
            <a:ext cx="2498996" cy="536972"/>
          </a:xfrm>
        </p:spPr>
        <p:txBody>
          <a:bodyPr>
            <a:normAutofit fontScale="90000"/>
          </a:bodyPr>
          <a:lstStyle/>
          <a:p>
            <a:r>
              <a:rPr lang="en-US" sz="1800" b="1" i="0" dirty="0">
                <a:solidFill>
                  <a:srgbClr val="C41425"/>
                </a:solidFill>
                <a:effectLst/>
                <a:latin typeface="HelveticaLTStd-Bold"/>
              </a:rPr>
              <a:t>Project Kick-Off Meeting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32E00-8360-504D-8CC1-231496EB51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402F1FD-9741-4CA7-B794-ADC308B40964}" type="slidenum">
              <a:rPr lang="en-US" altLang="en-US" sz="900"/>
              <a:pPr algn="r" eaLnBrk="1" hangingPunct="1"/>
              <a:t>16</a:t>
            </a:fld>
            <a:endParaRPr lang="en-US" altLang="en-US" sz="900"/>
          </a:p>
        </p:txBody>
      </p:sp>
      <p:sp>
        <p:nvSpPr>
          <p:cNvPr id="30724" name="Footer Placeholder 4">
            <a:extLst>
              <a:ext uri="{FF2B5EF4-FFF2-40B4-BE49-F238E27FC236}">
                <a16:creationId xmlns:a16="http://schemas.microsoft.com/office/drawing/2014/main" id="{B0BCE00A-A55D-E3CC-33CB-BEB6FCD0A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Ctr="0"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 dirty="0"/>
              <a:t>Information Technology Project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4526E-2946-FE7F-273A-DEDB0CD88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9400" y="-21771"/>
            <a:ext cx="623279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4FB0E70C-8DDA-023D-5975-61D0B93DE8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800100"/>
            <a:ext cx="8077200" cy="360045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dirty="0"/>
              <a:t>The main purpose of project planning is to </a:t>
            </a:r>
            <a:r>
              <a:rPr lang="en-US" altLang="en-US" i="1" dirty="0"/>
              <a:t>guide execution</a:t>
            </a:r>
          </a:p>
          <a:p>
            <a:pPr algn="just">
              <a:lnSpc>
                <a:spcPct val="150000"/>
              </a:lnSpc>
            </a:pPr>
            <a:r>
              <a:rPr lang="en-US" altLang="en-US" dirty="0"/>
              <a:t>Every knowledge area includes planning information</a:t>
            </a:r>
          </a:p>
          <a:p>
            <a:pPr algn="just">
              <a:lnSpc>
                <a:spcPct val="150000"/>
              </a:lnSpc>
            </a:pPr>
            <a:r>
              <a:rPr lang="en-US" altLang="en-US" dirty="0"/>
              <a:t>Key outputs included in the project include: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/>
              <a:t>A team contract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/>
              <a:t>A project scope statement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/>
              <a:t>A work breakdown structure (WBS)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/>
              <a:t>A project schedule, in the form of a Gantt chart</a:t>
            </a:r>
          </a:p>
          <a:p>
            <a:pPr lvl="1" algn="just">
              <a:lnSpc>
                <a:spcPct val="150000"/>
              </a:lnSpc>
            </a:pPr>
            <a:r>
              <a:rPr lang="en-US" altLang="en-US" dirty="0"/>
              <a:t>A list of prioritized risks (part of a risk register)</a:t>
            </a: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18D2767E-E49C-8D8E-A6F8-BC33B2849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171450"/>
            <a:ext cx="6400800" cy="685800"/>
          </a:xfrm>
        </p:spPr>
        <p:txBody>
          <a:bodyPr/>
          <a:lstStyle/>
          <a:p>
            <a:pPr algn="ctr">
              <a:defRPr/>
            </a:pPr>
            <a:r>
              <a:rPr lang="en-US" dirty="0"/>
              <a:t>2- Project Planning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7B78A-0B91-788B-4F2B-ED6B5E589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FA753D9-2814-4A2E-8CEA-E932FE8AD882}" type="slidenum">
              <a:rPr lang="en-US" altLang="en-US" sz="900"/>
              <a:pPr algn="r" eaLnBrk="1" hangingPunct="1"/>
              <a:t>17</a:t>
            </a:fld>
            <a:endParaRPr lang="en-US" alt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2D9C4A4-5D1D-9B47-1003-ECD51447E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2700" dirty="0"/>
              <a:t>Figure 3-4. JWD Consulting Intranet Site Project Baseline Gantt Chart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4EEC4-E3FA-E13F-5776-FDA7F600B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B06F4356-5499-410D-B584-EEB7F2A7EB79}" type="slidenum">
              <a:rPr lang="en-US" altLang="en-US" sz="900"/>
              <a:pPr algn="r" eaLnBrk="1" hangingPunct="1"/>
              <a:t>18</a:t>
            </a:fld>
            <a:endParaRPr lang="en-US" altLang="en-US" sz="900"/>
          </a:p>
        </p:txBody>
      </p:sp>
      <p:sp>
        <p:nvSpPr>
          <p:cNvPr id="32772" name="Footer Placeholder 6">
            <a:extLst>
              <a:ext uri="{FF2B5EF4-FFF2-40B4-BE49-F238E27FC236}">
                <a16:creationId xmlns:a16="http://schemas.microsoft.com/office/drawing/2014/main" id="{D3EBD033-2035-791D-0D32-44A848DD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Ctr="0"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 dirty="0"/>
              <a:t>Information Technology Project Management</a:t>
            </a:r>
          </a:p>
        </p:txBody>
      </p:sp>
      <p:pic>
        <p:nvPicPr>
          <p:cNvPr id="32773" name="Picture 2">
            <a:extLst>
              <a:ext uri="{FF2B5EF4-FFF2-40B4-BE49-F238E27FC236}">
                <a16:creationId xmlns:a16="http://schemas.microsoft.com/office/drawing/2014/main" id="{2D459E82-38F9-93CD-571B-29B941E98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087041"/>
            <a:ext cx="66865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>
            <a:extLst>
              <a:ext uri="{FF2B5EF4-FFF2-40B4-BE49-F238E27FC236}">
                <a16:creationId xmlns:a16="http://schemas.microsoft.com/office/drawing/2014/main" id="{8D96758F-0434-C895-DF63-C85291032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750" y="205978"/>
            <a:ext cx="6229350" cy="59412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Table. 3-10. List of Prioritized Risks</a:t>
            </a:r>
          </a:p>
        </p:txBody>
      </p:sp>
      <p:sp>
        <p:nvSpPr>
          <p:cNvPr id="33795" name="Footer Placeholder 3">
            <a:extLst>
              <a:ext uri="{FF2B5EF4-FFF2-40B4-BE49-F238E27FC236}">
                <a16:creationId xmlns:a16="http://schemas.microsoft.com/office/drawing/2014/main" id="{B7241D2F-93FA-EC61-2DC3-BD305916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0" y="4869657"/>
            <a:ext cx="1943100" cy="273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Ctr="0"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 dirty="0"/>
              <a:t>Information Technology Project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2A034-90F4-758F-A9A4-2784F8AB1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5C5B4A8-F364-4174-B4A6-68E58BA49ECF}" type="slidenum">
              <a:rPr lang="en-US" altLang="en-US" sz="900"/>
              <a:pPr algn="r" eaLnBrk="1" hangingPunct="1"/>
              <a:t>19</a:t>
            </a:fld>
            <a:endParaRPr lang="en-US" altLang="en-US" sz="900"/>
          </a:p>
        </p:txBody>
      </p:sp>
      <p:pic>
        <p:nvPicPr>
          <p:cNvPr id="33797" name="Picture 7" descr="Tbl03-08">
            <a:extLst>
              <a:ext uri="{FF2B5EF4-FFF2-40B4-BE49-F238E27FC236}">
                <a16:creationId xmlns:a16="http://schemas.microsoft.com/office/drawing/2014/main" id="{6665C5FD-0653-FDEF-E3CA-0B6E4732A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5"/>
          <a:stretch>
            <a:fillRect/>
          </a:stretch>
        </p:blipFill>
        <p:spPr bwMode="auto">
          <a:xfrm>
            <a:off x="944956" y="662971"/>
            <a:ext cx="7643420" cy="381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>
            <a:extLst>
              <a:ext uri="{FF2B5EF4-FFF2-40B4-BE49-F238E27FC236}">
                <a16:creationId xmlns:a16="http://schemas.microsoft.com/office/drawing/2014/main" id="{97CF11AF-1963-7498-A936-094666BF23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95350"/>
            <a:ext cx="8229600" cy="36099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000" dirty="0"/>
              <a:t>Usually takes the most time and resources to perform project execution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/>
              <a:t>Project managers must use their leadership skills to handle the many challenges that occur during project execution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/>
              <a:t>Many project sponsors and customers focus on deliverables related to providing the products, services, or results desired from the project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/>
              <a:t>A milestone report can help focus on completing major milestones</a:t>
            </a: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97371E8C-56C2-D709-829E-BD556FBFFA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/>
              <a:t>3- Project Executing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5F99C-D93E-7CA4-15C1-D9555C780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3AA5791D-32AE-4900-BD62-7BD853AF811D}" type="slidenum">
              <a:rPr lang="en-US" altLang="en-US" sz="900"/>
              <a:pPr algn="r" eaLnBrk="1" hangingPunct="1"/>
              <a:t>20</a:t>
            </a:fld>
            <a:endParaRPr lang="en-US" alt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>
            <a:extLst>
              <a:ext uri="{FF2B5EF4-FFF2-40B4-BE49-F238E27FC236}">
                <a16:creationId xmlns:a16="http://schemas.microsoft.com/office/drawing/2014/main" id="{10C8C267-D21D-98D8-DE92-CAE3B5222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71451"/>
            <a:ext cx="8077200" cy="30837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700" dirty="0"/>
              <a:t>Part of Milestone Report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CA8BB-8E8E-FB8E-71F7-0A691A0CE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8C65E81E-13FE-49B9-A821-19B2CEE4C6D4}" type="slidenum">
              <a:rPr lang="en-US" altLang="en-US" sz="900"/>
              <a:pPr algn="r" eaLnBrk="1" hangingPunct="1"/>
              <a:t>21</a:t>
            </a:fld>
            <a:endParaRPr lang="en-US" altLang="en-US" sz="900"/>
          </a:p>
        </p:txBody>
      </p:sp>
      <p:pic>
        <p:nvPicPr>
          <p:cNvPr id="35845" name="Picture 6">
            <a:extLst>
              <a:ext uri="{FF2B5EF4-FFF2-40B4-BE49-F238E27FC236}">
                <a16:creationId xmlns:a16="http://schemas.microsoft.com/office/drawing/2014/main" id="{E0986617-8C77-63EE-4733-DF096977A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125" t="16000" r="26875" b="19597"/>
          <a:stretch>
            <a:fillRect/>
          </a:stretch>
        </p:blipFill>
        <p:spPr bwMode="auto">
          <a:xfrm>
            <a:off x="2057400" y="628650"/>
            <a:ext cx="5086350" cy="409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B52E9FB1-C8D5-823E-C4E8-99486DBB1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978776" cy="3657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400" dirty="0"/>
              <a:t>Involves </a:t>
            </a:r>
            <a:r>
              <a:rPr lang="en-US" altLang="en-US" sz="2400" b="1" dirty="0">
                <a:solidFill>
                  <a:srgbClr val="FF0000"/>
                </a:solidFill>
              </a:rPr>
              <a:t>measuring progress </a:t>
            </a:r>
            <a:r>
              <a:rPr lang="en-US" altLang="en-US" sz="2400" dirty="0"/>
              <a:t>toward project objectives, </a:t>
            </a:r>
            <a:r>
              <a:rPr lang="en-US" altLang="en-US" sz="2400" b="1" dirty="0">
                <a:solidFill>
                  <a:srgbClr val="FF0000"/>
                </a:solidFill>
              </a:rPr>
              <a:t>monitoring</a:t>
            </a:r>
            <a:r>
              <a:rPr lang="en-US" altLang="en-US" sz="2400" dirty="0"/>
              <a:t> deviation from the plan, and </a:t>
            </a:r>
            <a:r>
              <a:rPr lang="en-US" altLang="en-US" sz="2400" b="1" dirty="0">
                <a:solidFill>
                  <a:srgbClr val="FF0000"/>
                </a:solidFill>
              </a:rPr>
              <a:t>taking correction actions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/>
              <a:t>Outputs include </a:t>
            </a:r>
            <a:r>
              <a:rPr lang="en-US" altLang="en-US" sz="2400" b="1" u="sng" dirty="0"/>
              <a:t>performance reports</a:t>
            </a:r>
            <a:r>
              <a:rPr lang="en-US" altLang="en-US" sz="2400" dirty="0"/>
              <a:t>, </a:t>
            </a:r>
            <a:r>
              <a:rPr lang="en-US" altLang="en-US" sz="2400" b="1" u="sng" dirty="0"/>
              <a:t>change requests</a:t>
            </a:r>
            <a:r>
              <a:rPr lang="en-US" altLang="en-US" sz="2400" dirty="0"/>
              <a:t>, and </a:t>
            </a:r>
            <a:r>
              <a:rPr lang="en-US" altLang="en-US" sz="2400" b="1" u="sng" dirty="0"/>
              <a:t>updates to various plans</a:t>
            </a: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3146B149-72B5-2DC1-9C26-1C791437B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en-US" sz="2625" dirty="0"/>
              <a:t>4- Project Monitoring and Controlling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80B50-859F-EC54-C65A-70D4738F8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68D7714-1D56-42BB-8258-C23907B8F0E2}" type="slidenum">
              <a:rPr lang="en-US" altLang="en-US" sz="900"/>
              <a:pPr algn="r" eaLnBrk="1" hangingPunct="1"/>
              <a:t>22</a:t>
            </a:fld>
            <a:endParaRPr lang="en-US" alt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DFCBC2A1-8BBE-FD82-B71E-698628BD60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028700"/>
            <a:ext cx="8153400" cy="3943350"/>
          </a:xfrm>
        </p:spPr>
        <p:txBody>
          <a:bodyPr/>
          <a:lstStyle/>
          <a:p>
            <a:pPr algn="just"/>
            <a:r>
              <a:rPr lang="en-US" altLang="en-US" dirty="0"/>
              <a:t>Involves gaining stakeholder and customer acceptance of the final products and services </a:t>
            </a:r>
          </a:p>
          <a:p>
            <a:pPr algn="just"/>
            <a:r>
              <a:rPr lang="en-US" altLang="en-US" dirty="0"/>
              <a:t>Even if projects are not completed, they should be closed out to </a:t>
            </a:r>
            <a:r>
              <a:rPr lang="en-US" altLang="en-US" dirty="0">
                <a:highlight>
                  <a:srgbClr val="FFFF00"/>
                </a:highlight>
              </a:rPr>
              <a:t>learn from the past</a:t>
            </a:r>
          </a:p>
          <a:p>
            <a:pPr algn="just"/>
            <a:r>
              <a:rPr lang="en-US" altLang="en-US" dirty="0"/>
              <a:t>Outputs include </a:t>
            </a:r>
            <a:r>
              <a:rPr lang="en-US" altLang="en-US" b="1" dirty="0">
                <a:solidFill>
                  <a:srgbClr val="FF0000"/>
                </a:solidFill>
              </a:rPr>
              <a:t>project files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FF0000"/>
                </a:solidFill>
              </a:rPr>
              <a:t>lessons-learned reports</a:t>
            </a:r>
            <a:r>
              <a:rPr lang="en-US" altLang="en-US" dirty="0"/>
              <a:t>, part of organizational process assets</a:t>
            </a:r>
          </a:p>
          <a:p>
            <a:pPr algn="just"/>
            <a:r>
              <a:rPr lang="en-US" altLang="en-US" dirty="0"/>
              <a:t>Most projects also include </a:t>
            </a:r>
            <a:r>
              <a:rPr lang="en-US" altLang="en-US" b="1" dirty="0">
                <a:solidFill>
                  <a:srgbClr val="FF0000"/>
                </a:solidFill>
              </a:rPr>
              <a:t>a final report and presentation</a:t>
            </a:r>
            <a:r>
              <a:rPr lang="en-US" altLang="en-US" dirty="0"/>
              <a:t> to the sponsor/senior management</a:t>
            </a: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D9005468-7E3F-81D3-314B-F427DCBD4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/>
              <a:t>5- Project Closing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220D2-27C4-7B06-A6CA-AC01CD05C2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94A6C041-4308-403A-8769-06736BBD2DB7}" type="slidenum">
              <a:rPr lang="en-US" altLang="en-US" sz="900"/>
              <a:pPr algn="r" eaLnBrk="1" hangingPunct="1"/>
              <a:t>23</a:t>
            </a:fld>
            <a:endParaRPr lang="en-US" altLang="en-US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978722ED-C4EF-C8D2-CC25-D5C8A9DE04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971551"/>
            <a:ext cx="7620000" cy="339447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sz="2000" dirty="0"/>
              <a:t>The five project management process groups are initiating, planning, executing, monitoring and controlling, and closing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/>
              <a:t>The JWD Consulting case study provides an example of using the process groups and shows several important project documents</a:t>
            </a: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D6BEDB6F-54B2-0D3D-5E1C-147284FE2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Summary</a:t>
            </a:r>
          </a:p>
        </p:txBody>
      </p:sp>
      <p:sp>
        <p:nvSpPr>
          <p:cNvPr id="55300" name="Footer Placeholder 3">
            <a:extLst>
              <a:ext uri="{FF2B5EF4-FFF2-40B4-BE49-F238E27FC236}">
                <a16:creationId xmlns:a16="http://schemas.microsoft.com/office/drawing/2014/main" id="{C474FD88-F77C-BB2B-1D88-CCA97586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0" y="4869657"/>
            <a:ext cx="1943100" cy="273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Ctr="0"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900" dirty="0"/>
              <a:t>Information Technology Project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77741-E3DA-99D5-3763-CAA8B01A9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 algn="l" rtl="0" eaLnBrk="0" hangingPunct="0"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5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6E4CE41-E22C-4D6F-AEB8-4F31DF479DFC}" type="slidenum">
              <a:rPr lang="en-US" altLang="en-US" sz="900"/>
              <a:pPr algn="r" eaLnBrk="1" hangingPunct="1"/>
              <a:t>24</a:t>
            </a:fld>
            <a:endParaRPr lang="en-US" alt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9ED428-1F55-8ECB-A0FB-518A39123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Describe the five process groups </a:t>
            </a:r>
          </a:p>
          <a:p>
            <a:pPr algn="just"/>
            <a:r>
              <a:rPr lang="en-US" sz="3200" dirty="0"/>
              <a:t>What are some of the key outputs of each process group?</a:t>
            </a:r>
          </a:p>
          <a:p>
            <a:pPr algn="just"/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79A3A4-987A-314B-CDC1-2D6E8872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A19D1-AD17-AB00-FE8D-5EEEC9F6FD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29445-221E-4595-9368-3BB18A8323C5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B6354-2B89-6049-9313-4376B6FB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Information Technology Project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92864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87BC2BF26614A9CAAAEBD57FAD89C" ma:contentTypeVersion="0" ma:contentTypeDescription="Create a new document." ma:contentTypeScope="" ma:versionID="16a91709517006e9be9a817ea865ea2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DFD155-519D-48E2-BD64-3C45E1F5B2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6976E82-A019-4CF9-83DB-EC768A7FE8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8849</TotalTime>
  <Words>799</Words>
  <Application>Microsoft Office PowerPoint</Application>
  <PresentationFormat>On-screen Show (16:9)</PresentationFormat>
  <Paragraphs>144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Aptos</vt:lpstr>
      <vt:lpstr>Arial</vt:lpstr>
      <vt:lpstr>Arial Rounded MT Bold</vt:lpstr>
      <vt:lpstr>Calibri</vt:lpstr>
      <vt:lpstr>Caslon224Std-Book</vt:lpstr>
      <vt:lpstr>Century Gothic</vt:lpstr>
      <vt:lpstr>HelveticaLTStd-Bold</vt:lpstr>
      <vt:lpstr>Lucida Sans Unicode</vt:lpstr>
      <vt:lpstr>Times New Roman</vt:lpstr>
      <vt:lpstr>Verdana</vt:lpstr>
      <vt:lpstr>Wingdings 2</vt:lpstr>
      <vt:lpstr>Wingdings 3</vt:lpstr>
      <vt:lpstr>Custom Design</vt:lpstr>
      <vt:lpstr>Theme1</vt:lpstr>
      <vt:lpstr>Chapter 3: The Project Management Process Groups</vt:lpstr>
      <vt:lpstr>Learning Objectives / Contents</vt:lpstr>
      <vt:lpstr>PowerPoint Presentation</vt:lpstr>
      <vt:lpstr>Project Management Process Groups</vt:lpstr>
      <vt:lpstr>Project Management Process Groups: Outputs </vt:lpstr>
      <vt:lpstr>Percentage of Time Spent on Each Process Group</vt:lpstr>
      <vt:lpstr>Mapping the Process Groups to the Knowledge Areas</vt:lpstr>
      <vt:lpstr>Project Management Process Groups and Knowledge Areas Mapping</vt:lpstr>
      <vt:lpstr>Case Study:  JWD Consulting’s Project Management Intranet Site</vt:lpstr>
      <vt:lpstr>1- Project Initiation</vt:lpstr>
      <vt:lpstr>Project Charter </vt:lpstr>
      <vt:lpstr>Project Charters and Kick-off Meetings</vt:lpstr>
      <vt:lpstr>PowerPoint Presentation</vt:lpstr>
      <vt:lpstr>PowerPoint Presentation</vt:lpstr>
      <vt:lpstr>PowerPoint Presentation</vt:lpstr>
      <vt:lpstr>Project Kick-Off Meeting</vt:lpstr>
      <vt:lpstr>2- Project Planning</vt:lpstr>
      <vt:lpstr>Figure 3-4. JWD Consulting Intranet Site Project Baseline Gantt Chart</vt:lpstr>
      <vt:lpstr>Table. 3-10. List of Prioritized Risks</vt:lpstr>
      <vt:lpstr>3- Project Executing</vt:lpstr>
      <vt:lpstr>Part of Milestone Report</vt:lpstr>
      <vt:lpstr>4- Project Monitoring and Controlling</vt:lpstr>
      <vt:lpstr>5- Project Closing</vt:lpstr>
      <vt:lpstr>Chapter Summary</vt:lpstr>
      <vt:lpstr>Questions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Ahmed khedr</cp:lastModifiedBy>
  <cp:revision>207</cp:revision>
  <dcterms:created xsi:type="dcterms:W3CDTF">2001-07-05T23:10:12Z</dcterms:created>
  <dcterms:modified xsi:type="dcterms:W3CDTF">2026-10-02T07:25:31Z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0x010100DA487BC2BF26614A9CAAAEBD57FAD89C</vt:lpwstr>
  </property>
</Properties>
</file>