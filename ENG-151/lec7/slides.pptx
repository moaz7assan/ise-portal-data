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1123" r:id="rId2"/>
    <p:sldId id="1249" r:id="rId3"/>
    <p:sldId id="286" r:id="rId4"/>
    <p:sldId id="287" r:id="rId5"/>
    <p:sldId id="266" r:id="rId6"/>
    <p:sldId id="289" r:id="rId7"/>
    <p:sldId id="290" r:id="rId8"/>
    <p:sldId id="291" r:id="rId9"/>
    <p:sldId id="288" r:id="rId10"/>
    <p:sldId id="292" r:id="rId11"/>
    <p:sldId id="294" r:id="rId12"/>
    <p:sldId id="299" r:id="rId13"/>
    <p:sldId id="295" r:id="rId14"/>
    <p:sldId id="298" r:id="rId15"/>
    <p:sldId id="29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602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3420" autoAdjust="0"/>
  </p:normalViewPr>
  <p:slideViewPr>
    <p:cSldViewPr snapToGrid="0">
      <p:cViewPr varScale="1">
        <p:scale>
          <a:sx n="101" d="100"/>
          <a:sy n="101" d="100"/>
        </p:scale>
        <p:origin x="15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DD57A2-742B-4FA5-912B-946A99A60A6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2E8AA-5A9D-4A7B-889E-B4292CC93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5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55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65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042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938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string S;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 &lt;&lt; "Type your text ";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getline</a:t>
            </a:r>
            <a:r>
              <a:rPr lang="en-US" dirty="0"/>
              <a:t> (</a:t>
            </a:r>
            <a:r>
              <a:rPr lang="en-US" dirty="0" err="1"/>
              <a:t>cin</a:t>
            </a:r>
            <a:r>
              <a:rPr lang="en-US" dirty="0"/>
              <a:t>, S);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 &lt;&lt; "Original text is: " &lt;&lt; S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reverse(</a:t>
            </a:r>
            <a:r>
              <a:rPr lang="en-US" dirty="0" err="1"/>
              <a:t>S.begin</a:t>
            </a:r>
            <a:r>
              <a:rPr lang="en-US" dirty="0"/>
              <a:t>(), </a:t>
            </a:r>
            <a:r>
              <a:rPr lang="en-US" dirty="0" err="1"/>
              <a:t>S.end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 &lt;&lt; "reversed text is: " &lt;&lt; S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52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string S;</a:t>
            </a:r>
          </a:p>
          <a:p>
            <a:r>
              <a:rPr lang="en-US" dirty="0"/>
              <a:t>  string R;</a:t>
            </a:r>
          </a:p>
          <a:p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 &lt;&lt; "Type your text ";</a:t>
            </a:r>
          </a:p>
          <a:p>
            <a:r>
              <a:rPr lang="en-US" dirty="0"/>
              <a:t>  </a:t>
            </a:r>
            <a:r>
              <a:rPr lang="en-US" dirty="0" err="1"/>
              <a:t>getline</a:t>
            </a:r>
            <a:r>
              <a:rPr lang="en-US" dirty="0"/>
              <a:t> (</a:t>
            </a:r>
            <a:r>
              <a:rPr lang="en-US" dirty="0" err="1"/>
              <a:t>cin</a:t>
            </a:r>
            <a:r>
              <a:rPr lang="en-US" dirty="0"/>
              <a:t>, S);</a:t>
            </a:r>
          </a:p>
          <a:p>
            <a:r>
              <a:rPr lang="en-US" dirty="0"/>
              <a:t>  int y = 0; </a:t>
            </a:r>
          </a:p>
          <a:p>
            <a:r>
              <a:rPr lang="en-US" dirty="0"/>
              <a:t>  for (int x = </a:t>
            </a:r>
            <a:r>
              <a:rPr lang="en-US" dirty="0" err="1"/>
              <a:t>S.length</a:t>
            </a:r>
            <a:r>
              <a:rPr lang="en-US" dirty="0"/>
              <a:t>()-1; x &gt;= 0; x--) </a:t>
            </a:r>
          </a:p>
          <a:p>
            <a:r>
              <a:rPr lang="en-US" dirty="0"/>
              <a:t>  {</a:t>
            </a:r>
          </a:p>
          <a:p>
            <a:r>
              <a:rPr lang="en-US" dirty="0"/>
              <a:t>		R[y] = S[x]; </a:t>
            </a:r>
          </a:p>
          <a:p>
            <a:r>
              <a:rPr lang="en-US" dirty="0"/>
              <a:t>		</a:t>
            </a:r>
            <a:r>
              <a:rPr lang="en-US" dirty="0" err="1"/>
              <a:t>cout</a:t>
            </a:r>
            <a:r>
              <a:rPr lang="en-US" dirty="0"/>
              <a:t> &lt;&lt; R[y];</a:t>
            </a:r>
          </a:p>
          <a:p>
            <a:r>
              <a:rPr lang="en-US" dirty="0"/>
              <a:t>		y++; 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7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string sentence;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a sentence: ";</a:t>
            </a:r>
          </a:p>
          <a:p>
            <a:r>
              <a:rPr lang="en-US" dirty="0"/>
              <a:t>    </a:t>
            </a:r>
            <a:r>
              <a:rPr lang="en-US" dirty="0" err="1"/>
              <a:t>getline</a:t>
            </a:r>
            <a:r>
              <a:rPr lang="en-US" dirty="0"/>
              <a:t>(</a:t>
            </a:r>
            <a:r>
              <a:rPr lang="en-US" dirty="0" err="1"/>
              <a:t>cin</a:t>
            </a:r>
            <a:r>
              <a:rPr lang="en-US" dirty="0"/>
              <a:t>, sentence);</a:t>
            </a:r>
          </a:p>
          <a:p>
            <a:endParaRPr lang="en-US" dirty="0"/>
          </a:p>
          <a:p>
            <a:r>
              <a:rPr lang="en-US" dirty="0"/>
              <a:t>    int </a:t>
            </a:r>
            <a:r>
              <a:rPr lang="en-US" dirty="0" err="1"/>
              <a:t>wordCount</a:t>
            </a:r>
            <a:r>
              <a:rPr lang="en-US" dirty="0"/>
              <a:t> = 0;</a:t>
            </a:r>
          </a:p>
          <a:p>
            <a:r>
              <a:rPr lang="en-US" dirty="0"/>
              <a:t>    bool </a:t>
            </a:r>
            <a:r>
              <a:rPr lang="en-US" dirty="0" err="1"/>
              <a:t>inWord</a:t>
            </a:r>
            <a:r>
              <a:rPr lang="en-US" dirty="0"/>
              <a:t> = false;</a:t>
            </a:r>
          </a:p>
          <a:p>
            <a:endParaRPr lang="en-US" dirty="0"/>
          </a:p>
          <a:p>
            <a:r>
              <a:rPr lang="en-US" dirty="0"/>
              <a:t>    for (char </a:t>
            </a:r>
            <a:r>
              <a:rPr lang="en-US" dirty="0" err="1"/>
              <a:t>ch</a:t>
            </a:r>
            <a:r>
              <a:rPr lang="en-US" dirty="0"/>
              <a:t> : sentence) {</a:t>
            </a:r>
          </a:p>
          <a:p>
            <a:r>
              <a:rPr lang="en-US" dirty="0"/>
              <a:t>        if (</a:t>
            </a:r>
            <a:r>
              <a:rPr lang="en-US" dirty="0" err="1"/>
              <a:t>ch</a:t>
            </a:r>
            <a:r>
              <a:rPr lang="en-US" dirty="0"/>
              <a:t> != ' ') {</a:t>
            </a:r>
          </a:p>
          <a:p>
            <a:r>
              <a:rPr lang="en-US" dirty="0"/>
              <a:t>            if (!</a:t>
            </a:r>
            <a:r>
              <a:rPr lang="en-US" dirty="0" err="1"/>
              <a:t>inWord</a:t>
            </a:r>
            <a:r>
              <a:rPr lang="en-US" dirty="0"/>
              <a:t>) {</a:t>
            </a:r>
          </a:p>
          <a:p>
            <a:r>
              <a:rPr lang="en-US" dirty="0"/>
              <a:t>                </a:t>
            </a:r>
            <a:r>
              <a:rPr lang="en-US" dirty="0" err="1"/>
              <a:t>wordCount</a:t>
            </a:r>
            <a:r>
              <a:rPr lang="en-US" dirty="0"/>
              <a:t>++;</a:t>
            </a:r>
          </a:p>
          <a:p>
            <a:r>
              <a:rPr lang="en-US" dirty="0"/>
              <a:t>                </a:t>
            </a:r>
            <a:r>
              <a:rPr lang="en-US" dirty="0" err="1"/>
              <a:t>inWord</a:t>
            </a:r>
            <a:r>
              <a:rPr lang="en-US" dirty="0"/>
              <a:t> = true;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} else {</a:t>
            </a:r>
          </a:p>
          <a:p>
            <a:r>
              <a:rPr lang="en-US" dirty="0"/>
              <a:t>            </a:t>
            </a:r>
            <a:r>
              <a:rPr lang="en-US" dirty="0" err="1"/>
              <a:t>inWord</a:t>
            </a:r>
            <a:r>
              <a:rPr lang="en-US" dirty="0"/>
              <a:t> = false;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"Number of words: " &lt;&lt; </a:t>
            </a:r>
            <a:r>
              <a:rPr lang="en-US" dirty="0" err="1"/>
              <a:t>wordCount</a:t>
            </a:r>
            <a:r>
              <a:rPr lang="en-US" dirty="0"/>
              <a:t>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04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#include &lt;string&gt;  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string text = "</a:t>
            </a:r>
            <a:r>
              <a:rPr lang="en-US" dirty="0" err="1"/>
              <a:t>cpp</a:t>
            </a:r>
            <a:r>
              <a:rPr lang="en-US" dirty="0"/>
              <a:t> string exercises";</a:t>
            </a:r>
          </a:p>
          <a:p>
            <a:r>
              <a:rPr lang="en-US" dirty="0"/>
              <a:t>    for (int x = 0; x &lt; </a:t>
            </a:r>
            <a:r>
              <a:rPr lang="en-US" dirty="0" err="1"/>
              <a:t>text.length</a:t>
            </a:r>
            <a:r>
              <a:rPr lang="en-US" dirty="0"/>
              <a:t>(); x++)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// If the first character of the string or after a space, capitalize it</a:t>
            </a:r>
          </a:p>
          <a:p>
            <a:r>
              <a:rPr lang="en-US" dirty="0"/>
              <a:t>        if (x == 0 || text[x - 1] == ' ')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text[x] = </a:t>
            </a:r>
            <a:r>
              <a:rPr lang="en-US" dirty="0" err="1"/>
              <a:t>toupper</a:t>
            </a:r>
            <a:r>
              <a:rPr lang="en-US" dirty="0"/>
              <a:t>(text[x]); // Convert the character to uppercase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"\n" &lt;&lt; text;</a:t>
            </a:r>
          </a:p>
          <a:p>
            <a:endParaRPr lang="en-US" dirty="0"/>
          </a:p>
          <a:p>
            <a:r>
              <a:rPr lang="en-US" dirty="0"/>
              <a:t>    return 0; 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02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  string str;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a string: ";</a:t>
            </a:r>
          </a:p>
          <a:p>
            <a:r>
              <a:rPr lang="en-US" dirty="0"/>
              <a:t>    </a:t>
            </a:r>
            <a:r>
              <a:rPr lang="en-US" dirty="0" err="1"/>
              <a:t>getline</a:t>
            </a:r>
            <a:r>
              <a:rPr lang="en-US" dirty="0"/>
              <a:t> (</a:t>
            </a:r>
            <a:r>
              <a:rPr lang="en-US" dirty="0" err="1"/>
              <a:t>cin</a:t>
            </a:r>
            <a:r>
              <a:rPr lang="en-US" dirty="0"/>
              <a:t>, str);</a:t>
            </a:r>
          </a:p>
          <a:p>
            <a:r>
              <a:rPr lang="en-US" dirty="0"/>
              <a:t>    int vowels = 0, consonants = 0;</a:t>
            </a:r>
          </a:p>
          <a:p>
            <a:r>
              <a:rPr lang="en-US" dirty="0"/>
              <a:t>    for (char </a:t>
            </a:r>
            <a:r>
              <a:rPr lang="en-US" dirty="0" err="1"/>
              <a:t>ch</a:t>
            </a:r>
            <a:r>
              <a:rPr lang="en-US" dirty="0"/>
              <a:t> : str) {</a:t>
            </a:r>
          </a:p>
          <a:p>
            <a:r>
              <a:rPr lang="en-US" dirty="0"/>
              <a:t>        </a:t>
            </a:r>
            <a:r>
              <a:rPr lang="en-US" dirty="0" err="1"/>
              <a:t>ch</a:t>
            </a:r>
            <a:r>
              <a:rPr lang="en-US" dirty="0"/>
              <a:t> = </a:t>
            </a:r>
            <a:r>
              <a:rPr lang="en-US" dirty="0" err="1"/>
              <a:t>tolower</a:t>
            </a:r>
            <a:r>
              <a:rPr lang="en-US" dirty="0"/>
              <a:t>(</a:t>
            </a:r>
            <a:r>
              <a:rPr lang="en-US" dirty="0" err="1"/>
              <a:t>ch</a:t>
            </a:r>
            <a:r>
              <a:rPr lang="en-US" dirty="0"/>
              <a:t>);</a:t>
            </a:r>
          </a:p>
          <a:p>
            <a:r>
              <a:rPr lang="en-US" dirty="0"/>
              <a:t>        if (</a:t>
            </a:r>
            <a:r>
              <a:rPr lang="en-US" dirty="0" err="1"/>
              <a:t>ch</a:t>
            </a:r>
            <a:r>
              <a:rPr lang="en-US" dirty="0"/>
              <a:t> == 'a' || </a:t>
            </a:r>
            <a:r>
              <a:rPr lang="en-US" dirty="0" err="1"/>
              <a:t>ch</a:t>
            </a:r>
            <a:r>
              <a:rPr lang="en-US" dirty="0"/>
              <a:t> == 'e' || </a:t>
            </a:r>
            <a:r>
              <a:rPr lang="en-US" dirty="0" err="1"/>
              <a:t>ch</a:t>
            </a:r>
            <a:r>
              <a:rPr lang="en-US" dirty="0"/>
              <a:t> == '</a:t>
            </a:r>
            <a:r>
              <a:rPr lang="en-US" dirty="0" err="1"/>
              <a:t>i</a:t>
            </a:r>
            <a:r>
              <a:rPr lang="en-US" dirty="0"/>
              <a:t>' || </a:t>
            </a:r>
            <a:r>
              <a:rPr lang="en-US" dirty="0" err="1"/>
              <a:t>ch</a:t>
            </a:r>
            <a:r>
              <a:rPr lang="en-US" dirty="0"/>
              <a:t> == 'o' || </a:t>
            </a:r>
            <a:r>
              <a:rPr lang="en-US" dirty="0" err="1"/>
              <a:t>ch</a:t>
            </a:r>
            <a:r>
              <a:rPr lang="en-US" dirty="0"/>
              <a:t> == 'u')</a:t>
            </a:r>
          </a:p>
          <a:p>
            <a:r>
              <a:rPr lang="en-US" dirty="0"/>
              <a:t>            vowels++;</a:t>
            </a:r>
          </a:p>
          <a:p>
            <a:r>
              <a:rPr lang="en-US" dirty="0"/>
              <a:t>        else if (</a:t>
            </a:r>
            <a:r>
              <a:rPr lang="en-US" dirty="0" err="1"/>
              <a:t>isalpha</a:t>
            </a:r>
            <a:r>
              <a:rPr lang="en-US" dirty="0"/>
              <a:t>(</a:t>
            </a:r>
            <a:r>
              <a:rPr lang="en-US" dirty="0" err="1"/>
              <a:t>ch</a:t>
            </a:r>
            <a:r>
              <a:rPr lang="en-US" dirty="0"/>
              <a:t>))</a:t>
            </a:r>
          </a:p>
          <a:p>
            <a:r>
              <a:rPr lang="en-US" dirty="0"/>
              <a:t>            consonants++;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"Vowels: " &lt;&lt; vowels &lt;&lt; ", Consonants: " &lt;&lt; consonants;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02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615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448FD-B8EC-D3EF-50F0-6E7CFF788E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C3146-60A9-88E4-8DE7-46B64E1DF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8EE7B-6ECF-0BA6-298A-F3C2BE110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A75E0-260B-F6AE-AE6B-354D3F99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1CF23-0874-EE7B-B1E0-BBD1FF3A5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4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E0833-8051-D313-0CB7-FAA52D215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D9264-3D9A-8988-6AAA-2C9172811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156AF-0285-85FF-0BBE-8E8F8658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E73C3-AA13-D031-5F34-F3E0FB763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D6FCD-E80C-0844-B08C-AB0A09BCE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28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01B9F-8CA4-47F1-D236-3D65E4B0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96552-4B00-0A40-95BF-1315CB543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2616C-5B8A-F464-E936-1300AA4FA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7648B-7377-DFC8-8427-2B5A13C1C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78BFF-ED0B-6A15-D88C-76E1B0076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0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5AD64-AE19-773A-A09B-C411951DB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3D35A-ECA4-A8DB-1F3A-332FA1C10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F62D4-439D-5BCB-F9DA-63FBFC5CC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4CC9B-FC1F-4B93-0290-639B97001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BEF4D-2631-9211-D9F6-DCD9B5458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75366-FE30-47FC-0D1B-07D02D56B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04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28A95-1CBB-3094-8AB3-3516E6E47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67365-1EF2-C6F0-3BAE-ECCDBCBBC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F12DB-A9AA-6516-B049-58FEA42A3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850DD4-7A4B-2C6A-3AC8-ECC36C88C4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CDC1A7-866B-A3A5-6C7E-46C89095B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393143-2B90-C506-5F44-F754B2F37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0E37FC-0CFC-444E-B04E-60B5D18FA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D655B-FDD6-B453-3303-6A50E3B52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3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A2C81-8388-6E73-3A09-8B22D802B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15C56D-1B60-04EE-77B6-1BE205D21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2DE97-8F59-32CB-86DB-F54BBC5B1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12E94-F18F-B427-F526-A9FEB2EC1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10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3D3CCC-2186-BB1B-8947-2D62D766E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E07A37-2815-31D0-6DEA-117FCAF78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D1DFA-8EED-09F0-E865-F87BA6CB2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99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03DBA-5C3F-C000-5A16-8F95A4BF0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09DA6-D853-C62B-B716-8ED5A81FD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68587-9B83-39D6-3D58-F2E80FAD9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F160B-EFEF-FF49-7DC0-054714E8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4CABE-9E7E-A0A3-6829-36DA4755E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7A380-A621-FEE4-4931-E0C546587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945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1929-4CB6-9F1E-EF1C-8ABCA9814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BD3F39-BDA5-16E3-A16E-81344570E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B0F1D3-2640-8099-BC32-83FE6B528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FE80-249A-33E5-13D9-389F7DB77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DC424-2369-E58B-BB0F-E57BC157F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362C20-840D-3019-BD7C-C83EC6A71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40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AE770-957D-701A-642C-629F242A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1B69C-4886-A382-9DE3-6C2522355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5F29C-1B52-DFE2-3016-C20CE7B7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4BAFE-543D-EFE4-064E-19657BFA0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2BA47-AB99-0B1F-ED62-833A5EEDE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835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12426C-7653-3F8E-1E65-37B4FD5FF7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166A5-576F-3BB3-0CB6-C36DFAA58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3E69E-80B2-722F-B33C-C0C42136C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EB04B-B98D-B8A9-3FA7-E41A1ECC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DA651-B5A2-9F65-90FF-032682773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83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103BA1-E893-C009-C305-1BAF2035B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F0B26-33CC-ABAE-4E38-1C67604E0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214C3-0016-D459-C7EA-ABC5C7860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BA668-D979-EA15-00C4-4C6E1A915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64088-9964-53F5-9C10-B6C72B535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5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33C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C48BA3C7-823E-9780-2B98-2E72A56FA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89020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DAA833-BA70-F313-BB9A-AE6A4BDA6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23310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285DCC-7053-BF30-C88B-43F9AD1AF683}"/>
              </a:ext>
            </a:extLst>
          </p:cNvPr>
          <p:cNvSpPr txBox="1"/>
          <p:nvPr/>
        </p:nvSpPr>
        <p:spPr>
          <a:xfrm>
            <a:off x="2065687" y="315555"/>
            <a:ext cx="81020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Al-Azhar University</a:t>
            </a:r>
          </a:p>
          <a:p>
            <a:pPr algn="ctr">
              <a:spcAft>
                <a:spcPts val="75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 of Engineering</a:t>
            </a:r>
          </a:p>
          <a:p>
            <a:pPr algn="ctr">
              <a:spcAft>
                <a:spcPts val="75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 and Computer Engineering Dept.</a:t>
            </a:r>
          </a:p>
          <a:p>
            <a:pPr algn="ctr">
              <a:spcAft>
                <a:spcPts val="75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Intelligent Systems Engineering Program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D0361E3C-A4D8-DA35-5F2A-4457CF9F1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189" y="5203011"/>
            <a:ext cx="4972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sz="2400" b="1" dirty="0">
                <a:latin typeface="Verdana"/>
                <a:cs typeface="Verdana"/>
              </a:rPr>
              <a:t>Prof. Ahmed Youssef</a:t>
            </a: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09966157-FE14-8C22-1DE4-181DB889A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1331" y="4655826"/>
            <a:ext cx="4373766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endParaRPr lang="en-US" sz="1350"/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5835B742-3E69-1975-1279-80D115CE3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354" y="2817244"/>
            <a:ext cx="7693292" cy="1546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050" b="1" dirty="0">
                <a:latin typeface="Verdana"/>
                <a:cs typeface="Verdana"/>
              </a:rPr>
              <a:t>ENG 151</a:t>
            </a:r>
          </a:p>
          <a:p>
            <a:pPr algn="ctr">
              <a:spcBef>
                <a:spcPct val="50000"/>
              </a:spcBef>
            </a:pPr>
            <a:r>
              <a:rPr lang="en-US" sz="2000" b="1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n-US" sz="3600" b="1" dirty="0">
                <a:solidFill>
                  <a:srgbClr val="0000FF"/>
                </a:solidFill>
                <a:latin typeface="Verdana"/>
                <a:cs typeface="Verdana"/>
              </a:rPr>
              <a:t>Computer Programming I</a:t>
            </a:r>
            <a:endParaRPr lang="en-US" sz="3600" dirty="0">
              <a:solidFill>
                <a:srgbClr val="0000FF"/>
              </a:solidFill>
              <a:latin typeface="Verdana"/>
              <a:cs typeface="Verdana"/>
            </a:endParaRPr>
          </a:p>
        </p:txBody>
      </p:sp>
      <p:pic>
        <p:nvPicPr>
          <p:cNvPr id="1026" name="Picture 2" descr="C++ Explained: Everything You Need to Know - History-Computer">
            <a:extLst>
              <a:ext uri="{FF2B5EF4-FFF2-40B4-BE49-F238E27FC236}">
                <a16:creationId xmlns:a16="http://schemas.microsoft.com/office/drawing/2014/main" id="{F97A68F0-469C-2BB3-9BDC-C5466AC43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137" y="5111184"/>
            <a:ext cx="2131090" cy="127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++ Programming, Lecture# 1 - YouTube">
            <a:extLst>
              <a:ext uri="{FF2B5EF4-FFF2-40B4-BE49-F238E27FC236}">
                <a16:creationId xmlns:a16="http://schemas.microsoft.com/office/drawing/2014/main" id="{D678A2E5-0642-CCEE-6852-5A8BFACDD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773" y="4985573"/>
            <a:ext cx="2164080" cy="127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yellow circle with a logo and text&#10;&#10;Description automatically generated">
            <a:extLst>
              <a:ext uri="{FF2B5EF4-FFF2-40B4-BE49-F238E27FC236}">
                <a16:creationId xmlns:a16="http://schemas.microsoft.com/office/drawing/2014/main" id="{5FCD84C4-FB0F-89AB-BFC0-E872F9C10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96" y="163838"/>
            <a:ext cx="1440000" cy="1539185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5F8D5C6-3169-1438-CEF6-67C05C4AEF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3" t="5173" r="16367" b="5878"/>
          <a:stretch>
            <a:fillRect/>
          </a:stretch>
        </p:blipFill>
        <p:spPr bwMode="auto">
          <a:xfrm>
            <a:off x="10167704" y="168947"/>
            <a:ext cx="1440000" cy="14425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9715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399D2-B51C-6E31-166E-99C8AA4F8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33939AF9-9ED2-9C8C-64F6-0162DE7CF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89020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03941C-1C99-028F-E8AA-6F54418C9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23310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4693CD-665B-FC47-7B6E-1664A3F07B9F}"/>
              </a:ext>
            </a:extLst>
          </p:cNvPr>
          <p:cNvSpPr txBox="1"/>
          <p:nvPr/>
        </p:nvSpPr>
        <p:spPr>
          <a:xfrm>
            <a:off x="2065687" y="315555"/>
            <a:ext cx="810201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Al-Azhar University</a:t>
            </a:r>
          </a:p>
          <a:p>
            <a:pPr algn="ctr">
              <a:spcAft>
                <a:spcPts val="75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 of Engineering</a:t>
            </a:r>
          </a:p>
          <a:p>
            <a:pPr algn="ctr">
              <a:spcAft>
                <a:spcPts val="75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 and Computer Engineering Dept.</a:t>
            </a:r>
          </a:p>
          <a:p>
            <a:pPr algn="ctr">
              <a:spcAft>
                <a:spcPts val="75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Intelligent Systems Engineering Program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008EA510-056F-099D-0803-18656BA6A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1331" y="4655826"/>
            <a:ext cx="4373766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endParaRPr lang="en-US" sz="1350"/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E6ECADC8-755D-C93C-9E6E-2FB1412BC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354" y="2241263"/>
            <a:ext cx="7693292" cy="1546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050" b="1" dirty="0">
                <a:latin typeface="Verdana"/>
                <a:cs typeface="Verdana"/>
              </a:rPr>
              <a:t>ENG 151</a:t>
            </a:r>
          </a:p>
          <a:p>
            <a:pPr algn="ctr">
              <a:spcBef>
                <a:spcPct val="50000"/>
              </a:spcBef>
            </a:pPr>
            <a:r>
              <a:rPr lang="en-US" sz="2000" b="1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n-US" sz="3600" b="1" dirty="0">
                <a:solidFill>
                  <a:srgbClr val="0000FF"/>
                </a:solidFill>
                <a:latin typeface="Verdana"/>
                <a:cs typeface="Verdana"/>
              </a:rPr>
              <a:t>Computer Programming I</a:t>
            </a:r>
            <a:endParaRPr lang="en-US" sz="3600" dirty="0">
              <a:solidFill>
                <a:srgbClr val="0000FF"/>
              </a:solidFill>
              <a:latin typeface="Verdana"/>
              <a:cs typeface="Verdana"/>
            </a:endParaRPr>
          </a:p>
        </p:txBody>
      </p:sp>
      <p:pic>
        <p:nvPicPr>
          <p:cNvPr id="2" name="Picture 1" descr="A yellow circle with a logo and text&#10;&#10;Description automatically generated">
            <a:extLst>
              <a:ext uri="{FF2B5EF4-FFF2-40B4-BE49-F238E27FC236}">
                <a16:creationId xmlns:a16="http://schemas.microsoft.com/office/drawing/2014/main" id="{52E1F3D0-D9AF-953E-FFAE-C7F79857E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96" y="163838"/>
            <a:ext cx="1440000" cy="1539185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7EC8350D-0473-7F37-F838-F581E97A40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3" t="5173" r="16367" b="5878"/>
          <a:stretch>
            <a:fillRect/>
          </a:stretch>
        </p:blipFill>
        <p:spPr bwMode="auto">
          <a:xfrm>
            <a:off x="10167704" y="168947"/>
            <a:ext cx="1440000" cy="1442510"/>
          </a:xfrm>
          <a:prstGeom prst="rect">
            <a:avLst/>
          </a:prstGeom>
          <a:noFill/>
        </p:spPr>
      </p:pic>
      <p:sp>
        <p:nvSpPr>
          <p:cNvPr id="5" name="Text Box 8">
            <a:extLst>
              <a:ext uri="{FF2B5EF4-FFF2-40B4-BE49-F238E27FC236}">
                <a16:creationId xmlns:a16="http://schemas.microsoft.com/office/drawing/2014/main" id="{6D8E507D-BCCC-99D2-9454-5C1BB6AFB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450" y="4328553"/>
            <a:ext cx="6819899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 b="1" dirty="0"/>
              <a:t>Strings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22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4BE19-7684-BEB2-0F2E-0918699C9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Verdana"/>
                <a:cs typeface="Verdana"/>
              </a:rPr>
              <a:t>Strings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C581B-7EAE-F9BE-711A-70F37FD5A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43438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dirty="0"/>
              <a:t>In C++, strings are sequences of characters used to store and manipulate text. They can be implemented using </a:t>
            </a:r>
            <a:r>
              <a:rPr lang="en-US" b="1" dirty="0"/>
              <a:t>C-style strings</a:t>
            </a:r>
            <a:r>
              <a:rPr lang="en-US" dirty="0"/>
              <a:t> or the </a:t>
            </a:r>
            <a:r>
              <a:rPr lang="en-US" b="1" dirty="0"/>
              <a:t>std::string class</a:t>
            </a:r>
            <a:r>
              <a:rPr lang="en-US" dirty="0"/>
              <a:t> from the Standard Template Library (STL).</a:t>
            </a:r>
          </a:p>
          <a:p>
            <a:pPr>
              <a:lnSpc>
                <a:spcPct val="110000"/>
              </a:lnSpc>
            </a:pPr>
            <a:r>
              <a:rPr lang="en-US" b="1" dirty="0"/>
              <a:t>C-Style Strings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Represented as arrays of characters terminated by a null character (\0).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Fixed size.</a:t>
            </a:r>
          </a:p>
          <a:p>
            <a:pPr algn="just">
              <a:lnSpc>
                <a:spcPct val="110000"/>
              </a:lnSpc>
            </a:pPr>
            <a:r>
              <a:rPr lang="en-US" b="1" dirty="0"/>
              <a:t>std::string class</a:t>
            </a:r>
            <a:r>
              <a:rPr lang="en-US" dirty="0"/>
              <a:t> </a:t>
            </a:r>
          </a:p>
          <a:p>
            <a:pPr lvl="1" algn="just">
              <a:lnSpc>
                <a:spcPct val="110000"/>
              </a:lnSpc>
            </a:pPr>
            <a:r>
              <a:rPr lang="en-US" dirty="0"/>
              <a:t>A flexible and dynamic way to handle strings.</a:t>
            </a:r>
          </a:p>
          <a:p>
            <a:pPr algn="just">
              <a:lnSpc>
                <a:spcPct val="11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395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7A6A95-67DE-669E-9B12-ECDACF1E8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Verdana"/>
                <a:cs typeface="Verdana"/>
              </a:rPr>
              <a:t>Strings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5A8979-9A56-3ADF-20D1-B7ECD8C21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0033CC"/>
                </a:solidFill>
              </a:rPr>
              <a:t>C-style strings</a:t>
            </a:r>
            <a:endParaRPr lang="en-US" sz="3600" dirty="0">
              <a:solidFill>
                <a:srgbClr val="0033CC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51F54A-A91C-EFC1-4316-C7364DA351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b="1" dirty="0"/>
              <a:t>    char str[] </a:t>
            </a:r>
            <a:r>
              <a:rPr lang="en-US" dirty="0"/>
              <a:t>= " Hello, World!";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"String: " &lt;&lt; str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112449-0308-21A1-B42E-5125C6BE6B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33CC"/>
                </a:solidFill>
              </a:rPr>
              <a:t>std::string class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21E952F-0471-9CAD-A49F-0EE4D881EE3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</a:rPr>
              <a:t>#include &lt;string&gt;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rgbClr val="0033CC"/>
                </a:solidFill>
              </a:rPr>
              <a:t>string str </a:t>
            </a:r>
            <a:r>
              <a:rPr lang="en-US" dirty="0"/>
              <a:t>= "Hello, World!";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"String: " &lt;&lt; str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995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Verdana"/>
              </a:rPr>
              <a:t>Strings (Continued)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248897" y="6443726"/>
            <a:ext cx="281305" cy="28575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0"/>
              </a:spcBef>
            </a:pPr>
            <a:fld id="{81D60167-4931-47E6-BA6A-407CBD079E47}" type="slidenum">
              <a:rPr sz="1600" spc="-5" dirty="0">
                <a:solidFill>
                  <a:srgbClr val="888888"/>
                </a:solidFill>
                <a:latin typeface="Calibri"/>
                <a:cs typeface="Calibri"/>
              </a:rPr>
              <a:t>5</a:t>
            </a:fld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3287" y="1393062"/>
            <a:ext cx="10535920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000066"/>
              </a:buClr>
              <a:buFont typeface="Trebuchet MS"/>
              <a:buChar char="•"/>
              <a:tabLst>
                <a:tab pos="354965" algn="l"/>
                <a:tab pos="355600" algn="l"/>
              </a:tabLst>
            </a:pPr>
            <a:r>
              <a:rPr sz="2800" b="1" spc="20" dirty="0">
                <a:solidFill>
                  <a:srgbClr val="1F487C"/>
                </a:solidFill>
                <a:latin typeface="Trebuchet MS"/>
                <a:cs typeface="Trebuchet MS"/>
              </a:rPr>
              <a:t>There</a:t>
            </a:r>
            <a:r>
              <a:rPr sz="2800" b="1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50" dirty="0">
                <a:solidFill>
                  <a:srgbClr val="1F487C"/>
                </a:solidFill>
                <a:latin typeface="Trebuchet MS"/>
                <a:cs typeface="Trebuchet MS"/>
              </a:rPr>
              <a:t>is</a:t>
            </a:r>
            <a:r>
              <a:rPr sz="2800" b="1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b="1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75" dirty="0">
                <a:solidFill>
                  <a:srgbClr val="1F487C"/>
                </a:solidFill>
                <a:latin typeface="Trebuchet MS"/>
                <a:cs typeface="Trebuchet MS"/>
              </a:rPr>
              <a:t>difference</a:t>
            </a:r>
            <a:r>
              <a:rPr sz="2800" b="1" spc="-3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40" dirty="0">
                <a:solidFill>
                  <a:srgbClr val="1F487C"/>
                </a:solidFill>
                <a:latin typeface="Trebuchet MS"/>
                <a:cs typeface="Trebuchet MS"/>
              </a:rPr>
              <a:t>between</a:t>
            </a:r>
            <a:r>
              <a:rPr sz="2800" b="1" spc="-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150" dirty="0">
                <a:solidFill>
                  <a:srgbClr val="1F487C"/>
                </a:solidFill>
                <a:latin typeface="Trebuchet MS"/>
                <a:cs typeface="Trebuchet MS"/>
              </a:rPr>
              <a:t>'A'</a:t>
            </a:r>
            <a:r>
              <a:rPr sz="2800" b="1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1F487C"/>
                </a:solidFill>
                <a:latin typeface="Trebuchet MS"/>
                <a:cs typeface="Trebuchet MS"/>
              </a:rPr>
              <a:t>and</a:t>
            </a:r>
            <a:r>
              <a:rPr sz="2800" b="1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340" dirty="0">
                <a:solidFill>
                  <a:srgbClr val="1F487C"/>
                </a:solidFill>
                <a:latin typeface="Trebuchet MS"/>
                <a:cs typeface="Trebuchet MS"/>
              </a:rPr>
              <a:t>"A"</a:t>
            </a:r>
            <a:endParaRPr sz="2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0066"/>
              </a:buClr>
              <a:buFont typeface="Trebuchet MS"/>
              <a:buChar char="•"/>
            </a:pPr>
            <a:endParaRPr sz="2850" dirty="0">
              <a:latin typeface="Trebuchet MS"/>
              <a:cs typeface="Trebuchet MS"/>
            </a:endParaRPr>
          </a:p>
          <a:p>
            <a:pPr marL="927100" lvl="1" indent="-457200">
              <a:lnSpc>
                <a:spcPct val="100000"/>
              </a:lnSpc>
              <a:buClr>
                <a:srgbClr val="000066"/>
              </a:buClr>
              <a:buFont typeface="Wingdings"/>
              <a:buChar char=""/>
              <a:tabLst>
                <a:tab pos="926465" algn="l"/>
                <a:tab pos="927100" algn="l"/>
              </a:tabLst>
            </a:pPr>
            <a:r>
              <a:rPr sz="2800" spc="120" dirty="0">
                <a:solidFill>
                  <a:srgbClr val="00AF50"/>
                </a:solidFill>
                <a:latin typeface="Trebuchet MS"/>
                <a:cs typeface="Trebuchet MS"/>
              </a:rPr>
              <a:t>'A'</a:t>
            </a:r>
            <a:r>
              <a:rPr sz="2800" spc="-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800" b="1" spc="-50" dirty="0">
                <a:solidFill>
                  <a:srgbClr val="00AF50"/>
                </a:solidFill>
                <a:latin typeface="Trebuchet MS"/>
                <a:cs typeface="Trebuchet MS"/>
              </a:rPr>
              <a:t>is</a:t>
            </a:r>
            <a:r>
              <a:rPr sz="2800" b="1" spc="-7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800" b="1" spc="-25" dirty="0">
                <a:solidFill>
                  <a:srgbClr val="00AF50"/>
                </a:solidFill>
                <a:latin typeface="Trebuchet MS"/>
                <a:cs typeface="Trebuchet MS"/>
              </a:rPr>
              <a:t>the</a:t>
            </a:r>
            <a:r>
              <a:rPr sz="2800" b="1" spc="-7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Trebuchet MS"/>
                <a:cs typeface="Trebuchet MS"/>
              </a:rPr>
              <a:t>character</a:t>
            </a:r>
            <a:r>
              <a:rPr sz="2800" b="1" spc="-5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800" spc="210" dirty="0">
                <a:solidFill>
                  <a:srgbClr val="00AF50"/>
                </a:solidFill>
                <a:latin typeface="Trebuchet MS"/>
                <a:cs typeface="Trebuchet MS"/>
              </a:rPr>
              <a:t>A</a:t>
            </a:r>
            <a:endParaRPr sz="28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000066"/>
              </a:buClr>
              <a:buFont typeface="Wingdings"/>
              <a:buChar char=""/>
            </a:pPr>
            <a:endParaRPr sz="2850" dirty="0">
              <a:latin typeface="Trebuchet MS"/>
              <a:cs typeface="Trebuchet MS"/>
            </a:endParaRPr>
          </a:p>
          <a:p>
            <a:pPr marL="927100" lvl="1" indent="-457200">
              <a:lnSpc>
                <a:spcPct val="100000"/>
              </a:lnSpc>
              <a:spcBef>
                <a:spcPts val="5"/>
              </a:spcBef>
              <a:buClr>
                <a:srgbClr val="000066"/>
              </a:buClr>
              <a:buFont typeface="Wingdings"/>
              <a:buChar char=""/>
              <a:tabLst>
                <a:tab pos="926465" algn="l"/>
                <a:tab pos="927100" algn="l"/>
              </a:tabLst>
            </a:pPr>
            <a:r>
              <a:rPr sz="2800" spc="114" dirty="0">
                <a:solidFill>
                  <a:srgbClr val="00AF50"/>
                </a:solidFill>
                <a:latin typeface="Trebuchet MS"/>
                <a:cs typeface="Trebuchet MS"/>
              </a:rPr>
              <a:t>"A"</a:t>
            </a:r>
            <a:r>
              <a:rPr sz="2800" spc="-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800" b="1" spc="-50" dirty="0">
                <a:solidFill>
                  <a:srgbClr val="00AF50"/>
                </a:solidFill>
                <a:latin typeface="Trebuchet MS"/>
                <a:cs typeface="Trebuchet MS"/>
              </a:rPr>
              <a:t>is</a:t>
            </a:r>
            <a:r>
              <a:rPr sz="2800" b="1" spc="-8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800" b="1" spc="-25" dirty="0">
                <a:solidFill>
                  <a:srgbClr val="00AF50"/>
                </a:solidFill>
                <a:latin typeface="Trebuchet MS"/>
                <a:cs typeface="Trebuchet MS"/>
              </a:rPr>
              <a:t>the</a:t>
            </a:r>
            <a:r>
              <a:rPr sz="2800" b="1" spc="-6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800" b="1" spc="10" dirty="0">
                <a:solidFill>
                  <a:srgbClr val="00AF50"/>
                </a:solidFill>
                <a:latin typeface="Trebuchet MS"/>
                <a:cs typeface="Trebuchet MS"/>
              </a:rPr>
              <a:t>string</a:t>
            </a:r>
            <a:r>
              <a:rPr sz="2800" b="1" spc="-7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800" spc="210" dirty="0">
                <a:solidFill>
                  <a:srgbClr val="00AF50"/>
                </a:solidFill>
                <a:latin typeface="Trebuchet MS"/>
                <a:cs typeface="Trebuchet MS"/>
              </a:rPr>
              <a:t>A</a:t>
            </a:r>
            <a:endParaRPr sz="28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000066"/>
              </a:buClr>
              <a:buFont typeface="Wingdings"/>
              <a:buChar char=""/>
            </a:pPr>
            <a:endParaRPr sz="2850" dirty="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buClr>
                <a:srgbClr val="000066"/>
              </a:buClr>
              <a:buFont typeface="Trebuchet MS"/>
              <a:buChar char="•"/>
              <a:tabLst>
                <a:tab pos="354965" algn="l"/>
                <a:tab pos="355600" algn="l"/>
                <a:tab pos="1952625" algn="l"/>
                <a:tab pos="3284220" algn="l"/>
                <a:tab pos="4053840" algn="l"/>
                <a:tab pos="4888865" algn="l"/>
                <a:tab pos="7062470" algn="l"/>
                <a:tab pos="7911465" algn="l"/>
                <a:tab pos="9897110" algn="l"/>
              </a:tabLst>
            </a:pPr>
            <a:r>
              <a:rPr sz="2800" b="1" spc="105" dirty="0">
                <a:solidFill>
                  <a:srgbClr val="1F487C"/>
                </a:solidFill>
                <a:latin typeface="Trebuchet MS"/>
                <a:cs typeface="Trebuchet MS"/>
              </a:rPr>
              <a:t>Be</a:t>
            </a:r>
            <a:r>
              <a:rPr sz="2800" b="1" spc="-25" dirty="0">
                <a:solidFill>
                  <a:srgbClr val="1F487C"/>
                </a:solidFill>
                <a:latin typeface="Trebuchet MS"/>
                <a:cs typeface="Trebuchet MS"/>
              </a:rPr>
              <a:t>c</a:t>
            </a:r>
            <a:r>
              <a:rPr sz="2800" b="1" spc="-2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b="1" spc="-35" dirty="0">
                <a:solidFill>
                  <a:srgbClr val="1F487C"/>
                </a:solidFill>
                <a:latin typeface="Trebuchet MS"/>
                <a:cs typeface="Trebuchet MS"/>
              </a:rPr>
              <a:t>use</a:t>
            </a:r>
            <a:r>
              <a:rPr sz="2800" b="1" dirty="0">
                <a:solidFill>
                  <a:srgbClr val="1F487C"/>
                </a:solidFill>
                <a:latin typeface="Trebuchet MS"/>
                <a:cs typeface="Trebuchet MS"/>
              </a:rPr>
              <a:t>	</a:t>
            </a:r>
            <a:r>
              <a:rPr sz="2800" b="1" spc="10" dirty="0">
                <a:solidFill>
                  <a:srgbClr val="1F487C"/>
                </a:solidFill>
                <a:latin typeface="Trebuchet MS"/>
                <a:cs typeface="Trebuchet MS"/>
              </a:rPr>
              <a:t>strin</a:t>
            </a:r>
            <a:r>
              <a:rPr sz="2800" b="1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800" b="1" spc="-15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800" b="1" dirty="0">
                <a:solidFill>
                  <a:srgbClr val="1F487C"/>
                </a:solidFill>
                <a:latin typeface="Trebuchet MS"/>
                <a:cs typeface="Trebuchet MS"/>
              </a:rPr>
              <a:t>	</a:t>
            </a:r>
            <a:r>
              <a:rPr sz="2800" b="1" spc="25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b="1" spc="-4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b="1" spc="-7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b="1" dirty="0">
                <a:solidFill>
                  <a:srgbClr val="1F487C"/>
                </a:solidFill>
                <a:latin typeface="Trebuchet MS"/>
                <a:cs typeface="Trebuchet MS"/>
              </a:rPr>
              <a:t>	</a:t>
            </a:r>
            <a:r>
              <a:rPr sz="2800" b="1" spc="-5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b="1" spc="-55" dirty="0">
                <a:solidFill>
                  <a:srgbClr val="1F487C"/>
                </a:solidFill>
                <a:latin typeface="Trebuchet MS"/>
                <a:cs typeface="Trebuchet MS"/>
              </a:rPr>
              <a:t>ull</a:t>
            </a:r>
            <a:r>
              <a:rPr sz="2800" b="1" dirty="0">
                <a:solidFill>
                  <a:srgbClr val="1F487C"/>
                </a:solidFill>
                <a:latin typeface="Trebuchet MS"/>
                <a:cs typeface="Trebuchet MS"/>
              </a:rPr>
              <a:t>	</a:t>
            </a:r>
            <a:r>
              <a:rPr sz="2800" b="1" spc="-20" dirty="0">
                <a:solidFill>
                  <a:srgbClr val="1F487C"/>
                </a:solidFill>
                <a:latin typeface="Trebuchet MS"/>
                <a:cs typeface="Trebuchet MS"/>
              </a:rPr>
              <a:t>te</a:t>
            </a:r>
            <a:r>
              <a:rPr sz="2800" b="1" spc="95" dirty="0">
                <a:solidFill>
                  <a:srgbClr val="1F487C"/>
                </a:solidFill>
                <a:latin typeface="Trebuchet MS"/>
                <a:cs typeface="Trebuchet MS"/>
              </a:rPr>
              <a:t>rm</a:t>
            </a:r>
            <a:r>
              <a:rPr sz="2800" b="1" spc="3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800" b="1" spc="-5" dirty="0">
                <a:solidFill>
                  <a:srgbClr val="1F487C"/>
                </a:solidFill>
                <a:latin typeface="Trebuchet MS"/>
                <a:cs typeface="Trebuchet MS"/>
              </a:rPr>
              <a:t>na</a:t>
            </a:r>
            <a:r>
              <a:rPr sz="2800" b="1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b="1" spc="-114" dirty="0">
                <a:solidFill>
                  <a:srgbClr val="1F487C"/>
                </a:solidFill>
                <a:latin typeface="Trebuchet MS"/>
                <a:cs typeface="Trebuchet MS"/>
              </a:rPr>
              <a:t>ed,</a:t>
            </a:r>
            <a:r>
              <a:rPr sz="2800" b="1" dirty="0">
                <a:solidFill>
                  <a:srgbClr val="1F487C"/>
                </a:solidFill>
                <a:latin typeface="Trebuchet MS"/>
                <a:cs typeface="Trebuchet MS"/>
              </a:rPr>
              <a:t>	</a:t>
            </a:r>
            <a:r>
              <a:rPr sz="2800" b="1" spc="340" dirty="0">
                <a:solidFill>
                  <a:srgbClr val="1F487C"/>
                </a:solidFill>
                <a:latin typeface="Trebuchet MS"/>
                <a:cs typeface="Trebuchet MS"/>
              </a:rPr>
              <a:t>"A"</a:t>
            </a:r>
            <a:r>
              <a:rPr sz="2800" b="1" dirty="0">
                <a:solidFill>
                  <a:srgbClr val="1F487C"/>
                </a:solidFill>
                <a:latin typeface="Trebuchet MS"/>
                <a:cs typeface="Trebuchet MS"/>
              </a:rPr>
              <a:t>	</a:t>
            </a:r>
            <a:r>
              <a:rPr sz="2800" b="1" spc="-1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b="1" spc="-5" dirty="0">
                <a:solidFill>
                  <a:srgbClr val="1F487C"/>
                </a:solidFill>
                <a:latin typeface="Trebuchet MS"/>
                <a:cs typeface="Trebuchet MS"/>
              </a:rPr>
              <a:t>ep</a:t>
            </a:r>
            <a:r>
              <a:rPr sz="2800" b="1" spc="-6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b="1" spc="-35" dirty="0">
                <a:solidFill>
                  <a:srgbClr val="1F487C"/>
                </a:solidFill>
                <a:latin typeface="Trebuchet MS"/>
                <a:cs typeface="Trebuchet MS"/>
              </a:rPr>
              <a:t>esen</a:t>
            </a:r>
            <a:r>
              <a:rPr sz="2800" b="1" spc="-2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b="1" spc="-15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800" b="1" dirty="0">
                <a:solidFill>
                  <a:srgbClr val="1F487C"/>
                </a:solidFill>
                <a:latin typeface="Trebuchet MS"/>
                <a:cs typeface="Trebuchet MS"/>
              </a:rPr>
              <a:t>	t</a:t>
            </a:r>
            <a:r>
              <a:rPr sz="2800" b="1" spc="-55" dirty="0">
                <a:solidFill>
                  <a:srgbClr val="1F487C"/>
                </a:solidFill>
                <a:latin typeface="Trebuchet MS"/>
                <a:cs typeface="Trebuchet MS"/>
              </a:rPr>
              <a:t>w</a:t>
            </a:r>
            <a:r>
              <a:rPr sz="2800" b="1" spc="50" dirty="0">
                <a:solidFill>
                  <a:srgbClr val="1F487C"/>
                </a:solidFill>
                <a:latin typeface="Trebuchet MS"/>
                <a:cs typeface="Trebuchet MS"/>
              </a:rPr>
              <a:t>o  </a:t>
            </a:r>
            <a:r>
              <a:rPr sz="2800" b="1" spc="-35" dirty="0">
                <a:solidFill>
                  <a:srgbClr val="1F487C"/>
                </a:solidFill>
                <a:latin typeface="Trebuchet MS"/>
                <a:cs typeface="Trebuchet MS"/>
              </a:rPr>
              <a:t>characters,</a:t>
            </a:r>
            <a:r>
              <a:rPr sz="2800" b="1" spc="-3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150" dirty="0">
                <a:solidFill>
                  <a:srgbClr val="1F487C"/>
                </a:solidFill>
                <a:latin typeface="Trebuchet MS"/>
                <a:cs typeface="Trebuchet MS"/>
              </a:rPr>
              <a:t>'A'</a:t>
            </a:r>
            <a:r>
              <a:rPr sz="2800" b="1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1F487C"/>
                </a:solidFill>
                <a:latin typeface="Trebuchet MS"/>
                <a:cs typeface="Trebuchet MS"/>
              </a:rPr>
              <a:t>and</a:t>
            </a:r>
            <a:r>
              <a:rPr sz="2800" b="1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135" dirty="0">
                <a:solidFill>
                  <a:srgbClr val="1F487C"/>
                </a:solidFill>
                <a:latin typeface="Trebuchet MS"/>
                <a:cs typeface="Trebuchet MS"/>
              </a:rPr>
              <a:t>'\0‘</a:t>
            </a:r>
            <a:endParaRPr sz="2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000066"/>
              </a:buClr>
              <a:buFont typeface="Trebuchet MS"/>
              <a:buChar char="•"/>
            </a:pPr>
            <a:endParaRPr sz="2850" dirty="0">
              <a:latin typeface="Trebuchet MS"/>
              <a:cs typeface="Trebuchet MS"/>
            </a:endParaRPr>
          </a:p>
          <a:p>
            <a:pPr marL="355600" marR="142240" indent="-342900">
              <a:lnSpc>
                <a:spcPct val="100000"/>
              </a:lnSpc>
              <a:buClr>
                <a:srgbClr val="000066"/>
              </a:buClr>
              <a:buFont typeface="Trebuchet MS"/>
              <a:buChar char="•"/>
              <a:tabLst>
                <a:tab pos="354965" algn="l"/>
                <a:tab pos="355600" algn="l"/>
              </a:tabLst>
            </a:pPr>
            <a:r>
              <a:rPr sz="2800" b="1" spc="-35" dirty="0">
                <a:solidFill>
                  <a:srgbClr val="1F487C"/>
                </a:solidFill>
                <a:latin typeface="Trebuchet MS"/>
                <a:cs typeface="Trebuchet MS"/>
              </a:rPr>
              <a:t>Similarly,</a:t>
            </a:r>
            <a:r>
              <a:rPr sz="2800" b="1" spc="-32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130" dirty="0">
                <a:solidFill>
                  <a:srgbClr val="1F487C"/>
                </a:solidFill>
                <a:latin typeface="Trebuchet MS"/>
                <a:cs typeface="Trebuchet MS"/>
              </a:rPr>
              <a:t>"Hello"</a:t>
            </a:r>
            <a:r>
              <a:rPr sz="2800" b="1" spc="-3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1F487C"/>
                </a:solidFill>
                <a:latin typeface="Trebuchet MS"/>
                <a:cs typeface="Trebuchet MS"/>
              </a:rPr>
              <a:t>contains</a:t>
            </a:r>
            <a:r>
              <a:rPr sz="2800" b="1" spc="-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35" dirty="0">
                <a:solidFill>
                  <a:srgbClr val="1F487C"/>
                </a:solidFill>
                <a:latin typeface="Trebuchet MS"/>
                <a:cs typeface="Trebuchet MS"/>
              </a:rPr>
              <a:t>six</a:t>
            </a:r>
            <a:r>
              <a:rPr sz="2800" b="1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35" dirty="0">
                <a:solidFill>
                  <a:srgbClr val="1F487C"/>
                </a:solidFill>
                <a:latin typeface="Trebuchet MS"/>
                <a:cs typeface="Trebuchet MS"/>
              </a:rPr>
              <a:t>characters,</a:t>
            </a:r>
            <a:r>
              <a:rPr sz="2800" b="1" spc="-3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45" dirty="0">
                <a:solidFill>
                  <a:srgbClr val="1F487C"/>
                </a:solidFill>
                <a:latin typeface="Trebuchet MS"/>
                <a:cs typeface="Trebuchet MS"/>
              </a:rPr>
              <a:t>'H',</a:t>
            </a:r>
            <a:r>
              <a:rPr sz="2800" b="1" spc="-33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75" dirty="0">
                <a:solidFill>
                  <a:srgbClr val="1F487C"/>
                </a:solidFill>
                <a:latin typeface="Trebuchet MS"/>
                <a:cs typeface="Trebuchet MS"/>
              </a:rPr>
              <a:t>'e',</a:t>
            </a:r>
            <a:r>
              <a:rPr sz="2800" b="1" spc="-33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75" dirty="0">
                <a:solidFill>
                  <a:srgbClr val="1F487C"/>
                </a:solidFill>
                <a:latin typeface="Trebuchet MS"/>
                <a:cs typeface="Trebuchet MS"/>
              </a:rPr>
              <a:t>'l',</a:t>
            </a:r>
            <a:r>
              <a:rPr sz="2800" b="1" spc="-32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75" dirty="0">
                <a:solidFill>
                  <a:srgbClr val="1F487C"/>
                </a:solidFill>
                <a:latin typeface="Trebuchet MS"/>
                <a:cs typeface="Trebuchet MS"/>
              </a:rPr>
              <a:t>'l',</a:t>
            </a:r>
            <a:r>
              <a:rPr sz="2800" b="1" spc="-33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40" dirty="0">
                <a:solidFill>
                  <a:srgbClr val="1F487C"/>
                </a:solidFill>
                <a:latin typeface="Trebuchet MS"/>
                <a:cs typeface="Trebuchet MS"/>
              </a:rPr>
              <a:t>'o',</a:t>
            </a:r>
            <a:r>
              <a:rPr sz="2800" b="1" spc="-3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1F487C"/>
                </a:solidFill>
                <a:latin typeface="Trebuchet MS"/>
                <a:cs typeface="Trebuchet MS"/>
              </a:rPr>
              <a:t>and </a:t>
            </a:r>
            <a:r>
              <a:rPr sz="2800" b="1" spc="-83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65" dirty="0">
                <a:solidFill>
                  <a:srgbClr val="1F487C"/>
                </a:solidFill>
                <a:latin typeface="Trebuchet MS"/>
                <a:cs typeface="Trebuchet MS"/>
              </a:rPr>
              <a:t>'\0'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1EB67-DE91-59B5-97E4-C6213D23E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750"/>
              </a:spcBef>
              <a:spcAft>
                <a:spcPts val="750"/>
              </a:spcAft>
            </a:pPr>
            <a:r>
              <a:rPr lang="en-US" dirty="0">
                <a:latin typeface="Verdana"/>
              </a:rPr>
              <a:t>String Length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A01DE-0797-0ECB-4463-976CF9863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get the length of a string:</a:t>
            </a:r>
          </a:p>
          <a:p>
            <a:pPr marL="0" indent="0">
              <a:buNone/>
            </a:pP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txt =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"ABCDEFGHIJKLMNOPQRSTUVWXYZ"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use the length() function:</a:t>
            </a:r>
          </a:p>
          <a:p>
            <a:pPr marL="0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"The length of string is: 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txt.length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OR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use the </a:t>
            </a:r>
            <a:r>
              <a:rPr lang="en-US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size()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function:</a:t>
            </a:r>
          </a:p>
          <a:p>
            <a:pPr marL="0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"The length of string is: 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txt.size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58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E9E3A-6F9A-952B-DE39-69FCEA832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750"/>
              </a:spcBef>
              <a:spcAft>
                <a:spcPts val="750"/>
              </a:spcAft>
            </a:pPr>
            <a:r>
              <a:rPr lang="en-US" dirty="0">
                <a:latin typeface="Verdana"/>
              </a:rPr>
              <a:t>User Input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2333D-42F5-170F-FF59-BE2D4667F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cs typeface="+mj-cs"/>
              </a:rPr>
              <a:t>It is possible to use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cs typeface="+mj-cs"/>
              </a:rPr>
              <a:t>cin</a:t>
            </a:r>
            <a:r>
              <a:rPr lang="ar-EG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cs typeface="+mj-cs"/>
              </a:rPr>
              <a:t>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cs typeface="+mj-cs"/>
              </a:rPr>
              <a:t> &gt;&gt;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cs typeface="+mj-cs"/>
              </a:rPr>
              <a:t> to store a string entered by a user.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cs typeface="+mj-cs"/>
              </a:rPr>
              <a:t>However, </a:t>
            </a:r>
            <a:r>
              <a:rPr lang="en-US" dirty="0" err="1">
                <a:cs typeface="+mj-cs"/>
              </a:rPr>
              <a:t>cin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cs typeface="+mj-cs"/>
              </a:rPr>
              <a:t> considers a space (whitespace, tabs,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cs typeface="+mj-cs"/>
              </a:rPr>
              <a:t>etc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cs typeface="+mj-cs"/>
              </a:rPr>
              <a:t>) as a terminating character, which means that it can only store a </a:t>
            </a:r>
            <a:r>
              <a:rPr lang="en-US" b="1" i="0" dirty="0">
                <a:solidFill>
                  <a:srgbClr val="0033CC"/>
                </a:solidFill>
                <a:effectLst/>
                <a:latin typeface="Verdana" panose="020B0604030504040204" pitchFamily="34" charset="0"/>
                <a:cs typeface="+mj-cs"/>
              </a:rPr>
              <a:t>single word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cs typeface="+mj-cs"/>
              </a:rPr>
              <a:t>.</a:t>
            </a:r>
          </a:p>
          <a:p>
            <a:pPr marL="914400" lvl="2" indent="0">
              <a:buNone/>
            </a:pPr>
            <a:r>
              <a:rPr lang="en-US" sz="3200" dirty="0">
                <a:cs typeface="+mj-cs"/>
              </a:rPr>
              <a:t>string </a:t>
            </a:r>
            <a:r>
              <a:rPr lang="en-US" sz="3200" dirty="0" err="1">
                <a:cs typeface="+mj-cs"/>
              </a:rPr>
              <a:t>firstName</a:t>
            </a:r>
            <a:r>
              <a:rPr lang="en-US" sz="3200" dirty="0">
                <a:cs typeface="+mj-cs"/>
              </a:rPr>
              <a:t>;</a:t>
            </a:r>
          </a:p>
          <a:p>
            <a:pPr marL="914400" lvl="2" indent="0">
              <a:buNone/>
            </a:pPr>
            <a:r>
              <a:rPr lang="en-US" sz="3200" dirty="0" err="1">
                <a:cs typeface="+mj-cs"/>
              </a:rPr>
              <a:t>cout</a:t>
            </a:r>
            <a:r>
              <a:rPr lang="en-US" sz="3200" dirty="0">
                <a:cs typeface="+mj-cs"/>
              </a:rPr>
              <a:t> &lt;&lt; "Type your first name: ";</a:t>
            </a:r>
          </a:p>
          <a:p>
            <a:pPr marL="914400" lvl="2" indent="0">
              <a:buNone/>
            </a:pPr>
            <a:r>
              <a:rPr lang="en-US" sz="3200" dirty="0" err="1">
                <a:cs typeface="+mj-cs"/>
              </a:rPr>
              <a:t>cin</a:t>
            </a:r>
            <a:r>
              <a:rPr lang="en-US" sz="3200" dirty="0">
                <a:cs typeface="+mj-cs"/>
              </a:rPr>
              <a:t> &gt;&gt; </a:t>
            </a:r>
            <a:r>
              <a:rPr lang="en-US" sz="3200" dirty="0" err="1">
                <a:cs typeface="+mj-cs"/>
              </a:rPr>
              <a:t>firstName</a:t>
            </a:r>
            <a:r>
              <a:rPr lang="en-US" sz="3200" dirty="0">
                <a:cs typeface="+mj-cs"/>
              </a:rPr>
              <a:t>; </a:t>
            </a:r>
          </a:p>
          <a:p>
            <a:pPr marL="914400" lvl="2" indent="0">
              <a:buNone/>
            </a:pPr>
            <a:r>
              <a:rPr lang="en-US" sz="3200" dirty="0" err="1">
                <a:cs typeface="+mj-cs"/>
              </a:rPr>
              <a:t>cout</a:t>
            </a:r>
            <a:r>
              <a:rPr lang="en-US" sz="3200" dirty="0">
                <a:cs typeface="+mj-cs"/>
              </a:rPr>
              <a:t> &lt;&lt; "Your name is: " &lt;&lt; </a:t>
            </a:r>
            <a:r>
              <a:rPr lang="en-US" sz="3200" dirty="0" err="1">
                <a:cs typeface="+mj-cs"/>
              </a:rPr>
              <a:t>firstName</a:t>
            </a:r>
            <a:r>
              <a:rPr lang="en-US" sz="3200" dirty="0">
                <a:cs typeface="+mj-cs"/>
              </a:rPr>
              <a:t>;</a:t>
            </a:r>
            <a:endParaRPr lang="en-US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88000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5150-3D94-C575-22FB-9BD35B957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Verdana"/>
              </a:rPr>
              <a:t>User Input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FD0B9-764C-CD78-4BB6-799EAB0D9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We use the </a:t>
            </a:r>
            <a:r>
              <a:rPr lang="en-US" sz="3200" dirty="0" err="1"/>
              <a:t>getline</a:t>
            </a:r>
            <a:r>
              <a:rPr lang="en-US" sz="3200" dirty="0"/>
              <a:t>() function to read a line of text.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string </a:t>
            </a:r>
            <a:r>
              <a:rPr lang="en-US" sz="3200" dirty="0" err="1"/>
              <a:t>fullName</a:t>
            </a:r>
            <a:r>
              <a:rPr lang="en-US" sz="3200" dirty="0"/>
              <a:t>;</a:t>
            </a:r>
          </a:p>
          <a:p>
            <a:pPr marL="0" indent="0">
              <a:buNone/>
            </a:pPr>
            <a:r>
              <a:rPr lang="en-US" sz="3200" dirty="0" err="1"/>
              <a:t>cout</a:t>
            </a:r>
            <a:r>
              <a:rPr lang="en-US" sz="3200" dirty="0"/>
              <a:t> &lt;&lt; "Type your full name: ";</a:t>
            </a:r>
          </a:p>
          <a:p>
            <a:pPr marL="0" indent="0">
              <a:buNone/>
            </a:pPr>
            <a:r>
              <a:rPr lang="en-US" sz="3200" b="1" dirty="0" err="1">
                <a:solidFill>
                  <a:srgbClr val="0033CC"/>
                </a:solidFill>
              </a:rPr>
              <a:t>getline</a:t>
            </a:r>
            <a:r>
              <a:rPr lang="en-US" sz="3200" b="1" dirty="0">
                <a:solidFill>
                  <a:srgbClr val="0033CC"/>
                </a:solidFill>
              </a:rPr>
              <a:t> (</a:t>
            </a:r>
            <a:r>
              <a:rPr lang="en-US" sz="3200" b="1" dirty="0" err="1">
                <a:solidFill>
                  <a:srgbClr val="0033CC"/>
                </a:solidFill>
              </a:rPr>
              <a:t>cin</a:t>
            </a:r>
            <a:r>
              <a:rPr lang="en-US" sz="3200" b="1" dirty="0">
                <a:solidFill>
                  <a:srgbClr val="0033CC"/>
                </a:solidFill>
              </a:rPr>
              <a:t>, </a:t>
            </a:r>
            <a:r>
              <a:rPr lang="en-US" sz="3200" b="1" dirty="0" err="1">
                <a:solidFill>
                  <a:srgbClr val="0033CC"/>
                </a:solidFill>
              </a:rPr>
              <a:t>fullName</a:t>
            </a:r>
            <a:r>
              <a:rPr lang="en-US" sz="3200" b="1" dirty="0">
                <a:solidFill>
                  <a:srgbClr val="0033CC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3200" dirty="0" err="1"/>
              <a:t>cout</a:t>
            </a:r>
            <a:r>
              <a:rPr lang="en-US" sz="3200" dirty="0"/>
              <a:t> &lt;&lt; "Your name is: " &lt;&lt; </a:t>
            </a:r>
            <a:r>
              <a:rPr lang="en-US" sz="3200" dirty="0" err="1"/>
              <a:t>fullName</a:t>
            </a:r>
            <a:r>
              <a:rPr lang="en-US" sz="32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7265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861AB-3860-C818-89C8-DDE699B2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Verdana"/>
              </a:rPr>
              <a:t>Operations on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9585B-E810-9804-552C-F99119884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Concatenation: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lang="en-US" dirty="0"/>
              <a:t>+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operator can be used between strings to add them together to make a new string. 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string first = "Hello";</a:t>
            </a:r>
          </a:p>
          <a:p>
            <a:pPr marL="0" indent="0">
              <a:buNone/>
            </a:pPr>
            <a:r>
              <a:rPr lang="en-US" dirty="0"/>
              <a:t>string second = "World";</a:t>
            </a:r>
          </a:p>
          <a:p>
            <a:pPr marL="0" indent="0">
              <a:buNone/>
            </a:pPr>
            <a:r>
              <a:rPr lang="en-US" dirty="0"/>
              <a:t>string result = first + " " + second;</a:t>
            </a:r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 &lt;&lt; result;  // Output: Hello World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946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A0B8E-2AD8-11A3-6CFC-B01E0C653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7425"/>
          </a:xfrm>
        </p:spPr>
        <p:txBody>
          <a:bodyPr/>
          <a:lstStyle/>
          <a:p>
            <a:r>
              <a:rPr lang="en-US" i="0" dirty="0">
                <a:effectLst/>
                <a:latin typeface="Helvetica" panose="020B0604020202020204" pitchFamily="34" charset="0"/>
              </a:rPr>
              <a:t>Reverse String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8F97A9-59C1-9B7D-ABEE-B2E59D02EE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8281" y="1352550"/>
            <a:ext cx="9215438" cy="530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93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CF99FF-7731-2DC7-BF8B-8F012C84C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4025" y="329434"/>
            <a:ext cx="8553450" cy="619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256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61BA8-A071-67BD-8995-E60D154EE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7100"/>
            <a:ext cx="2816550" cy="1412875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Count the number of words in a sentence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D9FBA7-9A5A-6BA1-2E78-2C0EECDE0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4750" y="665733"/>
            <a:ext cx="7560000" cy="552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00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8B3DD9-32E1-DF4C-B7A2-B8802888F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27" y="365125"/>
            <a:ext cx="11097705" cy="58642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07E92D-3ED9-9ACF-BFB6-A7557B0B13F9}"/>
              </a:ext>
            </a:extLst>
          </p:cNvPr>
          <p:cNvSpPr txBox="1"/>
          <p:nvPr/>
        </p:nvSpPr>
        <p:spPr>
          <a:xfrm>
            <a:off x="3829050" y="543610"/>
            <a:ext cx="773182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i="0" dirty="0">
                <a:effectLst/>
                <a:latin typeface="Helvetica" panose="020B0604020202020204" pitchFamily="34" charset="0"/>
              </a:rPr>
              <a:t>Write a C++ program to capitalize the first letter of each word in a given string.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471162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90B1A87-6B1E-1F73-DAC1-CD66E4C752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85177" y="402144"/>
            <a:ext cx="980646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the number of vowels and consonants in a string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C278E4-FBDB-3492-142F-BF631B000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410" y="986919"/>
            <a:ext cx="10548000" cy="547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1546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8A6A6-2E7F-C27B-FBAD-C2827F9B0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4762C-B73F-91F6-9E67-15D538DB6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515600" cy="471011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3200" dirty="0"/>
              <a:t>Write a program that takes a string as input and prints it in reverse order.</a:t>
            </a:r>
          </a:p>
          <a:p>
            <a:pPr algn="just">
              <a:lnSpc>
                <a:spcPct val="150000"/>
              </a:lnSpc>
            </a:pPr>
            <a:r>
              <a:rPr lang="en-US" sz="3200" b="0" i="0" dirty="0">
                <a:effectLst/>
              </a:rPr>
              <a:t>Write a program to change (lower to upper and upper to lower cases) for each character in a given string.</a:t>
            </a:r>
          </a:p>
          <a:p>
            <a:pPr algn="just">
              <a:lnSpc>
                <a:spcPct val="150000"/>
              </a:lnSpc>
            </a:pPr>
            <a:r>
              <a:rPr lang="en-US" sz="3200" dirty="0"/>
              <a:t>Write a program that removes all spaces from a string.</a:t>
            </a:r>
          </a:p>
          <a:p>
            <a:pPr algn="just">
              <a:lnSpc>
                <a:spcPct val="150000"/>
              </a:lnSpc>
            </a:pPr>
            <a:r>
              <a:rPr lang="en-US" sz="3200" b="0" i="0" dirty="0">
                <a:effectLst/>
              </a:rPr>
              <a:t>Write a program to</a:t>
            </a:r>
            <a:r>
              <a:rPr lang="en-US" sz="3200" dirty="0"/>
              <a:t> find the longest word in a given sentence.</a:t>
            </a:r>
          </a:p>
          <a:p>
            <a:pPr algn="just">
              <a:lnSpc>
                <a:spcPct val="150000"/>
              </a:lnSpc>
            </a:pPr>
            <a:endParaRPr lang="en-US" sz="3200" dirty="0"/>
          </a:p>
          <a:p>
            <a:pPr algn="just">
              <a:lnSpc>
                <a:spcPct val="15000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44576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10635</TotalTime>
  <Words>1146</Words>
  <Application>Microsoft Office PowerPoint</Application>
  <PresentationFormat>Widescreen</PresentationFormat>
  <Paragraphs>195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Helvetica</vt:lpstr>
      <vt:lpstr>Times New Roman</vt:lpstr>
      <vt:lpstr>Trebuchet MS</vt:lpstr>
      <vt:lpstr>Verdana</vt:lpstr>
      <vt:lpstr>Wingdings</vt:lpstr>
      <vt:lpstr>Office Theme</vt:lpstr>
      <vt:lpstr>PowerPoint Presentation</vt:lpstr>
      <vt:lpstr>PowerPoint Presentation</vt:lpstr>
      <vt:lpstr>Strings</vt:lpstr>
      <vt:lpstr>Strings</vt:lpstr>
      <vt:lpstr>Strings (Continued)</vt:lpstr>
      <vt:lpstr>String Length</vt:lpstr>
      <vt:lpstr>User Input Strings</vt:lpstr>
      <vt:lpstr>User Input Strings</vt:lpstr>
      <vt:lpstr>Operations on Strings</vt:lpstr>
      <vt:lpstr>Reverse String</vt:lpstr>
      <vt:lpstr>PowerPoint Presentation</vt:lpstr>
      <vt:lpstr>PowerPoint Presentation</vt:lpstr>
      <vt:lpstr>PowerPoint Presentation</vt:lpstr>
      <vt:lpstr>Count the number of vowels and consonants in a string</vt:lpstr>
      <vt:lpstr>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a.y.m.khedr@outlook.com</dc:creator>
  <cp:lastModifiedBy>Ahmed khedr</cp:lastModifiedBy>
  <cp:revision>115</cp:revision>
  <dcterms:created xsi:type="dcterms:W3CDTF">2023-10-27T05:29:14Z</dcterms:created>
  <dcterms:modified xsi:type="dcterms:W3CDTF">2025-11-21T14:33:14Z</dcterms:modified>
</cp:coreProperties>
</file>