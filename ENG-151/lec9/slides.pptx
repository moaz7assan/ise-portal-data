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1123" r:id="rId2"/>
    <p:sldId id="1249" r:id="rId3"/>
    <p:sldId id="301" r:id="rId4"/>
    <p:sldId id="302" r:id="rId5"/>
    <p:sldId id="306" r:id="rId6"/>
    <p:sldId id="303" r:id="rId7"/>
    <p:sldId id="304" r:id="rId8"/>
    <p:sldId id="30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602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557" autoAdjust="0"/>
  </p:normalViewPr>
  <p:slideViewPr>
    <p:cSldViewPr snapToGrid="0">
      <p:cViewPr varScale="1">
        <p:scale>
          <a:sx n="101" d="100"/>
          <a:sy n="101" d="100"/>
        </p:scale>
        <p:origin x="8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DD57A2-742B-4FA5-912B-946A99A60A6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2E8AA-5A9D-4A7B-889E-B4292CC93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5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var = 5;</a:t>
            </a:r>
          </a:p>
          <a:p>
            <a:r>
              <a:rPr lang="en-US" dirty="0"/>
              <a:t>    int* </a:t>
            </a:r>
            <a:r>
              <a:rPr lang="en-US" dirty="0" err="1"/>
              <a:t>pointVar</a:t>
            </a:r>
            <a:r>
              <a:rPr lang="en-US" dirty="0"/>
              <a:t> = &amp;var;  // store address of var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"var = " &lt;&lt; var &lt;&lt; </a:t>
            </a:r>
            <a:r>
              <a:rPr lang="en-US" dirty="0" err="1"/>
              <a:t>endl</a:t>
            </a:r>
            <a:r>
              <a:rPr lang="en-US" dirty="0"/>
              <a:t>;  // print var</a:t>
            </a:r>
          </a:p>
          <a:p>
            <a:r>
              <a:rPr lang="en-US" dirty="0"/>
              <a:t>    // print *</a:t>
            </a:r>
            <a:r>
              <a:rPr lang="en-US" dirty="0" err="1"/>
              <a:t>pointVar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"*</a:t>
            </a:r>
            <a:r>
              <a:rPr lang="en-US" dirty="0" err="1"/>
              <a:t>pointVar</a:t>
            </a:r>
            <a:r>
              <a:rPr lang="en-US" dirty="0"/>
              <a:t> = " &lt;&lt; *</a:t>
            </a:r>
            <a:r>
              <a:rPr lang="en-US" dirty="0" err="1"/>
              <a:t>pointVar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"Changing value of var to 7:"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var = 7;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"var = " &lt;&lt; var &lt;&lt; </a:t>
            </a:r>
            <a:r>
              <a:rPr lang="en-US" dirty="0" err="1"/>
              <a:t>endl</a:t>
            </a:r>
            <a:r>
              <a:rPr lang="en-US" dirty="0"/>
              <a:t>; // print var</a:t>
            </a:r>
          </a:p>
          <a:p>
            <a:r>
              <a:rPr lang="en-US" dirty="0"/>
              <a:t>    // print *</a:t>
            </a:r>
            <a:r>
              <a:rPr lang="en-US" dirty="0" err="1"/>
              <a:t>pointVar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"*</a:t>
            </a:r>
            <a:r>
              <a:rPr lang="en-US" dirty="0" err="1"/>
              <a:t>pointVar</a:t>
            </a:r>
            <a:r>
              <a:rPr lang="en-US" dirty="0"/>
              <a:t> = " &lt;&lt; *</a:t>
            </a:r>
            <a:r>
              <a:rPr lang="en-US" dirty="0" err="1"/>
              <a:t>pointVar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"Changing value of *</a:t>
            </a:r>
            <a:r>
              <a:rPr lang="en-US" dirty="0" err="1"/>
              <a:t>pointVar</a:t>
            </a:r>
            <a:r>
              <a:rPr lang="en-US" dirty="0"/>
              <a:t> to 16:"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*</a:t>
            </a:r>
            <a:r>
              <a:rPr lang="en-US" dirty="0" err="1"/>
              <a:t>pointVar</a:t>
            </a:r>
            <a:r>
              <a:rPr lang="en-US" dirty="0"/>
              <a:t> = 16;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"var = " &lt;&lt; var &lt;&lt; </a:t>
            </a:r>
            <a:r>
              <a:rPr lang="en-US" dirty="0" err="1"/>
              <a:t>endl</a:t>
            </a:r>
            <a:r>
              <a:rPr lang="en-US" dirty="0"/>
              <a:t>;  // print var</a:t>
            </a:r>
          </a:p>
          <a:p>
            <a:r>
              <a:rPr lang="en-US" dirty="0"/>
              <a:t>    // print *</a:t>
            </a:r>
            <a:r>
              <a:rPr lang="en-US" dirty="0" err="1"/>
              <a:t>pointVar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"*</a:t>
            </a:r>
            <a:r>
              <a:rPr lang="en-US" dirty="0" err="1"/>
              <a:t>pointVar</a:t>
            </a:r>
            <a:r>
              <a:rPr lang="en-US" dirty="0"/>
              <a:t> = " &lt;&lt; *</a:t>
            </a:r>
            <a:r>
              <a:rPr lang="en-US" dirty="0" err="1"/>
              <a:t>pointVar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66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#include &lt;iostream&gt;</a:t>
            </a:r>
          </a:p>
          <a:p>
            <a:pPr marL="0" indent="0">
              <a:buNone/>
            </a:pPr>
            <a:r>
              <a:rPr lang="en-US" sz="1200" dirty="0"/>
              <a:t>using namespace std;</a:t>
            </a:r>
          </a:p>
          <a:p>
            <a:pPr marL="0" indent="0">
              <a:buNone/>
            </a:pPr>
            <a:r>
              <a:rPr lang="en-US" sz="1200" dirty="0"/>
              <a:t>int main()</a:t>
            </a:r>
          </a:p>
          <a:p>
            <a:pPr marL="0" indent="0">
              <a:buNone/>
            </a:pPr>
            <a:r>
              <a:rPr lang="en-US" sz="1200" dirty="0"/>
              <a:t>{</a:t>
            </a:r>
          </a:p>
          <a:p>
            <a:pPr marL="0" indent="0">
              <a:buNone/>
            </a:pPr>
            <a:r>
              <a:rPr lang="en-US" sz="1200" dirty="0"/>
              <a:t>    int x=5;</a:t>
            </a:r>
          </a:p>
          <a:p>
            <a:pPr marL="0" indent="0">
              <a:buNone/>
            </a:pPr>
            <a:r>
              <a:rPr lang="en-US" sz="1200" dirty="0"/>
              <a:t>    int* </a:t>
            </a:r>
            <a:r>
              <a:rPr lang="en-US" sz="1200" dirty="0" err="1"/>
              <a:t>ptr</a:t>
            </a:r>
            <a:r>
              <a:rPr lang="en-US" sz="1200" dirty="0"/>
              <a:t>;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err="1"/>
              <a:t>ptr</a:t>
            </a:r>
            <a:r>
              <a:rPr lang="en-US" sz="1200" dirty="0"/>
              <a:t> = &amp;x;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err="1"/>
              <a:t>cout</a:t>
            </a:r>
            <a:r>
              <a:rPr lang="en-US" sz="1200" dirty="0"/>
              <a:t> &lt;&lt; x   &lt;&lt; "\n";  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err="1"/>
              <a:t>cout</a:t>
            </a:r>
            <a:r>
              <a:rPr lang="en-US" sz="1200" dirty="0"/>
              <a:t> &lt;&lt; &amp;x  &lt;&lt; "\n"; 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err="1"/>
              <a:t>cout</a:t>
            </a:r>
            <a:r>
              <a:rPr lang="en-US" sz="1200" dirty="0"/>
              <a:t> &lt;&lt; </a:t>
            </a:r>
            <a:r>
              <a:rPr lang="en-US" sz="1200" dirty="0" err="1"/>
              <a:t>ptr</a:t>
            </a:r>
            <a:r>
              <a:rPr lang="en-US" sz="1200" dirty="0"/>
              <a:t> &lt;&lt; "\n";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err="1"/>
              <a:t>cout</a:t>
            </a:r>
            <a:r>
              <a:rPr lang="en-US" sz="1200" dirty="0"/>
              <a:t> &lt;&lt;*</a:t>
            </a:r>
            <a:r>
              <a:rPr lang="en-US" sz="1200" dirty="0" err="1"/>
              <a:t>ptr</a:t>
            </a:r>
            <a:r>
              <a:rPr lang="en-US" sz="1200" dirty="0"/>
              <a:t> &lt;&lt; "\n";</a:t>
            </a:r>
          </a:p>
          <a:p>
            <a:pPr marL="0" indent="0">
              <a:buNone/>
            </a:pPr>
            <a:r>
              <a:rPr lang="en-US" sz="1200" dirty="0"/>
              <a:t>    return 0;</a:t>
            </a:r>
          </a:p>
          <a:p>
            <a:pPr marL="0" indent="0">
              <a:buNone/>
            </a:pPr>
            <a:r>
              <a:rPr lang="en-US" sz="1200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07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var = 5;</a:t>
            </a:r>
          </a:p>
          <a:p>
            <a:r>
              <a:rPr lang="en-US" dirty="0"/>
              <a:t>    int* </a:t>
            </a:r>
            <a:r>
              <a:rPr lang="en-US" dirty="0" err="1"/>
              <a:t>ptr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 err="1"/>
              <a:t>ptr</a:t>
            </a:r>
            <a:r>
              <a:rPr lang="en-US" dirty="0"/>
              <a:t> = &amp;var;  // store address of var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"var = " &lt;&lt; var &lt;&lt; </a:t>
            </a:r>
            <a:r>
              <a:rPr lang="en-US" dirty="0" err="1"/>
              <a:t>endl</a:t>
            </a:r>
            <a:r>
              <a:rPr lang="en-US" dirty="0"/>
              <a:t>; 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"*</a:t>
            </a:r>
            <a:r>
              <a:rPr lang="en-US" dirty="0" err="1"/>
              <a:t>ptr</a:t>
            </a:r>
            <a:r>
              <a:rPr lang="en-US" dirty="0"/>
              <a:t> = " &lt;&lt; *</a:t>
            </a:r>
            <a:r>
              <a:rPr lang="en-US" dirty="0" err="1"/>
              <a:t>ptr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"Changing value of *</a:t>
            </a:r>
            <a:r>
              <a:rPr lang="en-US" dirty="0" err="1"/>
              <a:t>ptr</a:t>
            </a:r>
            <a:r>
              <a:rPr lang="en-US" dirty="0"/>
              <a:t> to 16:"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*</a:t>
            </a:r>
            <a:r>
              <a:rPr lang="en-US" dirty="0" err="1"/>
              <a:t>ptr</a:t>
            </a:r>
            <a:r>
              <a:rPr lang="en-US" dirty="0"/>
              <a:t> = 16;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"var = " &lt;&lt; var &lt;&lt; </a:t>
            </a:r>
            <a:r>
              <a:rPr lang="en-US" dirty="0" err="1"/>
              <a:t>endl</a:t>
            </a:r>
            <a:r>
              <a:rPr lang="en-US" dirty="0"/>
              <a:t>;  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"*</a:t>
            </a:r>
            <a:r>
              <a:rPr lang="en-US" dirty="0" err="1"/>
              <a:t>ptr</a:t>
            </a:r>
            <a:r>
              <a:rPr lang="en-US" dirty="0"/>
              <a:t> = " &lt;&lt; *</a:t>
            </a:r>
            <a:r>
              <a:rPr lang="en-US" dirty="0" err="1"/>
              <a:t>ptr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699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int main () {</a:t>
            </a:r>
          </a:p>
          <a:p>
            <a:r>
              <a:rPr lang="en-US" dirty="0"/>
              <a:t>   int  var[3] = {10, 100, 200};</a:t>
            </a:r>
          </a:p>
          <a:p>
            <a:r>
              <a:rPr lang="en-US" dirty="0"/>
              <a:t>   int  *</a:t>
            </a:r>
            <a:r>
              <a:rPr lang="en-US" dirty="0" err="1"/>
              <a:t>ptr</a:t>
            </a:r>
            <a:r>
              <a:rPr lang="en-US" dirty="0"/>
              <a:t>;</a:t>
            </a:r>
          </a:p>
          <a:p>
            <a:r>
              <a:rPr lang="en-US" dirty="0"/>
              <a:t>   // let us have array address in pointer.</a:t>
            </a:r>
          </a:p>
          <a:p>
            <a:r>
              <a:rPr lang="en-US" dirty="0"/>
              <a:t>   </a:t>
            </a:r>
            <a:r>
              <a:rPr lang="en-US" dirty="0" err="1"/>
              <a:t>ptr</a:t>
            </a:r>
            <a:r>
              <a:rPr lang="en-US" dirty="0"/>
              <a:t> = var;</a:t>
            </a:r>
          </a:p>
          <a:p>
            <a:r>
              <a:rPr lang="en-US" dirty="0"/>
              <a:t>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3;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 &lt;&lt; "Address of var[" &lt;&lt; </a:t>
            </a:r>
            <a:r>
              <a:rPr lang="en-US" dirty="0" err="1"/>
              <a:t>i</a:t>
            </a:r>
            <a:r>
              <a:rPr lang="en-US" dirty="0"/>
              <a:t> &lt;&lt; "] = ";</a:t>
            </a:r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ptr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 &lt;&lt; "Value of var[" &lt;&lt; </a:t>
            </a:r>
            <a:r>
              <a:rPr lang="en-US" dirty="0" err="1"/>
              <a:t>i</a:t>
            </a:r>
            <a:r>
              <a:rPr lang="en-US" dirty="0"/>
              <a:t> &lt;&lt; "] = ";</a:t>
            </a:r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 &lt;&lt; *</a:t>
            </a:r>
            <a:r>
              <a:rPr lang="en-US" dirty="0" err="1"/>
              <a:t>ptr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  // point to the next location</a:t>
            </a:r>
          </a:p>
          <a:p>
            <a:r>
              <a:rPr lang="en-US" dirty="0"/>
              <a:t>      </a:t>
            </a:r>
            <a:r>
              <a:rPr lang="en-US" dirty="0" err="1"/>
              <a:t>ptr</a:t>
            </a:r>
            <a:r>
              <a:rPr lang="en-US" dirty="0"/>
              <a:t>++;</a:t>
            </a:r>
          </a:p>
          <a:p>
            <a:r>
              <a:rPr lang="en-US" dirty="0"/>
              <a:t>   }</a:t>
            </a:r>
          </a:p>
          <a:p>
            <a:r>
              <a:rPr lang="en-US" dirty="0"/>
              <a:t>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94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// Step 1: Create an array</a:t>
            </a:r>
          </a:p>
          <a:p>
            <a:r>
              <a:rPr lang="en-US" dirty="0"/>
              <a:t>    int </a:t>
            </a:r>
            <a:r>
              <a:rPr lang="en-US" dirty="0" err="1"/>
              <a:t>arr</a:t>
            </a:r>
            <a:r>
              <a:rPr lang="en-US" dirty="0"/>
              <a:t>[5] = {10, 20, 30, 40, 50};</a:t>
            </a:r>
          </a:p>
          <a:p>
            <a:r>
              <a:rPr lang="en-US" dirty="0"/>
              <a:t>    int* </a:t>
            </a:r>
            <a:r>
              <a:rPr lang="en-US" dirty="0" err="1"/>
              <a:t>ptr</a:t>
            </a:r>
            <a:r>
              <a:rPr lang="en-US" dirty="0"/>
              <a:t> = </a:t>
            </a:r>
            <a:r>
              <a:rPr lang="en-US" dirty="0" err="1"/>
              <a:t>arr</a:t>
            </a:r>
            <a:r>
              <a:rPr lang="en-US" dirty="0"/>
              <a:t>; // Pointer to the array</a:t>
            </a:r>
          </a:p>
          <a:p>
            <a:endParaRPr lang="en-US" dirty="0"/>
          </a:p>
          <a:p>
            <a:r>
              <a:rPr lang="en-US" dirty="0"/>
              <a:t>    // Step 2: Use pointer to iterate and print the array elements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"Original array elements: ";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5;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*(</a:t>
            </a:r>
            <a:r>
              <a:rPr lang="en-US" dirty="0" err="1"/>
              <a:t>ptr</a:t>
            </a:r>
            <a:r>
              <a:rPr lang="en-US" dirty="0"/>
              <a:t> + </a:t>
            </a:r>
            <a:r>
              <a:rPr lang="en-US" dirty="0" err="1"/>
              <a:t>i</a:t>
            </a:r>
            <a:r>
              <a:rPr lang="en-US" dirty="0"/>
              <a:t>) &lt;&lt; " "; // Access elements using pointer arithmetic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// Step 3: Modify each element using the pointer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5;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*(</a:t>
            </a:r>
            <a:r>
              <a:rPr lang="en-US" dirty="0" err="1"/>
              <a:t>ptr</a:t>
            </a:r>
            <a:r>
              <a:rPr lang="en-US" dirty="0"/>
              <a:t> + </a:t>
            </a:r>
            <a:r>
              <a:rPr lang="en-US" dirty="0" err="1"/>
              <a:t>i</a:t>
            </a:r>
            <a:r>
              <a:rPr lang="en-US" dirty="0"/>
              <a:t>) *= 2; // Multiply each element by 2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// Step 4: Print the updated array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"Updated array elements: ";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5;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*(</a:t>
            </a:r>
            <a:r>
              <a:rPr lang="en-US" dirty="0" err="1"/>
              <a:t>ptr</a:t>
            </a:r>
            <a:r>
              <a:rPr lang="en-US" dirty="0"/>
              <a:t> + </a:t>
            </a:r>
            <a:r>
              <a:rPr lang="en-US" dirty="0" err="1"/>
              <a:t>i</a:t>
            </a:r>
            <a:r>
              <a:rPr lang="en-US" dirty="0"/>
              <a:t>) &lt;&lt; " 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515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448FD-B8EC-D3EF-50F0-6E7CFF788E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C3146-60A9-88E4-8DE7-46B64E1DF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8EE7B-6ECF-0BA6-298A-F3C2BE110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A75E0-260B-F6AE-AE6B-354D3F99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1CF23-0874-EE7B-B1E0-BBD1FF3A5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4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E0833-8051-D313-0CB7-FAA52D215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D9264-3D9A-8988-6AAA-2C9172811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156AF-0285-85FF-0BBE-8E8F8658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E73C3-AA13-D031-5F34-F3E0FB763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D6FCD-E80C-0844-B08C-AB0A09BCE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28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01B9F-8CA4-47F1-D236-3D65E4B0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96552-4B00-0A40-95BF-1315CB543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2616C-5B8A-F464-E936-1300AA4FA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7648B-7377-DFC8-8427-2B5A13C1C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78BFF-ED0B-6A15-D88C-76E1B0076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0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5AD64-AE19-773A-A09B-C411951DB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3D35A-ECA4-A8DB-1F3A-332FA1C10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F62D4-439D-5BCB-F9DA-63FBFC5CC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4CC9B-FC1F-4B93-0290-639B97001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BEF4D-2631-9211-D9F6-DCD9B5458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75366-FE30-47FC-0D1B-07D02D56B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04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28A95-1CBB-3094-8AB3-3516E6E47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67365-1EF2-C6F0-3BAE-ECCDBCBBC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F12DB-A9AA-6516-B049-58FEA42A3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850DD4-7A4B-2C6A-3AC8-ECC36C88C4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CDC1A7-866B-A3A5-6C7E-46C89095B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393143-2B90-C506-5F44-F754B2F37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0E37FC-0CFC-444E-B04E-60B5D18FA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D655B-FDD6-B453-3303-6A50E3B52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3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A2C81-8388-6E73-3A09-8B22D802B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15C56D-1B60-04EE-77B6-1BE205D21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2DE97-8F59-32CB-86DB-F54BBC5B1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12E94-F18F-B427-F526-A9FEB2EC1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10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3D3CCC-2186-BB1B-8947-2D62D766E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E07A37-2815-31D0-6DEA-117FCAF78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D1DFA-8EED-09F0-E865-F87BA6CB2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99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03DBA-5C3F-C000-5A16-8F95A4BF0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09DA6-D853-C62B-B716-8ED5A81FD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68587-9B83-39D6-3D58-F2E80FAD9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F160B-EFEF-FF49-7DC0-054714E8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4CABE-9E7E-A0A3-6829-36DA4755E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7A380-A621-FEE4-4931-E0C546587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945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1929-4CB6-9F1E-EF1C-8ABCA9814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BD3F39-BDA5-16E3-A16E-81344570E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B0F1D3-2640-8099-BC32-83FE6B528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FE80-249A-33E5-13D9-389F7DB77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DC424-2369-E58B-BB0F-E57BC157F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362C20-840D-3019-BD7C-C83EC6A71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40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AE770-957D-701A-642C-629F242A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1B69C-4886-A382-9DE3-6C2522355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5F29C-1B52-DFE2-3016-C20CE7B7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4BAFE-543D-EFE4-064E-19657BFA0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2BA47-AB99-0B1F-ED62-833A5EEDE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835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12426C-7653-3F8E-1E65-37B4FD5FF7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166A5-576F-3BB3-0CB6-C36DFAA58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3E69E-80B2-722F-B33C-C0C42136C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EB04B-B98D-B8A9-3FA7-E41A1ECC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DA651-B5A2-9F65-90FF-032682773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83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103BA1-E893-C009-C305-1BAF2035B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F0B26-33CC-ABAE-4E38-1C67604E0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214C3-0016-D459-C7EA-ABC5C7860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BA668-D979-EA15-00C4-4C6E1A915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64088-9964-53F5-9C10-B6C72B535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5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33C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C48BA3C7-823E-9780-2B98-2E72A56FA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89020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DAA833-BA70-F313-BB9A-AE6A4BDA6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23310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285DCC-7053-BF30-C88B-43F9AD1AF683}"/>
              </a:ext>
            </a:extLst>
          </p:cNvPr>
          <p:cNvSpPr txBox="1"/>
          <p:nvPr/>
        </p:nvSpPr>
        <p:spPr>
          <a:xfrm>
            <a:off x="2065687" y="315555"/>
            <a:ext cx="81020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Al-Azhar University</a:t>
            </a:r>
          </a:p>
          <a:p>
            <a:pPr algn="ctr">
              <a:spcAft>
                <a:spcPts val="75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 of Engineering</a:t>
            </a:r>
          </a:p>
          <a:p>
            <a:pPr algn="ctr">
              <a:spcAft>
                <a:spcPts val="75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 and Computer Engineering Dept.</a:t>
            </a:r>
          </a:p>
          <a:p>
            <a:pPr algn="ctr">
              <a:spcAft>
                <a:spcPts val="75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Intelligent Systems Engineering Program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D0361E3C-A4D8-DA35-5F2A-4457CF9F1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189" y="5203011"/>
            <a:ext cx="4972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sz="2400" b="1" dirty="0">
                <a:latin typeface="Verdana"/>
                <a:cs typeface="Verdana"/>
              </a:rPr>
              <a:t>Prof. Ahmed Youssef</a:t>
            </a: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09966157-FE14-8C22-1DE4-181DB889A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1331" y="4655826"/>
            <a:ext cx="4373766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endParaRPr lang="en-US" sz="1350"/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5835B742-3E69-1975-1279-80D115CE3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354" y="2817244"/>
            <a:ext cx="7693292" cy="1546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050" b="1" dirty="0">
                <a:latin typeface="Verdana"/>
                <a:cs typeface="Verdana"/>
              </a:rPr>
              <a:t>ENG 151</a:t>
            </a:r>
          </a:p>
          <a:p>
            <a:pPr algn="ctr">
              <a:spcBef>
                <a:spcPct val="50000"/>
              </a:spcBef>
            </a:pPr>
            <a:r>
              <a:rPr lang="en-US" sz="2000" b="1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n-US" sz="3600" b="1" dirty="0">
                <a:solidFill>
                  <a:srgbClr val="0000FF"/>
                </a:solidFill>
                <a:latin typeface="Verdana"/>
                <a:cs typeface="Verdana"/>
              </a:rPr>
              <a:t>Computer Programming I</a:t>
            </a:r>
            <a:endParaRPr lang="en-US" sz="3600" dirty="0">
              <a:solidFill>
                <a:srgbClr val="0000FF"/>
              </a:solidFill>
              <a:latin typeface="Verdana"/>
              <a:cs typeface="Verdana"/>
            </a:endParaRPr>
          </a:p>
        </p:txBody>
      </p:sp>
      <p:pic>
        <p:nvPicPr>
          <p:cNvPr id="1026" name="Picture 2" descr="C++ Explained: Everything You Need to Know - History-Computer">
            <a:extLst>
              <a:ext uri="{FF2B5EF4-FFF2-40B4-BE49-F238E27FC236}">
                <a16:creationId xmlns:a16="http://schemas.microsoft.com/office/drawing/2014/main" id="{F97A68F0-469C-2BB3-9BDC-C5466AC43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137" y="5111184"/>
            <a:ext cx="2131090" cy="127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++ Programming, Lecture# 1 - YouTube">
            <a:extLst>
              <a:ext uri="{FF2B5EF4-FFF2-40B4-BE49-F238E27FC236}">
                <a16:creationId xmlns:a16="http://schemas.microsoft.com/office/drawing/2014/main" id="{D678A2E5-0642-CCEE-6852-5A8BFACDD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773" y="4985573"/>
            <a:ext cx="2164080" cy="127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yellow circle with a logo and text&#10;&#10;Description automatically generated">
            <a:extLst>
              <a:ext uri="{FF2B5EF4-FFF2-40B4-BE49-F238E27FC236}">
                <a16:creationId xmlns:a16="http://schemas.microsoft.com/office/drawing/2014/main" id="{5FCD84C4-FB0F-89AB-BFC0-E872F9C10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96" y="163838"/>
            <a:ext cx="1440000" cy="1539185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5F8D5C6-3169-1438-CEF6-67C05C4AEF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3" t="5173" r="16367" b="5878"/>
          <a:stretch>
            <a:fillRect/>
          </a:stretch>
        </p:blipFill>
        <p:spPr bwMode="auto">
          <a:xfrm>
            <a:off x="10167704" y="168947"/>
            <a:ext cx="1440000" cy="14425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9715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399D2-B51C-6E31-166E-99C8AA4F8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33939AF9-9ED2-9C8C-64F6-0162DE7CF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89020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03941C-1C99-028F-E8AA-6F54418C9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23310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4693CD-665B-FC47-7B6E-1664A3F07B9F}"/>
              </a:ext>
            </a:extLst>
          </p:cNvPr>
          <p:cNvSpPr txBox="1"/>
          <p:nvPr/>
        </p:nvSpPr>
        <p:spPr>
          <a:xfrm>
            <a:off x="2065687" y="315555"/>
            <a:ext cx="810201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Al-Azhar University</a:t>
            </a:r>
          </a:p>
          <a:p>
            <a:pPr algn="ctr">
              <a:spcAft>
                <a:spcPts val="75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 of Engineering</a:t>
            </a:r>
          </a:p>
          <a:p>
            <a:pPr algn="ctr">
              <a:spcAft>
                <a:spcPts val="75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 and Computer Engineering Dept.</a:t>
            </a:r>
          </a:p>
          <a:p>
            <a:pPr algn="ctr">
              <a:spcAft>
                <a:spcPts val="75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Intelligent Systems Engineering Program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008EA510-056F-099D-0803-18656BA6A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1331" y="4655826"/>
            <a:ext cx="4373766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endParaRPr lang="en-US" sz="1350"/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E6ECADC8-755D-C93C-9E6E-2FB1412BC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354" y="2241263"/>
            <a:ext cx="7693292" cy="1546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050" b="1" dirty="0">
                <a:latin typeface="Verdana"/>
                <a:cs typeface="Verdana"/>
              </a:rPr>
              <a:t>ENG 151</a:t>
            </a:r>
          </a:p>
          <a:p>
            <a:pPr algn="ctr">
              <a:spcBef>
                <a:spcPct val="50000"/>
              </a:spcBef>
            </a:pPr>
            <a:r>
              <a:rPr lang="en-US" sz="2000" b="1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n-US" sz="3600" b="1" dirty="0">
                <a:solidFill>
                  <a:srgbClr val="0000FF"/>
                </a:solidFill>
                <a:latin typeface="Verdana"/>
                <a:cs typeface="Verdana"/>
              </a:rPr>
              <a:t>Computer Programming I</a:t>
            </a:r>
            <a:endParaRPr lang="en-US" sz="3600" dirty="0">
              <a:solidFill>
                <a:srgbClr val="0000FF"/>
              </a:solidFill>
              <a:latin typeface="Verdana"/>
              <a:cs typeface="Verdana"/>
            </a:endParaRPr>
          </a:p>
        </p:txBody>
      </p:sp>
      <p:pic>
        <p:nvPicPr>
          <p:cNvPr id="2" name="Picture 1" descr="A yellow circle with a logo and text&#10;&#10;Description automatically generated">
            <a:extLst>
              <a:ext uri="{FF2B5EF4-FFF2-40B4-BE49-F238E27FC236}">
                <a16:creationId xmlns:a16="http://schemas.microsoft.com/office/drawing/2014/main" id="{52E1F3D0-D9AF-953E-FFAE-C7F79857E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96" y="163838"/>
            <a:ext cx="1440000" cy="1539185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7EC8350D-0473-7F37-F838-F581E97A40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3" t="5173" r="16367" b="5878"/>
          <a:stretch>
            <a:fillRect/>
          </a:stretch>
        </p:blipFill>
        <p:spPr bwMode="auto">
          <a:xfrm>
            <a:off x="10167704" y="168947"/>
            <a:ext cx="1440000" cy="1442510"/>
          </a:xfrm>
          <a:prstGeom prst="rect">
            <a:avLst/>
          </a:prstGeom>
          <a:noFill/>
        </p:spPr>
      </p:pic>
      <p:sp>
        <p:nvSpPr>
          <p:cNvPr id="5" name="Text Box 8">
            <a:extLst>
              <a:ext uri="{FF2B5EF4-FFF2-40B4-BE49-F238E27FC236}">
                <a16:creationId xmlns:a16="http://schemas.microsoft.com/office/drawing/2014/main" id="{6D8E507D-BCCC-99D2-9454-5C1BB6AFB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450" y="4328553"/>
            <a:ext cx="6819899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 b="1" dirty="0">
                <a:latin typeface="Verdana"/>
              </a:rPr>
              <a:t>Pointer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22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B162C-A6B5-91F6-0C99-03D124DC2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0CE8B-7C18-D84E-E868-C05541BB4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38453" cy="4351338"/>
          </a:xfrm>
        </p:spPr>
        <p:txBody>
          <a:bodyPr>
            <a:normAutofit/>
          </a:bodyPr>
          <a:lstStyle/>
          <a:p>
            <a:pPr algn="l"/>
            <a:r>
              <a:rPr lang="en-US" sz="3200" b="0" i="0" dirty="0">
                <a:effectLst/>
              </a:rPr>
              <a:t>In C++, pointers are variables that store the memory addresses of other variables.</a:t>
            </a:r>
          </a:p>
          <a:p>
            <a:pPr algn="l"/>
            <a:endParaRPr lang="en-US" sz="3200" b="0" i="0" dirty="0">
              <a:effectLst/>
            </a:endParaRPr>
          </a:p>
          <a:p>
            <a:r>
              <a:rPr lang="en-US" sz="3200" dirty="0"/>
              <a:t>int* x;		 // a pointer to integer </a:t>
            </a:r>
          </a:p>
          <a:p>
            <a:r>
              <a:rPr lang="en-US" sz="3200" dirty="0"/>
              <a:t>double * x; 	// a pointer to double</a:t>
            </a:r>
          </a:p>
          <a:p>
            <a:r>
              <a:rPr lang="en-US" sz="3200" dirty="0"/>
              <a:t>float *x; 		// a pointer to float </a:t>
            </a:r>
          </a:p>
          <a:p>
            <a:r>
              <a:rPr lang="en-US" sz="3200" dirty="0"/>
              <a:t>char* </a:t>
            </a:r>
            <a:r>
              <a:rPr lang="en-US" sz="3200" dirty="0" err="1"/>
              <a:t>ch</a:t>
            </a:r>
            <a:r>
              <a:rPr lang="en-US" sz="3200" dirty="0"/>
              <a:t>		 // a pointer to a character</a:t>
            </a:r>
          </a:p>
        </p:txBody>
      </p:sp>
    </p:spTree>
    <p:extLst>
      <p:ext uri="{BB962C8B-B14F-4D97-AF65-F5344CB8AC3E}">
        <p14:creationId xmlns:p14="http://schemas.microsoft.com/office/powerpoint/2010/main" val="511975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A98B4-85C6-20A5-1A3A-CE24F5310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  <a:t>Printing Variable Addresses in C++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70E83-B8E1-F84D-ECF9-070334BC7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DD7D41-11D7-F058-AD78-E9C8EDCD1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7811278" cy="43357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878824-D453-F9EE-00F0-621A4F5ECCCC}"/>
              </a:ext>
            </a:extLst>
          </p:cNvPr>
          <p:cNvSpPr txBox="1"/>
          <p:nvPr/>
        </p:nvSpPr>
        <p:spPr>
          <a:xfrm>
            <a:off x="7593564" y="3208472"/>
            <a:ext cx="37602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Address of var1: 0x50528c </a:t>
            </a: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8070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A7A6-5381-60FB-7F93-DFB349395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58D84-B4A9-B8E2-549D-0F34824FC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C7C7C7-A3A5-AA94-6FC7-D9D4F0FDD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095" y="4001294"/>
            <a:ext cx="1304925" cy="12763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F96B7D-E6EC-786F-2509-429ABE76C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8835" y="2671666"/>
            <a:ext cx="2057400" cy="1981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0EE4C8-9122-D9E7-F2CB-7057893767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41020"/>
            <a:ext cx="5982478" cy="611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887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32E99-431F-6377-590A-9C9058B9A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218"/>
          </a:xfrm>
        </p:spPr>
        <p:txBody>
          <a:bodyPr/>
          <a:lstStyle/>
          <a:p>
            <a: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  <a:t>Changing Value Pointed by Pointers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D0C5B7-AEBB-E1EF-041F-87C72F4C3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24" y="1278295"/>
            <a:ext cx="8319802" cy="49825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DA63B-5DF3-1F55-0CCD-6536FC52F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7584" y="4622248"/>
            <a:ext cx="3383280" cy="15680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0501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F4D00-CB6D-A852-688A-046D6CF64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161" y="532097"/>
            <a:ext cx="3817776" cy="3841183"/>
          </a:xfrm>
        </p:spPr>
        <p:txBody>
          <a:bodyPr/>
          <a:lstStyle/>
          <a:p>
            <a:pPr marL="0" indent="0" algn="l">
              <a:buNone/>
            </a:pPr>
            <a:r>
              <a:rPr lang="en-US" sz="3600" b="1" i="0" dirty="0">
                <a:solidFill>
                  <a:srgbClr val="FF0000"/>
                </a:solidFill>
                <a:effectLst/>
                <a:latin typeface="var(--ff-lato)"/>
              </a:rPr>
              <a:t>Pointer and Arrays</a:t>
            </a:r>
          </a:p>
          <a:p>
            <a:pPr marL="0" indent="0" algn="l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03C437-5290-062D-3D7C-92336FE1A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976" y="395396"/>
            <a:ext cx="6847114" cy="60672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2696BB-C7AD-244B-BE9C-174AF376D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10" y="4077360"/>
            <a:ext cx="4095750" cy="19335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0875B2-23A4-C91A-6E2D-B153FC2203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161" y="2124738"/>
            <a:ext cx="4114800" cy="15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774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9DAF1-1D76-F1EF-F500-BC1B5BCE6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95801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What is the output of this program?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554A7A-BFDA-0626-E0B7-3D6F618E8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1" y="195467"/>
            <a:ext cx="6019800" cy="62974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7EA7EB-43EE-3DF6-D27C-E84AF7D590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4180"/>
          <a:stretch/>
        </p:blipFill>
        <p:spPr>
          <a:xfrm>
            <a:off x="797038" y="4857751"/>
            <a:ext cx="4375037" cy="7048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3436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13765</TotalTime>
  <Words>838</Words>
  <Application>Microsoft Office PowerPoint</Application>
  <PresentationFormat>Widescreen</PresentationFormat>
  <Paragraphs>131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euclid_circular_a</vt:lpstr>
      <vt:lpstr>Times New Roman</vt:lpstr>
      <vt:lpstr>var(--ff-lato)</vt:lpstr>
      <vt:lpstr>Verdana</vt:lpstr>
      <vt:lpstr>Office Theme</vt:lpstr>
      <vt:lpstr>PowerPoint Presentation</vt:lpstr>
      <vt:lpstr>PowerPoint Presentation</vt:lpstr>
      <vt:lpstr>Introduction</vt:lpstr>
      <vt:lpstr>Printing Variable Addresses in C++</vt:lpstr>
      <vt:lpstr>Example</vt:lpstr>
      <vt:lpstr>Changing Value Pointed by Pointers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a.y.m.khedr@outlook.com</dc:creator>
  <cp:lastModifiedBy>Ahmed khedr</cp:lastModifiedBy>
  <cp:revision>111</cp:revision>
  <dcterms:created xsi:type="dcterms:W3CDTF">2023-10-27T05:29:14Z</dcterms:created>
  <dcterms:modified xsi:type="dcterms:W3CDTF">2025-11-21T14:40:48Z</dcterms:modified>
</cp:coreProperties>
</file>