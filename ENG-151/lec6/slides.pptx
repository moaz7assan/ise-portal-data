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1123" r:id="rId2"/>
    <p:sldId id="1249" r:id="rId3"/>
    <p:sldId id="286" r:id="rId4"/>
    <p:sldId id="287" r:id="rId5"/>
    <p:sldId id="288" r:id="rId6"/>
    <p:sldId id="301" r:id="rId7"/>
    <p:sldId id="302" r:id="rId8"/>
    <p:sldId id="289" r:id="rId9"/>
    <p:sldId id="297" r:id="rId10"/>
    <p:sldId id="290" r:id="rId11"/>
    <p:sldId id="298" r:id="rId12"/>
    <p:sldId id="299" r:id="rId13"/>
    <p:sldId id="304" r:id="rId14"/>
    <p:sldId id="305" r:id="rId15"/>
    <p:sldId id="303" r:id="rId16"/>
    <p:sldId id="300" r:id="rId17"/>
    <p:sldId id="291" r:id="rId18"/>
    <p:sldId id="292" r:id="rId19"/>
    <p:sldId id="293" r:id="rId20"/>
    <p:sldId id="311" r:id="rId21"/>
    <p:sldId id="306" r:id="rId22"/>
    <p:sldId id="308" r:id="rId23"/>
    <p:sldId id="307" r:id="rId24"/>
    <p:sldId id="309" r:id="rId25"/>
    <p:sldId id="310" r:id="rId26"/>
    <p:sldId id="260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29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887" autoAdjust="0"/>
  </p:normalViewPr>
  <p:slideViewPr>
    <p:cSldViewPr snapToGrid="0">
      <p:cViewPr varScale="1">
        <p:scale>
          <a:sx n="98" d="100"/>
          <a:sy n="98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DD57A2-742B-4FA5-912B-946A99A60A6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2E8AA-5A9D-4A7B-889E-B4292CC9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data_type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array_name</a:t>
            </a:r>
            <a:r>
              <a:rPr lang="en-US" dirty="0">
                <a:effectLst/>
              </a:rPr>
              <a:t>[</a:t>
            </a:r>
            <a:r>
              <a:rPr lang="en-US" dirty="0" err="1">
                <a:effectLst/>
              </a:rPr>
              <a:t>Size_of_array</a:t>
            </a:r>
            <a:r>
              <a:rPr lang="en-US" dirty="0">
                <a:effectLst/>
              </a:rPr>
              <a:t>];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47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39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24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#include &lt;iostream&gt;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using namespace std;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int main()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{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int </a:t>
            </a:r>
            <a:r>
              <a:rPr lang="en-US" dirty="0" err="1">
                <a:effectLst/>
                <a:latin typeface="Arial" panose="020B0604020202020204" pitchFamily="34" charset="0"/>
              </a:rPr>
              <a:t>arr</a:t>
            </a:r>
            <a:r>
              <a:rPr lang="en-US" dirty="0">
                <a:effectLst/>
                <a:latin typeface="Arial" panose="020B0604020202020204" pitchFamily="34" charset="0"/>
              </a:rPr>
              <a:t>[] = { 1, 2, 3, 4, 5 };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// Size of one element of an array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</a:t>
            </a:r>
            <a:r>
              <a:rPr lang="en-US" dirty="0" err="1">
                <a:effectLst/>
                <a:latin typeface="Arial" panose="020B0604020202020204" pitchFamily="34" charset="0"/>
              </a:rPr>
              <a:t>cout</a:t>
            </a:r>
            <a:r>
              <a:rPr lang="en-US" dirty="0">
                <a:effectLst/>
                <a:latin typeface="Arial" panose="020B0604020202020204" pitchFamily="34" charset="0"/>
              </a:rPr>
              <a:t> &lt;&lt; "Size of </a:t>
            </a:r>
            <a:r>
              <a:rPr lang="en-US" dirty="0" err="1">
                <a:effectLst/>
                <a:latin typeface="Arial" panose="020B0604020202020204" pitchFamily="34" charset="0"/>
              </a:rPr>
              <a:t>arr</a:t>
            </a:r>
            <a:r>
              <a:rPr lang="en-US" dirty="0">
                <a:effectLst/>
                <a:latin typeface="Arial" panose="020B0604020202020204" pitchFamily="34" charset="0"/>
              </a:rPr>
              <a:t>[0]: " &lt;&lt; </a:t>
            </a:r>
            <a:r>
              <a:rPr lang="en-US" dirty="0" err="1">
                <a:effectLst/>
                <a:latin typeface="Arial" panose="020B0604020202020204" pitchFamily="34" charset="0"/>
              </a:rPr>
              <a:t>sizeof</a:t>
            </a:r>
            <a:r>
              <a:rPr lang="en-US" dirty="0">
                <a:effectLst/>
                <a:latin typeface="Arial" panose="020B0604020202020204" pitchFamily="34" charset="0"/>
              </a:rPr>
              <a:t>(</a:t>
            </a:r>
            <a:r>
              <a:rPr lang="en-US" dirty="0" err="1">
                <a:effectLst/>
                <a:latin typeface="Arial" panose="020B0604020202020204" pitchFamily="34" charset="0"/>
              </a:rPr>
              <a:t>arr</a:t>
            </a:r>
            <a:r>
              <a:rPr lang="en-US" dirty="0">
                <a:effectLst/>
                <a:latin typeface="Arial" panose="020B0604020202020204" pitchFamily="34" charset="0"/>
              </a:rPr>
              <a:t>[0]) &lt;&lt; </a:t>
            </a:r>
            <a:r>
              <a:rPr lang="en-US" dirty="0" err="1">
                <a:effectLst/>
                <a:latin typeface="Arial" panose="020B0604020202020204" pitchFamily="34" charset="0"/>
              </a:rPr>
              <a:t>endl</a:t>
            </a:r>
            <a:r>
              <a:rPr lang="en-US" dirty="0">
                <a:effectLst/>
                <a:latin typeface="Arial" panose="020B0604020202020204" pitchFamily="34" charset="0"/>
              </a:rPr>
              <a:t>;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// Size of array '</a:t>
            </a:r>
            <a:r>
              <a:rPr lang="en-US" dirty="0" err="1">
                <a:effectLst/>
                <a:latin typeface="Arial" panose="020B0604020202020204" pitchFamily="34" charset="0"/>
              </a:rPr>
              <a:t>arr</a:t>
            </a:r>
            <a:r>
              <a:rPr lang="en-US" dirty="0">
                <a:effectLst/>
                <a:latin typeface="Arial" panose="020B0604020202020204" pitchFamily="34" charset="0"/>
              </a:rPr>
              <a:t>'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</a:t>
            </a:r>
            <a:r>
              <a:rPr lang="en-US" dirty="0" err="1">
                <a:effectLst/>
                <a:latin typeface="Arial" panose="020B0604020202020204" pitchFamily="34" charset="0"/>
              </a:rPr>
              <a:t>cout</a:t>
            </a:r>
            <a:r>
              <a:rPr lang="en-US" dirty="0">
                <a:effectLst/>
                <a:latin typeface="Arial" panose="020B0604020202020204" pitchFamily="34" charset="0"/>
              </a:rPr>
              <a:t> &lt;&lt; "Size of </a:t>
            </a:r>
            <a:r>
              <a:rPr lang="en-US" dirty="0" err="1">
                <a:effectLst/>
                <a:latin typeface="Arial" panose="020B0604020202020204" pitchFamily="34" charset="0"/>
              </a:rPr>
              <a:t>arr</a:t>
            </a:r>
            <a:r>
              <a:rPr lang="en-US" dirty="0">
                <a:effectLst/>
                <a:latin typeface="Arial" panose="020B0604020202020204" pitchFamily="34" charset="0"/>
              </a:rPr>
              <a:t>: " &lt;&lt; </a:t>
            </a:r>
            <a:r>
              <a:rPr lang="en-US" dirty="0" err="1">
                <a:effectLst/>
                <a:latin typeface="Arial" panose="020B0604020202020204" pitchFamily="34" charset="0"/>
              </a:rPr>
              <a:t>sizeof</a:t>
            </a:r>
            <a:r>
              <a:rPr lang="en-US" dirty="0">
                <a:effectLst/>
                <a:latin typeface="Arial" panose="020B0604020202020204" pitchFamily="34" charset="0"/>
              </a:rPr>
              <a:t>(</a:t>
            </a:r>
            <a:r>
              <a:rPr lang="en-US" dirty="0" err="1">
                <a:effectLst/>
                <a:latin typeface="Arial" panose="020B0604020202020204" pitchFamily="34" charset="0"/>
              </a:rPr>
              <a:t>arr</a:t>
            </a:r>
            <a:r>
              <a:rPr lang="en-US" dirty="0">
                <a:effectLst/>
                <a:latin typeface="Arial" panose="020B0604020202020204" pitchFamily="34" charset="0"/>
              </a:rPr>
              <a:t>) &lt;&lt; </a:t>
            </a:r>
            <a:r>
              <a:rPr lang="en-US" dirty="0" err="1">
                <a:effectLst/>
                <a:latin typeface="Arial" panose="020B0604020202020204" pitchFamily="34" charset="0"/>
              </a:rPr>
              <a:t>endl</a:t>
            </a:r>
            <a:r>
              <a:rPr lang="en-US" dirty="0">
                <a:effectLst/>
                <a:latin typeface="Arial" panose="020B0604020202020204" pitchFamily="34" charset="0"/>
              </a:rPr>
              <a:t>;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// Length of an array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int n = </a:t>
            </a:r>
            <a:r>
              <a:rPr lang="en-US" dirty="0" err="1">
                <a:effectLst/>
                <a:latin typeface="Arial" panose="020B0604020202020204" pitchFamily="34" charset="0"/>
              </a:rPr>
              <a:t>sizeof</a:t>
            </a:r>
            <a:r>
              <a:rPr lang="en-US" dirty="0">
                <a:effectLst/>
                <a:latin typeface="Arial" panose="020B0604020202020204" pitchFamily="34" charset="0"/>
              </a:rPr>
              <a:t>(</a:t>
            </a:r>
            <a:r>
              <a:rPr lang="en-US" dirty="0" err="1">
                <a:effectLst/>
                <a:latin typeface="Arial" panose="020B0604020202020204" pitchFamily="34" charset="0"/>
              </a:rPr>
              <a:t>arr</a:t>
            </a:r>
            <a:r>
              <a:rPr lang="en-US" dirty="0">
                <a:effectLst/>
                <a:latin typeface="Arial" panose="020B0604020202020204" pitchFamily="34" charset="0"/>
              </a:rPr>
              <a:t>) / </a:t>
            </a:r>
            <a:r>
              <a:rPr lang="en-US" dirty="0" err="1">
                <a:effectLst/>
                <a:latin typeface="Arial" panose="020B0604020202020204" pitchFamily="34" charset="0"/>
              </a:rPr>
              <a:t>sizeof</a:t>
            </a:r>
            <a:r>
              <a:rPr lang="en-US" dirty="0">
                <a:effectLst/>
                <a:latin typeface="Arial" panose="020B0604020202020204" pitchFamily="34" charset="0"/>
              </a:rPr>
              <a:t>(</a:t>
            </a:r>
            <a:r>
              <a:rPr lang="en-US" dirty="0" err="1">
                <a:effectLst/>
                <a:latin typeface="Arial" panose="020B0604020202020204" pitchFamily="34" charset="0"/>
              </a:rPr>
              <a:t>arr</a:t>
            </a:r>
            <a:r>
              <a:rPr lang="en-US" dirty="0">
                <a:effectLst/>
                <a:latin typeface="Arial" panose="020B0604020202020204" pitchFamily="34" charset="0"/>
              </a:rPr>
              <a:t>[0]);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</a:t>
            </a:r>
            <a:r>
              <a:rPr lang="en-US" dirty="0" err="1">
                <a:effectLst/>
                <a:latin typeface="Arial" panose="020B0604020202020204" pitchFamily="34" charset="0"/>
              </a:rPr>
              <a:t>cout</a:t>
            </a:r>
            <a:r>
              <a:rPr lang="en-US" dirty="0">
                <a:effectLst/>
                <a:latin typeface="Arial" panose="020B0604020202020204" pitchFamily="34" charset="0"/>
              </a:rPr>
              <a:t> &lt;&lt; "Length of an array: " &lt;&lt; n &lt;&lt; </a:t>
            </a:r>
            <a:r>
              <a:rPr lang="en-US" dirty="0" err="1">
                <a:effectLst/>
                <a:latin typeface="Arial" panose="020B0604020202020204" pitchFamily="34" charset="0"/>
              </a:rPr>
              <a:t>endl</a:t>
            </a:r>
            <a:r>
              <a:rPr lang="en-US" dirty="0">
                <a:effectLst/>
                <a:latin typeface="Arial" panose="020B0604020202020204" pitchFamily="34" charset="0"/>
              </a:rPr>
              <a:t>;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    return 0;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>
                <a:effectLst/>
                <a:latin typeface="Arial" panose="020B0604020202020204" pitchFamily="34" charset="0"/>
              </a:rPr>
              <a:t>}</a:t>
            </a: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endParaRPr lang="en-US" dirty="0">
              <a:effectLst/>
              <a:latin typeface="Arial" panose="020B0604020202020204" pitchFamily="34" charset="0"/>
            </a:endParaRPr>
          </a:p>
          <a:p>
            <a:pPr fontAlgn="base">
              <a:spcBef>
                <a:spcPts val="1800"/>
              </a:spcBef>
              <a:spcAft>
                <a:spcPts val="1800"/>
              </a:spcAft>
            </a:pPr>
            <a:endParaRPr lang="en-US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16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int numbers[5];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"Enter 5 numbers: 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//  store input from user to array</a:t>
            </a:r>
          </a:p>
          <a:p>
            <a:r>
              <a:rPr lang="en-US" dirty="0"/>
              <a:t>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numbers[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</a:t>
            </a:r>
            <a:r>
              <a:rPr lang="en-US" dirty="0" err="1"/>
              <a:t>cout</a:t>
            </a:r>
            <a:r>
              <a:rPr lang="en-US" dirty="0"/>
              <a:t> &lt;&lt; "The numbers are: ";</a:t>
            </a:r>
          </a:p>
          <a:p>
            <a:r>
              <a:rPr lang="en-US" dirty="0"/>
              <a:t>  //  print array elements</a:t>
            </a:r>
          </a:p>
          <a:p>
            <a:r>
              <a:rPr lang="en-US" dirty="0"/>
              <a:t>  for (int n = 0; n &lt; 5; ++n) 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numbers[n] &lt;&lt; "  ";</a:t>
            </a:r>
          </a:p>
          <a:p>
            <a:r>
              <a:rPr lang="en-US" dirty="0"/>
              <a:t>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28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3150"/>
              </a:lnSpc>
              <a:spcAft>
                <a:spcPts val="900"/>
              </a:spcAft>
            </a:pPr>
            <a:br>
              <a:rPr lang="en-US" dirty="0"/>
            </a:b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C++ Array Out of Bounds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21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int numbers[5] = {7, 5, 6, 12, 35};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"The numbers are: ";</a:t>
            </a:r>
          </a:p>
          <a:p>
            <a:r>
              <a:rPr lang="en-US" dirty="0"/>
              <a:t>  for (int n : numbers) 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n &lt;&lt; "  ";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nThe</a:t>
            </a:r>
            <a:r>
              <a:rPr lang="en-US" dirty="0"/>
              <a:t> numbers are: ";</a:t>
            </a:r>
          </a:p>
          <a:p>
            <a:r>
              <a:rPr lang="en-US" dirty="0"/>
              <a:t>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++</a:t>
            </a:r>
            <a:r>
              <a:rPr lang="en-US" dirty="0" err="1"/>
              <a:t>i</a:t>
            </a:r>
            <a:r>
              <a:rPr lang="en-US" dirty="0"/>
              <a:t>) 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numbers[</a:t>
            </a:r>
            <a:r>
              <a:rPr lang="en-US" dirty="0" err="1"/>
              <a:t>i</a:t>
            </a:r>
            <a:r>
              <a:rPr lang="en-US" dirty="0"/>
              <a:t>] &lt;&lt; "  ";</a:t>
            </a:r>
          </a:p>
          <a:p>
            <a:r>
              <a:rPr lang="en-US" dirty="0"/>
              <a:t>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78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double numbers[] = {7, 5, 6, 12, 35, 27};</a:t>
            </a:r>
          </a:p>
          <a:p>
            <a:r>
              <a:rPr lang="en-US" dirty="0"/>
              <a:t>  double sum = 0, count = 0, average;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"The numbers are: ";</a:t>
            </a:r>
          </a:p>
          <a:p>
            <a:r>
              <a:rPr lang="en-US" dirty="0"/>
              <a:t>  for (double n : numbers) {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n &lt;&lt; "  ";</a:t>
            </a:r>
          </a:p>
          <a:p>
            <a:r>
              <a:rPr lang="en-US" dirty="0"/>
              <a:t>    sum += n;</a:t>
            </a:r>
          </a:p>
          <a:p>
            <a:r>
              <a:rPr lang="en-US" dirty="0"/>
              <a:t>    ++count;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"\</a:t>
            </a:r>
            <a:r>
              <a:rPr lang="en-US" dirty="0" err="1"/>
              <a:t>nTheir</a:t>
            </a:r>
            <a:r>
              <a:rPr lang="en-US" dirty="0"/>
              <a:t> Sum = " &lt;&lt; sum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average = sum / count;</a:t>
            </a:r>
          </a:p>
          <a:p>
            <a:r>
              <a:rPr lang="en-US" dirty="0"/>
              <a:t>  </a:t>
            </a:r>
            <a:r>
              <a:rPr lang="en-US" dirty="0" err="1"/>
              <a:t>cout</a:t>
            </a:r>
            <a:r>
              <a:rPr lang="en-US" dirty="0"/>
              <a:t> &lt;&lt; "Their Average = " &lt;&lt; average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92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int </a:t>
            </a:r>
            <a:r>
              <a:rPr lang="en-US" dirty="0" err="1"/>
              <a:t>i</a:t>
            </a:r>
            <a:r>
              <a:rPr lang="en-US" dirty="0"/>
              <a:t>, odd=0 , even= 0 ;</a:t>
            </a:r>
          </a:p>
          <a:p>
            <a:r>
              <a:rPr lang="en-US" dirty="0"/>
              <a:t>   int A [10], B[10], C[10] ;</a:t>
            </a:r>
          </a:p>
          <a:p>
            <a:r>
              <a:rPr lang="en-US" dirty="0"/>
              <a:t>   </a:t>
            </a:r>
            <a:r>
              <a:rPr lang="en-US" dirty="0" err="1"/>
              <a:t>cout</a:t>
            </a:r>
            <a:r>
              <a:rPr lang="en-US" dirty="0"/>
              <a:t>&lt;&lt;"Enter ten numbers:";</a:t>
            </a:r>
          </a:p>
          <a:p>
            <a:r>
              <a:rPr lang="en-US" dirty="0"/>
              <a:t>   for( </a:t>
            </a:r>
            <a:r>
              <a:rPr lang="en-US" dirty="0" err="1"/>
              <a:t>i</a:t>
            </a:r>
            <a:r>
              <a:rPr lang="en-US" dirty="0"/>
              <a:t>= 0 ; </a:t>
            </a:r>
            <a:r>
              <a:rPr lang="en-US" dirty="0" err="1"/>
              <a:t>i</a:t>
            </a:r>
            <a:r>
              <a:rPr lang="en-US" dirty="0"/>
              <a:t> &lt;10;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{  </a:t>
            </a:r>
          </a:p>
          <a:p>
            <a:r>
              <a:rPr lang="en-US" dirty="0"/>
              <a:t>       </a:t>
            </a:r>
            <a:r>
              <a:rPr lang="en-US" dirty="0" err="1"/>
              <a:t>cin</a:t>
            </a:r>
            <a:r>
              <a:rPr lang="en-US" dirty="0"/>
              <a:t> &gt;&gt;  A[</a:t>
            </a:r>
            <a:r>
              <a:rPr lang="en-US" dirty="0" err="1"/>
              <a:t>i</a:t>
            </a:r>
            <a:r>
              <a:rPr lang="en-US" dirty="0"/>
              <a:t>] ;</a:t>
            </a:r>
          </a:p>
          <a:p>
            <a:r>
              <a:rPr lang="en-US" dirty="0"/>
              <a:t>       if (A[</a:t>
            </a:r>
            <a:r>
              <a:rPr lang="en-US" dirty="0" err="1"/>
              <a:t>i</a:t>
            </a:r>
            <a:r>
              <a:rPr lang="en-US" dirty="0"/>
              <a:t>] % 2 == 0){</a:t>
            </a:r>
          </a:p>
          <a:p>
            <a:r>
              <a:rPr lang="en-US" dirty="0"/>
              <a:t>           B [even] = A[</a:t>
            </a:r>
            <a:r>
              <a:rPr lang="en-US" dirty="0" err="1"/>
              <a:t>i</a:t>
            </a:r>
            <a:r>
              <a:rPr lang="en-US" dirty="0"/>
              <a:t>] ;</a:t>
            </a:r>
          </a:p>
          <a:p>
            <a:r>
              <a:rPr lang="en-US" dirty="0"/>
              <a:t>           even++ 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else {</a:t>
            </a:r>
          </a:p>
          <a:p>
            <a:r>
              <a:rPr lang="en-US" dirty="0"/>
              <a:t>           C[odd]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odd ++ ;</a:t>
            </a:r>
          </a:p>
          <a:p>
            <a:r>
              <a:rPr lang="en-US" dirty="0"/>
              <a:t>        }   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</a:t>
            </a:r>
            <a:r>
              <a:rPr lang="en-US" dirty="0" err="1"/>
              <a:t>cout</a:t>
            </a:r>
            <a:r>
              <a:rPr lang="en-US" dirty="0"/>
              <a:t> &lt;&lt; "Even Numbers=" ; </a:t>
            </a:r>
          </a:p>
          <a:p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&lt;even;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B[</a:t>
            </a:r>
            <a:r>
              <a:rPr lang="en-US" dirty="0" err="1"/>
              <a:t>i</a:t>
            </a:r>
            <a:r>
              <a:rPr lang="en-US" dirty="0"/>
              <a:t>] &lt;&lt;" " ;  </a:t>
            </a:r>
          </a:p>
          <a:p>
            <a:r>
              <a:rPr lang="en-US" dirty="0"/>
              <a:t>   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 </a:t>
            </a:r>
          </a:p>
          <a:p>
            <a:r>
              <a:rPr lang="en-US" dirty="0"/>
              <a:t>   </a:t>
            </a:r>
            <a:r>
              <a:rPr lang="en-US" dirty="0" err="1"/>
              <a:t>cout</a:t>
            </a:r>
            <a:r>
              <a:rPr lang="en-US" dirty="0"/>
              <a:t> &lt;&lt; "Odd Numbers = "; </a:t>
            </a:r>
          </a:p>
          <a:p>
            <a:r>
              <a:rPr lang="en-US" dirty="0"/>
              <a:t>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&lt;odd;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</a:t>
            </a:r>
            <a:r>
              <a:rPr lang="en-US" dirty="0" err="1"/>
              <a:t>cout</a:t>
            </a:r>
            <a:r>
              <a:rPr lang="en-US" dirty="0"/>
              <a:t> &lt;&lt; C[</a:t>
            </a:r>
            <a:r>
              <a:rPr lang="en-US" dirty="0" err="1"/>
              <a:t>i</a:t>
            </a:r>
            <a:r>
              <a:rPr lang="en-US" dirty="0"/>
              <a:t>] &lt;&lt; "    " ;    </a:t>
            </a:r>
          </a:p>
          <a:p>
            <a:r>
              <a:rPr lang="en-US" dirty="0"/>
              <a:t>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29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void display(int m[]) {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"Displaying marks: 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5; ++</a:t>
            </a:r>
            <a:r>
              <a:rPr lang="en-US" dirty="0" err="1"/>
              <a:t>i</a:t>
            </a:r>
            <a:r>
              <a:rPr lang="en-US" dirty="0"/>
              <a:t>)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 &lt;&lt; "Student " &lt;&lt; </a:t>
            </a:r>
            <a:r>
              <a:rPr lang="en-US" dirty="0" err="1"/>
              <a:t>i</a:t>
            </a:r>
            <a:r>
              <a:rPr lang="en-US" dirty="0"/>
              <a:t> + 1 &lt;&lt; ": " &lt;&lt; m[</a:t>
            </a:r>
            <a:r>
              <a:rPr lang="en-US" dirty="0" err="1"/>
              <a:t>i</a:t>
            </a:r>
            <a:r>
              <a:rPr lang="en-US" dirty="0"/>
              <a:t>]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marks[ ] = {88, 76, 90, 61, 69};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display(marks);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36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int a[5]={7,5,1,12,6};</a:t>
            </a:r>
          </a:p>
          <a:p>
            <a:r>
              <a:rPr lang="en-US" dirty="0"/>
              <a:t>    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&lt;5;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for(int j=i+1; j&lt;5; </a:t>
            </a:r>
            <a:r>
              <a:rPr lang="en-US" dirty="0" err="1"/>
              <a:t>j++</a:t>
            </a:r>
            <a:r>
              <a:rPr lang="en-US" dirty="0"/>
              <a:t>) </a:t>
            </a:r>
          </a:p>
          <a:p>
            <a:r>
              <a:rPr lang="en-US" dirty="0"/>
              <a:t>        { </a:t>
            </a:r>
          </a:p>
          <a:p>
            <a:r>
              <a:rPr lang="en-US" dirty="0"/>
              <a:t>            if(a[</a:t>
            </a:r>
            <a:r>
              <a:rPr lang="en-US" dirty="0" err="1"/>
              <a:t>i</a:t>
            </a:r>
            <a:r>
              <a:rPr lang="en-US" dirty="0"/>
              <a:t>]&gt;a[j])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int temp =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    a[</a:t>
            </a:r>
            <a:r>
              <a:rPr lang="en-US" dirty="0" err="1"/>
              <a:t>i</a:t>
            </a:r>
            <a:r>
              <a:rPr lang="en-US" dirty="0"/>
              <a:t>] = a[j];</a:t>
            </a:r>
          </a:p>
          <a:p>
            <a:r>
              <a:rPr lang="en-US" dirty="0"/>
              <a:t>                a[j] = temp;</a:t>
            </a:r>
          </a:p>
          <a:p>
            <a:r>
              <a:rPr lang="en-US" dirty="0"/>
              <a:t>            }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&lt;&lt;"\</a:t>
            </a:r>
            <a:r>
              <a:rPr lang="en-US" dirty="0" err="1"/>
              <a:t>nArray</a:t>
            </a:r>
            <a:r>
              <a:rPr lang="en-US" dirty="0"/>
              <a:t> after sorting:";</a:t>
            </a:r>
          </a:p>
          <a:p>
            <a:r>
              <a:rPr lang="en-US" dirty="0"/>
              <a:t>    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&lt;5;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&lt;&lt;a[</a:t>
            </a:r>
            <a:r>
              <a:rPr lang="en-US" dirty="0" err="1"/>
              <a:t>i</a:t>
            </a:r>
            <a:r>
              <a:rPr lang="en-US" dirty="0"/>
              <a:t>]&lt;&lt;" ";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320F5-D33F-4FF1-9F3A-0A0724E786B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85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86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941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rows = 3;</a:t>
            </a:r>
          </a:p>
          <a:p>
            <a:r>
              <a:rPr lang="en-US" dirty="0"/>
              <a:t>    int cols = 2;</a:t>
            </a:r>
          </a:p>
          <a:p>
            <a:r>
              <a:rPr lang="en-US" dirty="0"/>
              <a:t>    // Declare and initialize at the same time</a:t>
            </a:r>
          </a:p>
          <a:p>
            <a:r>
              <a:rPr lang="en-US" dirty="0"/>
              <a:t>    int x[3][2] = {{1, 2}, {3, 4}, {5, 6}};</a:t>
            </a:r>
          </a:p>
          <a:p>
            <a:endParaRPr lang="en-US" dirty="0"/>
          </a:p>
          <a:p>
            <a:r>
              <a:rPr lang="en-US" dirty="0"/>
              <a:t>    // Accessing and printing elements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rows; ++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r>
              <a:rPr lang="en-US" dirty="0"/>
              <a:t>        for (int j = 0; j &lt; cols; ++j) {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x[</a:t>
            </a:r>
            <a:r>
              <a:rPr lang="en-US" dirty="0" err="1"/>
              <a:t>i</a:t>
            </a:r>
            <a:r>
              <a:rPr lang="en-US" dirty="0"/>
              <a:t>][j] &lt;&lt; " 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039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matrix[3][4];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3; ++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r>
              <a:rPr lang="en-US" dirty="0"/>
              <a:t>        for (int j = 0; j &lt; 4; ++j) {</a:t>
            </a:r>
          </a:p>
          <a:p>
            <a:r>
              <a:rPr lang="en-US" dirty="0"/>
              <a:t>            matrix[</a:t>
            </a:r>
            <a:r>
              <a:rPr lang="en-US" dirty="0" err="1"/>
              <a:t>i</a:t>
            </a:r>
            <a:r>
              <a:rPr lang="en-US" dirty="0"/>
              <a:t>][j] = </a:t>
            </a:r>
            <a:r>
              <a:rPr lang="en-US" dirty="0" err="1"/>
              <a:t>i</a:t>
            </a:r>
            <a:r>
              <a:rPr lang="en-US" dirty="0"/>
              <a:t> + j;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rows; ++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r>
              <a:rPr lang="en-US" dirty="0"/>
              <a:t>        for (int j = 0; j &lt; cols; ++j) {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matrix[</a:t>
            </a:r>
            <a:r>
              <a:rPr lang="en-US" dirty="0" err="1"/>
              <a:t>i</a:t>
            </a:r>
            <a:r>
              <a:rPr lang="en-US" dirty="0"/>
              <a:t>][j] &lt;&lt; " 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74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3A45-0B47-976F-6FC4-3B197DFB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B522A-FD3C-4243-81AA-7DB762A6A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F1FC8A-440E-4180-126C-21059B14A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 {</a:t>
            </a:r>
          </a:p>
          <a:p>
            <a:r>
              <a:rPr lang="en-US" dirty="0"/>
              <a:t>    int matrix[3][4];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3; ++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r>
              <a:rPr lang="en-US" dirty="0"/>
              <a:t>        for (int j = 0; j &lt; 4; ++j) {</a:t>
            </a:r>
          </a:p>
          <a:p>
            <a:r>
              <a:rPr lang="en-US" dirty="0"/>
              <a:t>            matrix[</a:t>
            </a:r>
            <a:r>
              <a:rPr lang="en-US" dirty="0" err="1"/>
              <a:t>i</a:t>
            </a:r>
            <a:r>
              <a:rPr lang="en-US" dirty="0"/>
              <a:t>][j] = </a:t>
            </a:r>
            <a:r>
              <a:rPr lang="en-US" dirty="0" err="1"/>
              <a:t>i</a:t>
            </a:r>
            <a:r>
              <a:rPr lang="en-US" dirty="0"/>
              <a:t> + j;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rows; ++</a:t>
            </a:r>
            <a:r>
              <a:rPr lang="en-US" dirty="0" err="1"/>
              <a:t>i</a:t>
            </a:r>
            <a:r>
              <a:rPr lang="en-US" dirty="0"/>
              <a:t>) {</a:t>
            </a:r>
          </a:p>
          <a:p>
            <a:r>
              <a:rPr lang="en-US" dirty="0"/>
              <a:t>        for (int j = 0; j &lt; cols; ++j) {</a:t>
            </a:r>
          </a:p>
          <a:p>
            <a:r>
              <a:rPr lang="en-US" dirty="0"/>
              <a:t>            </a:t>
            </a:r>
            <a:r>
              <a:rPr lang="en-US" dirty="0" err="1"/>
              <a:t>cout</a:t>
            </a:r>
            <a:r>
              <a:rPr lang="en-US" dirty="0"/>
              <a:t> &lt;&lt; matrix[</a:t>
            </a:r>
            <a:r>
              <a:rPr lang="en-US" dirty="0" err="1"/>
              <a:t>i</a:t>
            </a:r>
            <a:r>
              <a:rPr lang="en-US" dirty="0"/>
              <a:t>][j] &lt;&lt; " ";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C5153-11BB-67EB-3C45-684ADDBD5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65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#include &lt;iostream&gt;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using namespace std;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int main ( 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{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int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, j , </a:t>
            </a:r>
            <a:r>
              <a:rPr lang="en-US" altLang="en-US" sz="1200" dirty="0" err="1"/>
              <a:t>Rsum</a:t>
            </a:r>
            <a:r>
              <a:rPr lang="en-US" altLang="en-US" sz="1200" dirty="0"/>
              <a:t> = 0 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int B[2][3];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</a:t>
            </a:r>
            <a:r>
              <a:rPr lang="en-US" altLang="en-US" sz="1200" dirty="0" err="1"/>
              <a:t>cout</a:t>
            </a:r>
            <a:r>
              <a:rPr lang="en-US" altLang="en-US" sz="1200" dirty="0"/>
              <a:t> &lt;&lt; "Enter  6 array elements: " 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for (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 = 0 ;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 &lt; 2 ;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++ 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   for ( j = 0 ; j &lt; 3 ; </a:t>
            </a:r>
            <a:r>
              <a:rPr lang="en-US" altLang="en-US" sz="1200" dirty="0" err="1"/>
              <a:t>j++</a:t>
            </a:r>
            <a:r>
              <a:rPr lang="en-US" altLang="en-US" sz="1200" dirty="0"/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    	</a:t>
            </a:r>
            <a:r>
              <a:rPr lang="en-US" altLang="en-US" sz="1200" dirty="0" err="1"/>
              <a:t>cin</a:t>
            </a:r>
            <a:r>
              <a:rPr lang="en-US" altLang="en-US" sz="1200" dirty="0"/>
              <a:t> &gt;&gt; B[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][j] 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for (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 = 0 ;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 &lt; 2 ;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++ 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    for ( j = 0 ; j &lt; 3 ; </a:t>
            </a:r>
            <a:r>
              <a:rPr lang="en-US" altLang="en-US" sz="1200" dirty="0" err="1"/>
              <a:t>j++</a:t>
            </a:r>
            <a:r>
              <a:rPr lang="en-US" altLang="en-US" sz="1200" dirty="0"/>
              <a:t>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       </a:t>
            </a:r>
            <a:r>
              <a:rPr lang="en-US" altLang="en-US" sz="1200" dirty="0" err="1"/>
              <a:t>Rsum</a:t>
            </a:r>
            <a:r>
              <a:rPr lang="en-US" altLang="en-US" sz="1200" dirty="0"/>
              <a:t> = </a:t>
            </a:r>
            <a:r>
              <a:rPr lang="en-US" altLang="en-US" sz="1200" dirty="0" err="1"/>
              <a:t>Rsum</a:t>
            </a:r>
            <a:r>
              <a:rPr lang="en-US" altLang="en-US" sz="1200" dirty="0"/>
              <a:t> + B[</a:t>
            </a:r>
            <a:r>
              <a:rPr lang="en-US" altLang="en-US" sz="1200" dirty="0" err="1"/>
              <a:t>i</a:t>
            </a:r>
            <a:r>
              <a:rPr lang="en-US" altLang="en-US" sz="1200" dirty="0"/>
              <a:t>][j] 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    </a:t>
            </a:r>
            <a:r>
              <a:rPr lang="en-US" altLang="en-US" sz="1200" dirty="0" err="1"/>
              <a:t>cout</a:t>
            </a:r>
            <a:r>
              <a:rPr lang="en-US" altLang="en-US" sz="1200" dirty="0"/>
              <a:t> &lt;&lt;  " sum of row no. " &lt;&lt;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                </a:t>
            </a:r>
            <a:r>
              <a:rPr lang="en-US" altLang="en-US" sz="1200" dirty="0" err="1"/>
              <a:t>i</a:t>
            </a:r>
            <a:r>
              <a:rPr lang="en-US" altLang="en-US" sz="1200" dirty="0"/>
              <a:t> &lt;&lt; " is  " &lt;&lt; </a:t>
            </a:r>
            <a:r>
              <a:rPr lang="en-US" altLang="en-US" sz="1200" dirty="0" err="1"/>
              <a:t>Rsum</a:t>
            </a:r>
            <a:r>
              <a:rPr lang="en-US" altLang="en-US" sz="1200" dirty="0"/>
              <a:t>&lt;&lt;</a:t>
            </a:r>
            <a:r>
              <a:rPr lang="en-US" altLang="en-US" sz="1200" dirty="0" err="1"/>
              <a:t>endl</a:t>
            </a:r>
            <a:r>
              <a:rPr lang="en-US" altLang="en-US" sz="1200" dirty="0"/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    </a:t>
            </a:r>
            <a:r>
              <a:rPr lang="en-US" altLang="en-US" sz="1200" dirty="0" err="1"/>
              <a:t>Rsum</a:t>
            </a:r>
            <a:r>
              <a:rPr lang="en-US" altLang="en-US" sz="1200" dirty="0"/>
              <a:t> = 0;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    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200" dirty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83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#include&lt;iostream&gt;</a:t>
            </a:r>
          </a:p>
          <a:p>
            <a:r>
              <a:rPr lang="en-US" dirty="0"/>
              <a:t>using namespace std; </a:t>
            </a:r>
          </a:p>
          <a:p>
            <a:r>
              <a:rPr lang="en-US" dirty="0"/>
              <a:t>int main() </a:t>
            </a:r>
          </a:p>
          <a:p>
            <a:r>
              <a:rPr lang="en-US" dirty="0"/>
              <a:t>{  </a:t>
            </a:r>
          </a:p>
          <a:p>
            <a:r>
              <a:rPr lang="en-US" dirty="0"/>
              <a:t>      int  m1[5][5], m2[5][5], m3[5][5];</a:t>
            </a:r>
          </a:p>
          <a:p>
            <a:r>
              <a:rPr lang="en-US" dirty="0"/>
              <a:t>      int  </a:t>
            </a:r>
            <a:r>
              <a:rPr lang="en-US" dirty="0" err="1"/>
              <a:t>i</a:t>
            </a:r>
            <a:r>
              <a:rPr lang="en-US" dirty="0"/>
              <a:t>, j, row, col;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&lt;&lt;"Enter the </a:t>
            </a:r>
            <a:r>
              <a:rPr lang="en-US" dirty="0" err="1"/>
              <a:t>no.of</a:t>
            </a:r>
            <a:r>
              <a:rPr lang="en-US" dirty="0"/>
              <a:t> rows of the matrices to be added(max 5):";</a:t>
            </a:r>
          </a:p>
          <a:p>
            <a:r>
              <a:rPr lang="en-US" dirty="0"/>
              <a:t>      </a:t>
            </a:r>
            <a:r>
              <a:rPr lang="en-US" dirty="0" err="1"/>
              <a:t>cin</a:t>
            </a:r>
            <a:r>
              <a:rPr lang="en-US" dirty="0"/>
              <a:t>&gt;&gt;row;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&lt;&lt;"Enter the </a:t>
            </a:r>
            <a:r>
              <a:rPr lang="en-US" dirty="0" err="1"/>
              <a:t>no.of</a:t>
            </a:r>
            <a:r>
              <a:rPr lang="en-US" dirty="0"/>
              <a:t> columns of the matrices to be added(max 5):";</a:t>
            </a:r>
          </a:p>
          <a:p>
            <a:r>
              <a:rPr lang="en-US" dirty="0"/>
              <a:t>      </a:t>
            </a:r>
            <a:r>
              <a:rPr lang="en-US" dirty="0" err="1"/>
              <a:t>cin</a:t>
            </a:r>
            <a:r>
              <a:rPr lang="en-US" dirty="0"/>
              <a:t>&gt;&gt;col;</a:t>
            </a:r>
          </a:p>
          <a:p>
            <a:r>
              <a:rPr lang="en-US" dirty="0"/>
              <a:t>      </a:t>
            </a:r>
          </a:p>
          <a:p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&lt;&lt;"\n1st Matrix Input:\n";</a:t>
            </a:r>
          </a:p>
          <a:p>
            <a:r>
              <a:rPr lang="en-US" dirty="0"/>
              <a:t>	  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row;i</a:t>
            </a:r>
            <a:r>
              <a:rPr lang="en-US" dirty="0"/>
              <a:t>++)</a:t>
            </a:r>
          </a:p>
          <a:p>
            <a:r>
              <a:rPr lang="en-US" dirty="0"/>
              <a:t>	  {</a:t>
            </a:r>
          </a:p>
          <a:p>
            <a:r>
              <a:rPr lang="en-US" dirty="0"/>
              <a:t>	  	for(j=0;j&lt;</a:t>
            </a:r>
            <a:r>
              <a:rPr lang="en-US" dirty="0" err="1"/>
              <a:t>col;j</a:t>
            </a:r>
            <a:r>
              <a:rPr lang="en-US" dirty="0"/>
              <a:t>++)</a:t>
            </a:r>
          </a:p>
          <a:p>
            <a:r>
              <a:rPr lang="en-US" dirty="0"/>
              <a:t>	  	{</a:t>
            </a:r>
          </a:p>
          <a:p>
            <a:r>
              <a:rPr lang="en-US" dirty="0"/>
              <a:t>	  		</a:t>
            </a:r>
            <a:r>
              <a:rPr lang="en-US" dirty="0" err="1"/>
              <a:t>cout</a:t>
            </a:r>
            <a:r>
              <a:rPr lang="en-US" dirty="0"/>
              <a:t>&lt;&lt;"\nmatrix1["&lt;&lt;</a:t>
            </a:r>
            <a:r>
              <a:rPr lang="en-US" dirty="0" err="1"/>
              <a:t>i</a:t>
            </a:r>
            <a:r>
              <a:rPr lang="en-US" dirty="0"/>
              <a:t>&lt;&lt;"]["&lt;&lt;j&lt;&lt;"]=  ";</a:t>
            </a:r>
          </a:p>
          <a:p>
            <a:r>
              <a:rPr lang="en-US" dirty="0"/>
              <a:t>	  		</a:t>
            </a:r>
            <a:r>
              <a:rPr lang="en-US" dirty="0" err="1"/>
              <a:t>cin</a:t>
            </a:r>
            <a:r>
              <a:rPr lang="en-US" dirty="0"/>
              <a:t>&gt;&gt;m1[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  } </a:t>
            </a:r>
          </a:p>
          <a:p>
            <a:r>
              <a:rPr lang="en-US" dirty="0"/>
              <a:t>	  </a:t>
            </a:r>
          </a:p>
          <a:p>
            <a:r>
              <a:rPr lang="en-US" dirty="0"/>
              <a:t>	  </a:t>
            </a:r>
            <a:r>
              <a:rPr lang="en-US" dirty="0" err="1"/>
              <a:t>cout</a:t>
            </a:r>
            <a:r>
              <a:rPr lang="en-US" dirty="0"/>
              <a:t>&lt;&lt;"\n2nd Matrix Input:\n";</a:t>
            </a:r>
          </a:p>
          <a:p>
            <a:r>
              <a:rPr lang="en-US" dirty="0"/>
              <a:t>	  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row;i</a:t>
            </a:r>
            <a:r>
              <a:rPr lang="en-US" dirty="0"/>
              <a:t>++)</a:t>
            </a:r>
          </a:p>
          <a:p>
            <a:r>
              <a:rPr lang="en-US" dirty="0"/>
              <a:t>	  {</a:t>
            </a:r>
          </a:p>
          <a:p>
            <a:r>
              <a:rPr lang="en-US" dirty="0"/>
              <a:t>	  	for(j=0;j&lt;</a:t>
            </a:r>
            <a:r>
              <a:rPr lang="en-US" dirty="0" err="1"/>
              <a:t>col;j</a:t>
            </a:r>
            <a:r>
              <a:rPr lang="en-US" dirty="0"/>
              <a:t>++)</a:t>
            </a:r>
          </a:p>
          <a:p>
            <a:r>
              <a:rPr lang="en-US" dirty="0"/>
              <a:t>	  	{</a:t>
            </a:r>
          </a:p>
          <a:p>
            <a:r>
              <a:rPr lang="en-US" dirty="0"/>
              <a:t>	  		</a:t>
            </a:r>
            <a:r>
              <a:rPr lang="en-US" dirty="0" err="1"/>
              <a:t>cout</a:t>
            </a:r>
            <a:r>
              <a:rPr lang="en-US" dirty="0"/>
              <a:t>&lt;&lt;"\nmatrix2["&lt;&lt;</a:t>
            </a:r>
            <a:r>
              <a:rPr lang="en-US" dirty="0" err="1"/>
              <a:t>i</a:t>
            </a:r>
            <a:r>
              <a:rPr lang="en-US" dirty="0"/>
              <a:t>&lt;&lt;"]["&lt;&lt;j&lt;&lt;"]=  ";</a:t>
            </a:r>
          </a:p>
          <a:p>
            <a:r>
              <a:rPr lang="en-US" dirty="0"/>
              <a:t>	  		</a:t>
            </a:r>
            <a:r>
              <a:rPr lang="en-US" dirty="0" err="1"/>
              <a:t>cin</a:t>
            </a:r>
            <a:r>
              <a:rPr lang="en-US" dirty="0"/>
              <a:t>&gt;&gt;m2[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  } </a:t>
            </a:r>
          </a:p>
          <a:p>
            <a:r>
              <a:rPr lang="en-US" dirty="0"/>
              <a:t>	  </a:t>
            </a:r>
          </a:p>
          <a:p>
            <a:r>
              <a:rPr lang="en-US" dirty="0"/>
              <a:t>	  </a:t>
            </a:r>
            <a:r>
              <a:rPr lang="en-US" dirty="0" err="1"/>
              <a:t>cout</a:t>
            </a:r>
            <a:r>
              <a:rPr lang="en-US" dirty="0"/>
              <a:t>&lt;&lt;"\</a:t>
            </a:r>
            <a:r>
              <a:rPr lang="en-US" dirty="0" err="1"/>
              <a:t>nAdding</a:t>
            </a:r>
            <a:r>
              <a:rPr lang="en-US" dirty="0"/>
              <a:t> Matrices...\n";</a:t>
            </a:r>
          </a:p>
          <a:p>
            <a:r>
              <a:rPr lang="en-US" dirty="0"/>
              <a:t>	  </a:t>
            </a:r>
          </a:p>
          <a:p>
            <a:r>
              <a:rPr lang="en-US" dirty="0"/>
              <a:t>	  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row;i</a:t>
            </a:r>
            <a:r>
              <a:rPr lang="en-US" dirty="0"/>
              <a:t>++)</a:t>
            </a:r>
          </a:p>
          <a:p>
            <a:r>
              <a:rPr lang="en-US" dirty="0"/>
              <a:t>	  {</a:t>
            </a:r>
          </a:p>
          <a:p>
            <a:r>
              <a:rPr lang="en-US" dirty="0"/>
              <a:t>	  	for(j=0;j&lt;</a:t>
            </a:r>
            <a:r>
              <a:rPr lang="en-US" dirty="0" err="1"/>
              <a:t>col;j</a:t>
            </a:r>
            <a:r>
              <a:rPr lang="en-US" dirty="0"/>
              <a:t>++)</a:t>
            </a:r>
          </a:p>
          <a:p>
            <a:r>
              <a:rPr lang="en-US" dirty="0"/>
              <a:t>	  	{</a:t>
            </a:r>
          </a:p>
          <a:p>
            <a:r>
              <a:rPr lang="en-US" dirty="0"/>
              <a:t>	  		m3[</a:t>
            </a:r>
            <a:r>
              <a:rPr lang="en-US" dirty="0" err="1"/>
              <a:t>i</a:t>
            </a:r>
            <a:r>
              <a:rPr lang="en-US" dirty="0"/>
              <a:t>][j]=m1[</a:t>
            </a:r>
            <a:r>
              <a:rPr lang="en-US" dirty="0" err="1"/>
              <a:t>i</a:t>
            </a:r>
            <a:r>
              <a:rPr lang="en-US" dirty="0"/>
              <a:t>][j]+m2[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  } </a:t>
            </a:r>
          </a:p>
          <a:p>
            <a:r>
              <a:rPr lang="en-US" dirty="0"/>
              <a:t>	  </a:t>
            </a:r>
          </a:p>
          <a:p>
            <a:r>
              <a:rPr lang="en-US" dirty="0"/>
              <a:t>	  </a:t>
            </a:r>
            <a:r>
              <a:rPr lang="en-US" dirty="0" err="1"/>
              <a:t>cout</a:t>
            </a:r>
            <a:r>
              <a:rPr lang="en-US" dirty="0"/>
              <a:t>&lt;&lt;"\</a:t>
            </a:r>
            <a:r>
              <a:rPr lang="en-US" dirty="0" err="1"/>
              <a:t>nThe</a:t>
            </a:r>
            <a:r>
              <a:rPr lang="en-US" dirty="0"/>
              <a:t> resultant Matrix is:\n";</a:t>
            </a:r>
          </a:p>
          <a:p>
            <a:endParaRPr lang="en-US" dirty="0"/>
          </a:p>
          <a:p>
            <a:r>
              <a:rPr lang="en-US" dirty="0"/>
              <a:t>	  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row;i</a:t>
            </a:r>
            <a:r>
              <a:rPr lang="en-US" dirty="0"/>
              <a:t>++)</a:t>
            </a:r>
          </a:p>
          <a:p>
            <a:r>
              <a:rPr lang="en-US" dirty="0"/>
              <a:t>	  {</a:t>
            </a:r>
          </a:p>
          <a:p>
            <a:r>
              <a:rPr lang="en-US" dirty="0"/>
              <a:t>	  	for(j=0;j&lt;</a:t>
            </a:r>
            <a:r>
              <a:rPr lang="en-US" dirty="0" err="1"/>
              <a:t>col;j</a:t>
            </a:r>
            <a:r>
              <a:rPr lang="en-US" dirty="0"/>
              <a:t>++)</a:t>
            </a:r>
          </a:p>
          <a:p>
            <a:r>
              <a:rPr lang="en-US" dirty="0"/>
              <a:t>	  </a:t>
            </a:r>
          </a:p>
          <a:p>
            <a:r>
              <a:rPr lang="en-US" dirty="0"/>
              <a:t>	  		</a:t>
            </a:r>
            <a:r>
              <a:rPr lang="en-US" dirty="0" err="1"/>
              <a:t>cout</a:t>
            </a:r>
            <a:r>
              <a:rPr lang="en-US" dirty="0"/>
              <a:t>&lt;&lt;"\t"&lt;&lt;m3[</a:t>
            </a:r>
            <a:r>
              <a:rPr lang="en-US" dirty="0" err="1"/>
              <a:t>i</a:t>
            </a:r>
            <a:r>
              <a:rPr lang="en-US" dirty="0"/>
              <a:t>][j];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	  } </a:t>
            </a:r>
          </a:p>
          <a:p>
            <a:r>
              <a:rPr lang="en-US" dirty="0"/>
              <a:t>	  </a:t>
            </a:r>
          </a:p>
          <a:p>
            <a:r>
              <a:rPr lang="en-US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2E8AA-5A9D-4A7B-889E-B4292CC93A3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72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48FD-B8EC-D3EF-50F0-6E7CFF788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C3146-60A9-88E4-8DE7-46B64E1DF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8EE7B-6ECF-0BA6-298A-F3C2BE110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A75E0-260B-F6AE-AE6B-354D3F99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1CF23-0874-EE7B-B1E0-BBD1FF3A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E0833-8051-D313-0CB7-FAA52D215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D9264-3D9A-8988-6AAA-2C9172811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156AF-0285-85FF-0BBE-8E8F8658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E73C3-AA13-D031-5F34-F3E0FB76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6FCD-E80C-0844-B08C-AB0A09BC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28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1B9F-8CA4-47F1-D236-3D65E4B0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96552-4B00-0A40-95BF-1315CB543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2616C-5B8A-F464-E936-1300AA4FA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7648B-7377-DFC8-8427-2B5A13C1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78BFF-ED0B-6A15-D88C-76E1B007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AD64-AE19-773A-A09B-C411951D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3D35A-ECA4-A8DB-1F3A-332FA1C10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F62D4-439D-5BCB-F9DA-63FBFC5CC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4CC9B-FC1F-4B93-0290-639B9700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BEF4D-2631-9211-D9F6-DCD9B5458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75366-FE30-47FC-0D1B-07D02D56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0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8A95-1CBB-3094-8AB3-3516E6E4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7365-1EF2-C6F0-3BAE-ECCDBCBBC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F12DB-A9AA-6516-B049-58FEA42A3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50DD4-7A4B-2C6A-3AC8-ECC36C88C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DC1A7-866B-A3A5-6C7E-46C89095B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93143-2B90-C506-5F44-F754B2F3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0E37FC-0CFC-444E-B04E-60B5D18F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D655B-FDD6-B453-3303-6A50E3B5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3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2C81-8388-6E73-3A09-8B22D802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5C56D-1B60-04EE-77B6-1BE205D2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72DE97-8F59-32CB-86DB-F54BBC5B1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12E94-F18F-B427-F526-A9FEB2EC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10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D3CCC-2186-BB1B-8947-2D62D766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E07A37-2815-31D0-6DEA-117FCAF7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D1DFA-8EED-09F0-E865-F87BA6CB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9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3DBA-5C3F-C000-5A16-8F95A4BF0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09DA6-D853-C62B-B716-8ED5A81FD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68587-9B83-39D6-3D58-F2E80FAD9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F160B-EFEF-FF49-7DC0-054714E8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4CABE-9E7E-A0A3-6829-36DA4755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7A380-A621-FEE4-4931-E0C54658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945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F1929-4CB6-9F1E-EF1C-8ABCA981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D3F39-BDA5-16E3-A16E-81344570E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B0F1D3-2640-8099-BC32-83FE6B528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FE80-249A-33E5-13D9-389F7DB7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DC424-2369-E58B-BB0F-E57BC157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62C20-840D-3019-BD7C-C83EC6A7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E770-957D-701A-642C-629F242A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1B69C-4886-A382-9DE3-6C2522355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5F29C-1B52-DFE2-3016-C20CE7B7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4BAFE-543D-EFE4-064E-19657BFA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2BA47-AB99-0B1F-ED62-833A5EED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83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2426C-7653-3F8E-1E65-37B4FD5FF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166A5-576F-3BB3-0CB6-C36DFAA58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3E69E-80B2-722F-B33C-C0C42136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EB04B-B98D-B8A9-3FA7-E41A1ECC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DA651-B5A2-9F65-90FF-03268277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8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03BA1-E893-C009-C305-1BAF2035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F0B26-33CC-ABAE-4E38-1C67604E0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14C3-0016-D459-C7EA-ABC5C7860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7A44A-3080-4D20-8318-5BB4BF57F9D0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BA668-D979-EA15-00C4-4C6E1A915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64088-9964-53F5-9C10-B6C72B535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1025A-530F-46F4-9C4C-E034F5C3B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5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C48BA3C7-823E-9780-2B98-2E72A56FA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DAA833-BA70-F313-BB9A-AE6A4BDA6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285DCC-7053-BF30-C88B-43F9AD1AF683}"/>
              </a:ext>
            </a:extLst>
          </p:cNvPr>
          <p:cNvSpPr txBox="1"/>
          <p:nvPr/>
        </p:nvSpPr>
        <p:spPr>
          <a:xfrm>
            <a:off x="2065687" y="315555"/>
            <a:ext cx="81020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D0361E3C-A4D8-DA35-5F2A-4457CF9F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189" y="5203011"/>
            <a:ext cx="4972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sz="2400" b="1" dirty="0">
                <a:latin typeface="Verdana"/>
                <a:cs typeface="Verdana"/>
              </a:rPr>
              <a:t>Prof. Ahmed Youssef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9966157-FE14-8C22-1DE4-181DB889A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5835B742-3E69-1975-1279-80D115CE3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817244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1026" name="Picture 2" descr="C++ Explained: Everything You Need to Know - History-Computer">
            <a:extLst>
              <a:ext uri="{FF2B5EF4-FFF2-40B4-BE49-F238E27FC236}">
                <a16:creationId xmlns:a16="http://schemas.microsoft.com/office/drawing/2014/main" id="{F97A68F0-469C-2BB3-9BDC-C5466AC43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7137" y="5111184"/>
            <a:ext cx="2131090" cy="127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++ Programming, Lecture# 1 - YouTube">
            <a:extLst>
              <a:ext uri="{FF2B5EF4-FFF2-40B4-BE49-F238E27FC236}">
                <a16:creationId xmlns:a16="http://schemas.microsoft.com/office/drawing/2014/main" id="{D678A2E5-0642-CCEE-6852-5A8BFACDD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73" y="4985573"/>
            <a:ext cx="2164080" cy="1278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FCD84C4-FB0F-89AB-BFC0-E872F9C10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5F8D5C6-3169-1438-CEF6-67C05C4AEF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715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399D2-B51C-6E31-166E-99C8AA4F8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33939AF9-9ED2-9C8C-64F6-0162DE7CF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902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03941C-1C99-028F-E8AA-6F54418C9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3310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4693CD-665B-FC47-7B6E-1664A3F07B9F}"/>
              </a:ext>
            </a:extLst>
          </p:cNvPr>
          <p:cNvSpPr txBox="1"/>
          <p:nvPr/>
        </p:nvSpPr>
        <p:spPr>
          <a:xfrm>
            <a:off x="2065687" y="315555"/>
            <a:ext cx="81020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Al-Azhar University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 of Engineering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Systems and Computer Engineering Dept.</a:t>
            </a:r>
          </a:p>
          <a:p>
            <a:pPr algn="ctr">
              <a:spcAft>
                <a:spcPts val="750"/>
              </a:spcAft>
            </a:pPr>
            <a:r>
              <a:rPr lang="en-US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Systems Engineering Program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08EA510-056F-099D-0803-18656BA6A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1331" y="4655826"/>
            <a:ext cx="4373766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endParaRPr lang="en-US" sz="1350"/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E6ECADC8-755D-C93C-9E6E-2FB1412BC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354" y="2241263"/>
            <a:ext cx="7693292" cy="1546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50" b="1" dirty="0">
                <a:latin typeface="Verdana"/>
                <a:cs typeface="Verdana"/>
              </a:rPr>
              <a:t>ENG 151</a:t>
            </a:r>
          </a:p>
          <a:p>
            <a:pPr algn="ctr">
              <a:spcBef>
                <a:spcPct val="50000"/>
              </a:spcBef>
            </a:pPr>
            <a:r>
              <a:rPr lang="en-US" sz="2000" b="1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lang="en-US" sz="3600" b="1" dirty="0">
                <a:solidFill>
                  <a:srgbClr val="0000FF"/>
                </a:solidFill>
                <a:latin typeface="Verdana"/>
                <a:cs typeface="Verdana"/>
              </a:rPr>
              <a:t>Computer Programming I</a:t>
            </a:r>
            <a:endParaRPr lang="en-US" sz="3600" dirty="0">
              <a:solidFill>
                <a:srgbClr val="0000FF"/>
              </a:solidFill>
              <a:latin typeface="Verdana"/>
              <a:cs typeface="Verdana"/>
            </a:endParaRPr>
          </a:p>
        </p:txBody>
      </p:sp>
      <p:pic>
        <p:nvPicPr>
          <p:cNvPr id="2" name="Picture 1" descr="A yellow circle with a logo and text&#10;&#10;Description automatically generated">
            <a:extLst>
              <a:ext uri="{FF2B5EF4-FFF2-40B4-BE49-F238E27FC236}">
                <a16:creationId xmlns:a16="http://schemas.microsoft.com/office/drawing/2014/main" id="{52E1F3D0-D9AF-953E-FFAE-C7F79857E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96" y="163838"/>
            <a:ext cx="1440000" cy="1539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7EC8350D-0473-7F37-F838-F581E97A4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3" t="5173" r="16367" b="5878"/>
          <a:stretch>
            <a:fillRect/>
          </a:stretch>
        </p:blipFill>
        <p:spPr bwMode="auto">
          <a:xfrm>
            <a:off x="10167704" y="168947"/>
            <a:ext cx="1440000" cy="1442510"/>
          </a:xfrm>
          <a:prstGeom prst="rect">
            <a:avLst/>
          </a:prstGeom>
          <a:noFill/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6D8E507D-BCCC-99D2-9454-5C1BB6AFB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4328553"/>
            <a:ext cx="681989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 b="1" dirty="0"/>
              <a:t>Arrays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22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91E5-DDE9-0C11-F48B-C637E548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6E44E-74E8-421F-8770-CFFBEFBB1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605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0" i="0" dirty="0">
                <a:solidFill>
                  <a:srgbClr val="1F1F1F"/>
                </a:solidFill>
                <a:effectLst/>
              </a:rPr>
              <a:t>An array in C++ is a data structure that stores a collection of elements of the same type.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CE2C2-DA37-C38E-DA3C-659B494F21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70" t="29443" r="2013" b="6569"/>
          <a:stretch/>
        </p:blipFill>
        <p:spPr>
          <a:xfrm>
            <a:off x="2043404" y="3191070"/>
            <a:ext cx="8845420" cy="241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2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CD40-C7DD-A4AE-8460-4B0AF2189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Arrays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D8CD9-3574-2BD3-C7D7-CF02463D8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>
            <a:norm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73239"/>
                </a:solidFill>
                <a:effectLst/>
              </a:rPr>
              <a:t>Indexing of an array starts from </a:t>
            </a:r>
            <a:r>
              <a:rPr lang="en-US" sz="3200" b="1" i="0" dirty="0">
                <a:solidFill>
                  <a:srgbClr val="273239"/>
                </a:solidFill>
                <a:effectLst/>
              </a:rPr>
              <a:t>0. </a:t>
            </a:r>
            <a:r>
              <a:rPr lang="en-US" sz="3200" b="0" i="0" dirty="0">
                <a:solidFill>
                  <a:srgbClr val="273239"/>
                </a:solidFill>
                <a:effectLst/>
              </a:rPr>
              <a:t>It means the first element is stored at the 0th index, the second at 1st, and so on.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73239"/>
                </a:solidFill>
                <a:effectLst/>
              </a:rPr>
              <a:t>Elements of an array can be accessed using their indices.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73239"/>
                </a:solidFill>
                <a:effectLst/>
              </a:rPr>
              <a:t>Once an array is declared its size remains constant throughout the program.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73239"/>
                </a:solidFill>
                <a:effectLst/>
              </a:rPr>
              <a:t>An array can have multiple dimensions.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73239"/>
                </a:solidFill>
                <a:effectLst/>
              </a:rPr>
              <a:t>The number of elements in an array can be determined using the </a:t>
            </a:r>
            <a:r>
              <a:rPr lang="en-US" sz="3200" b="0" i="0" dirty="0" err="1">
                <a:solidFill>
                  <a:srgbClr val="273239"/>
                </a:solidFill>
                <a:effectLst/>
              </a:rPr>
              <a:t>sizeof</a:t>
            </a:r>
            <a:r>
              <a:rPr lang="en-US" sz="3200" b="0" i="0" dirty="0">
                <a:solidFill>
                  <a:srgbClr val="273239"/>
                </a:solidFill>
                <a:effectLst/>
              </a:rPr>
              <a:t> operator.</a:t>
            </a:r>
          </a:p>
        </p:txBody>
      </p:sp>
    </p:spTree>
    <p:extLst>
      <p:ext uri="{BB962C8B-B14F-4D97-AF65-F5344CB8AC3E}">
        <p14:creationId xmlns:p14="http://schemas.microsoft.com/office/powerpoint/2010/main" val="63088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0296A-E966-2873-C6A7-4036ED7C4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Array Declaration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35D15-DEEC-F4C9-B0E6-83B0F1DC7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  <a:effectLst/>
              </a:rPr>
              <a:t>data_type</a:t>
            </a:r>
            <a:r>
              <a:rPr lang="en-US" dirty="0">
                <a:effectLst/>
              </a:rPr>
              <a:t> </a:t>
            </a:r>
            <a:r>
              <a:rPr lang="en-US" b="1" dirty="0" err="1">
                <a:effectLst/>
              </a:rPr>
              <a:t>array_name</a:t>
            </a:r>
            <a:r>
              <a:rPr lang="en-US" b="1" dirty="0">
                <a:effectLst/>
              </a:rPr>
              <a:t>[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siz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</a:rPr>
              <a:t>e_of_array</a:t>
            </a:r>
            <a:r>
              <a:rPr lang="en-US" b="1" dirty="0">
                <a:effectLst/>
              </a:rPr>
              <a:t>];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Example: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273239"/>
                </a:solidFill>
                <a:latin typeface="Nunito" pitchFamily="2" charset="0"/>
              </a:rPr>
              <a:t>	int </a:t>
            </a:r>
            <a:r>
              <a:rPr lang="en-US" b="1" dirty="0" err="1">
                <a:solidFill>
                  <a:srgbClr val="273239"/>
                </a:solidFill>
                <a:latin typeface="Nunito" pitchFamily="2" charset="0"/>
              </a:rPr>
              <a:t>Arr</a:t>
            </a:r>
            <a:r>
              <a:rPr lang="en-US" b="1" dirty="0">
                <a:solidFill>
                  <a:srgbClr val="273239"/>
                </a:solidFill>
                <a:latin typeface="Nunito" pitchFamily="2" charset="0"/>
              </a:rPr>
              <a:t>[5];</a:t>
            </a:r>
          </a:p>
          <a:p>
            <a:pPr marL="0" indent="0">
              <a:buNone/>
            </a:pPr>
            <a:endParaRPr lang="en-US" b="1" dirty="0">
              <a:solidFill>
                <a:srgbClr val="273239"/>
              </a:solidFill>
              <a:latin typeface="Nunito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73239"/>
                </a:solidFill>
                <a:latin typeface="Nunito" pitchFamily="2" charset="0"/>
              </a:rPr>
              <a:t>int  </a:t>
            </a:r>
            <a:r>
              <a:rPr lang="en-US" b="1" dirty="0">
                <a:solidFill>
                  <a:srgbClr val="273239"/>
                </a:solidFill>
                <a:latin typeface="Nunito" pitchFamily="2" charset="0"/>
                <a:sym typeface="Wingdings" panose="05000000000000000000" pitchFamily="2" charset="2"/>
              </a:rPr>
              <a:t></a:t>
            </a:r>
            <a:r>
              <a:rPr lang="en-US" b="1" dirty="0">
                <a:solidFill>
                  <a:srgbClr val="273239"/>
                </a:solidFill>
                <a:latin typeface="Nunito" pitchFamily="2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effectLst/>
              </a:rPr>
              <a:t>data_type</a:t>
            </a:r>
            <a:r>
              <a:rPr lang="en-US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b="1" dirty="0" err="1">
                <a:effectLst/>
              </a:rPr>
              <a:t>Arr</a:t>
            </a:r>
            <a:r>
              <a:rPr lang="en-US" b="1" dirty="0">
                <a:effectLst/>
              </a:rPr>
              <a:t> </a:t>
            </a:r>
            <a:r>
              <a:rPr lang="en-US" b="1" dirty="0">
                <a:effectLst/>
                <a:sym typeface="Wingdings" panose="05000000000000000000" pitchFamily="2" charset="2"/>
              </a:rPr>
              <a:t> </a:t>
            </a:r>
            <a:r>
              <a:rPr lang="en-US" b="1" dirty="0" err="1">
                <a:effectLst/>
              </a:rPr>
              <a:t>array_name</a:t>
            </a:r>
            <a:endParaRPr lang="en-US" b="1" dirty="0">
              <a:effectLst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5    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siz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effectLst/>
              </a:rPr>
              <a:t>e_of_array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443ADA-F7F7-7E53-0735-35EC501BE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32" y="3315283"/>
            <a:ext cx="48196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08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772F-242B-55E3-FB5C-433C74988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3150"/>
              </a:lnSpc>
              <a:spcAft>
                <a:spcPts val="900"/>
              </a:spcAft>
            </a:pP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C++ Array Initialization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60B8D-2B4C-304F-D0CD-5E631B39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effectLst/>
              </a:rPr>
              <a:t>// declare and initialize an array</a:t>
            </a:r>
            <a:r>
              <a:rPr lang="en-US" sz="3200" dirty="0"/>
              <a:t> </a:t>
            </a:r>
            <a:endParaRPr lang="ar-EG" sz="3200" dirty="0"/>
          </a:p>
          <a:p>
            <a:pPr marL="0" indent="0">
              <a:buNone/>
            </a:pPr>
            <a:r>
              <a:rPr lang="en-US" sz="3200" dirty="0">
                <a:effectLst/>
              </a:rPr>
              <a:t>int</a:t>
            </a:r>
            <a:r>
              <a:rPr lang="en-US" sz="3200" dirty="0"/>
              <a:t> x[</a:t>
            </a:r>
            <a:r>
              <a:rPr lang="en-US" sz="3200" dirty="0">
                <a:effectLst/>
              </a:rPr>
              <a:t>6</a:t>
            </a:r>
            <a:r>
              <a:rPr lang="en-US" sz="3200" dirty="0"/>
              <a:t>] = {</a:t>
            </a:r>
            <a:r>
              <a:rPr lang="en-US" sz="3200" dirty="0">
                <a:effectLst/>
              </a:rPr>
              <a:t>19</a:t>
            </a:r>
            <a:r>
              <a:rPr lang="en-US" sz="3200" dirty="0"/>
              <a:t>, </a:t>
            </a:r>
            <a:r>
              <a:rPr lang="en-US" sz="3200" dirty="0">
                <a:effectLst/>
              </a:rPr>
              <a:t>10</a:t>
            </a:r>
            <a:r>
              <a:rPr lang="en-US" sz="3200" dirty="0"/>
              <a:t>, </a:t>
            </a:r>
            <a:r>
              <a:rPr lang="en-US" sz="3200" dirty="0">
                <a:effectLst/>
              </a:rPr>
              <a:t>8</a:t>
            </a:r>
            <a:r>
              <a:rPr lang="en-US" sz="3200" dirty="0"/>
              <a:t>, </a:t>
            </a:r>
            <a:r>
              <a:rPr lang="en-US" sz="3200" dirty="0">
                <a:effectLst/>
              </a:rPr>
              <a:t>17</a:t>
            </a:r>
            <a:r>
              <a:rPr lang="en-US" sz="3200" dirty="0"/>
              <a:t>, </a:t>
            </a:r>
            <a:r>
              <a:rPr lang="en-US" sz="3200" dirty="0">
                <a:effectLst/>
              </a:rPr>
              <a:t>9</a:t>
            </a:r>
            <a:r>
              <a:rPr lang="en-US" sz="3200" dirty="0"/>
              <a:t>, </a:t>
            </a:r>
            <a:r>
              <a:rPr lang="en-US" sz="3200" dirty="0">
                <a:effectLst/>
              </a:rPr>
              <a:t>15</a:t>
            </a:r>
            <a:r>
              <a:rPr lang="en-US" sz="3200" dirty="0"/>
              <a:t>};</a:t>
            </a:r>
            <a:endParaRPr lang="ar-EG" sz="3200" dirty="0"/>
          </a:p>
          <a:p>
            <a:pPr marL="0" indent="0">
              <a:buNone/>
            </a:pPr>
            <a:r>
              <a:rPr lang="en-US" sz="3200" dirty="0"/>
              <a:t>int x[</a:t>
            </a:r>
            <a:r>
              <a:rPr lang="ar-EG" sz="3200" dirty="0"/>
              <a:t> </a:t>
            </a:r>
            <a:r>
              <a:rPr lang="en-US" sz="3200" dirty="0"/>
              <a:t>] </a:t>
            </a:r>
            <a:r>
              <a:rPr lang="ar-EG" sz="3200" dirty="0"/>
              <a:t> </a:t>
            </a:r>
            <a:r>
              <a:rPr lang="en-US" sz="3200" dirty="0"/>
              <a:t>= {19, 10, 8, 17, 9, 15};</a:t>
            </a:r>
          </a:p>
          <a:p>
            <a:pPr marL="0" indent="0">
              <a:buNone/>
            </a:pPr>
            <a:endParaRPr lang="en-US" sz="32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A621A-A59B-E447-C631-DD380A6E1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00" y="3429000"/>
            <a:ext cx="10404000" cy="271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59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CB46-205F-B1B8-B808-27E75E91C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2700"/>
              </a:lnSpc>
              <a:spcAft>
                <a:spcPts val="900"/>
              </a:spcAft>
            </a:pP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C++ Array With Empty Members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597AA-F29D-921F-E1F6-1034C6C09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00" y="2111387"/>
            <a:ext cx="10512000" cy="366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7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2178-575F-3714-ECA9-8E750188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Initialization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2F92C-281D-2CBA-3585-574D3B975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int X[5] = {6, 12, 14, 17, 8};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dirty="0"/>
              <a:t> int X[5] = { 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int X[5] = {6, 12};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dirty="0"/>
              <a:t> int X[ ] = {6, 12, 14, 17, 8};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3FAEDA-9C11-21C4-1265-F19E83345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53693"/>
              </p:ext>
            </p:extLst>
          </p:nvPr>
        </p:nvGraphicFramePr>
        <p:xfrm>
          <a:off x="5523722" y="1895324"/>
          <a:ext cx="5029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308772012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959041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1657282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20098323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300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9538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09DCA9-0393-F83E-DE99-756CDBCD7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223432"/>
              </p:ext>
            </p:extLst>
          </p:nvPr>
        </p:nvGraphicFramePr>
        <p:xfrm>
          <a:off x="5523722" y="3001196"/>
          <a:ext cx="5029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308772012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959041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1657282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20098323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300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95386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71279AF-A3F4-53C9-F3C7-1CEFFC8FD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136446"/>
              </p:ext>
            </p:extLst>
          </p:nvPr>
        </p:nvGraphicFramePr>
        <p:xfrm>
          <a:off x="5523722" y="3997848"/>
          <a:ext cx="5029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308772012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959041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1657282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20098323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300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95386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7C1ADA-A6F3-F9C1-2D7C-3C9974C60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647989"/>
              </p:ext>
            </p:extLst>
          </p:nvPr>
        </p:nvGraphicFramePr>
        <p:xfrm>
          <a:off x="5523722" y="4956400"/>
          <a:ext cx="5029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308772012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959041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1657282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20098323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300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9953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566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E9E8-A404-74DC-9711-F17595095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3150"/>
              </a:lnSpc>
              <a:spcAft>
                <a:spcPts val="900"/>
              </a:spcAft>
            </a:pP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Access Elements in C++ Array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5F1DF-F22B-2976-EC4A-9EB38CB4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43399"/>
            <a:ext cx="10515600" cy="1833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// int X[6] = {6, 12, 14, 17, 8, 2};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800" b="1" dirty="0">
                <a:solidFill>
                  <a:srgbClr val="0033CC"/>
                </a:solidFill>
              </a:rPr>
              <a:t>X[0] = 6	X[1] = 12	X[2] = 14	X[3] = 17	X[4] = 8     X[5] =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148F7D-F8EE-659D-950F-11F9A8A0A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000" y="1616088"/>
            <a:ext cx="9648000" cy="252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4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717AF64-79CA-D589-33B5-721871DCD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/>
          <a:lstStyle/>
          <a:p>
            <a:r>
              <a:rPr lang="en-US" dirty="0"/>
              <a:t>Displaying Array Elements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93A91E-2C1F-91C7-8D60-1C2F2C36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1524562"/>
            <a:ext cx="4829283" cy="48952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5E372F-145D-5A2C-2676-63A4A2931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34" y="3159125"/>
            <a:ext cx="1562100" cy="2809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539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0CB4-3461-BD72-8746-C177BC8B8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>
            <a:norm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 the Size of an Array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E5946-5B04-E23A-339E-B269BA672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1172920"/>
            <a:ext cx="10668000" cy="5472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BBF3E6-E76D-4BD7-F708-EF11BA84B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345" y="1479307"/>
            <a:ext cx="3912780" cy="13686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952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DBD0E-0FDE-E02C-7082-163B5A5C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ts val="3150"/>
              </a:lnSpc>
              <a:spcAft>
                <a:spcPts val="900"/>
              </a:spcAft>
            </a:pPr>
            <a:r>
              <a:rPr lang="en-US" sz="39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Take Inputs from User and Store values in Array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D9BF7C-0733-6ECE-BD64-F3AEB95FE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33501"/>
            <a:ext cx="10510697" cy="505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595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7250-635B-D806-A7C8-E281E220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4500"/>
              </a:lnSpc>
              <a:spcAft>
                <a:spcPts val="1500"/>
              </a:spcAft>
            </a:pP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C++ Ranged for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4516-1887-8052-0BBA-52A825D4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525"/>
            <a:ext cx="10515600" cy="4643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 initialize an int array</a:t>
            </a:r>
          </a:p>
          <a:p>
            <a:pPr marL="0" indent="0">
              <a:buNone/>
            </a:pPr>
            <a:r>
              <a:rPr lang="en-US" dirty="0"/>
              <a:t>int num[3] = {1, 2, 3};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use of ranged for loop</a:t>
            </a:r>
          </a:p>
          <a:p>
            <a:pPr marL="0" indent="0">
              <a:buNone/>
            </a:pPr>
            <a:r>
              <a:rPr lang="en-US" dirty="0"/>
              <a:t>for (int var : num) {</a:t>
            </a:r>
          </a:p>
          <a:p>
            <a:pPr marL="0" indent="0">
              <a:buNone/>
            </a:pPr>
            <a:r>
              <a:rPr lang="en-US" dirty="0"/>
              <a:t>    // code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sz="2600" dirty="0"/>
              <a:t>T</a:t>
            </a:r>
            <a:r>
              <a:rPr lang="en-US" sz="2600" b="0" i="0" dirty="0">
                <a:effectLst/>
              </a:rPr>
              <a:t>he ranged </a:t>
            </a:r>
            <a:r>
              <a:rPr lang="en-US" sz="2600" b="0" i="1" dirty="0">
                <a:effectLst/>
              </a:rPr>
              <a:t>for</a:t>
            </a:r>
            <a:r>
              <a:rPr lang="en-US" sz="2600" b="0" i="0" dirty="0">
                <a:effectLst/>
              </a:rPr>
              <a:t> loop iterates the array </a:t>
            </a:r>
            <a:r>
              <a:rPr lang="en-US" sz="2600" b="0" i="1" dirty="0">
                <a:effectLst/>
              </a:rPr>
              <a:t>num</a:t>
            </a:r>
            <a:r>
              <a:rPr lang="en-US" sz="2600" b="0" i="0" dirty="0">
                <a:effectLst/>
              </a:rPr>
              <a:t> from beginning to end. The int variable </a:t>
            </a:r>
            <a:r>
              <a:rPr lang="en-US" sz="2600" b="0" i="1" dirty="0">
                <a:effectLst/>
              </a:rPr>
              <a:t>var</a:t>
            </a:r>
            <a:r>
              <a:rPr lang="en-US" sz="2600" b="0" i="0" dirty="0">
                <a:effectLst/>
              </a:rPr>
              <a:t> stores the value of the array element in each iteration.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F2F72-0FEA-B3CE-71EF-4312AA53E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413" y="1409700"/>
            <a:ext cx="3816000" cy="190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CD2523-D8EB-2A8D-5E12-0A25F3BDF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213" y="3317700"/>
            <a:ext cx="3564000" cy="17562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A894ED-507A-B7A9-6499-215C784E8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207" y="2735263"/>
            <a:ext cx="3816000" cy="1850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78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A3D5-57EB-94D2-BBE3-C423DE04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Ranged for Loop to Display Array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DB99E-9143-12A7-3A59-E3A2F0B74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1428058"/>
            <a:ext cx="9901238" cy="499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02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E3FDF8-BFAA-3A0B-61D8-928EC834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Displaying Array Elements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C0DB6-04F8-1E12-FEC1-197AEEE3D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62" y="1152524"/>
            <a:ext cx="9845675" cy="541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962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547D-5A3A-5872-12AC-52F8D72C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187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Sum and Average of Array Elements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00BE8-6E19-0384-60AE-76F07C22E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49" y="1177731"/>
            <a:ext cx="9896476" cy="531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80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E577-8FD3-25E4-A86A-7D0C11ED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934340" cy="1325563"/>
          </a:xfrm>
        </p:spPr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4C39F-52B2-DA34-8299-410EB385C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76750" cy="4351338"/>
          </a:xfrm>
        </p:spPr>
        <p:txBody>
          <a:bodyPr/>
          <a:lstStyle/>
          <a:p>
            <a:pPr marL="0" indent="0" algn="just" rtl="0" eaLnBrk="1" hangingPunct="1"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read 10 integers and store them in array A. Then it finds the even numbers to store them in array B and the odd numbers to store them in array C.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98D72-2C17-CFB9-F911-5DE7C94BB5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1F7554-8311-F187-9521-9C66CDA15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349" y="365125"/>
            <a:ext cx="6143625" cy="624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57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816A-94E4-4535-FB0C-24EE13E2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598" cy="1325563"/>
          </a:xfrm>
        </p:spPr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4CCE0-AA0B-F15A-3078-F7C60AE37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100" y="1501775"/>
            <a:ext cx="4695825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the program of </a:t>
            </a:r>
            <a:r>
              <a:rPr lang="en-US" dirty="0"/>
              <a:t>previous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so that the data are stored in consecutive locations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58C4-860A-09CB-DC45-2CA89CC719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46E53-B5E1-9064-D66A-CBBA02A1E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350" y="365125"/>
            <a:ext cx="6227177" cy="59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6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86E6-E64C-B141-3DC4-7467AD0A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EC30C-81D6-852D-306D-60A300C9D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952875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i="0" dirty="0">
                <a:effectLst/>
              </a:rPr>
              <a:t>Write a C++ program to find the largest element of a given array of integers.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B2F84-47F4-FDD7-CE49-8BF9D4AE8A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C82444-A0B2-48A6-9693-A5D1399F1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5" y="453344"/>
            <a:ext cx="6572249" cy="595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9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E205D-D63E-5C5A-A1A3-747DF340E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03437"/>
            <a:ext cx="10515600" cy="1325563"/>
          </a:xfrm>
        </p:spPr>
        <p:txBody>
          <a:bodyPr/>
          <a:lstStyle/>
          <a:p>
            <a:r>
              <a:rPr lang="en-US" i="0" dirty="0">
                <a:solidFill>
                  <a:srgbClr val="1D1D27"/>
                </a:solidFill>
                <a:effectLst/>
              </a:rPr>
              <a:t>C++ Passing Array to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838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56BC5-43EA-3793-D270-53A149BD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935"/>
          </a:xfrm>
        </p:spPr>
        <p:txBody>
          <a:bodyPr/>
          <a:lstStyle/>
          <a:p>
            <a:r>
              <a:rPr lang="en-US" dirty="0"/>
              <a:t>// C++ Program to display marks of 5 students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45B06-BBCF-F44A-5DC6-38F67D102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249060"/>
            <a:ext cx="8991600" cy="5243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3D9038-08CE-6DC0-C009-0AB32D856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535" y="4200525"/>
            <a:ext cx="2419028" cy="1914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785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037763E-7E05-7A9B-7598-6C5DF65C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6F137-03C2-025B-CFCC-46B14FAD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98C2AF-97ED-6169-30A3-5BA9778E643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14400" y="1825625"/>
            <a:ext cx="104394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0" i="0" dirty="0">
                <a:effectLst/>
              </a:rPr>
              <a:t>Write a C++ program to find the largest three elements in an array.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20890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7AFDC8-87FC-7E8C-4957-629CB8E8D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248120"/>
            <a:ext cx="10839450" cy="634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8A4CFC-F7CC-969D-0157-16CF1AB73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1235868"/>
            <a:ext cx="9697198" cy="43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52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E3C1E5-C0C1-73C5-9DB4-5FABC8DFC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1131006"/>
            <a:ext cx="8712000" cy="50762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5EED4FC-16C2-C2D2-2C48-B35F1A04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1D1D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 maximum number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136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DDE2F4-5AC8-D955-6418-0B65B83E1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45019" cy="1325563"/>
          </a:xfrm>
        </p:spPr>
        <p:txBody>
          <a:bodyPr/>
          <a:lstStyle/>
          <a:p>
            <a:r>
              <a:rPr lang="en-US" dirty="0"/>
              <a:t>Sorting in Arrays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9721B-E42D-ED45-951F-A9D4B4B3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577" y="365125"/>
            <a:ext cx="5777921" cy="6256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CD8487-87F1-674F-75DD-F43C24ACB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50" y="1862863"/>
            <a:ext cx="4752000" cy="366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07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8">
            <a:extLst>
              <a:ext uri="{FF2B5EF4-FFF2-40B4-BE49-F238E27FC236}">
                <a16:creationId xmlns:a16="http://schemas.microsoft.com/office/drawing/2014/main" id="{D0361E3C-A4D8-DA35-5F2A-4457CF9F1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9520" y="2721114"/>
            <a:ext cx="978324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>
              <a:spcBef>
                <a:spcPct val="50000"/>
              </a:spcBef>
            </a:pPr>
            <a:r>
              <a:rPr lang="en-US" sz="4000" b="1" dirty="0">
                <a:latin typeface="Verdana"/>
              </a:rPr>
              <a:t>2D Arrays</a:t>
            </a:r>
          </a:p>
        </p:txBody>
      </p:sp>
    </p:spTree>
    <p:extLst>
      <p:ext uri="{BB962C8B-B14F-4D97-AF65-F5344CB8AC3E}">
        <p14:creationId xmlns:p14="http://schemas.microsoft.com/office/powerpoint/2010/main" val="4166856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BC36-63CF-7833-B7D1-AA16B0A4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1875"/>
              </a:lnSpc>
            </a:pPr>
            <a:r>
              <a:rPr lang="en-US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 Array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F52D8-2838-60DD-A314-317AD71DE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C++ multidimensional array is an array that has more than one dimension and allows you to store data in a grid-like structure</a:t>
            </a:r>
          </a:p>
          <a:p>
            <a:pPr algn="just"/>
            <a:r>
              <a:rPr lang="en-US" sz="3200" b="0" i="0" dirty="0">
                <a:effectLst/>
              </a:rPr>
              <a:t>A </a:t>
            </a:r>
            <a:r>
              <a:rPr lang="en-US" sz="3200" b="1" i="0" dirty="0">
                <a:effectLst/>
              </a:rPr>
              <a:t>two-dimensional array</a:t>
            </a:r>
            <a:r>
              <a:rPr lang="en-US" sz="3200" b="0" i="0" dirty="0">
                <a:effectLst/>
              </a:rPr>
              <a:t> in C++ is the simplest form of a multi-dimensional array. </a:t>
            </a:r>
          </a:p>
          <a:p>
            <a:pPr algn="just"/>
            <a:r>
              <a:rPr lang="en-US" sz="3200" b="0" i="0" dirty="0">
                <a:effectLst/>
              </a:rPr>
              <a:t>A two-dimensional array is also called a </a:t>
            </a:r>
            <a:r>
              <a:rPr lang="en-US" sz="3200" b="1" i="0" dirty="0">
                <a:effectLst/>
              </a:rPr>
              <a:t>matrix</a:t>
            </a:r>
            <a:r>
              <a:rPr lang="en-US" sz="3200" b="0" i="0" dirty="0">
                <a:effectLst/>
              </a:rPr>
              <a:t>.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63521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391E5-DDE9-0C11-F48B-C637E548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Syntax of Two-Dimensional Array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6E44E-74E8-421F-8770-CFFBEFBB1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data_type</a:t>
            </a:r>
            <a:r>
              <a:rPr lang="en-US" sz="3200" b="0" i="0" dirty="0">
                <a:solidFill>
                  <a:schemeClr val="accent2">
                    <a:lumMod val="50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b="0" i="0" dirty="0" err="1">
                <a:solidFill>
                  <a:srgbClr val="C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array_name</a:t>
            </a:r>
            <a:r>
              <a:rPr lang="en-US" sz="3200" b="0" i="0" dirty="0">
                <a:solidFill>
                  <a:srgbClr val="484848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</a:t>
            </a:r>
            <a:r>
              <a:rPr lang="en-US" sz="3200" b="0" i="0" dirty="0" err="1">
                <a:solidFill>
                  <a:schemeClr val="accent6">
                    <a:lumMod val="50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row_size</a:t>
            </a:r>
            <a:r>
              <a:rPr lang="en-US" sz="3200" b="0" i="0" dirty="0">
                <a:solidFill>
                  <a:srgbClr val="484848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][</a:t>
            </a:r>
            <a:r>
              <a:rPr lang="en-US" sz="3200" b="0" i="0" dirty="0" err="1">
                <a:solidFill>
                  <a:srgbClr val="602C64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column_size</a:t>
            </a:r>
            <a:r>
              <a:rPr lang="en-US" sz="3200" b="0" i="0" dirty="0">
                <a:solidFill>
                  <a:srgbClr val="484848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];</a:t>
            </a:r>
            <a:endParaRPr lang="en-US" sz="4400" dirty="0">
              <a:solidFill>
                <a:srgbClr val="C678DD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rgbClr val="C678DD"/>
                </a:solidFill>
                <a:effectLst/>
              </a:rPr>
              <a:t>int</a:t>
            </a:r>
            <a:r>
              <a:rPr lang="en-US" sz="3600" dirty="0"/>
              <a:t> x[</a:t>
            </a:r>
            <a:r>
              <a:rPr lang="en-US" sz="3600" dirty="0">
                <a:solidFill>
                  <a:srgbClr val="D19A66"/>
                </a:solidFill>
                <a:effectLst/>
              </a:rPr>
              <a:t>2</a:t>
            </a:r>
            <a:r>
              <a:rPr lang="en-US" sz="3600" dirty="0"/>
              <a:t>][</a:t>
            </a:r>
            <a:r>
              <a:rPr lang="en-US" sz="3600" dirty="0">
                <a:solidFill>
                  <a:srgbClr val="D19A66"/>
                </a:solidFill>
                <a:effectLst/>
              </a:rPr>
              <a:t>3</a:t>
            </a:r>
            <a:r>
              <a:rPr lang="en-US" sz="3600" dirty="0"/>
              <a:t>];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Initialization of 2D Array:</a:t>
            </a:r>
          </a:p>
          <a:p>
            <a:pPr marL="0" indent="0">
              <a:buNone/>
            </a:pPr>
            <a:r>
              <a:rPr lang="en-US" dirty="0">
                <a:solidFill>
                  <a:srgbClr val="C678DD"/>
                </a:solidFill>
                <a:effectLst/>
              </a:rPr>
              <a:t>int</a:t>
            </a:r>
            <a:r>
              <a:rPr lang="en-US" dirty="0"/>
              <a:t> x[</a:t>
            </a:r>
            <a:r>
              <a:rPr lang="en-US" dirty="0">
                <a:solidFill>
                  <a:srgbClr val="D19A66"/>
                </a:solidFill>
                <a:effectLst/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D19A66"/>
                </a:solidFill>
                <a:effectLst/>
              </a:rPr>
              <a:t>3</a:t>
            </a:r>
            <a:r>
              <a:rPr lang="en-US" dirty="0"/>
              <a:t>] = {</a:t>
            </a:r>
            <a:r>
              <a:rPr lang="en-US" dirty="0">
                <a:solidFill>
                  <a:srgbClr val="D19A66"/>
                </a:solidFill>
                <a:effectLst/>
              </a:rPr>
              <a:t>2</a:t>
            </a:r>
            <a:r>
              <a:rPr lang="en-US" dirty="0"/>
              <a:t>, </a:t>
            </a:r>
            <a:r>
              <a:rPr lang="en-US" dirty="0">
                <a:solidFill>
                  <a:srgbClr val="D19A66"/>
                </a:solidFill>
                <a:effectLst/>
              </a:rPr>
              <a:t>4</a:t>
            </a:r>
            <a:r>
              <a:rPr lang="en-US" dirty="0"/>
              <a:t>, </a:t>
            </a:r>
            <a:r>
              <a:rPr lang="en-US" dirty="0">
                <a:solidFill>
                  <a:srgbClr val="D19A66"/>
                </a:solidFill>
                <a:effectLst/>
              </a:rPr>
              <a:t>5</a:t>
            </a:r>
            <a:r>
              <a:rPr lang="en-US" dirty="0"/>
              <a:t>, </a:t>
            </a:r>
            <a:r>
              <a:rPr lang="en-US" dirty="0">
                <a:solidFill>
                  <a:srgbClr val="D19A66"/>
                </a:solidFill>
                <a:effectLst/>
              </a:rPr>
              <a:t>9</a:t>
            </a:r>
            <a:r>
              <a:rPr lang="en-US" dirty="0"/>
              <a:t>, </a:t>
            </a:r>
            <a:r>
              <a:rPr lang="en-US" dirty="0">
                <a:solidFill>
                  <a:srgbClr val="D19A66"/>
                </a:solidFill>
                <a:effectLst/>
              </a:rPr>
              <a:t>0</a:t>
            </a:r>
            <a:r>
              <a:rPr lang="en-US" dirty="0"/>
              <a:t>, </a:t>
            </a:r>
            <a:r>
              <a:rPr lang="en-US" dirty="0">
                <a:solidFill>
                  <a:srgbClr val="D19A66"/>
                </a:solidFill>
                <a:effectLst/>
              </a:rPr>
              <a:t>19</a:t>
            </a: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>
                <a:solidFill>
                  <a:srgbClr val="C678DD"/>
                </a:solidFill>
                <a:effectLst/>
              </a:rPr>
              <a:t>int</a:t>
            </a:r>
            <a:r>
              <a:rPr lang="en-US" dirty="0"/>
              <a:t> test[</a:t>
            </a:r>
            <a:r>
              <a:rPr lang="en-US" dirty="0">
                <a:solidFill>
                  <a:srgbClr val="D19A66"/>
                </a:solidFill>
                <a:effectLst/>
              </a:rPr>
              <a:t>2</a:t>
            </a:r>
            <a:r>
              <a:rPr lang="en-US" dirty="0"/>
              <a:t>][</a:t>
            </a:r>
            <a:r>
              <a:rPr lang="en-US" dirty="0">
                <a:solidFill>
                  <a:srgbClr val="D19A66"/>
                </a:solidFill>
                <a:effectLst/>
              </a:rPr>
              <a:t>3</a:t>
            </a:r>
            <a:r>
              <a:rPr lang="en-US" dirty="0"/>
              <a:t>] = { {</a:t>
            </a:r>
            <a:r>
              <a:rPr lang="en-US" dirty="0">
                <a:solidFill>
                  <a:srgbClr val="D19A66"/>
                </a:solidFill>
                <a:effectLst/>
              </a:rPr>
              <a:t>2</a:t>
            </a:r>
            <a:r>
              <a:rPr lang="en-US" dirty="0"/>
              <a:t>, </a:t>
            </a:r>
            <a:r>
              <a:rPr lang="en-US" dirty="0">
                <a:solidFill>
                  <a:srgbClr val="D19A66"/>
                </a:solidFill>
                <a:effectLst/>
              </a:rPr>
              <a:t>4</a:t>
            </a:r>
            <a:r>
              <a:rPr lang="en-US" dirty="0"/>
              <a:t>, </a:t>
            </a:r>
            <a:r>
              <a:rPr lang="en-US" dirty="0">
                <a:solidFill>
                  <a:srgbClr val="D19A66"/>
                </a:solidFill>
                <a:effectLst/>
              </a:rPr>
              <a:t>5</a:t>
            </a:r>
            <a:r>
              <a:rPr lang="en-US" dirty="0"/>
              <a:t>}, {</a:t>
            </a:r>
            <a:r>
              <a:rPr lang="en-US" dirty="0">
                <a:solidFill>
                  <a:srgbClr val="D19A66"/>
                </a:solidFill>
                <a:effectLst/>
              </a:rPr>
              <a:t>9</a:t>
            </a:r>
            <a:r>
              <a:rPr lang="en-US" dirty="0"/>
              <a:t>, </a:t>
            </a:r>
            <a:r>
              <a:rPr lang="en-US" dirty="0">
                <a:solidFill>
                  <a:srgbClr val="D19A66"/>
                </a:solidFill>
                <a:effectLst/>
              </a:rPr>
              <a:t>0</a:t>
            </a:r>
            <a:r>
              <a:rPr lang="en-US" dirty="0"/>
              <a:t>, </a:t>
            </a:r>
            <a:r>
              <a:rPr lang="en-US">
                <a:solidFill>
                  <a:srgbClr val="D19A66"/>
                </a:solidFill>
                <a:effectLst/>
              </a:rPr>
              <a:t>19</a:t>
            </a:r>
            <a:r>
              <a:rPr lang="en-US"/>
              <a:t>}};</a:t>
            </a:r>
            <a:endParaRPr lang="en-US" sz="1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012C0020-2B0D-75F6-598A-9CEBC1D26422}"/>
              </a:ext>
            </a:extLst>
          </p:cNvPr>
          <p:cNvGraphicFramePr>
            <a:graphicFrameLocks/>
          </p:cNvGraphicFramePr>
          <p:nvPr/>
        </p:nvGraphicFramePr>
        <p:xfrm>
          <a:off x="7052486" y="2668554"/>
          <a:ext cx="3668389" cy="12409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4723">
                  <a:extLst>
                    <a:ext uri="{9D8B030D-6E8A-4147-A177-3AD203B41FA5}">
                      <a16:colId xmlns:a16="http://schemas.microsoft.com/office/drawing/2014/main" val="482695359"/>
                    </a:ext>
                  </a:extLst>
                </a:gridCol>
                <a:gridCol w="1206833">
                  <a:extLst>
                    <a:ext uri="{9D8B030D-6E8A-4147-A177-3AD203B41FA5}">
                      <a16:colId xmlns:a16="http://schemas.microsoft.com/office/drawing/2014/main" val="3075854515"/>
                    </a:ext>
                  </a:extLst>
                </a:gridCol>
                <a:gridCol w="1206833">
                  <a:extLst>
                    <a:ext uri="{9D8B030D-6E8A-4147-A177-3AD203B41FA5}">
                      <a16:colId xmlns:a16="http://schemas.microsoft.com/office/drawing/2014/main" val="3425001885"/>
                    </a:ext>
                  </a:extLst>
                </a:gridCol>
              </a:tblGrid>
              <a:tr h="629869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X[0][0]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X[0][1]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X[0][2]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055226"/>
                  </a:ext>
                </a:extLst>
              </a:tr>
              <a:tr h="6111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X[1][0]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X[1][1]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X[1][2]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996171"/>
                  </a:ext>
                </a:extLst>
              </a:tr>
            </a:tbl>
          </a:graphicData>
        </a:graphic>
      </p:graphicFrame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6E7B513C-DCA4-DE13-9F02-AED825F9F4C1}"/>
              </a:ext>
            </a:extLst>
          </p:cNvPr>
          <p:cNvGraphicFramePr>
            <a:graphicFrameLocks/>
          </p:cNvGraphicFramePr>
          <p:nvPr/>
        </p:nvGraphicFramePr>
        <p:xfrm>
          <a:off x="7052486" y="4413580"/>
          <a:ext cx="3668389" cy="12222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4723">
                  <a:extLst>
                    <a:ext uri="{9D8B030D-6E8A-4147-A177-3AD203B41FA5}">
                      <a16:colId xmlns:a16="http://schemas.microsoft.com/office/drawing/2014/main" val="482695359"/>
                    </a:ext>
                  </a:extLst>
                </a:gridCol>
                <a:gridCol w="1206833">
                  <a:extLst>
                    <a:ext uri="{9D8B030D-6E8A-4147-A177-3AD203B41FA5}">
                      <a16:colId xmlns:a16="http://schemas.microsoft.com/office/drawing/2014/main" val="3075854515"/>
                    </a:ext>
                  </a:extLst>
                </a:gridCol>
                <a:gridCol w="1206833">
                  <a:extLst>
                    <a:ext uri="{9D8B030D-6E8A-4147-A177-3AD203B41FA5}">
                      <a16:colId xmlns:a16="http://schemas.microsoft.com/office/drawing/2014/main" val="3425001885"/>
                    </a:ext>
                  </a:extLst>
                </a:gridCol>
              </a:tblGrid>
              <a:tr h="611104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055226"/>
                  </a:ext>
                </a:extLst>
              </a:tr>
              <a:tr h="6111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99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788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1831-2C5C-6F5F-7EE4-C6553193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274" y="365125"/>
            <a:ext cx="3819525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4802C10-5E7F-DB9C-1419-F1195AA293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553847" y="2049560"/>
          <a:ext cx="239796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2310">
                  <a:extLst>
                    <a:ext uri="{9D8B030D-6E8A-4147-A177-3AD203B41FA5}">
                      <a16:colId xmlns:a16="http://schemas.microsoft.com/office/drawing/2014/main" val="482695359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0758545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X[0][0]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X[0][1]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055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X[1][0]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X[1][1]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996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X[2][0]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X[2][1]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48354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7B35A59-1117-2C6C-9713-C2350111A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02" y="666751"/>
            <a:ext cx="8050730" cy="563403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8F5941A-165B-98FF-800C-17C702B0EEAA}"/>
              </a:ext>
            </a:extLst>
          </p:cNvPr>
          <p:cNvGraphicFramePr>
            <a:graphicFrameLocks noGrp="1"/>
          </p:cNvGraphicFramePr>
          <p:nvPr/>
        </p:nvGraphicFramePr>
        <p:xfrm>
          <a:off x="8596372" y="3995738"/>
          <a:ext cx="2397967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2310">
                  <a:extLst>
                    <a:ext uri="{9D8B030D-6E8A-4147-A177-3AD203B41FA5}">
                      <a16:colId xmlns:a16="http://schemas.microsoft.com/office/drawing/2014/main" val="405074059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289091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3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93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409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737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5065-988C-01FA-F786-6EA2CF9F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272" y="365126"/>
            <a:ext cx="2953527" cy="69215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81539-C33D-F1D0-5B09-54FA1652C12D}"/>
              </a:ext>
            </a:extLst>
          </p:cNvPr>
          <p:cNvSpPr txBox="1"/>
          <p:nvPr/>
        </p:nvSpPr>
        <p:spPr>
          <a:xfrm>
            <a:off x="9162273" y="3063359"/>
            <a:ext cx="19343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0 1 2 3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1 2 3 4 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2 3 4 5 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F3702-638D-2C1D-D969-8BB46AA3E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6" y="412751"/>
            <a:ext cx="7681135" cy="61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3DD3-46A3-5AE8-0E04-D80695740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6CEA-2F73-3DD5-0E5F-D76FD13B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0272" y="365126"/>
            <a:ext cx="2953527" cy="69215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91861-FFA9-7D22-A413-9F59A71E0BE5}"/>
              </a:ext>
            </a:extLst>
          </p:cNvPr>
          <p:cNvSpPr txBox="1"/>
          <p:nvPr/>
        </p:nvSpPr>
        <p:spPr>
          <a:xfrm>
            <a:off x="9162273" y="3063359"/>
            <a:ext cx="193435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0 1 2 3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1 2 3 4 </a:t>
            </a:r>
          </a:p>
          <a:p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2 3 4 5 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54259-B2F4-A842-6B1B-F07E110EF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757237"/>
            <a:ext cx="8152329" cy="553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7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876C946B-BDD4-4B94-E544-20D36626B9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52475" y="390525"/>
            <a:ext cx="2000250" cy="346075"/>
          </a:xfrm>
        </p:spPr>
        <p:txBody>
          <a:bodyPr>
            <a:noAutofit/>
          </a:bodyPr>
          <a:lstStyle/>
          <a:p>
            <a:pPr algn="l" rtl="0" eaLnBrk="1" hangingPunct="1"/>
            <a:r>
              <a:rPr lang="en-US" altLang="en-US" sz="3200" u="sng" dirty="0"/>
              <a:t>Example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CF43C87-B4F3-725E-5F5B-9C91EB330B1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44176" y="858930"/>
            <a:ext cx="3823024" cy="54721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3200" dirty="0"/>
              <a:t>Write C++ program that reads array A of size (2 x 3)  and finds the sum of the elements in each row.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3A60AF-D547-D8BD-030B-914C381CA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654" y="390525"/>
            <a:ext cx="7304195" cy="62501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7A387520-4F59-C9EF-E1AD-7EEC2EA5C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404" y="303211"/>
            <a:ext cx="8229600" cy="346075"/>
          </a:xfrm>
        </p:spPr>
        <p:txBody>
          <a:bodyPr>
            <a:normAutofit fontScale="90000"/>
          </a:bodyPr>
          <a:lstStyle/>
          <a:p>
            <a:pPr rtl="0" eaLnBrk="1" hangingPunct="1"/>
            <a:r>
              <a:rPr lang="en-US" altLang="en-US" sz="2800" u="sng" dirty="0"/>
              <a:t>Example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4B46C8A-3FCF-1DC3-AFF6-02FF7CBEA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8457" y="836614"/>
            <a:ext cx="10748865" cy="554513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3600" dirty="0"/>
              <a:t>Write a C++ program that reads an array of size (3 x 3) and finds the product of the diagonal elements.</a:t>
            </a:r>
          </a:p>
          <a:p>
            <a:pPr marL="0" indent="0" algn="just">
              <a:buNone/>
            </a:pPr>
            <a:endParaRPr lang="en-US" alt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ABF7-71DE-C975-DB20-57B88C17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2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Matrix Addition using 2D Arrays in C++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ECEC7-93ED-69A7-2607-AE09CF57E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44713" y="1237817"/>
            <a:ext cx="7826608" cy="481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77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F743-EB7F-5F0B-A39A-3CA01D519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2047"/>
          </a:xfrm>
        </p:spPr>
        <p:txBody>
          <a:bodyPr/>
          <a:lstStyle/>
          <a:p>
            <a:r>
              <a:rPr lang="en-US" sz="44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Matrix Addition using 2D Arrays in C++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671F2-77CB-C0E4-5AB3-FC64D6F38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805"/>
            <a:ext cx="10740656" cy="5114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 </a:t>
            </a:r>
          </a:p>
          <a:p>
            <a:pPr marL="0" indent="0">
              <a:buNone/>
            </a:pPr>
            <a:r>
              <a:rPr lang="en-US" dirty="0"/>
              <a:t>int main() </a:t>
            </a:r>
          </a:p>
          <a:p>
            <a:pPr marL="0" indent="0">
              <a:buNone/>
            </a:pPr>
            <a:r>
              <a:rPr lang="en-US" dirty="0"/>
              <a:t>{  </a:t>
            </a:r>
          </a:p>
          <a:p>
            <a:pPr marL="0" indent="0">
              <a:buNone/>
            </a:pPr>
            <a:r>
              <a:rPr lang="en-US" dirty="0"/>
              <a:t>      int  m1[5][5], m2[5][5], m3[5][5];</a:t>
            </a:r>
          </a:p>
          <a:p>
            <a:pPr marL="0" indent="0">
              <a:buNone/>
            </a:pPr>
            <a:r>
              <a:rPr lang="en-US" dirty="0"/>
              <a:t>      int  </a:t>
            </a:r>
            <a:r>
              <a:rPr lang="en-US" dirty="0" err="1"/>
              <a:t>i</a:t>
            </a:r>
            <a:r>
              <a:rPr lang="en-US" dirty="0"/>
              <a:t>, j, row, col;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&lt;&lt;"Enter no. of rows of the matrices to be added(max 5):";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cin</a:t>
            </a:r>
            <a:r>
              <a:rPr lang="en-US" dirty="0"/>
              <a:t>&gt;&gt;row;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cout</a:t>
            </a:r>
            <a:r>
              <a:rPr lang="en-US" dirty="0"/>
              <a:t>&lt;&lt;"Enter no. of columns of the matrices to be added(max 5):";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cin</a:t>
            </a:r>
            <a:r>
              <a:rPr lang="en-US" dirty="0"/>
              <a:t>&gt;&gt;col;</a:t>
            </a:r>
          </a:p>
        </p:txBody>
      </p:sp>
    </p:spTree>
    <p:extLst>
      <p:ext uri="{BB962C8B-B14F-4D97-AF65-F5344CB8AC3E}">
        <p14:creationId xmlns:p14="http://schemas.microsoft.com/office/powerpoint/2010/main" val="1809997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66E19-1733-C3A8-05FC-39122EFE4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3945"/>
          </a:xfrm>
        </p:spPr>
        <p:txBody>
          <a:bodyPr/>
          <a:lstStyle/>
          <a:p>
            <a:r>
              <a:rPr lang="en-US" dirty="0"/>
              <a:t>Input: First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50C75-C931-C522-42D8-8DCF4A27C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070"/>
            <a:ext cx="10515600" cy="5018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cout</a:t>
            </a:r>
            <a:r>
              <a:rPr lang="en-US" b="1" dirty="0"/>
              <a:t>&lt;&lt;"\n First Matrix Input:\n";</a:t>
            </a:r>
          </a:p>
          <a:p>
            <a:pPr marL="0" indent="0">
              <a:buNone/>
            </a:pPr>
            <a:r>
              <a:rPr lang="en-US" b="1" dirty="0"/>
              <a:t>	  for(</a:t>
            </a:r>
            <a:r>
              <a:rPr lang="en-US" b="1" dirty="0" err="1"/>
              <a:t>i</a:t>
            </a:r>
            <a:r>
              <a:rPr lang="en-US" b="1" dirty="0"/>
              <a:t>=0;i&lt;</a:t>
            </a:r>
            <a:r>
              <a:rPr lang="en-US" b="1" dirty="0" err="1"/>
              <a:t>row;i</a:t>
            </a:r>
            <a:r>
              <a:rPr lang="en-US" b="1" dirty="0"/>
              <a:t>++)</a:t>
            </a:r>
          </a:p>
          <a:p>
            <a:pPr marL="0" indent="0">
              <a:buNone/>
            </a:pPr>
            <a:r>
              <a:rPr lang="en-US" b="1" dirty="0"/>
              <a:t>	  {</a:t>
            </a:r>
          </a:p>
          <a:p>
            <a:pPr marL="0" indent="0">
              <a:buNone/>
            </a:pPr>
            <a:r>
              <a:rPr lang="en-US" b="1" dirty="0"/>
              <a:t>	  	for(j=0;j&lt;</a:t>
            </a:r>
            <a:r>
              <a:rPr lang="en-US" b="1" dirty="0" err="1"/>
              <a:t>col;j</a:t>
            </a:r>
            <a:r>
              <a:rPr lang="en-US" b="1" dirty="0"/>
              <a:t>++)</a:t>
            </a:r>
          </a:p>
          <a:p>
            <a:pPr marL="0" indent="0">
              <a:buNone/>
            </a:pPr>
            <a:r>
              <a:rPr lang="en-US" b="1" dirty="0"/>
              <a:t>	  	{</a:t>
            </a:r>
          </a:p>
          <a:p>
            <a:pPr marL="0" indent="0">
              <a:buNone/>
            </a:pPr>
            <a:r>
              <a:rPr lang="en-US" b="1" dirty="0"/>
              <a:t>	  		</a:t>
            </a:r>
            <a:r>
              <a:rPr lang="en-US" b="1" dirty="0" err="1"/>
              <a:t>cout</a:t>
            </a:r>
            <a:r>
              <a:rPr lang="en-US" b="1" dirty="0"/>
              <a:t>&lt;&lt;"\nmatrix1["&lt;&lt;</a:t>
            </a:r>
            <a:r>
              <a:rPr lang="en-US" b="1" dirty="0" err="1"/>
              <a:t>i</a:t>
            </a:r>
            <a:r>
              <a:rPr lang="en-US" b="1" dirty="0"/>
              <a:t>&lt;&lt;"]["&lt;&lt;j&lt;&lt;"]=  ";</a:t>
            </a:r>
          </a:p>
          <a:p>
            <a:pPr marL="0" indent="0">
              <a:buNone/>
            </a:pPr>
            <a:r>
              <a:rPr lang="en-US" b="1" dirty="0"/>
              <a:t>	  		</a:t>
            </a:r>
            <a:r>
              <a:rPr lang="en-US" b="1" dirty="0" err="1"/>
              <a:t>cin</a:t>
            </a:r>
            <a:r>
              <a:rPr lang="en-US" b="1" dirty="0"/>
              <a:t>&gt;&gt;m1[</a:t>
            </a:r>
            <a:r>
              <a:rPr lang="en-US" b="1" dirty="0" err="1"/>
              <a:t>i</a:t>
            </a:r>
            <a:r>
              <a:rPr lang="en-US" b="1" dirty="0"/>
              <a:t>][j];</a:t>
            </a:r>
          </a:p>
          <a:p>
            <a:pPr marL="0" indent="0">
              <a:buNone/>
            </a:pPr>
            <a:r>
              <a:rPr lang="en-US" b="1" dirty="0"/>
              <a:t>		}</a:t>
            </a:r>
          </a:p>
          <a:p>
            <a:pPr marL="0" indent="0">
              <a:buNone/>
            </a:pPr>
            <a:r>
              <a:rPr lang="en-US" b="1" dirty="0"/>
              <a:t>	  } </a:t>
            </a:r>
          </a:p>
        </p:txBody>
      </p:sp>
    </p:spTree>
    <p:extLst>
      <p:ext uri="{BB962C8B-B14F-4D97-AF65-F5344CB8AC3E}">
        <p14:creationId xmlns:p14="http://schemas.microsoft.com/office/powerpoint/2010/main" val="21054866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799F-6A82-51FC-B53C-540CB5E7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Input: Second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ABFA8-CFC5-A0D3-976E-E6B88D957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028"/>
            <a:ext cx="10515600" cy="47309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err="1"/>
              <a:t>cout</a:t>
            </a:r>
            <a:r>
              <a:rPr lang="en-US" b="1" dirty="0"/>
              <a:t>&lt;&lt;"\n Second Matrix Input:\n";</a:t>
            </a:r>
          </a:p>
          <a:p>
            <a:pPr marL="0" indent="0">
              <a:buNone/>
            </a:pPr>
            <a:r>
              <a:rPr lang="en-US" b="1" dirty="0"/>
              <a:t>	  for(</a:t>
            </a:r>
            <a:r>
              <a:rPr lang="en-US" b="1" dirty="0" err="1"/>
              <a:t>i</a:t>
            </a:r>
            <a:r>
              <a:rPr lang="en-US" b="1" dirty="0"/>
              <a:t>=0;i&lt;</a:t>
            </a:r>
            <a:r>
              <a:rPr lang="en-US" b="1" dirty="0" err="1"/>
              <a:t>row;i</a:t>
            </a:r>
            <a:r>
              <a:rPr lang="en-US" b="1" dirty="0"/>
              <a:t>++)</a:t>
            </a:r>
          </a:p>
          <a:p>
            <a:pPr marL="0" indent="0">
              <a:buNone/>
            </a:pPr>
            <a:r>
              <a:rPr lang="en-US" b="1" dirty="0"/>
              <a:t>	  {</a:t>
            </a:r>
          </a:p>
          <a:p>
            <a:pPr marL="0" indent="0">
              <a:buNone/>
            </a:pPr>
            <a:r>
              <a:rPr lang="en-US" b="1" dirty="0"/>
              <a:t>	  	for(j=0;j&lt;</a:t>
            </a:r>
            <a:r>
              <a:rPr lang="en-US" b="1" dirty="0" err="1"/>
              <a:t>col;j</a:t>
            </a:r>
            <a:r>
              <a:rPr lang="en-US" b="1" dirty="0"/>
              <a:t>++)</a:t>
            </a:r>
          </a:p>
          <a:p>
            <a:pPr marL="0" indent="0">
              <a:buNone/>
            </a:pPr>
            <a:r>
              <a:rPr lang="en-US" b="1" dirty="0"/>
              <a:t>	  	{</a:t>
            </a:r>
          </a:p>
          <a:p>
            <a:pPr marL="0" indent="0">
              <a:buNone/>
            </a:pPr>
            <a:r>
              <a:rPr lang="en-US" b="1" dirty="0"/>
              <a:t>	  		</a:t>
            </a:r>
            <a:r>
              <a:rPr lang="en-US" b="1" dirty="0" err="1"/>
              <a:t>cout</a:t>
            </a:r>
            <a:r>
              <a:rPr lang="en-US" b="1" dirty="0"/>
              <a:t>&lt;&lt;"\nmatrix2["&lt;&lt;</a:t>
            </a:r>
            <a:r>
              <a:rPr lang="en-US" b="1" dirty="0" err="1"/>
              <a:t>i</a:t>
            </a:r>
            <a:r>
              <a:rPr lang="en-US" b="1" dirty="0"/>
              <a:t>&lt;&lt;"]["&lt;&lt;j&lt;&lt;"]=  ";</a:t>
            </a:r>
          </a:p>
          <a:p>
            <a:pPr marL="0" indent="0">
              <a:buNone/>
            </a:pPr>
            <a:r>
              <a:rPr lang="en-US" b="1" dirty="0"/>
              <a:t>	  		</a:t>
            </a:r>
            <a:r>
              <a:rPr lang="en-US" b="1" dirty="0" err="1"/>
              <a:t>cin</a:t>
            </a:r>
            <a:r>
              <a:rPr lang="en-US" b="1" dirty="0"/>
              <a:t>&gt;&gt;m2[</a:t>
            </a:r>
            <a:r>
              <a:rPr lang="en-US" b="1" dirty="0" err="1"/>
              <a:t>i</a:t>
            </a:r>
            <a:r>
              <a:rPr lang="en-US" b="1" dirty="0"/>
              <a:t>][j];</a:t>
            </a:r>
          </a:p>
          <a:p>
            <a:pPr marL="0" indent="0">
              <a:buNone/>
            </a:pPr>
            <a:r>
              <a:rPr lang="en-US" b="1" dirty="0"/>
              <a:t>		}</a:t>
            </a:r>
          </a:p>
          <a:p>
            <a:pPr marL="0" indent="0">
              <a:buNone/>
            </a:pPr>
            <a:r>
              <a:rPr lang="en-US" b="1" dirty="0"/>
              <a:t>	  } </a:t>
            </a:r>
          </a:p>
          <a:p>
            <a:pPr marL="0" indent="0">
              <a:buNone/>
            </a:pPr>
            <a:r>
              <a:rPr lang="en-US" b="1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3024140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94AE-C0AF-9837-0512-08165F9A4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354"/>
          </a:xfrm>
        </p:spPr>
        <p:txBody>
          <a:bodyPr/>
          <a:lstStyle/>
          <a:p>
            <a:r>
              <a:rPr lang="en-US" sz="4400" dirty="0"/>
              <a:t>Adding Matrices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159D2-E976-BF25-C3C0-E3DAE1BDA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480"/>
            <a:ext cx="10515600" cy="4975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/>
              <a:t>cout</a:t>
            </a:r>
            <a:r>
              <a:rPr lang="en-US" sz="3200" b="1" dirty="0"/>
              <a:t>&lt;&lt;"\</a:t>
            </a:r>
            <a:r>
              <a:rPr lang="en-US" sz="3200" b="1" dirty="0" err="1"/>
              <a:t>nAdding</a:t>
            </a:r>
            <a:r>
              <a:rPr lang="en-US" sz="3200" b="1" dirty="0"/>
              <a:t> Matrices...\n";</a:t>
            </a:r>
          </a:p>
          <a:p>
            <a:pPr marL="0" indent="0">
              <a:buNone/>
            </a:pPr>
            <a:r>
              <a:rPr lang="en-US" sz="3200" b="1" dirty="0"/>
              <a:t>	  for(</a:t>
            </a:r>
            <a:r>
              <a:rPr lang="en-US" sz="3200" b="1" dirty="0" err="1"/>
              <a:t>i</a:t>
            </a:r>
            <a:r>
              <a:rPr lang="en-US" sz="3200" b="1" dirty="0"/>
              <a:t>=0;i&lt;</a:t>
            </a:r>
            <a:r>
              <a:rPr lang="en-US" sz="3200" b="1" dirty="0" err="1"/>
              <a:t>row;i</a:t>
            </a:r>
            <a:r>
              <a:rPr lang="en-US" sz="3200" b="1" dirty="0"/>
              <a:t>++)</a:t>
            </a:r>
          </a:p>
          <a:p>
            <a:pPr marL="0" indent="0">
              <a:buNone/>
            </a:pPr>
            <a:r>
              <a:rPr lang="en-US" sz="3200" b="1" dirty="0"/>
              <a:t>	  {</a:t>
            </a:r>
          </a:p>
          <a:p>
            <a:pPr marL="0" indent="0">
              <a:buNone/>
            </a:pPr>
            <a:r>
              <a:rPr lang="en-US" sz="3200" b="1" dirty="0"/>
              <a:t>	  	for(j=0;j&lt;</a:t>
            </a:r>
            <a:r>
              <a:rPr lang="en-US" sz="3200" b="1" dirty="0" err="1"/>
              <a:t>col;j</a:t>
            </a:r>
            <a:r>
              <a:rPr lang="en-US" sz="3200" b="1" dirty="0"/>
              <a:t>++)</a:t>
            </a:r>
          </a:p>
          <a:p>
            <a:pPr marL="0" indent="0">
              <a:buNone/>
            </a:pPr>
            <a:r>
              <a:rPr lang="en-US" sz="3200" b="1" dirty="0"/>
              <a:t>	  	{</a:t>
            </a:r>
          </a:p>
          <a:p>
            <a:pPr marL="0" indent="0">
              <a:buNone/>
            </a:pPr>
            <a:r>
              <a:rPr lang="en-US" sz="3200" b="1" dirty="0"/>
              <a:t>	  		m3[</a:t>
            </a:r>
            <a:r>
              <a:rPr lang="en-US" sz="3200" b="1" dirty="0" err="1"/>
              <a:t>i</a:t>
            </a:r>
            <a:r>
              <a:rPr lang="en-US" sz="3200" b="1" dirty="0"/>
              <a:t>][j]=m1[</a:t>
            </a:r>
            <a:r>
              <a:rPr lang="en-US" sz="3200" b="1" dirty="0" err="1"/>
              <a:t>i</a:t>
            </a:r>
            <a:r>
              <a:rPr lang="en-US" sz="3200" b="1" dirty="0"/>
              <a:t>][j]+m2[</a:t>
            </a:r>
            <a:r>
              <a:rPr lang="en-US" sz="3200" b="1" dirty="0" err="1"/>
              <a:t>i</a:t>
            </a:r>
            <a:r>
              <a:rPr lang="en-US" sz="3200" b="1" dirty="0"/>
              <a:t>][j];</a:t>
            </a:r>
          </a:p>
          <a:p>
            <a:pPr marL="0" indent="0">
              <a:buNone/>
            </a:pPr>
            <a:r>
              <a:rPr lang="en-US" sz="3200" b="1" dirty="0"/>
              <a:t>		}</a:t>
            </a:r>
          </a:p>
          <a:p>
            <a:pPr marL="0" indent="0">
              <a:buNone/>
            </a:pPr>
            <a:r>
              <a:rPr lang="en-US" sz="3200" b="1" dirty="0"/>
              <a:t>	  } </a:t>
            </a:r>
          </a:p>
        </p:txBody>
      </p:sp>
    </p:spTree>
    <p:extLst>
      <p:ext uri="{BB962C8B-B14F-4D97-AF65-F5344CB8AC3E}">
        <p14:creationId xmlns:p14="http://schemas.microsoft.com/office/powerpoint/2010/main" val="93996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A3BA-90B7-CBBA-ACA9-F2E439AB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968"/>
          </a:xfrm>
        </p:spPr>
        <p:txBody>
          <a:bodyPr>
            <a:normAutofit fontScale="90000"/>
          </a:bodyPr>
          <a:lstStyle/>
          <a:p>
            <a:r>
              <a:rPr lang="en-US" dirty="0"/>
              <a:t>The Resultant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695F2-C2D8-ED5F-35CF-27E0EB3FC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684"/>
            <a:ext cx="10515600" cy="5355190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b="1" dirty="0" err="1"/>
              <a:t>cout</a:t>
            </a:r>
            <a:r>
              <a:rPr lang="en-US" b="1" dirty="0"/>
              <a:t>&lt;&lt;"\</a:t>
            </a:r>
            <a:r>
              <a:rPr lang="en-US" b="1" dirty="0" err="1"/>
              <a:t>nThe</a:t>
            </a:r>
            <a:r>
              <a:rPr lang="en-US" b="1" dirty="0"/>
              <a:t> resultant Matrix is:\n";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  for(</a:t>
            </a:r>
            <a:r>
              <a:rPr lang="en-US" b="1" dirty="0" err="1"/>
              <a:t>i</a:t>
            </a:r>
            <a:r>
              <a:rPr lang="en-US" b="1" dirty="0"/>
              <a:t>=0;i&lt;</a:t>
            </a:r>
            <a:r>
              <a:rPr lang="en-US" b="1" dirty="0" err="1"/>
              <a:t>row;i</a:t>
            </a:r>
            <a:r>
              <a:rPr lang="en-US" b="1" dirty="0"/>
              <a:t>++)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  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  	for(j=0;j&lt;</a:t>
            </a:r>
            <a:r>
              <a:rPr lang="en-US" b="1" dirty="0" err="1"/>
              <a:t>col;j</a:t>
            </a:r>
            <a:r>
              <a:rPr lang="en-US" b="1" dirty="0"/>
              <a:t>++)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  	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  		</a:t>
            </a:r>
            <a:r>
              <a:rPr lang="en-US" b="1" dirty="0" err="1"/>
              <a:t>cout</a:t>
            </a:r>
            <a:r>
              <a:rPr lang="en-US" b="1" dirty="0"/>
              <a:t>&lt;&lt;"\t"&lt;&lt;m3[</a:t>
            </a:r>
            <a:r>
              <a:rPr lang="en-US" b="1" dirty="0" err="1"/>
              <a:t>i</a:t>
            </a:r>
            <a:r>
              <a:rPr lang="en-US" b="1" dirty="0"/>
              <a:t>][j];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	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	</a:t>
            </a:r>
            <a:r>
              <a:rPr lang="en-US" b="1" dirty="0" err="1"/>
              <a:t>cout</a:t>
            </a:r>
            <a:r>
              <a:rPr lang="en-US" b="1" dirty="0"/>
              <a:t>&lt;&lt;</a:t>
            </a:r>
            <a:r>
              <a:rPr lang="en-US" b="1" dirty="0" err="1"/>
              <a:t>endl</a:t>
            </a:r>
            <a:r>
              <a:rPr lang="en-US" b="1" dirty="0"/>
              <a:t>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  }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	return 0; 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9881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11646</TotalTime>
  <Words>3136</Words>
  <Application>Microsoft Office PowerPoint</Application>
  <PresentationFormat>Widescreen</PresentationFormat>
  <Paragraphs>471</Paragraphs>
  <Slides>40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Calibri</vt:lpstr>
      <vt:lpstr>Calibri Light</vt:lpstr>
      <vt:lpstr>Courier New</vt:lpstr>
      <vt:lpstr>euclid_circular_a</vt:lpstr>
      <vt:lpstr>Nunito</vt:lpstr>
      <vt:lpstr>Tahoma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Introduction</vt:lpstr>
      <vt:lpstr>Properties of Arrays in C++</vt:lpstr>
      <vt:lpstr>Array Declaration in C++</vt:lpstr>
      <vt:lpstr>C++ Array Initialization</vt:lpstr>
      <vt:lpstr>C++ Array With Empty Members</vt:lpstr>
      <vt:lpstr>Array Initialization </vt:lpstr>
      <vt:lpstr>Access Elements in C++ Array</vt:lpstr>
      <vt:lpstr>Displaying Array Elements</vt:lpstr>
      <vt:lpstr>Find the Size of an Array</vt:lpstr>
      <vt:lpstr>Take Inputs from User and Store values in Array</vt:lpstr>
      <vt:lpstr>C++ Ranged for Loop</vt:lpstr>
      <vt:lpstr>Ranged for Loop to Display Array</vt:lpstr>
      <vt:lpstr>Displaying Array Elements</vt:lpstr>
      <vt:lpstr>Display Sum and Average of Array Elements</vt:lpstr>
      <vt:lpstr>Example</vt:lpstr>
      <vt:lpstr>Example</vt:lpstr>
      <vt:lpstr>Example</vt:lpstr>
      <vt:lpstr>C++ Passing Array to Function</vt:lpstr>
      <vt:lpstr>// C++ Program to display marks of 5 students</vt:lpstr>
      <vt:lpstr>Example</vt:lpstr>
      <vt:lpstr>PowerPoint Presentation</vt:lpstr>
      <vt:lpstr>PowerPoint Presentation</vt:lpstr>
      <vt:lpstr>Print maximum number</vt:lpstr>
      <vt:lpstr>Sorting in Arrays</vt:lpstr>
      <vt:lpstr>PowerPoint Presentation</vt:lpstr>
      <vt:lpstr>Multidimensional Array</vt:lpstr>
      <vt:lpstr>Syntax of Two-Dimensional Array in C++</vt:lpstr>
      <vt:lpstr>Example</vt:lpstr>
      <vt:lpstr>Example</vt:lpstr>
      <vt:lpstr>Example</vt:lpstr>
      <vt:lpstr>Example</vt:lpstr>
      <vt:lpstr>Example</vt:lpstr>
      <vt:lpstr>Matrix Addition using 2D Arrays in C++</vt:lpstr>
      <vt:lpstr>Matrix Addition using 2D Arrays in C++</vt:lpstr>
      <vt:lpstr>Input: First Matrix</vt:lpstr>
      <vt:lpstr>Input: Second Matrix</vt:lpstr>
      <vt:lpstr>Adding Matrices</vt:lpstr>
      <vt:lpstr>The Resultant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a.y.m.khedr@outlook.com</dc:creator>
  <cp:lastModifiedBy>Ahmed khedr</cp:lastModifiedBy>
  <cp:revision>105</cp:revision>
  <dcterms:created xsi:type="dcterms:W3CDTF">2023-10-27T05:29:14Z</dcterms:created>
  <dcterms:modified xsi:type="dcterms:W3CDTF">2025-11-21T14:20:25Z</dcterms:modified>
</cp:coreProperties>
</file>