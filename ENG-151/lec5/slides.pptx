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6"/>
  </p:notesMasterIdLst>
  <p:sldIdLst>
    <p:sldId id="1123" r:id="rId2"/>
    <p:sldId id="1249" r:id="rId3"/>
    <p:sldId id="1118" r:id="rId4"/>
    <p:sldId id="314" r:id="rId5"/>
    <p:sldId id="1117" r:id="rId6"/>
    <p:sldId id="310" r:id="rId7"/>
    <p:sldId id="311" r:id="rId8"/>
    <p:sldId id="345" r:id="rId9"/>
    <p:sldId id="316" r:id="rId10"/>
    <p:sldId id="1084" r:id="rId11"/>
    <p:sldId id="322" r:id="rId12"/>
    <p:sldId id="323" r:id="rId13"/>
    <p:sldId id="1114" r:id="rId14"/>
    <p:sldId id="1115" r:id="rId15"/>
    <p:sldId id="1089" r:id="rId16"/>
    <p:sldId id="1090" r:id="rId17"/>
    <p:sldId id="1091" r:id="rId18"/>
    <p:sldId id="325" r:id="rId19"/>
    <p:sldId id="1088" r:id="rId20"/>
    <p:sldId id="1116" r:id="rId21"/>
    <p:sldId id="329" r:id="rId22"/>
    <p:sldId id="1092" r:id="rId23"/>
    <p:sldId id="1093" r:id="rId24"/>
    <p:sldId id="109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959" autoAdjust="0"/>
  </p:normalViewPr>
  <p:slideViewPr>
    <p:cSldViewPr snapToGrid="0">
      <p:cViewPr varScale="1">
        <p:scale>
          <a:sx n="91" d="100"/>
          <a:sy n="91" d="100"/>
        </p:scale>
        <p:origin x="12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D4E9D-7124-4908-BDE5-08580BF80061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D186C-886E-459A-AC6C-564097B14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6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A2E292-E022-4931-990F-1EE909FD269F}" type="slidenum">
              <a:rPr lang="ar-SA" smtClean="0"/>
              <a:pPr/>
              <a:t>4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long factorial(int n) {</a:t>
            </a:r>
          </a:p>
          <a:p>
            <a:r>
              <a:rPr lang="en-US" dirty="0"/>
              <a:t>    if (n &lt;= 1)  return 1;</a:t>
            </a:r>
          </a:p>
          <a:p>
            <a:r>
              <a:rPr lang="en-US" dirty="0"/>
              <a:t>    else         return n * factorial(n - 1);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n;</a:t>
            </a:r>
          </a:p>
          <a:p>
            <a:r>
              <a:rPr lang="en-US" dirty="0"/>
              <a:t>    long result;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a non-negative number: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n;</a:t>
            </a:r>
          </a:p>
          <a:p>
            <a:r>
              <a:rPr lang="en-US" dirty="0"/>
              <a:t>    result = factorial(n);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"Factorial of " &lt;&lt; n &lt;&lt; " = " &lt;&lt; result;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46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</a:t>
            </a:r>
            <a:r>
              <a:rPr lang="en-US" dirty="0" err="1"/>
              <a:t>sumOfDigits</a:t>
            </a:r>
            <a:r>
              <a:rPr lang="en-US" dirty="0"/>
              <a:t>(int number) {</a:t>
            </a:r>
          </a:p>
          <a:p>
            <a:r>
              <a:rPr lang="en-US" dirty="0"/>
              <a:t>  if (number &gt;= 0 &amp;&amp; number &lt;= 9)    return number;</a:t>
            </a:r>
          </a:p>
          <a:p>
            <a:r>
              <a:rPr lang="en-US" dirty="0"/>
              <a:t>  else return (number % 10) + </a:t>
            </a:r>
            <a:r>
              <a:rPr lang="en-US" dirty="0" err="1"/>
              <a:t>sumOfDigits</a:t>
            </a:r>
            <a:r>
              <a:rPr lang="en-US" dirty="0"/>
              <a:t>(number / 10);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int n;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"Input a number: "; </a:t>
            </a:r>
          </a:p>
          <a:p>
            <a:r>
              <a:rPr lang="en-US" dirty="0"/>
              <a:t>  </a:t>
            </a:r>
            <a:r>
              <a:rPr lang="en-US" dirty="0" err="1"/>
              <a:t>cin</a:t>
            </a:r>
            <a:r>
              <a:rPr lang="en-US" dirty="0"/>
              <a:t> &gt;&gt; n; </a:t>
            </a:r>
          </a:p>
          <a:p>
            <a:r>
              <a:rPr lang="en-US" dirty="0"/>
              <a:t>  int </a:t>
            </a:r>
            <a:r>
              <a:rPr lang="en-US" dirty="0" err="1"/>
              <a:t>sum_digits</a:t>
            </a:r>
            <a:r>
              <a:rPr lang="en-US" dirty="0"/>
              <a:t> = </a:t>
            </a:r>
            <a:r>
              <a:rPr lang="en-US" dirty="0" err="1"/>
              <a:t>sumOfDigits</a:t>
            </a:r>
            <a:r>
              <a:rPr lang="en-US" dirty="0"/>
              <a:t>(n); 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"Sum of digits of " &lt;&lt; n &lt;&lt; " is: " &lt;&lt; </a:t>
            </a:r>
            <a:r>
              <a:rPr lang="en-US" dirty="0" err="1"/>
              <a:t>sum_digits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 </a:t>
            </a:r>
          </a:p>
          <a:p>
            <a:r>
              <a:rPr lang="en-US" dirty="0"/>
              <a:t>  return 0;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84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void </a:t>
            </a:r>
            <a:r>
              <a:rPr lang="en-US" dirty="0" err="1"/>
              <a:t>decimalToBinary</a:t>
            </a:r>
            <a:r>
              <a:rPr lang="en-US" dirty="0"/>
              <a:t>(int n) {</a:t>
            </a:r>
          </a:p>
          <a:p>
            <a:r>
              <a:rPr lang="en-US" dirty="0"/>
              <a:t>    if (n == 0)</a:t>
            </a:r>
          </a:p>
          <a:p>
            <a:r>
              <a:rPr lang="en-US" dirty="0"/>
              <a:t>        return;</a:t>
            </a:r>
          </a:p>
          <a:p>
            <a:r>
              <a:rPr lang="en-US" dirty="0"/>
              <a:t>    </a:t>
            </a:r>
            <a:r>
              <a:rPr lang="en-US" dirty="0" err="1"/>
              <a:t>decimalToBinary</a:t>
            </a:r>
            <a:r>
              <a:rPr lang="en-US" dirty="0"/>
              <a:t>(n / 2);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n % 2;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number;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a decimal number: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number;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"Binary: ";</a:t>
            </a:r>
          </a:p>
          <a:p>
            <a:r>
              <a:rPr lang="en-US" dirty="0"/>
              <a:t>    </a:t>
            </a:r>
            <a:r>
              <a:rPr lang="en-US" dirty="0" err="1"/>
              <a:t>decimalToBinary</a:t>
            </a:r>
            <a:r>
              <a:rPr lang="en-US" dirty="0"/>
              <a:t>(number);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36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fib(int n) {</a:t>
            </a:r>
          </a:p>
          <a:p>
            <a:r>
              <a:rPr lang="en-US" dirty="0"/>
              <a:t>   if((n==1)||(n==0)) {</a:t>
            </a:r>
          </a:p>
          <a:p>
            <a:r>
              <a:rPr lang="en-US" dirty="0"/>
              <a:t>      return(n);</a:t>
            </a:r>
          </a:p>
          <a:p>
            <a:r>
              <a:rPr lang="en-US" dirty="0"/>
              <a:t>   }else {</a:t>
            </a:r>
          </a:p>
          <a:p>
            <a:r>
              <a:rPr lang="en-US" dirty="0"/>
              <a:t>      return(fib(n-1)+fib(n-2));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int x , </a:t>
            </a:r>
            <a:r>
              <a:rPr lang="en-US" dirty="0" err="1"/>
              <a:t>i</a:t>
            </a:r>
            <a:r>
              <a:rPr lang="en-US" dirty="0"/>
              <a:t>=0;</a:t>
            </a:r>
          </a:p>
          <a:p>
            <a:r>
              <a:rPr lang="en-US" dirty="0"/>
              <a:t>   </a:t>
            </a:r>
            <a:r>
              <a:rPr lang="en-US" dirty="0" err="1"/>
              <a:t>cout</a:t>
            </a:r>
            <a:r>
              <a:rPr lang="en-US" dirty="0"/>
              <a:t> &lt;&lt; "Enter the number of terms of series : ";</a:t>
            </a:r>
          </a:p>
          <a:p>
            <a:r>
              <a:rPr lang="en-US" dirty="0"/>
              <a:t>   </a:t>
            </a:r>
            <a:r>
              <a:rPr lang="en-US" dirty="0" err="1"/>
              <a:t>cin</a:t>
            </a:r>
            <a:r>
              <a:rPr lang="en-US" dirty="0"/>
              <a:t> &gt;&gt; x;</a:t>
            </a:r>
          </a:p>
          <a:p>
            <a:r>
              <a:rPr lang="en-US" dirty="0"/>
              <a:t> 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nFibonnaci</a:t>
            </a:r>
            <a:r>
              <a:rPr lang="en-US" dirty="0"/>
              <a:t> Series : ";</a:t>
            </a:r>
          </a:p>
          <a:p>
            <a:r>
              <a:rPr lang="en-US" dirty="0"/>
              <a:t>   while(</a:t>
            </a:r>
            <a:r>
              <a:rPr lang="en-US" dirty="0" err="1"/>
              <a:t>i</a:t>
            </a:r>
            <a:r>
              <a:rPr lang="en-US" dirty="0"/>
              <a:t> &lt; x) {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 &lt;&lt; " " &lt;&lt; fib(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r>
              <a:rPr lang="en-US" dirty="0"/>
              <a:t>      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37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E037847-E56B-42BB-9EED-0C935B7064A6}" type="slidenum">
              <a:rPr lang="en-US"/>
              <a:pPr/>
              <a:t>18</a:t>
            </a:fld>
            <a:endParaRPr lang="en-US"/>
          </a:p>
        </p:txBody>
      </p:sp>
      <p:sp>
        <p:nvSpPr>
          <p:cNvPr id="368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1638" cy="4111625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1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3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0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8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5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0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7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7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92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81648" y="503296"/>
            <a:ext cx="7428705" cy="6310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876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FBB27-85A5-45ED-8D2B-81C8797A8C7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74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FF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C48BA3C7-823E-9780-2B98-2E72A56FA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AA833-BA70-F313-BB9A-AE6A4BDA6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85DCC-7053-BF30-C88B-43F9AD1AF683}"/>
              </a:ext>
            </a:extLst>
          </p:cNvPr>
          <p:cNvSpPr txBox="1"/>
          <p:nvPr/>
        </p:nvSpPr>
        <p:spPr>
          <a:xfrm>
            <a:off x="2065687" y="315555"/>
            <a:ext cx="81020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D0361E3C-A4D8-DA35-5F2A-4457CF9F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189" y="5203011"/>
            <a:ext cx="4972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sz="2400" b="1" dirty="0">
                <a:latin typeface="Verdana"/>
                <a:cs typeface="Verdana"/>
              </a:rPr>
              <a:t>Prof. Ahmed Youssef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9966157-FE14-8C22-1DE4-181DB889A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835B742-3E69-1975-1279-80D115CE3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817244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1026" name="Picture 2" descr="C++ Explained: Everything You Need to Know - History-Computer">
            <a:extLst>
              <a:ext uri="{FF2B5EF4-FFF2-40B4-BE49-F238E27FC236}">
                <a16:creationId xmlns:a16="http://schemas.microsoft.com/office/drawing/2014/main" id="{F97A68F0-469C-2BB3-9BDC-C5466AC43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137" y="5111184"/>
            <a:ext cx="2131090" cy="127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++ Programming, Lecture# 1 - YouTube">
            <a:extLst>
              <a:ext uri="{FF2B5EF4-FFF2-40B4-BE49-F238E27FC236}">
                <a16:creationId xmlns:a16="http://schemas.microsoft.com/office/drawing/2014/main" id="{D678A2E5-0642-CCEE-6852-5A8BFACDD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73" y="4985573"/>
            <a:ext cx="2164080" cy="127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FCD84C4-FB0F-89AB-BFC0-E872F9C10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5F8D5C6-3169-1438-CEF6-67C05C4AEF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715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99D2-B51C-6E31-166E-99C8AA4F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33939AF9-9ED2-9C8C-64F6-0162DE7CF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3941C-1C99-028F-E8AA-6F54418C9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693CD-665B-FC47-7B6E-1664A3F07B9F}"/>
              </a:ext>
            </a:extLst>
          </p:cNvPr>
          <p:cNvSpPr txBox="1"/>
          <p:nvPr/>
        </p:nvSpPr>
        <p:spPr>
          <a:xfrm>
            <a:off x="2065687" y="315555"/>
            <a:ext cx="81020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08EA510-056F-099D-0803-18656BA6A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E6ECADC8-755D-C93C-9E6E-2FB1412BC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241263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2E1F3D0-D9AF-953E-FFAE-C7F79857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7EC8350D-0473-7F37-F838-F581E97A4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6D8E507D-BCCC-99D2-9454-5C1BB6AFB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4328553"/>
            <a:ext cx="681989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- Recursion</a:t>
            </a:r>
          </a:p>
        </p:txBody>
      </p:sp>
    </p:spTree>
    <p:extLst>
      <p:ext uri="{BB962C8B-B14F-4D97-AF65-F5344CB8AC3E}">
        <p14:creationId xmlns:p14="http://schemas.microsoft.com/office/powerpoint/2010/main" val="371122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6973-21E4-34D8-ACAE-6260F26C9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Recursion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12A50-6DD0-3E89-27BA-6F0FBA136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80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C++ is a function that calls itself to solve a problem. Recursion is often used for problems that can be broken down into smaller subproblems of the same type.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orking of C++ recursion">
            <a:extLst>
              <a:ext uri="{FF2B5EF4-FFF2-40B4-BE49-F238E27FC236}">
                <a16:creationId xmlns:a16="http://schemas.microsoft.com/office/drawing/2014/main" id="{FA39B1CB-5C9F-92A2-78FF-2726C78E72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9" t="6080" r="4825" b="6848"/>
          <a:stretch/>
        </p:blipFill>
        <p:spPr bwMode="auto">
          <a:xfrm>
            <a:off x="3105807" y="3019688"/>
            <a:ext cx="5400000" cy="31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4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2325412" y="543500"/>
            <a:ext cx="7772400" cy="381000"/>
          </a:xfrm>
          <a:noFill/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Recursion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8275" name="Rectangle 3"/>
          <p:cNvSpPr>
            <a:spLocks noChangeArrowheads="1"/>
          </p:cNvSpPr>
          <p:nvPr/>
        </p:nvSpPr>
        <p:spPr bwMode="auto">
          <a:xfrm>
            <a:off x="945931" y="1435418"/>
            <a:ext cx="1024758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68350" lvl="2" indent="-514350">
              <a:buFont typeface="+mj-lt"/>
              <a:buAutoNum type="arabicPeriod"/>
              <a:tabLst>
                <a:tab pos="711200" algn="l"/>
                <a:tab pos="812800" algn="l"/>
              </a:tabLst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Recursive step</a:t>
            </a:r>
          </a:p>
          <a:p>
            <a:pPr marL="768350" lvl="2" indent="-514350">
              <a:buFont typeface="+mj-lt"/>
              <a:buAutoNum type="arabicPeriod"/>
              <a:tabLst>
                <a:tab pos="711200" algn="l"/>
                <a:tab pos="812800" algn="l"/>
              </a:tabLst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Base step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4B93128-0A1F-A542-AD7A-839817F0A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847" y="3452178"/>
            <a:ext cx="1069953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1325" lvl="2">
              <a:tabLst>
                <a:tab pos="711200" algn="l"/>
                <a:tab pos="81280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(stopping condition) then</a:t>
            </a:r>
          </a:p>
          <a:p>
            <a:pPr marL="261938" lvl="1" indent="-82550">
              <a:tabLst>
                <a:tab pos="711200" algn="l"/>
                <a:tab pos="81280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solve simple problem (base)</a:t>
            </a:r>
          </a:p>
          <a:p>
            <a:pPr>
              <a:tabLst>
                <a:tab pos="711200" algn="l"/>
                <a:tab pos="81280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else</a:t>
            </a:r>
          </a:p>
          <a:p>
            <a:pPr marL="261938" lvl="1" indent="-82550">
              <a:tabLst>
                <a:tab pos="711200" algn="l"/>
                <a:tab pos="81280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use recursion to solve smaller problem</a:t>
            </a:r>
          </a:p>
          <a:p>
            <a:pPr marL="261938" lvl="1" indent="-82550">
              <a:tabLst>
                <a:tab pos="711200" algn="l"/>
                <a:tab pos="81280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combine solutions from smaller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375ADD-E37D-5E84-5570-7244313B2D29}"/>
              </a:ext>
            </a:extLst>
          </p:cNvPr>
          <p:cNvSpPr txBox="1">
            <a:spLocks noChangeArrowheads="1"/>
          </p:cNvSpPr>
          <p:nvPr/>
        </p:nvSpPr>
        <p:spPr>
          <a:xfrm>
            <a:off x="1051034" y="2855278"/>
            <a:ext cx="8636526" cy="381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sz="3200" dirty="0"/>
              <a:t>General Algorithm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8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8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FB424C-3D9D-B447-B1CF-F70E92A1B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4107"/>
          </a:xfrm>
        </p:spPr>
        <p:txBody>
          <a:bodyPr/>
          <a:lstStyle/>
          <a:p>
            <a:r>
              <a:rPr lang="en-US" dirty="0"/>
              <a:t>R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ecursion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dirty="0"/>
              <a:t>I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teration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8826EE-C8E4-3E0B-034E-977A98FFC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997996"/>
              </p:ext>
            </p:extLst>
          </p:nvPr>
        </p:nvGraphicFramePr>
        <p:xfrm>
          <a:off x="771196" y="2491736"/>
          <a:ext cx="10649607" cy="37122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0235">
                  <a:extLst>
                    <a:ext uri="{9D8B030D-6E8A-4147-A177-3AD203B41FA5}">
                      <a16:colId xmlns:a16="http://schemas.microsoft.com/office/drawing/2014/main" val="2847672922"/>
                    </a:ext>
                  </a:extLst>
                </a:gridCol>
                <a:gridCol w="4189686">
                  <a:extLst>
                    <a:ext uri="{9D8B030D-6E8A-4147-A177-3AD203B41FA5}">
                      <a16:colId xmlns:a16="http://schemas.microsoft.com/office/drawing/2014/main" val="1866102621"/>
                    </a:ext>
                  </a:extLst>
                </a:gridCol>
                <a:gridCol w="4189686">
                  <a:extLst>
                    <a:ext uri="{9D8B030D-6E8A-4147-A177-3AD203B41FA5}">
                      <a16:colId xmlns:a16="http://schemas.microsoft.com/office/drawing/2014/main" val="3760437549"/>
                    </a:ext>
                  </a:extLst>
                </a:gridCol>
              </a:tblGrid>
              <a:tr h="2952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Recursion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Iteration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4626691"/>
                  </a:ext>
                </a:extLst>
              </a:tr>
              <a:tr h="2952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function calls itself to solve smaller subproblems.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loops (for, while, do-while) to repeat a process.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9178631"/>
                  </a:ext>
                </a:extLst>
              </a:tr>
              <a:tr h="2952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Termination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Stops when a base case is met.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Stops when a loop condition becomes false.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3608846"/>
                  </a:ext>
                </a:extLst>
              </a:tr>
              <a:tr h="579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Usage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extra memory for function call stack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less memory as it operates within a single stack frame.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1256511"/>
                  </a:ext>
                </a:extLst>
              </a:tr>
              <a:tr h="579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slower due to repeated function calls.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faster since it avoids overhead from function calls.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993383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57043B3-D363-170A-E06D-1E9ACC9DC082}"/>
              </a:ext>
            </a:extLst>
          </p:cNvPr>
          <p:cNvSpPr txBox="1"/>
          <p:nvPr/>
        </p:nvSpPr>
        <p:spPr>
          <a:xfrm>
            <a:off x="704193" y="1319232"/>
            <a:ext cx="106496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techniques used to repeat a process, but they differ in implementation, efficiency, and usage.</a:t>
            </a:r>
          </a:p>
        </p:txBody>
      </p:sp>
    </p:spTree>
    <p:extLst>
      <p:ext uri="{BB962C8B-B14F-4D97-AF65-F5344CB8AC3E}">
        <p14:creationId xmlns:p14="http://schemas.microsoft.com/office/powerpoint/2010/main" val="2692939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1468" y="478437"/>
            <a:ext cx="3783988" cy="625643"/>
          </a:xfrm>
          <a:prstGeom prst="rect">
            <a:avLst/>
          </a:prstGeom>
        </p:spPr>
        <p:txBody>
          <a:bodyPr vert="horz" wrap="square" lIns="0" tIns="11516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91"/>
              </a:spcBef>
            </a:pPr>
            <a:r>
              <a:rPr sz="3990" spc="109" dirty="0">
                <a:latin typeface="Georgia"/>
                <a:cs typeface="Georgia"/>
              </a:rPr>
              <a:t>F</a:t>
            </a:r>
            <a:r>
              <a:rPr sz="3990" spc="367" dirty="0">
                <a:latin typeface="Georgia"/>
                <a:cs typeface="Georgia"/>
              </a:rPr>
              <a:t>a</a:t>
            </a:r>
            <a:r>
              <a:rPr sz="3990" spc="317" dirty="0">
                <a:latin typeface="Georgia"/>
                <a:cs typeface="Georgia"/>
              </a:rPr>
              <a:t>ct</a:t>
            </a:r>
            <a:r>
              <a:rPr sz="3990" spc="254" dirty="0">
                <a:latin typeface="Georgia"/>
                <a:cs typeface="Georgia"/>
              </a:rPr>
              <a:t>o</a:t>
            </a:r>
            <a:r>
              <a:rPr sz="3990" spc="268" dirty="0">
                <a:latin typeface="Georgia"/>
                <a:cs typeface="Georgia"/>
              </a:rPr>
              <a:t>r</a:t>
            </a:r>
            <a:r>
              <a:rPr sz="3990" spc="95" dirty="0">
                <a:latin typeface="Georgia"/>
                <a:cs typeface="Georgia"/>
              </a:rPr>
              <a:t>i</a:t>
            </a:r>
            <a:r>
              <a:rPr sz="3990" spc="367" dirty="0">
                <a:latin typeface="Georgia"/>
                <a:cs typeface="Georgia"/>
              </a:rPr>
              <a:t>a</a:t>
            </a:r>
            <a:r>
              <a:rPr sz="3990" spc="122" dirty="0">
                <a:latin typeface="Georgia"/>
                <a:cs typeface="Georgia"/>
              </a:rPr>
              <a:t>l</a:t>
            </a:r>
            <a:r>
              <a:rPr sz="3990" spc="322" dirty="0">
                <a:latin typeface="Georgia"/>
                <a:cs typeface="Georgia"/>
              </a:rPr>
              <a:t>s</a:t>
            </a:r>
            <a:endParaRPr sz="399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1543" y="1454439"/>
            <a:ext cx="9806153" cy="1684037"/>
          </a:xfrm>
          <a:prstGeom prst="rect">
            <a:avLst/>
          </a:prstGeom>
        </p:spPr>
        <p:txBody>
          <a:bodyPr vert="horz" wrap="square" lIns="0" tIns="133590" rIns="0" bIns="0" rtlCol="0">
            <a:spAutoFit/>
          </a:bodyPr>
          <a:lstStyle/>
          <a:p>
            <a:pPr marL="11516">
              <a:spcBef>
                <a:spcPts val="1052"/>
              </a:spcBef>
            </a:pPr>
            <a:r>
              <a:rPr sz="2800" spc="172" dirty="0">
                <a:latin typeface="Georgia"/>
                <a:cs typeface="Georgia"/>
              </a:rPr>
              <a:t>The</a:t>
            </a:r>
            <a:r>
              <a:rPr sz="2800" spc="181" dirty="0">
                <a:latin typeface="Georgia"/>
                <a:cs typeface="Georgia"/>
              </a:rPr>
              <a:t> </a:t>
            </a:r>
            <a:r>
              <a:rPr sz="2800" spc="177" dirty="0">
                <a:latin typeface="Georgia"/>
                <a:cs typeface="Georgia"/>
              </a:rPr>
              <a:t>number</a:t>
            </a:r>
            <a:r>
              <a:rPr sz="2800" spc="199" dirty="0">
                <a:latin typeface="Georgia"/>
                <a:cs typeface="Georgia"/>
              </a:rPr>
              <a:t> </a:t>
            </a:r>
            <a:r>
              <a:rPr sz="2800" b="1" i="1" spc="331" dirty="0">
                <a:solidFill>
                  <a:srgbClr val="0000FF"/>
                </a:solidFill>
                <a:latin typeface="Cambria"/>
                <a:cs typeface="Cambria"/>
              </a:rPr>
              <a:t>n</a:t>
            </a:r>
            <a:r>
              <a:rPr sz="2800" b="1" i="1" spc="308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b="1" i="1" spc="218" dirty="0">
                <a:solidFill>
                  <a:srgbClr val="0000FF"/>
                </a:solidFill>
                <a:latin typeface="Cambria"/>
                <a:cs typeface="Cambria"/>
              </a:rPr>
              <a:t>factorial</a:t>
            </a:r>
            <a:r>
              <a:rPr sz="2800" spc="218" dirty="0">
                <a:latin typeface="Georgia"/>
                <a:cs typeface="Georgia"/>
              </a:rPr>
              <a:t>,</a:t>
            </a:r>
            <a:r>
              <a:rPr sz="2800" spc="181" dirty="0">
                <a:latin typeface="Georgia"/>
                <a:cs typeface="Georgia"/>
              </a:rPr>
              <a:t> </a:t>
            </a:r>
            <a:r>
              <a:rPr sz="2800" spc="177" dirty="0">
                <a:latin typeface="Georgia"/>
                <a:cs typeface="Georgia"/>
              </a:rPr>
              <a:t>denoted</a:t>
            </a:r>
            <a:r>
              <a:rPr sz="2800" spc="199" dirty="0">
                <a:latin typeface="Georgia"/>
                <a:cs typeface="Georgia"/>
              </a:rPr>
              <a:t> </a:t>
            </a:r>
            <a:r>
              <a:rPr sz="2800" b="1" i="1" spc="230" dirty="0">
                <a:solidFill>
                  <a:srgbClr val="0000FF"/>
                </a:solidFill>
                <a:latin typeface="Cambria"/>
                <a:cs typeface="Cambria"/>
              </a:rPr>
              <a:t>n</a:t>
            </a:r>
            <a:r>
              <a:rPr sz="2800" b="1" spc="230" dirty="0">
                <a:solidFill>
                  <a:srgbClr val="0000FF"/>
                </a:solidFill>
                <a:latin typeface="Cambria"/>
                <a:cs typeface="Cambria"/>
              </a:rPr>
              <a:t>!</a:t>
            </a:r>
            <a:r>
              <a:rPr sz="2800" spc="230" dirty="0">
                <a:latin typeface="Georgia"/>
                <a:cs typeface="Georgia"/>
              </a:rPr>
              <a:t>,</a:t>
            </a:r>
            <a:r>
              <a:rPr sz="2800" spc="177" dirty="0">
                <a:latin typeface="Georgia"/>
                <a:cs typeface="Georgia"/>
              </a:rPr>
              <a:t> </a:t>
            </a:r>
            <a:r>
              <a:rPr sz="2800" spc="122" dirty="0">
                <a:latin typeface="Georgia"/>
                <a:cs typeface="Georgia"/>
              </a:rPr>
              <a:t>is</a:t>
            </a:r>
            <a:endParaRPr sz="2800" dirty="0">
              <a:latin typeface="Georgia"/>
              <a:cs typeface="Georgia"/>
            </a:endParaRPr>
          </a:p>
          <a:p>
            <a:pPr marL="1882925">
              <a:spcBef>
                <a:spcPts val="961"/>
              </a:spcBef>
            </a:pPr>
            <a:r>
              <a:rPr sz="3200" b="1" i="1" spc="127" dirty="0">
                <a:latin typeface="Georgia"/>
                <a:cs typeface="Georgia"/>
              </a:rPr>
              <a:t>n</a:t>
            </a:r>
            <a:r>
              <a:rPr sz="3200" b="1" i="1" spc="181" dirty="0">
                <a:latin typeface="Georgia"/>
                <a:cs typeface="Georgia"/>
              </a:rPr>
              <a:t> </a:t>
            </a:r>
            <a:r>
              <a:rPr sz="3200" b="1" spc="453" dirty="0">
                <a:latin typeface="Georgia"/>
                <a:cs typeface="Georgia"/>
              </a:rPr>
              <a:t>×</a:t>
            </a:r>
            <a:r>
              <a:rPr sz="3200" b="1" spc="177" dirty="0">
                <a:latin typeface="Georgia"/>
                <a:cs typeface="Georgia"/>
              </a:rPr>
              <a:t> </a:t>
            </a:r>
            <a:r>
              <a:rPr sz="3200" b="1" spc="41" dirty="0">
                <a:latin typeface="Georgia"/>
                <a:cs typeface="Georgia"/>
              </a:rPr>
              <a:t>(</a:t>
            </a:r>
            <a:r>
              <a:rPr sz="3200" b="1" i="1" spc="127" dirty="0">
                <a:latin typeface="Georgia"/>
                <a:cs typeface="Georgia"/>
              </a:rPr>
              <a:t>n</a:t>
            </a:r>
            <a:r>
              <a:rPr sz="3200" b="1" i="1" spc="185" dirty="0">
                <a:latin typeface="Georgia"/>
                <a:cs typeface="Georgia"/>
              </a:rPr>
              <a:t> </a:t>
            </a:r>
            <a:r>
              <a:rPr sz="3200" b="1" spc="-326" dirty="0">
                <a:latin typeface="Georgia"/>
                <a:cs typeface="Georgia"/>
              </a:rPr>
              <a:t>–</a:t>
            </a:r>
            <a:r>
              <a:rPr sz="3200" b="1" spc="181" dirty="0">
                <a:latin typeface="Georgia"/>
                <a:cs typeface="Georgia"/>
              </a:rPr>
              <a:t> </a:t>
            </a:r>
            <a:r>
              <a:rPr sz="3200" b="1" spc="272" dirty="0">
                <a:latin typeface="Georgia"/>
                <a:cs typeface="Georgia"/>
              </a:rPr>
              <a:t>1</a:t>
            </a:r>
            <a:r>
              <a:rPr sz="3200" b="1" spc="240" dirty="0">
                <a:latin typeface="Georgia"/>
                <a:cs typeface="Georgia"/>
              </a:rPr>
              <a:t>)</a:t>
            </a:r>
            <a:r>
              <a:rPr sz="3200" b="1" spc="181" dirty="0">
                <a:latin typeface="Georgia"/>
                <a:cs typeface="Georgia"/>
              </a:rPr>
              <a:t> </a:t>
            </a:r>
            <a:r>
              <a:rPr sz="3200" b="1" spc="453" dirty="0">
                <a:latin typeface="Georgia"/>
                <a:cs typeface="Georgia"/>
              </a:rPr>
              <a:t>×</a:t>
            </a:r>
            <a:r>
              <a:rPr sz="3200" b="1" spc="177" dirty="0">
                <a:latin typeface="Georgia"/>
                <a:cs typeface="Georgia"/>
              </a:rPr>
              <a:t> </a:t>
            </a:r>
            <a:r>
              <a:rPr sz="3200" b="1" spc="453" dirty="0">
                <a:latin typeface="Georgia"/>
                <a:cs typeface="Georgia"/>
              </a:rPr>
              <a:t>…</a:t>
            </a:r>
            <a:r>
              <a:rPr sz="3200" b="1" spc="181" dirty="0">
                <a:latin typeface="Georgia"/>
                <a:cs typeface="Georgia"/>
              </a:rPr>
              <a:t> </a:t>
            </a:r>
            <a:r>
              <a:rPr sz="3200" b="1" spc="453" dirty="0">
                <a:latin typeface="Georgia"/>
                <a:cs typeface="Georgia"/>
              </a:rPr>
              <a:t>×</a:t>
            </a:r>
            <a:r>
              <a:rPr sz="3200" b="1" spc="181" dirty="0">
                <a:latin typeface="Georgia"/>
                <a:cs typeface="Georgia"/>
              </a:rPr>
              <a:t> </a:t>
            </a:r>
            <a:r>
              <a:rPr sz="3200" b="1" spc="199" dirty="0">
                <a:latin typeface="Georgia"/>
                <a:cs typeface="Georgia"/>
              </a:rPr>
              <a:t>3</a:t>
            </a:r>
            <a:r>
              <a:rPr sz="3200" b="1" spc="172" dirty="0">
                <a:latin typeface="Georgia"/>
                <a:cs typeface="Georgia"/>
              </a:rPr>
              <a:t> </a:t>
            </a:r>
            <a:r>
              <a:rPr sz="3200" b="1" spc="453" dirty="0">
                <a:latin typeface="Georgia"/>
                <a:cs typeface="Georgia"/>
              </a:rPr>
              <a:t>×</a:t>
            </a:r>
            <a:r>
              <a:rPr sz="3200" b="1" spc="181" dirty="0">
                <a:latin typeface="Georgia"/>
                <a:cs typeface="Georgia"/>
              </a:rPr>
              <a:t> 2 </a:t>
            </a:r>
            <a:r>
              <a:rPr sz="3200" b="1" spc="453" dirty="0">
                <a:latin typeface="Georgia"/>
                <a:cs typeface="Georgia"/>
              </a:rPr>
              <a:t>×</a:t>
            </a:r>
            <a:r>
              <a:rPr sz="3200" b="1" spc="177" dirty="0">
                <a:latin typeface="Georgia"/>
                <a:cs typeface="Georgia"/>
              </a:rPr>
              <a:t> </a:t>
            </a:r>
            <a:r>
              <a:rPr sz="3200" b="1" spc="481" dirty="0">
                <a:latin typeface="Georgia"/>
                <a:cs typeface="Georgia"/>
              </a:rPr>
              <a:t>1</a:t>
            </a:r>
            <a:endParaRPr sz="3200" b="1" dirty="0">
              <a:latin typeface="Georgia"/>
              <a:cs typeface="Georgia"/>
            </a:endParaRPr>
          </a:p>
          <a:p>
            <a:pPr marL="11516">
              <a:spcBef>
                <a:spcPts val="961"/>
              </a:spcBef>
            </a:pPr>
            <a:r>
              <a:rPr sz="2400" spc="136" dirty="0">
                <a:latin typeface="Georgia"/>
                <a:cs typeface="Georgia"/>
              </a:rPr>
              <a:t>For </a:t>
            </a:r>
            <a:r>
              <a:rPr sz="2400" spc="168" dirty="0">
                <a:latin typeface="Georgia"/>
                <a:cs typeface="Georgia"/>
              </a:rPr>
              <a:t>example:</a:t>
            </a:r>
            <a:endParaRPr sz="24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1544" y="2913221"/>
            <a:ext cx="10520855" cy="3311239"/>
          </a:xfrm>
          <a:prstGeom prst="rect">
            <a:avLst/>
          </a:prstGeom>
        </p:spPr>
        <p:txBody>
          <a:bodyPr vert="horz" wrap="square" lIns="0" tIns="111708" rIns="0" bIns="0" rtlCol="0">
            <a:spAutoFit/>
          </a:bodyPr>
          <a:lstStyle/>
          <a:p>
            <a:pPr marL="11516">
              <a:lnSpc>
                <a:spcPct val="150000"/>
              </a:lnSpc>
              <a:spcBef>
                <a:spcPts val="879"/>
              </a:spcBef>
            </a:pPr>
            <a:r>
              <a:rPr lang="en-US" sz="3200" spc="190" dirty="0">
                <a:latin typeface="Georgia"/>
                <a:cs typeface="Georgia"/>
              </a:rPr>
              <a:t>5!</a:t>
            </a:r>
            <a:r>
              <a:rPr lang="en-US" sz="3200" spc="154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=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236" dirty="0">
                <a:latin typeface="Georgia"/>
                <a:cs typeface="Georgia"/>
              </a:rPr>
              <a:t>5</a:t>
            </a:r>
            <a:r>
              <a:rPr lang="en-US" sz="3200" spc="141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×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163" dirty="0">
                <a:latin typeface="Georgia"/>
                <a:cs typeface="Georgia"/>
              </a:rPr>
              <a:t>4</a:t>
            </a:r>
            <a:r>
              <a:rPr lang="en-US" sz="3200" spc="141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×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190" dirty="0">
                <a:latin typeface="Georgia"/>
                <a:cs typeface="Georgia"/>
              </a:rPr>
              <a:t>3</a:t>
            </a:r>
            <a:r>
              <a:rPr lang="en-US" sz="3200" spc="154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×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177" dirty="0">
                <a:latin typeface="Georgia"/>
                <a:cs typeface="Georgia"/>
              </a:rPr>
              <a:t>2</a:t>
            </a:r>
            <a:r>
              <a:rPr lang="en-US" sz="3200" spc="141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×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431" dirty="0">
                <a:latin typeface="Georgia"/>
                <a:cs typeface="Georgia"/>
              </a:rPr>
              <a:t>1</a:t>
            </a:r>
            <a:r>
              <a:rPr lang="en-US" sz="3200" spc="141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=</a:t>
            </a:r>
            <a:r>
              <a:rPr lang="en-US" sz="3200" spc="145" dirty="0">
                <a:latin typeface="Georgia"/>
                <a:cs typeface="Georgia"/>
              </a:rPr>
              <a:t> </a:t>
            </a:r>
            <a:r>
              <a:rPr lang="en-US" sz="3200" spc="185" dirty="0">
                <a:latin typeface="Georgia"/>
                <a:cs typeface="Georgia"/>
              </a:rPr>
              <a:t>120.</a:t>
            </a:r>
            <a:endParaRPr lang="en-US" sz="3200" dirty="0">
              <a:latin typeface="Georgia"/>
              <a:cs typeface="Georgia"/>
            </a:endParaRPr>
          </a:p>
          <a:p>
            <a:pPr marL="11516">
              <a:lnSpc>
                <a:spcPct val="150000"/>
              </a:lnSpc>
              <a:spcBef>
                <a:spcPts val="879"/>
              </a:spcBef>
            </a:pPr>
            <a:r>
              <a:rPr lang="en-US" sz="3200" spc="154" dirty="0">
                <a:latin typeface="Georgia"/>
                <a:cs typeface="Georgia"/>
              </a:rPr>
              <a:t>4!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=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163" dirty="0">
                <a:latin typeface="Georgia"/>
                <a:cs typeface="Georgia"/>
              </a:rPr>
              <a:t>4</a:t>
            </a:r>
            <a:r>
              <a:rPr lang="en-US" sz="3200" spc="141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×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190" dirty="0">
                <a:latin typeface="Georgia"/>
                <a:cs typeface="Georgia"/>
              </a:rPr>
              <a:t>3</a:t>
            </a:r>
            <a:r>
              <a:rPr lang="en-US" sz="3200" spc="136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×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177" dirty="0">
                <a:latin typeface="Georgia"/>
                <a:cs typeface="Georgia"/>
              </a:rPr>
              <a:t>2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×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431" dirty="0">
                <a:latin typeface="Georgia"/>
                <a:cs typeface="Georgia"/>
              </a:rPr>
              <a:t>1</a:t>
            </a:r>
            <a:r>
              <a:rPr lang="en-US" sz="3200" spc="136" dirty="0">
                <a:latin typeface="Georgia"/>
                <a:cs typeface="Georgia"/>
              </a:rPr>
              <a:t> </a:t>
            </a:r>
            <a:r>
              <a:rPr lang="en-US" sz="3200" spc="416" dirty="0">
                <a:latin typeface="Georgia"/>
                <a:cs typeface="Georgia"/>
              </a:rPr>
              <a:t>=</a:t>
            </a:r>
            <a:r>
              <a:rPr lang="en-US" sz="3200" spc="150" dirty="0">
                <a:latin typeface="Georgia"/>
                <a:cs typeface="Georgia"/>
              </a:rPr>
              <a:t> </a:t>
            </a:r>
            <a:r>
              <a:rPr lang="en-US" sz="3200" spc="141" dirty="0">
                <a:latin typeface="Georgia"/>
                <a:cs typeface="Georgia"/>
              </a:rPr>
              <a:t>24.</a:t>
            </a:r>
            <a:endParaRPr lang="en-US" sz="3200" dirty="0">
              <a:latin typeface="Georgia"/>
              <a:cs typeface="Georgia"/>
            </a:endParaRPr>
          </a:p>
          <a:p>
            <a:pPr marL="11516">
              <a:lnSpc>
                <a:spcPct val="150000"/>
              </a:lnSpc>
              <a:spcBef>
                <a:spcPts val="879"/>
              </a:spcBef>
            </a:pPr>
            <a:r>
              <a:rPr sz="3200" spc="168" dirty="0">
                <a:latin typeface="Georgia"/>
                <a:cs typeface="Georgia"/>
              </a:rPr>
              <a:t>3!</a:t>
            </a:r>
            <a:r>
              <a:rPr sz="3200" spc="150" dirty="0">
                <a:latin typeface="Georgia"/>
                <a:cs typeface="Georgia"/>
              </a:rPr>
              <a:t> </a:t>
            </a:r>
            <a:r>
              <a:rPr sz="3200" spc="416" dirty="0">
                <a:latin typeface="Georgia"/>
                <a:cs typeface="Georgia"/>
              </a:rPr>
              <a:t>=</a:t>
            </a:r>
            <a:r>
              <a:rPr sz="3200" spc="145" dirty="0">
                <a:latin typeface="Georgia"/>
                <a:cs typeface="Georgia"/>
              </a:rPr>
              <a:t> </a:t>
            </a:r>
            <a:r>
              <a:rPr sz="3200" spc="190" dirty="0">
                <a:latin typeface="Georgia"/>
                <a:cs typeface="Georgia"/>
              </a:rPr>
              <a:t>3</a:t>
            </a:r>
            <a:r>
              <a:rPr sz="3200" spc="141" dirty="0">
                <a:latin typeface="Georgia"/>
                <a:cs typeface="Georgia"/>
              </a:rPr>
              <a:t> </a:t>
            </a:r>
            <a:r>
              <a:rPr sz="3200" spc="416" dirty="0">
                <a:latin typeface="Georgia"/>
                <a:cs typeface="Georgia"/>
              </a:rPr>
              <a:t>×</a:t>
            </a:r>
            <a:r>
              <a:rPr sz="3200" spc="145" dirty="0">
                <a:latin typeface="Georgia"/>
                <a:cs typeface="Georgia"/>
              </a:rPr>
              <a:t> </a:t>
            </a:r>
            <a:r>
              <a:rPr sz="3200" spc="177" dirty="0">
                <a:latin typeface="Georgia"/>
                <a:cs typeface="Georgia"/>
              </a:rPr>
              <a:t>2</a:t>
            </a:r>
            <a:r>
              <a:rPr sz="3200" spc="141" dirty="0">
                <a:latin typeface="Georgia"/>
                <a:cs typeface="Georgia"/>
              </a:rPr>
              <a:t> </a:t>
            </a:r>
            <a:r>
              <a:rPr sz="3200" spc="416" dirty="0">
                <a:latin typeface="Georgia"/>
                <a:cs typeface="Georgia"/>
              </a:rPr>
              <a:t>×</a:t>
            </a:r>
            <a:r>
              <a:rPr sz="3200" spc="145" dirty="0">
                <a:latin typeface="Georgia"/>
                <a:cs typeface="Georgia"/>
              </a:rPr>
              <a:t> </a:t>
            </a:r>
            <a:r>
              <a:rPr sz="3200" spc="431" dirty="0">
                <a:latin typeface="Georgia"/>
                <a:cs typeface="Georgia"/>
              </a:rPr>
              <a:t>1</a:t>
            </a:r>
            <a:r>
              <a:rPr sz="3200" spc="150" dirty="0">
                <a:latin typeface="Georgia"/>
                <a:cs typeface="Georgia"/>
              </a:rPr>
              <a:t> </a:t>
            </a:r>
            <a:r>
              <a:rPr sz="3200" spc="416" dirty="0">
                <a:latin typeface="Georgia"/>
                <a:cs typeface="Georgia"/>
              </a:rPr>
              <a:t>=</a:t>
            </a:r>
            <a:r>
              <a:rPr sz="3200" spc="145" dirty="0">
                <a:latin typeface="Georgia"/>
                <a:cs typeface="Georgia"/>
              </a:rPr>
              <a:t> </a:t>
            </a:r>
            <a:r>
              <a:rPr sz="3200" spc="122" dirty="0">
                <a:latin typeface="Georgia"/>
                <a:cs typeface="Georgia"/>
              </a:rPr>
              <a:t>6.</a:t>
            </a:r>
            <a:endParaRPr sz="3200" dirty="0">
              <a:latin typeface="Georgia"/>
              <a:cs typeface="Georgia"/>
            </a:endParaRPr>
          </a:p>
          <a:p>
            <a:pPr marL="11516">
              <a:lnSpc>
                <a:spcPct val="150000"/>
              </a:lnSpc>
              <a:spcBef>
                <a:spcPts val="793"/>
              </a:spcBef>
            </a:pPr>
            <a:r>
              <a:rPr sz="3200" spc="109" dirty="0">
                <a:latin typeface="Georgia"/>
                <a:cs typeface="Georgia"/>
              </a:rPr>
              <a:t>0!</a:t>
            </a:r>
            <a:r>
              <a:rPr sz="3200" spc="150" dirty="0">
                <a:latin typeface="Georgia"/>
                <a:cs typeface="Georgia"/>
              </a:rPr>
              <a:t> </a:t>
            </a:r>
            <a:r>
              <a:rPr sz="3200" spc="416" dirty="0">
                <a:latin typeface="Georgia"/>
                <a:cs typeface="Georgia"/>
              </a:rPr>
              <a:t>=</a:t>
            </a:r>
            <a:r>
              <a:rPr sz="3200" spc="150" dirty="0">
                <a:latin typeface="Georgia"/>
                <a:cs typeface="Georgia"/>
              </a:rPr>
              <a:t> </a:t>
            </a:r>
            <a:r>
              <a:rPr sz="3200" spc="258" dirty="0">
                <a:latin typeface="Georgia"/>
                <a:cs typeface="Georgia"/>
              </a:rPr>
              <a:t>1.</a:t>
            </a:r>
            <a:r>
              <a:rPr sz="3200" spc="150" dirty="0">
                <a:latin typeface="Georgia"/>
                <a:cs typeface="Georgia"/>
              </a:rPr>
              <a:t> </a:t>
            </a:r>
            <a:r>
              <a:rPr sz="3200" spc="127" dirty="0">
                <a:latin typeface="Georgia"/>
                <a:cs typeface="Georgia"/>
              </a:rPr>
              <a:t>(by</a:t>
            </a:r>
            <a:r>
              <a:rPr sz="3200" spc="150" dirty="0">
                <a:latin typeface="Georgia"/>
                <a:cs typeface="Georgia"/>
              </a:rPr>
              <a:t> </a:t>
            </a:r>
            <a:r>
              <a:rPr sz="3200" spc="103" dirty="0">
                <a:latin typeface="Georgia"/>
                <a:cs typeface="Georgia"/>
              </a:rPr>
              <a:t>definition!)</a:t>
            </a:r>
            <a:endParaRPr sz="32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52602" y="429724"/>
            <a:ext cx="6486795" cy="625643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</a:pPr>
            <a:r>
              <a:rPr sz="3990" b="1" spc="286" dirty="0">
                <a:solidFill>
                  <a:srgbClr val="0000FF"/>
                </a:solidFill>
                <a:latin typeface="Georgia"/>
                <a:ea typeface="+mj-ea"/>
              </a:rPr>
              <a:t>Computing Factorials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706" y="1447719"/>
            <a:ext cx="7088902" cy="627182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  <a:tabLst>
                <a:tab pos="917854" algn="l"/>
                <a:tab pos="1756245" algn="l"/>
                <a:tab pos="2368915" algn="l"/>
                <a:tab pos="3000012" algn="l"/>
                <a:tab pos="3612682" algn="l"/>
                <a:tab pos="4243779" algn="l"/>
                <a:tab pos="4856449" algn="l"/>
                <a:tab pos="5487546" algn="l"/>
                <a:tab pos="6100216" algn="l"/>
                <a:tab pos="6731312" algn="l"/>
              </a:tabLst>
            </a:pPr>
            <a:r>
              <a:rPr sz="4000" spc="-5" dirty="0">
                <a:latin typeface="Arial MT"/>
                <a:cs typeface="Times New Roman" panose="02020603050405020304" pitchFamily="18" charset="0"/>
              </a:rPr>
              <a:t>5</a:t>
            </a:r>
            <a:r>
              <a:rPr sz="4000" dirty="0">
                <a:latin typeface="Arial MT"/>
                <a:cs typeface="Times New Roman" panose="02020603050405020304" pitchFamily="18" charset="0"/>
              </a:rPr>
              <a:t>!	=	5	×	4	×	3	×	2	×	1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77D3A55-9B08-2A57-7FB5-C99AA5874A5C}"/>
              </a:ext>
            </a:extLst>
          </p:cNvPr>
          <p:cNvSpPr txBox="1"/>
          <p:nvPr/>
        </p:nvSpPr>
        <p:spPr>
          <a:xfrm>
            <a:off x="615706" y="2659001"/>
            <a:ext cx="7088902" cy="1742872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  <a:tabLst>
                <a:tab pos="917854" algn="l"/>
                <a:tab pos="1756245" algn="l"/>
                <a:tab pos="2368915" algn="l"/>
                <a:tab pos="3000012" algn="l"/>
                <a:tab pos="3612682" algn="l"/>
                <a:tab pos="4243779" algn="l"/>
                <a:tab pos="4856449" algn="l"/>
                <a:tab pos="5487546" algn="l"/>
                <a:tab pos="6100216" algn="l"/>
                <a:tab pos="6731312" algn="l"/>
              </a:tabLst>
            </a:pPr>
            <a:r>
              <a:rPr sz="4000" spc="-5" dirty="0">
                <a:latin typeface="Arial MT"/>
                <a:cs typeface="Arial MT"/>
              </a:rPr>
              <a:t>5</a:t>
            </a:r>
            <a:r>
              <a:rPr sz="4000" dirty="0">
                <a:latin typeface="Arial MT"/>
                <a:cs typeface="Arial MT"/>
              </a:rPr>
              <a:t>!	=	5	×	</a:t>
            </a:r>
            <a:r>
              <a:rPr sz="4000" dirty="0">
                <a:solidFill>
                  <a:srgbClr val="0000FF"/>
                </a:solidFill>
                <a:latin typeface="Arial MT"/>
                <a:cs typeface="Arial MT"/>
              </a:rPr>
              <a:t>4	×	3	×	2	×	1</a:t>
            </a:r>
            <a:endParaRPr sz="4000" dirty="0">
              <a:latin typeface="Arial MT"/>
              <a:cs typeface="Arial MT"/>
            </a:endParaRPr>
          </a:p>
          <a:p>
            <a:pPr marR="1783884" algn="r">
              <a:spcBef>
                <a:spcPts val="3917"/>
              </a:spcBef>
            </a:pPr>
            <a:r>
              <a:rPr sz="4000" spc="-5" dirty="0">
                <a:solidFill>
                  <a:srgbClr val="0000FF"/>
                </a:solidFill>
                <a:latin typeface="Arial MT"/>
                <a:cs typeface="Arial MT"/>
              </a:rPr>
              <a:t>4!</a:t>
            </a:r>
            <a:endParaRPr sz="4000" dirty="0">
              <a:latin typeface="Arial MT"/>
              <a:cs typeface="Arial MT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2C16C30-F662-9BDF-A590-1AF4D10E79D2}"/>
              </a:ext>
            </a:extLst>
          </p:cNvPr>
          <p:cNvSpPr/>
          <p:nvPr/>
        </p:nvSpPr>
        <p:spPr>
          <a:xfrm>
            <a:off x="3995843" y="3443705"/>
            <a:ext cx="3317291" cy="415164"/>
          </a:xfrm>
          <a:custGeom>
            <a:avLst/>
            <a:gdLst/>
            <a:ahLst/>
            <a:cxnLst/>
            <a:rect l="l" t="t" r="r" b="b"/>
            <a:pathLst>
              <a:path w="3658234" h="457835">
                <a:moveTo>
                  <a:pt x="0" y="0"/>
                </a:moveTo>
                <a:lnTo>
                  <a:pt x="5431" y="38002"/>
                </a:lnTo>
                <a:lnTo>
                  <a:pt x="20889" y="75062"/>
                </a:lnTo>
                <a:lnTo>
                  <a:pt x="45121" y="110237"/>
                </a:lnTo>
                <a:lnTo>
                  <a:pt x="76872" y="142586"/>
                </a:lnTo>
                <a:lnTo>
                  <a:pt x="114891" y="171167"/>
                </a:lnTo>
                <a:lnTo>
                  <a:pt x="157922" y="195036"/>
                </a:lnTo>
                <a:lnTo>
                  <a:pt x="204712" y="213252"/>
                </a:lnTo>
                <a:lnTo>
                  <a:pt x="254009" y="224872"/>
                </a:lnTo>
                <a:lnTo>
                  <a:pt x="304558" y="228955"/>
                </a:lnTo>
                <a:lnTo>
                  <a:pt x="1523885" y="228955"/>
                </a:lnTo>
                <a:lnTo>
                  <a:pt x="1574540" y="233037"/>
                </a:lnTo>
                <a:lnTo>
                  <a:pt x="1623919" y="244655"/>
                </a:lnTo>
                <a:lnTo>
                  <a:pt x="1670772" y="262861"/>
                </a:lnTo>
                <a:lnTo>
                  <a:pt x="1713848" y="286712"/>
                </a:lnTo>
                <a:lnTo>
                  <a:pt x="1751895" y="315263"/>
                </a:lnTo>
                <a:lnTo>
                  <a:pt x="1783665" y="347567"/>
                </a:lnTo>
                <a:lnTo>
                  <a:pt x="1807906" y="382681"/>
                </a:lnTo>
                <a:lnTo>
                  <a:pt x="1823368" y="419659"/>
                </a:lnTo>
                <a:lnTo>
                  <a:pt x="1828800" y="457555"/>
                </a:lnTo>
                <a:lnTo>
                  <a:pt x="1834231" y="419659"/>
                </a:lnTo>
                <a:lnTo>
                  <a:pt x="1849693" y="382681"/>
                </a:lnTo>
                <a:lnTo>
                  <a:pt x="1873934" y="347567"/>
                </a:lnTo>
                <a:lnTo>
                  <a:pt x="1905704" y="315263"/>
                </a:lnTo>
                <a:lnTo>
                  <a:pt x="1943751" y="286712"/>
                </a:lnTo>
                <a:lnTo>
                  <a:pt x="1986827" y="262861"/>
                </a:lnTo>
                <a:lnTo>
                  <a:pt x="2033680" y="244655"/>
                </a:lnTo>
                <a:lnTo>
                  <a:pt x="2083059" y="233037"/>
                </a:lnTo>
                <a:lnTo>
                  <a:pt x="2133714" y="228955"/>
                </a:lnTo>
                <a:lnTo>
                  <a:pt x="3353041" y="228955"/>
                </a:lnTo>
                <a:lnTo>
                  <a:pt x="3403602" y="224872"/>
                </a:lnTo>
                <a:lnTo>
                  <a:pt x="3452932" y="213252"/>
                </a:lnTo>
                <a:lnTo>
                  <a:pt x="3499770" y="195036"/>
                </a:lnTo>
                <a:lnTo>
                  <a:pt x="3542857" y="171167"/>
                </a:lnTo>
                <a:lnTo>
                  <a:pt x="3580934" y="142586"/>
                </a:lnTo>
                <a:lnTo>
                  <a:pt x="3612742" y="110237"/>
                </a:lnTo>
                <a:lnTo>
                  <a:pt x="3637021" y="75062"/>
                </a:lnTo>
                <a:lnTo>
                  <a:pt x="3652512" y="38002"/>
                </a:lnTo>
                <a:lnTo>
                  <a:pt x="36579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B2EF62E6-23E9-5108-46FF-0E4980886995}"/>
              </a:ext>
            </a:extLst>
          </p:cNvPr>
          <p:cNvSpPr txBox="1"/>
          <p:nvPr/>
        </p:nvSpPr>
        <p:spPr>
          <a:xfrm>
            <a:off x="1702640" y="4803960"/>
            <a:ext cx="3443971" cy="765233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  <a:tabLst>
                <a:tab pos="917854" algn="l"/>
                <a:tab pos="1756245" algn="l"/>
                <a:tab pos="2368915" algn="l"/>
              </a:tabLst>
            </a:pPr>
            <a:r>
              <a:rPr sz="4897" spc="-5" dirty="0">
                <a:latin typeface="Arial MT"/>
                <a:cs typeface="Arial MT"/>
              </a:rPr>
              <a:t>5!	</a:t>
            </a:r>
            <a:r>
              <a:rPr sz="4897" dirty="0">
                <a:latin typeface="Arial MT"/>
                <a:cs typeface="Arial MT"/>
              </a:rPr>
              <a:t>=	5	×</a:t>
            </a:r>
            <a:r>
              <a:rPr sz="4897" spc="-23" dirty="0">
                <a:latin typeface="Arial MT"/>
                <a:cs typeface="Arial MT"/>
              </a:rPr>
              <a:t> </a:t>
            </a:r>
            <a:r>
              <a:rPr sz="4897" spc="-5" dirty="0">
                <a:solidFill>
                  <a:srgbClr val="0000FF"/>
                </a:solidFill>
                <a:latin typeface="Arial MT"/>
                <a:cs typeface="Arial MT"/>
              </a:rPr>
              <a:t>4!</a:t>
            </a:r>
            <a:endParaRPr sz="4897" dirty="0">
              <a:latin typeface="Arial MT"/>
              <a:cs typeface="Arial MT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957F376-0620-52A8-AF07-F35EBB0A78F2}"/>
              </a:ext>
            </a:extLst>
          </p:cNvPr>
          <p:cNvSpPr txBox="1"/>
          <p:nvPr/>
        </p:nvSpPr>
        <p:spPr>
          <a:xfrm>
            <a:off x="8132323" y="2097367"/>
            <a:ext cx="3443971" cy="386818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0" tIns="94434" rIns="0" bIns="0" rtlCol="0">
            <a:spAutoFit/>
          </a:bodyPr>
          <a:lstStyle/>
          <a:p>
            <a:pPr marL="11516">
              <a:spcBef>
                <a:spcPts val="744"/>
              </a:spcBef>
              <a:tabLst>
                <a:tab pos="917854" algn="l"/>
                <a:tab pos="1756245" algn="l"/>
                <a:tab pos="2368915" algn="l"/>
              </a:tabLst>
            </a:pPr>
            <a:r>
              <a:rPr sz="3600" spc="-5" dirty="0">
                <a:latin typeface="Arial MT"/>
                <a:cs typeface="Arial MT"/>
              </a:rPr>
              <a:t>5!	</a:t>
            </a:r>
            <a:r>
              <a:rPr sz="3600" dirty="0">
                <a:latin typeface="Arial MT"/>
                <a:cs typeface="Arial MT"/>
              </a:rPr>
              <a:t>=	5	×</a:t>
            </a:r>
            <a:r>
              <a:rPr sz="3600" spc="-27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4!</a:t>
            </a:r>
            <a:endParaRPr sz="3600" dirty="0">
              <a:latin typeface="Arial MT"/>
              <a:cs typeface="Arial MT"/>
            </a:endParaRPr>
          </a:p>
          <a:p>
            <a:pPr marL="11516">
              <a:spcBef>
                <a:spcPts val="653"/>
              </a:spcBef>
              <a:tabLst>
                <a:tab pos="917854" algn="l"/>
                <a:tab pos="1756245" algn="l"/>
                <a:tab pos="2368915" algn="l"/>
              </a:tabLst>
            </a:pPr>
            <a:r>
              <a:rPr sz="3600" spc="-5" dirty="0">
                <a:latin typeface="Arial MT"/>
                <a:cs typeface="Arial MT"/>
              </a:rPr>
              <a:t>4!	</a:t>
            </a:r>
            <a:r>
              <a:rPr sz="3600" dirty="0">
                <a:latin typeface="Arial MT"/>
                <a:cs typeface="Arial MT"/>
              </a:rPr>
              <a:t>=	4	×</a:t>
            </a:r>
            <a:r>
              <a:rPr sz="3600" spc="-27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3!</a:t>
            </a:r>
            <a:endParaRPr sz="3600" dirty="0">
              <a:latin typeface="Arial MT"/>
              <a:cs typeface="Arial MT"/>
            </a:endParaRPr>
          </a:p>
          <a:p>
            <a:pPr marL="11516">
              <a:spcBef>
                <a:spcPts val="653"/>
              </a:spcBef>
              <a:tabLst>
                <a:tab pos="917854" algn="l"/>
                <a:tab pos="1756245" algn="l"/>
                <a:tab pos="2368915" algn="l"/>
              </a:tabLst>
            </a:pPr>
            <a:r>
              <a:rPr sz="3600" spc="-5" dirty="0">
                <a:latin typeface="Arial MT"/>
                <a:cs typeface="Arial MT"/>
              </a:rPr>
              <a:t>3!	</a:t>
            </a:r>
            <a:r>
              <a:rPr sz="3600" dirty="0">
                <a:latin typeface="Arial MT"/>
                <a:cs typeface="Arial MT"/>
              </a:rPr>
              <a:t>=	3	×</a:t>
            </a:r>
            <a:r>
              <a:rPr sz="3600" spc="-27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2!</a:t>
            </a:r>
            <a:endParaRPr sz="3600" dirty="0">
              <a:latin typeface="Arial MT"/>
              <a:cs typeface="Arial MT"/>
            </a:endParaRPr>
          </a:p>
          <a:p>
            <a:pPr marL="11516">
              <a:spcBef>
                <a:spcPts val="653"/>
              </a:spcBef>
              <a:tabLst>
                <a:tab pos="917854" algn="l"/>
                <a:tab pos="1756245" algn="l"/>
                <a:tab pos="2368915" algn="l"/>
              </a:tabLst>
            </a:pPr>
            <a:r>
              <a:rPr sz="3600" spc="-5" dirty="0">
                <a:latin typeface="Arial MT"/>
                <a:cs typeface="Arial MT"/>
              </a:rPr>
              <a:t>2!	</a:t>
            </a:r>
            <a:r>
              <a:rPr sz="3600" dirty="0">
                <a:latin typeface="Arial MT"/>
                <a:cs typeface="Arial MT"/>
              </a:rPr>
              <a:t>=	2	×</a:t>
            </a:r>
            <a:r>
              <a:rPr sz="3600" spc="-27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1!</a:t>
            </a:r>
            <a:endParaRPr sz="3600" dirty="0">
              <a:latin typeface="Arial MT"/>
              <a:cs typeface="Arial MT"/>
            </a:endParaRPr>
          </a:p>
          <a:p>
            <a:pPr marL="11516">
              <a:spcBef>
                <a:spcPts val="653"/>
              </a:spcBef>
              <a:tabLst>
                <a:tab pos="917854" algn="l"/>
                <a:tab pos="1756245" algn="l"/>
                <a:tab pos="2368915" algn="l"/>
              </a:tabLst>
            </a:pPr>
            <a:r>
              <a:rPr sz="3600" spc="-5" dirty="0">
                <a:latin typeface="Arial MT"/>
                <a:cs typeface="Arial MT"/>
              </a:rPr>
              <a:t>1!	</a:t>
            </a:r>
            <a:r>
              <a:rPr sz="3600" dirty="0">
                <a:latin typeface="Arial MT"/>
                <a:cs typeface="Arial MT"/>
              </a:rPr>
              <a:t>=	1	×</a:t>
            </a:r>
            <a:r>
              <a:rPr sz="3600" spc="-27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0!</a:t>
            </a:r>
            <a:endParaRPr sz="3600" dirty="0">
              <a:latin typeface="Arial MT"/>
              <a:cs typeface="Arial MT"/>
            </a:endParaRPr>
          </a:p>
          <a:p>
            <a:pPr marL="11516">
              <a:spcBef>
                <a:spcPts val="653"/>
              </a:spcBef>
              <a:tabLst>
                <a:tab pos="917854" algn="l"/>
                <a:tab pos="1756245" algn="l"/>
              </a:tabLst>
            </a:pPr>
            <a:r>
              <a:rPr sz="3600" spc="-5" dirty="0">
                <a:latin typeface="Arial MT"/>
                <a:cs typeface="Arial MT"/>
              </a:rPr>
              <a:t>0!	</a:t>
            </a:r>
            <a:r>
              <a:rPr sz="3600" dirty="0">
                <a:latin typeface="Arial MT"/>
                <a:cs typeface="Arial MT"/>
              </a:rPr>
              <a:t>=	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1909" y="503296"/>
            <a:ext cx="6856848" cy="625643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</a:pPr>
            <a:r>
              <a:rPr sz="3990" spc="258" dirty="0">
                <a:latin typeface="Georgia"/>
                <a:cs typeface="Georgia"/>
              </a:rPr>
              <a:t>Another</a:t>
            </a:r>
            <a:r>
              <a:rPr sz="3990" spc="277" dirty="0">
                <a:latin typeface="Georgia"/>
                <a:cs typeface="Georgia"/>
              </a:rPr>
              <a:t> </a:t>
            </a:r>
            <a:r>
              <a:rPr sz="3990" spc="286" dirty="0">
                <a:latin typeface="Georgia"/>
                <a:cs typeface="Georgia"/>
              </a:rPr>
              <a:t>View</a:t>
            </a:r>
            <a:r>
              <a:rPr sz="3990" spc="290" dirty="0">
                <a:latin typeface="Georgia"/>
                <a:cs typeface="Georgia"/>
              </a:rPr>
              <a:t> </a:t>
            </a:r>
            <a:r>
              <a:rPr sz="3990" spc="208" dirty="0">
                <a:latin typeface="Georgia"/>
                <a:cs typeface="Georgia"/>
              </a:rPr>
              <a:t>of</a:t>
            </a:r>
            <a:r>
              <a:rPr sz="3990" spc="281" dirty="0">
                <a:latin typeface="Georgia"/>
                <a:cs typeface="Georgia"/>
              </a:rPr>
              <a:t> </a:t>
            </a:r>
            <a:r>
              <a:rPr sz="3990" spc="254" dirty="0">
                <a:latin typeface="Georgia"/>
                <a:cs typeface="Georgia"/>
              </a:rPr>
              <a:t>Factorials</a:t>
            </a:r>
            <a:endParaRPr sz="399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61680" y="3046331"/>
            <a:ext cx="1514403" cy="677927"/>
          </a:xfrm>
          <a:prstGeom prst="rect">
            <a:avLst/>
          </a:prstGeom>
        </p:spPr>
        <p:txBody>
          <a:bodyPr vert="horz" wrap="square" lIns="0" tIns="14971" rIns="0" bIns="0" rtlCol="0">
            <a:spAutoFit/>
          </a:bodyPr>
          <a:lstStyle/>
          <a:p>
            <a:pPr marL="11516">
              <a:spcBef>
                <a:spcPts val="118"/>
              </a:spcBef>
              <a:tabLst>
                <a:tab pos="1064687" algn="l"/>
              </a:tabLst>
            </a:pPr>
            <a:r>
              <a:rPr sz="4307" i="1" spc="648" dirty="0">
                <a:latin typeface="Georgia"/>
                <a:cs typeface="Georgia"/>
              </a:rPr>
              <a:t>n</a:t>
            </a:r>
            <a:r>
              <a:rPr sz="4307" spc="313" dirty="0">
                <a:latin typeface="Georgia"/>
                <a:cs typeface="Georgia"/>
              </a:rPr>
              <a:t>!</a:t>
            </a:r>
            <a:r>
              <a:rPr sz="4307" dirty="0">
                <a:latin typeface="Georgia"/>
                <a:cs typeface="Georgia"/>
              </a:rPr>
              <a:t>	</a:t>
            </a:r>
            <a:r>
              <a:rPr sz="4307" spc="18" dirty="0">
                <a:latin typeface="Lucida Sans Unicode"/>
                <a:cs typeface="Lucida Sans Unicode"/>
              </a:rPr>
              <a:t>=</a:t>
            </a:r>
            <a:endParaRPr sz="4307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80648" y="2744370"/>
            <a:ext cx="647272" cy="1245061"/>
          </a:xfrm>
          <a:prstGeom prst="rect">
            <a:avLst/>
          </a:prstGeom>
        </p:spPr>
        <p:txBody>
          <a:bodyPr vert="horz" wrap="square" lIns="0" tIns="13820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109"/>
              </a:spcBef>
            </a:pPr>
            <a:r>
              <a:rPr sz="8000" b="0" spc="-2031" dirty="0"/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77065" y="2744370"/>
            <a:ext cx="373706" cy="677927"/>
          </a:xfrm>
          <a:prstGeom prst="rect">
            <a:avLst/>
          </a:prstGeom>
        </p:spPr>
        <p:txBody>
          <a:bodyPr vert="horz" wrap="square" lIns="0" tIns="14971" rIns="0" bIns="0" rtlCol="0">
            <a:spAutoFit/>
          </a:bodyPr>
          <a:lstStyle/>
          <a:p>
            <a:pPr marL="11516">
              <a:spcBef>
                <a:spcPts val="118"/>
              </a:spcBef>
            </a:pPr>
            <a:r>
              <a:rPr sz="4307" spc="901" dirty="0">
                <a:latin typeface="Georgia"/>
                <a:cs typeface="Georgia"/>
              </a:rPr>
              <a:t>1</a:t>
            </a:r>
            <a:endParaRPr sz="4307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9420" y="2744369"/>
            <a:ext cx="2774294" cy="1339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16" marR="4607">
              <a:lnSpc>
                <a:spcPts val="5441"/>
              </a:lnSpc>
              <a:tabLst>
                <a:tab pos="625338" algn="l"/>
              </a:tabLst>
            </a:pPr>
            <a:r>
              <a:rPr sz="4307" spc="159" dirty="0">
                <a:latin typeface="Georgia"/>
                <a:cs typeface="Georgia"/>
              </a:rPr>
              <a:t>if	</a:t>
            </a:r>
            <a:r>
              <a:rPr sz="4307" i="1" spc="177" dirty="0">
                <a:latin typeface="Georgia"/>
                <a:cs typeface="Georgia"/>
              </a:rPr>
              <a:t>n</a:t>
            </a:r>
            <a:r>
              <a:rPr sz="4307" spc="177" dirty="0">
                <a:latin typeface="Lucida Sans Unicode"/>
                <a:cs typeface="Lucida Sans Unicode"/>
              </a:rPr>
              <a:t>=</a:t>
            </a:r>
            <a:r>
              <a:rPr sz="4307" spc="177" dirty="0">
                <a:latin typeface="Georgia"/>
                <a:cs typeface="Georgia"/>
              </a:rPr>
              <a:t>0 </a:t>
            </a:r>
            <a:r>
              <a:rPr sz="4307" spc="181" dirty="0">
                <a:latin typeface="Georgia"/>
                <a:cs typeface="Georgia"/>
              </a:rPr>
              <a:t> </a:t>
            </a:r>
            <a:r>
              <a:rPr sz="4307" spc="340" dirty="0">
                <a:latin typeface="Georgia"/>
                <a:cs typeface="Georgia"/>
              </a:rPr>
              <a:t>otherwise</a:t>
            </a:r>
            <a:endParaRPr sz="4307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7065" y="3435457"/>
            <a:ext cx="3129574" cy="677927"/>
          </a:xfrm>
          <a:prstGeom prst="rect">
            <a:avLst/>
          </a:prstGeom>
        </p:spPr>
        <p:txBody>
          <a:bodyPr vert="horz" wrap="square" lIns="0" tIns="14971" rIns="0" bIns="0" rtlCol="0">
            <a:spAutoFit/>
          </a:bodyPr>
          <a:lstStyle/>
          <a:p>
            <a:pPr marL="11516">
              <a:spcBef>
                <a:spcPts val="118"/>
              </a:spcBef>
              <a:tabLst>
                <a:tab pos="608064" algn="l"/>
              </a:tabLst>
            </a:pPr>
            <a:r>
              <a:rPr sz="4307" i="1" spc="249" dirty="0">
                <a:latin typeface="Georgia"/>
                <a:cs typeface="Georgia"/>
              </a:rPr>
              <a:t>n	</a:t>
            </a:r>
            <a:r>
              <a:rPr sz="4307" spc="18" dirty="0">
                <a:latin typeface="Lucida Sans Unicode"/>
                <a:cs typeface="Lucida Sans Unicode"/>
              </a:rPr>
              <a:t>×</a:t>
            </a:r>
            <a:r>
              <a:rPr sz="4307" spc="358" dirty="0">
                <a:latin typeface="Lucida Sans Unicode"/>
                <a:cs typeface="Lucida Sans Unicode"/>
              </a:rPr>
              <a:t> </a:t>
            </a:r>
            <a:r>
              <a:rPr sz="4307" spc="408" dirty="0">
                <a:latin typeface="Lucida Sans Unicode"/>
                <a:cs typeface="Lucida Sans Unicode"/>
              </a:rPr>
              <a:t>(</a:t>
            </a:r>
            <a:r>
              <a:rPr sz="4307" i="1" spc="408" dirty="0">
                <a:latin typeface="Georgia"/>
                <a:cs typeface="Georgia"/>
              </a:rPr>
              <a:t>n</a:t>
            </a:r>
            <a:r>
              <a:rPr sz="4307" spc="408" dirty="0">
                <a:latin typeface="Lucida Sans Unicode"/>
                <a:cs typeface="Lucida Sans Unicode"/>
              </a:rPr>
              <a:t>−</a:t>
            </a:r>
            <a:r>
              <a:rPr sz="4307" spc="408" dirty="0">
                <a:latin typeface="Georgia"/>
                <a:cs typeface="Georgia"/>
              </a:rPr>
              <a:t>1</a:t>
            </a:r>
            <a:r>
              <a:rPr sz="4307" spc="408" dirty="0">
                <a:latin typeface="Lucida Sans Unicode"/>
                <a:cs typeface="Lucida Sans Unicode"/>
              </a:rPr>
              <a:t>)</a:t>
            </a:r>
            <a:r>
              <a:rPr sz="4307" spc="408" dirty="0">
                <a:latin typeface="Georgia"/>
                <a:cs typeface="Georgia"/>
              </a:rPr>
              <a:t>!</a:t>
            </a:r>
            <a:endParaRPr sz="4307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588579" y="113720"/>
            <a:ext cx="11183007" cy="6771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rtl="0">
              <a:spcBef>
                <a:spcPct val="50000"/>
              </a:spcBef>
              <a:defRPr/>
            </a:pPr>
            <a:r>
              <a:rPr lang="en-US" sz="280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 an inductive definition of the factorial function F(n) = n!, Then compute F(5).</a:t>
            </a:r>
          </a:p>
          <a:p>
            <a:pPr algn="l" rtl="0">
              <a:spcBef>
                <a:spcPct val="50000"/>
              </a:spcBef>
              <a:defRPr/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514350" indent="-514350">
              <a:spcBef>
                <a:spcPct val="50000"/>
              </a:spcBef>
              <a:buFontTx/>
              <a:buAutoNum type="arabicParenBoth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base step (initial value of factorial function). F(0)=1.</a:t>
            </a:r>
          </a:p>
          <a:p>
            <a:pPr marL="514350" indent="-514350">
              <a:spcBef>
                <a:spcPct val="50000"/>
              </a:spcBef>
              <a:buFontTx/>
              <a:buAutoNum type="arabicParenBoth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for finding F(n) from F(n - 1)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n! = n (n-1)!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ct val="50000"/>
              </a:spcBef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F(n) = (n) F(n - 1) </a:t>
            </a:r>
          </a:p>
          <a:p>
            <a:pPr lvl="1">
              <a:spcBef>
                <a:spcPct val="50000"/>
              </a:spcBef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F(5) = 5 • F(4)</a:t>
            </a:r>
          </a:p>
          <a:p>
            <a:pPr lvl="1">
              <a:spcBef>
                <a:spcPct val="50000"/>
              </a:spcBef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 5 • 4 • F(3)</a:t>
            </a:r>
          </a:p>
          <a:p>
            <a:pPr lvl="1">
              <a:spcBef>
                <a:spcPct val="50000"/>
              </a:spcBef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 5 • 4 • 3 • F(2)</a:t>
            </a:r>
          </a:p>
          <a:p>
            <a:pPr lvl="1">
              <a:spcBef>
                <a:spcPct val="50000"/>
              </a:spcBef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 5 • 4 • 3 • 2 • F(1)</a:t>
            </a:r>
          </a:p>
          <a:p>
            <a:pPr lvl="1">
              <a:spcBef>
                <a:spcPct val="50000"/>
              </a:spcBef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 5 • 4 • 3 • 2 • 1 • F(0)    = 5 • 4 • 3 • 2 • 1 • 1=120</a:t>
            </a:r>
          </a:p>
        </p:txBody>
      </p:sp>
    </p:spTree>
    <p:extLst>
      <p:ext uri="{BB962C8B-B14F-4D97-AF65-F5344CB8AC3E}">
        <p14:creationId xmlns:p14="http://schemas.microsoft.com/office/powerpoint/2010/main" val="288169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4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40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40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FF127D-87F1-76A2-6A6D-14FB6543C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49" y="363077"/>
            <a:ext cx="10132301" cy="613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13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824136"/>
          </a:xfrm>
        </p:spPr>
        <p:txBody>
          <a:bodyPr/>
          <a:lstStyle/>
          <a:p>
            <a:pPr eaLnBrk="1" hangingPunct="1"/>
            <a:r>
              <a:rPr lang="en-US" altLang="ja-JP" sz="2800" b="1" dirty="0"/>
              <a:t>Example : </a:t>
            </a:r>
            <a:r>
              <a:rPr lang="en-US" sz="2800" b="1" dirty="0"/>
              <a:t>The </a:t>
            </a:r>
            <a:r>
              <a:rPr lang="en-US" altLang="ja-JP" sz="2800" b="1" dirty="0"/>
              <a:t>Sum</a:t>
            </a:r>
            <a:r>
              <a:rPr lang="en-US" sz="2800" b="1" dirty="0"/>
              <a:t> of </a:t>
            </a:r>
            <a:r>
              <a:rPr lang="en-US" altLang="ja-JP" sz="2800" b="1" dirty="0"/>
              <a:t>the First N Positive Integers</a:t>
            </a:r>
            <a:endParaRPr lang="en-US" sz="2800" b="1" dirty="0"/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5213" y="1219200"/>
            <a:ext cx="10951779" cy="4800600"/>
          </a:xfrm>
        </p:spPr>
        <p:txBody>
          <a:bodyPr>
            <a:normAutofit fontScale="92500" lnSpcReduction="10000"/>
          </a:bodyPr>
          <a:lstStyle/>
          <a:p>
            <a:pPr algn="l" rtl="0" eaLnBrk="1" hangingPunct="1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lvl="1" algn="l" rtl="0" eaLnBrk="1" hangingPunct="1">
              <a:lnSpc>
                <a:spcPct val="90000"/>
              </a:lnSpc>
              <a:buFontTx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(n-1)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(n-2)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for any integer n &gt; 0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relation;</a:t>
            </a:r>
          </a:p>
          <a:p>
            <a:pPr lvl="1" algn="l" rtl="0" eaLnBrk="1" hangingPunct="1">
              <a:lnSpc>
                <a:spcPct val="90000"/>
              </a:lnSpc>
              <a:buFontTx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[(n-1)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(n-2)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1]</a:t>
            </a:r>
          </a:p>
          <a:p>
            <a:pPr lvl="1" algn="l" rtl="0" eaLnBrk="1" hangingPunct="1">
              <a:lnSpc>
                <a:spcPct val="90000"/>
              </a:lnSpc>
              <a:buFontTx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(n-1)</a:t>
            </a:r>
          </a:p>
          <a:p>
            <a:pPr lvl="1" algn="l" rtl="0" eaLnBrk="1" hangingPunct="1">
              <a:lnSpc>
                <a:spcPct val="90000"/>
              </a:lnSpc>
              <a:buFontTx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Looks so nice, but how about n =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algn="l" rtl="0" eaLnBrk="1" hangingPunct="1">
              <a:lnSpc>
                <a:spcPct val="90000"/>
              </a:lnSpc>
              <a:buFontTx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=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 argument to sum( ) must be positive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recursive definition:</a:t>
            </a:r>
          </a:p>
          <a:p>
            <a:pPr lvl="1" algn="l" rtl="0" eaLnBrk="1" hangingPunct="1">
              <a:lnSpc>
                <a:spcPct val="90000"/>
              </a:lnSpc>
              <a:buFontTx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       = 1 		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 =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ja-JP" sz="3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(Base case)</a:t>
            </a:r>
            <a:endParaRPr lang="en-US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rtl="0" eaLnBrk="1" hangingPunct="1">
              <a:lnSpc>
                <a:spcPct val="90000"/>
              </a:lnSpc>
              <a:buFontTx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= n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sum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(n-1)	if n &gt;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ja-JP" sz="3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(Recursive call)</a:t>
            </a:r>
            <a:endParaRPr lang="en-US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76200"/>
            <a:ext cx="8915400" cy="1143000"/>
          </a:xfrm>
        </p:spPr>
        <p:txBody>
          <a:bodyPr/>
          <a:lstStyle/>
          <a:p>
            <a:pPr eaLnBrk="1" hangingPunct="1"/>
            <a:r>
              <a:rPr lang="en-US"/>
              <a:t>Recursive Definition of </a:t>
            </a:r>
            <a:r>
              <a:rPr lang="en-US" altLang="ja-JP"/>
              <a:t>sum</a:t>
            </a:r>
            <a:r>
              <a:rPr lang="en-US"/>
              <a:t>(n)</a:t>
            </a:r>
          </a:p>
        </p:txBody>
      </p:sp>
      <p:sp>
        <p:nvSpPr>
          <p:cNvPr id="6149" name="Text Box 3"/>
          <p:cNvSpPr txBox="1">
            <a:spLocks noChangeArrowheads="1"/>
          </p:cNvSpPr>
          <p:nvPr/>
        </p:nvSpPr>
        <p:spPr bwMode="auto">
          <a:xfrm>
            <a:off x="1219199" y="1219200"/>
            <a:ext cx="10384221" cy="452431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pPr algn="l" rtl="0">
              <a:lnSpc>
                <a:spcPct val="80000"/>
              </a:lnSpc>
              <a:spcBef>
                <a:spcPct val="20000"/>
              </a:spcBef>
            </a:pPr>
            <a:r>
              <a:rPr lang="en-US" altLang="ja-JP" sz="36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3600" b="1" dirty="0" err="1">
                <a:latin typeface="Courier New" pitchFamily="49" charset="0"/>
                <a:cs typeface="Courier New" pitchFamily="49" charset="0"/>
              </a:rPr>
              <a:t>nt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3600" b="1" dirty="0">
                <a:latin typeface="Courier New" pitchFamily="49" charset="0"/>
                <a:cs typeface="Courier New" pitchFamily="49" charset="0"/>
              </a:rPr>
              <a:t>sum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 n)</a:t>
            </a:r>
          </a:p>
          <a:p>
            <a:pPr algn="l" rtl="0">
              <a:lnSpc>
                <a:spcPct val="80000"/>
              </a:lnSpc>
              <a:spcBef>
                <a:spcPct val="20000"/>
              </a:spcBef>
            </a:pPr>
            <a:r>
              <a:rPr lang="en-US" sz="3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l" rtl="0">
              <a:lnSpc>
                <a:spcPct val="80000"/>
              </a:lnSpc>
              <a:spcBef>
                <a:spcPct val="20000"/>
              </a:spcBef>
            </a:pPr>
            <a:r>
              <a:rPr lang="en-US" altLang="ja-JP" sz="36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if (n == </a:t>
            </a:r>
            <a:r>
              <a:rPr lang="en-US" altLang="ja-JP" sz="3600" b="1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)		</a:t>
            </a:r>
            <a:r>
              <a:rPr lang="en-US" altLang="ja-JP" sz="3600" b="1" dirty="0">
                <a:latin typeface="Courier New" pitchFamily="49" charset="0"/>
                <a:cs typeface="Courier New" pitchFamily="49" charset="0"/>
              </a:rPr>
              <a:t>      </a:t>
            </a:r>
          </a:p>
          <a:p>
            <a:pPr algn="l" rtl="0">
              <a:lnSpc>
                <a:spcPct val="80000"/>
              </a:lnSpc>
              <a:spcBef>
                <a:spcPct val="20000"/>
              </a:spcBef>
            </a:pPr>
            <a:r>
              <a:rPr lang="en-US" sz="3600" b="1" dirty="0">
                <a:latin typeface="Courier New" pitchFamily="49" charset="0"/>
                <a:cs typeface="Courier New" pitchFamily="49" charset="0"/>
              </a:rPr>
              <a:t>       return 1;</a:t>
            </a:r>
          </a:p>
          <a:p>
            <a:pPr algn="l" rtl="0">
              <a:lnSpc>
                <a:spcPct val="80000"/>
              </a:lnSpc>
              <a:spcBef>
                <a:spcPct val="20000"/>
              </a:spcBef>
            </a:pPr>
            <a:r>
              <a:rPr lang="en-US" altLang="ja-JP" sz="36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algn="l" rtl="0">
              <a:lnSpc>
                <a:spcPct val="80000"/>
              </a:lnSpc>
              <a:spcBef>
                <a:spcPct val="20000"/>
              </a:spcBef>
            </a:pPr>
            <a:r>
              <a:rPr lang="en-US" altLang="ja-JP" sz="36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return n </a:t>
            </a:r>
            <a:r>
              <a:rPr lang="en-US" altLang="ja-JP" sz="3600" b="1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3600" b="1" dirty="0">
                <a:latin typeface="Courier New" pitchFamily="49" charset="0"/>
                <a:cs typeface="Courier New" pitchFamily="49" charset="0"/>
              </a:rPr>
              <a:t>sum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(n-1);	</a:t>
            </a:r>
          </a:p>
          <a:p>
            <a:pPr algn="l" rtl="0">
              <a:lnSpc>
                <a:spcPct val="80000"/>
              </a:lnSpc>
              <a:spcBef>
                <a:spcPct val="20000"/>
              </a:spcBef>
            </a:pPr>
            <a:r>
              <a:rPr lang="en-US" sz="3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l" rtl="0">
              <a:spcBef>
                <a:spcPct val="20000"/>
              </a:spcBef>
            </a:pPr>
            <a:endParaRPr lang="en-US" sz="3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151" name="Rectangle 5"/>
          <p:cNvSpPr>
            <a:spLocks noChangeArrowheads="1"/>
          </p:cNvSpPr>
          <p:nvPr/>
        </p:nvSpPr>
        <p:spPr bwMode="auto">
          <a:xfrm>
            <a:off x="8360322" y="4552595"/>
            <a:ext cx="3048000" cy="15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l"/>
            <a:r>
              <a:rPr lang="en-US" altLang="ja-JP" dirty="0"/>
              <a:t>n = 3</a:t>
            </a:r>
          </a:p>
          <a:p>
            <a:pPr algn="l"/>
            <a:endParaRPr lang="en-US" dirty="0"/>
          </a:p>
          <a:p>
            <a:pPr algn="l"/>
            <a:r>
              <a:rPr lang="en-US" altLang="ja-JP" dirty="0"/>
              <a:t>sum</a:t>
            </a:r>
            <a:r>
              <a:rPr lang="en-US" dirty="0"/>
              <a:t>(n-1) = ?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return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19F6-CC53-06EF-DDC0-7EAF0286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926"/>
          </a:xfrm>
        </p:spPr>
        <p:txBody>
          <a:bodyPr>
            <a:normAutofit/>
          </a:bodyPr>
          <a:lstStyle/>
          <a:p>
            <a:pPr algn="just"/>
            <a:r>
              <a:rPr lang="en-US" sz="2800" i="0" dirty="0">
                <a:solidFill>
                  <a:schemeClr val="tx1"/>
                </a:solidFill>
                <a:effectLst/>
              </a:rPr>
              <a:t>Write a C++ program to implement a recursive function to calculate the sum of digits of a given number.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5F7DB-E1F1-975D-92A4-442AC1F9F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6052"/>
            <a:ext cx="10937964" cy="513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3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82BD-1AF4-E816-4B11-716B0FDC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096"/>
          </a:xfrm>
        </p:spPr>
        <p:txBody>
          <a:bodyPr>
            <a:normAutofit/>
          </a:bodyPr>
          <a:lstStyle/>
          <a:p>
            <a:pPr fontAlgn="base">
              <a:spcBef>
                <a:spcPts val="975"/>
              </a:spcBef>
            </a:pPr>
            <a:r>
              <a:rPr lang="en-US" b="1" i="0" dirty="0">
                <a:solidFill>
                  <a:schemeClr val="tx1"/>
                </a:solidFill>
                <a:effectLst/>
              </a:rPr>
              <a:t>Decimal to binary number using recursion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875EC-94DB-D856-A97A-FA3F13B34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41" y="1196974"/>
            <a:ext cx="10670628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6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1EBC56-B85A-C81A-0BF6-D4800ED0C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dirty="0">
                <a:effectLst/>
                <a:latin typeface="Helvetica" panose="020B0604020202020204" pitchFamily="34" charset="0"/>
              </a:rPr>
              <a:t>Fibonacci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07AE5-879A-7C0A-1CCF-035EE89C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17"/>
            <a:ext cx="10515600" cy="47370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Fibonacci sequence:</a:t>
            </a:r>
            <a:r>
              <a:rPr lang="en-US" sz="36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each number is the sum of the two preceding ones. </a:t>
            </a:r>
            <a:endParaRPr lang="pt-B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F(0) = 0, F(1) = 1 </a:t>
            </a:r>
          </a:p>
          <a:p>
            <a:pPr lvl="1" algn="just"/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F(n - 1) + F(n - 2), for n &gt; 1.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0, 1, 1, 2, 3, 5, 8, 13, 21, 34, 55, 89, 144, ....</a:t>
            </a:r>
          </a:p>
        </p:txBody>
      </p:sp>
    </p:spTree>
    <p:extLst>
      <p:ext uri="{BB962C8B-B14F-4D97-AF65-F5344CB8AC3E}">
        <p14:creationId xmlns:p14="http://schemas.microsoft.com/office/powerpoint/2010/main" val="2405215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6CF55D-A7D3-3A64-B678-98C07A51D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075" y="1438826"/>
            <a:ext cx="8568000" cy="49745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D7FA39-355C-79CC-76BD-7B8ABEFFBC3A}"/>
              </a:ext>
            </a:extLst>
          </p:cNvPr>
          <p:cNvSpPr txBox="1"/>
          <p:nvPr/>
        </p:nvSpPr>
        <p:spPr>
          <a:xfrm>
            <a:off x="725214" y="444617"/>
            <a:ext cx="105523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implement a recursive function to get the n</a:t>
            </a:r>
            <a:r>
              <a:rPr lang="en-US" sz="32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Fibonacci number.</a:t>
            </a:r>
          </a:p>
        </p:txBody>
      </p:sp>
    </p:spTree>
    <p:extLst>
      <p:ext uri="{BB962C8B-B14F-4D97-AF65-F5344CB8AC3E}">
        <p14:creationId xmlns:p14="http://schemas.microsoft.com/office/powerpoint/2010/main" val="3109317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A1BB9-9189-7A12-FB4A-2D5A7F111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07" y="896007"/>
            <a:ext cx="11339186" cy="506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87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981200" y="274638"/>
            <a:ext cx="82296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 b="1" dirty="0">
                <a:solidFill>
                  <a:srgbClr val="0000FF"/>
                </a:solidFill>
                <a:ea typeface="DejaVu Sans" charset="0"/>
                <a:cs typeface="DejaVu Sans" charset="0"/>
              </a:rPr>
              <a:t>Computing GCD of A and B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040524" y="1148255"/>
            <a:ext cx="10773104" cy="5029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lvl="1" indent="-279400">
              <a:spcBef>
                <a:spcPts val="70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32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GCD (a, 0) = a                                    (base case)</a:t>
            </a:r>
          </a:p>
          <a:p>
            <a:pPr lvl="1" indent="-279400">
              <a:spcBef>
                <a:spcPts val="70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32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GCD (a, b) = GCD (b, a mod b)	     (recursion)</a:t>
            </a:r>
          </a:p>
          <a:p>
            <a:pPr marL="336550" indent="-336550">
              <a:spcBef>
                <a:spcPts val="800"/>
              </a:spcBef>
              <a:buFont typeface="Arial" charset="0"/>
              <a:buChar char="•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36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Recursive method</a:t>
            </a:r>
          </a:p>
          <a:p>
            <a:pPr lvl="1" indent="-279400">
              <a:spcBef>
                <a:spcPts val="50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  <a:ea typeface="DejaVu Sans" charset="0"/>
                <a:cs typeface="DejaVu Sans" charset="0"/>
              </a:rPr>
              <a:t>gcd(a , b)</a:t>
            </a:r>
          </a:p>
          <a:p>
            <a:pPr lvl="1" indent="-279400">
              <a:spcBef>
                <a:spcPts val="50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  <a:ea typeface="DejaVu Sans" charset="0"/>
                <a:cs typeface="DejaVu Sans" charset="0"/>
              </a:rPr>
              <a:t>{</a:t>
            </a:r>
          </a:p>
          <a:p>
            <a:pPr lvl="1" indent="-279400">
              <a:spcBef>
                <a:spcPts val="50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  <a:ea typeface="DejaVu Sans" charset="0"/>
                <a:cs typeface="DejaVu Sans" charset="0"/>
              </a:rPr>
              <a:t>   if (b != 0)</a:t>
            </a:r>
          </a:p>
          <a:p>
            <a:pPr lvl="1" indent="-279400">
              <a:spcBef>
                <a:spcPts val="50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  <a:ea typeface="DejaVu Sans" charset="0"/>
                <a:cs typeface="DejaVu Sans" charset="0"/>
              </a:rPr>
              <a:t>       return gcd(b, a % b);  // recursion</a:t>
            </a:r>
          </a:p>
          <a:p>
            <a:pPr lvl="1" indent="-279400">
              <a:spcBef>
                <a:spcPts val="50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  <a:ea typeface="DejaVu Sans" charset="0"/>
                <a:cs typeface="DejaVu Sans" charset="0"/>
              </a:rPr>
              <a:t>   return a;                  // base case</a:t>
            </a:r>
          </a:p>
          <a:p>
            <a:pPr lvl="1" indent="-279400">
              <a:spcBef>
                <a:spcPts val="500"/>
              </a:spcBef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  <a:ea typeface="DejaVu Sans" charset="0"/>
                <a:cs typeface="DejaVu Sans" charset="0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dirty="0">
                <a:ea typeface="DejaVu Sans" charset="0"/>
                <a:cs typeface="DejaVu Sans" charset="0"/>
              </a:rPr>
              <a:t>Computing GCD of 33 and 55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938"/>
            <a:ext cx="10515600" cy="4716025"/>
          </a:xfrm>
        </p:spPr>
        <p:txBody>
          <a:bodyPr>
            <a:noAutofit/>
          </a:bodyPr>
          <a:lstStyle/>
          <a:p>
            <a:pPr lvl="1" indent="-279400">
              <a:lnSpc>
                <a:spcPct val="100000"/>
              </a:lnSpc>
              <a:spcBef>
                <a:spcPts val="700"/>
              </a:spcBef>
              <a:buNone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800" b="1" dirty="0">
                <a:solidFill>
                  <a:srgbClr val="002060"/>
                </a:solidFill>
                <a:ea typeface="DejaVu Sans" charset="0"/>
                <a:cs typeface="DejaVu Sans" charset="0"/>
              </a:rPr>
              <a:t>GCD (a, 0) = a                                     (base case)</a:t>
            </a:r>
          </a:p>
          <a:p>
            <a:pPr lvl="1" indent="-279400">
              <a:lnSpc>
                <a:spcPct val="100000"/>
              </a:lnSpc>
              <a:spcBef>
                <a:spcPts val="700"/>
              </a:spcBef>
              <a:buNone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800" b="1" dirty="0">
                <a:solidFill>
                  <a:srgbClr val="002060"/>
                </a:solidFill>
                <a:ea typeface="DejaVu Sans" charset="0"/>
                <a:cs typeface="DejaVu Sans" charset="0"/>
              </a:rPr>
              <a:t>GCD (a, b) = GCD (b, a mod b)	     (recursion)</a:t>
            </a:r>
          </a:p>
          <a:p>
            <a:pPr algn="l" rtl="0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ea typeface="DejaVu Sans" charset="0"/>
                <a:cs typeface="DejaVu Sans" charset="0"/>
              </a:rPr>
              <a:t>GCD (33,55)  = GCD (55 , 33%55) = GCD (55 , 33)  </a:t>
            </a:r>
            <a:endParaRPr lang="en-US" dirty="0"/>
          </a:p>
          <a:p>
            <a:pPr algn="l" rtl="0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ea typeface="DejaVu Sans" charset="0"/>
                <a:cs typeface="DejaVu Sans" charset="0"/>
              </a:rPr>
              <a:t>GCD (55,33)  = GCD (33, 55%33) = GCD (33 , 22)  </a:t>
            </a:r>
            <a:endParaRPr lang="en-US" dirty="0"/>
          </a:p>
          <a:p>
            <a:pPr algn="l" rtl="0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ea typeface="DejaVu Sans" charset="0"/>
                <a:cs typeface="DejaVu Sans" charset="0"/>
              </a:rPr>
              <a:t>GCD (33,22)  = GCD (22, 33%22) = GCD (22 , 11)  </a:t>
            </a:r>
            <a:endParaRPr lang="en-US" dirty="0"/>
          </a:p>
          <a:p>
            <a:pPr algn="l" rtl="0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ea typeface="DejaVu Sans" charset="0"/>
                <a:cs typeface="DejaVu Sans" charset="0"/>
              </a:rPr>
              <a:t>GCD (22,11)  = GCD (11, 22%11) = GCD (11 , 0)  </a:t>
            </a:r>
            <a:endParaRPr lang="en-US" dirty="0"/>
          </a:p>
          <a:p>
            <a:pPr algn="l" rtl="0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ea typeface="DejaVu Sans" charset="0"/>
                <a:cs typeface="DejaVu Sans" charset="0"/>
              </a:rPr>
              <a:t>GCD (11 , 0)  =     11</a:t>
            </a:r>
          </a:p>
          <a:p>
            <a:pPr algn="l" rtl="0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GCD(33,55)   = 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2DCF35-F7BA-C707-C0C8-67B0D386D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786" y="326132"/>
            <a:ext cx="7507014" cy="616674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34B1459-A103-29F6-26CA-CE9D213279F3}"/>
              </a:ext>
            </a:extLst>
          </p:cNvPr>
          <p:cNvSpPr txBox="1">
            <a:spLocks noChangeArrowheads="1"/>
          </p:cNvSpPr>
          <p:nvPr/>
        </p:nvSpPr>
        <p:spPr>
          <a:xfrm>
            <a:off x="392933" y="2792759"/>
            <a:ext cx="8226425" cy="1233488"/>
          </a:xfrm>
          <a:prstGeom prst="rect">
            <a:avLst/>
          </a:prstGeom>
          <a:ln/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/>
              <a:t>Trace of recursive method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/>
              <a:t>gcd </a:t>
            </a:r>
          </a:p>
        </p:txBody>
      </p:sp>
    </p:spTree>
    <p:extLst>
      <p:ext uri="{BB962C8B-B14F-4D97-AF65-F5344CB8AC3E}">
        <p14:creationId xmlns:p14="http://schemas.microsoft.com/office/powerpoint/2010/main" val="1949523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A9EDE7-170B-0EC7-C14E-29724C98FF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8" r="2825"/>
          <a:stretch/>
        </p:blipFill>
        <p:spPr>
          <a:xfrm>
            <a:off x="769324" y="432436"/>
            <a:ext cx="10440000" cy="599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88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6433-B6C3-CCC1-F25A-05760412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CC906-CA50-DFCD-4A13-5118ECFD2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0" i="0" dirty="0">
                <a:effectLst/>
                <a:latin typeface="Helvetica" panose="020B0604020202020204" pitchFamily="34" charset="0"/>
              </a:rPr>
              <a:t>Write a C++ program to implement a recursive function to calculate the power of a number.</a:t>
            </a:r>
          </a:p>
          <a:p>
            <a:pPr marL="0" indent="0" algn="just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22535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BDA709-1E72-7D45-49F6-EB55F3933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525517"/>
            <a:ext cx="11715750" cy="565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84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48F593-5366-4C18-9523-9967DFEC7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0" i="0" dirty="0">
                <a:effectLst/>
                <a:latin typeface="Helvetica" panose="020B0604020202020204" pitchFamily="34" charset="0"/>
              </a:rPr>
              <a:t>Write a C++ program to implement a recursive function to calculate the product of two numbers without using the multiplication operator.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45410-21DF-2FBC-0C5A-73951D7A19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#include &lt;iostream&gt;</a:t>
            </a:r>
          </a:p>
          <a:p>
            <a:pPr marL="0" indent="0">
              <a:buNone/>
            </a:pPr>
            <a:r>
              <a:rPr lang="en-US" b="1" dirty="0"/>
              <a:t>using namespace std;</a:t>
            </a:r>
          </a:p>
          <a:p>
            <a:pPr marL="0" indent="0">
              <a:buNone/>
            </a:pPr>
            <a:r>
              <a:rPr lang="en-US" b="1" dirty="0"/>
              <a:t>int multiply(int x, int y) {</a:t>
            </a:r>
          </a:p>
          <a:p>
            <a:pPr marL="0" indent="0">
              <a:buNone/>
            </a:pPr>
            <a:r>
              <a:rPr lang="en-US" b="1" dirty="0"/>
              <a:t>  if (x == 0 || y == 0)</a:t>
            </a:r>
          </a:p>
          <a:p>
            <a:pPr marL="0" indent="0">
              <a:buNone/>
            </a:pPr>
            <a:r>
              <a:rPr lang="en-US" b="1" dirty="0"/>
              <a:t>    return 0;</a:t>
            </a:r>
          </a:p>
          <a:p>
            <a:pPr marL="0" indent="0">
              <a:buNone/>
            </a:pPr>
            <a:r>
              <a:rPr lang="en-US" b="1" dirty="0"/>
              <a:t>  if (y &gt; 0)</a:t>
            </a:r>
          </a:p>
          <a:p>
            <a:pPr marL="0" indent="0">
              <a:buNone/>
            </a:pPr>
            <a:r>
              <a:rPr lang="en-US" b="1" dirty="0"/>
              <a:t>    return x + multiply(x, y - 1); </a:t>
            </a:r>
          </a:p>
          <a:p>
            <a:pPr marL="0" indent="0">
              <a:buNone/>
            </a:pPr>
            <a:r>
              <a:rPr lang="en-US" b="1" dirty="0"/>
              <a:t>  else</a:t>
            </a:r>
          </a:p>
          <a:p>
            <a:pPr marL="0" indent="0">
              <a:buNone/>
            </a:pPr>
            <a:r>
              <a:rPr lang="en-US" b="1" dirty="0"/>
              <a:t>    return -x + multiply(x, y + 1); 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4B8DEB-E409-F3B1-0BF6-508C8557E7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int main() {</a:t>
            </a:r>
          </a:p>
          <a:p>
            <a:pPr marL="0" indent="0">
              <a:buNone/>
            </a:pPr>
            <a:r>
              <a:rPr lang="en-US" b="1" dirty="0"/>
              <a:t>  int n1, n2;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err="1"/>
              <a:t>cout</a:t>
            </a:r>
            <a:r>
              <a:rPr lang="en-US" b="1" dirty="0"/>
              <a:t> &lt;&lt; "Input the first number: ";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err="1"/>
              <a:t>cin</a:t>
            </a:r>
            <a:r>
              <a:rPr lang="en-US" b="1" dirty="0"/>
              <a:t> &gt;&gt; n1;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err="1"/>
              <a:t>cout</a:t>
            </a:r>
            <a:r>
              <a:rPr lang="en-US" b="1" dirty="0"/>
              <a:t> &lt;&lt; "Input the second number: ";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err="1"/>
              <a:t>cin</a:t>
            </a:r>
            <a:r>
              <a:rPr lang="en-US" b="1" dirty="0"/>
              <a:t> &gt;&gt; n2;</a:t>
            </a:r>
          </a:p>
          <a:p>
            <a:pPr marL="0" indent="0">
              <a:buNone/>
            </a:pPr>
            <a:r>
              <a:rPr lang="en-US" b="1" dirty="0"/>
              <a:t>  int result = multiply(n1, n2);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err="1"/>
              <a:t>cout</a:t>
            </a:r>
            <a:r>
              <a:rPr lang="en-US" b="1" dirty="0"/>
              <a:t> &lt;&lt; "Product = " &lt;&lt; result &lt;&lt; </a:t>
            </a:r>
            <a:r>
              <a:rPr lang="en-US" b="1" dirty="0" err="1"/>
              <a:t>endl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  return 0;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06628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9745</TotalTime>
  <Words>1711</Words>
  <Application>Microsoft Office PowerPoint</Application>
  <PresentationFormat>Widescreen</PresentationFormat>
  <Paragraphs>226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Arial MT</vt:lpstr>
      <vt:lpstr>Calibri</vt:lpstr>
      <vt:lpstr>Cambria</vt:lpstr>
      <vt:lpstr>Courier New</vt:lpstr>
      <vt:lpstr>DejaVu Sans</vt:lpstr>
      <vt:lpstr>Georgia</vt:lpstr>
      <vt:lpstr>Helvetica</vt:lpstr>
      <vt:lpstr>Lucida Sans Unicode</vt:lpstr>
      <vt:lpstr>Times New Roman</vt:lpstr>
      <vt:lpstr>Verdana</vt:lpstr>
      <vt:lpstr>Office 2013 - 2022 Theme</vt:lpstr>
      <vt:lpstr>PowerPoint Presentation</vt:lpstr>
      <vt:lpstr>PowerPoint Presentation</vt:lpstr>
      <vt:lpstr>Recursion in C++</vt:lpstr>
      <vt:lpstr>Constructing Recursion</vt:lpstr>
      <vt:lpstr>Recursion vs Iteration</vt:lpstr>
      <vt:lpstr>Factorials</vt:lpstr>
      <vt:lpstr>PowerPoint Presentation</vt:lpstr>
      <vt:lpstr>{</vt:lpstr>
      <vt:lpstr>PowerPoint Presentation</vt:lpstr>
      <vt:lpstr>PowerPoint Presentation</vt:lpstr>
      <vt:lpstr>Example : The Sum of the First N Positive Integers</vt:lpstr>
      <vt:lpstr>Recursive Definition of sum(n)</vt:lpstr>
      <vt:lpstr>Write a C++ program to implement a recursive function to calculate the sum of digits of a given number.</vt:lpstr>
      <vt:lpstr>Decimal to binary number using recursion</vt:lpstr>
      <vt:lpstr>Fibonacci</vt:lpstr>
      <vt:lpstr>PowerPoint Presentation</vt:lpstr>
      <vt:lpstr>PowerPoint Presentation</vt:lpstr>
      <vt:lpstr>PowerPoint Presentation</vt:lpstr>
      <vt:lpstr>Computing GCD of 33 and 55</vt:lpstr>
      <vt:lpstr>PowerPoint Presentation</vt:lpstr>
      <vt:lpstr>PowerPoint Presentation</vt:lpstr>
      <vt:lpstr>PowerPoint Presentation</vt:lpstr>
      <vt:lpstr>PowerPoint Presentation</vt:lpstr>
      <vt:lpstr>Write a C++ program to implement a recursive function to calculate the product of two numbers without using the multiplication operator.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Youssef Mohamed Khedr</dc:creator>
  <cp:lastModifiedBy>Ahmed khedr</cp:lastModifiedBy>
  <cp:revision>173</cp:revision>
  <dcterms:created xsi:type="dcterms:W3CDTF">2023-09-30T05:39:14Z</dcterms:created>
  <dcterms:modified xsi:type="dcterms:W3CDTF">2025-11-21T14:17:07Z</dcterms:modified>
</cp:coreProperties>
</file>