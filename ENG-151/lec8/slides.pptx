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1123" r:id="rId2"/>
    <p:sldId id="1249" r:id="rId3"/>
    <p:sldId id="307" r:id="rId4"/>
    <p:sldId id="310" r:id="rId5"/>
    <p:sldId id="309" r:id="rId6"/>
    <p:sldId id="311" r:id="rId7"/>
    <p:sldId id="312" r:id="rId8"/>
    <p:sldId id="313" r:id="rId9"/>
    <p:sldId id="314" r:id="rId10"/>
    <p:sldId id="317" r:id="rId11"/>
    <p:sldId id="323" r:id="rId12"/>
    <p:sldId id="318" r:id="rId13"/>
    <p:sldId id="319" r:id="rId14"/>
    <p:sldId id="320" r:id="rId15"/>
    <p:sldId id="321" r:id="rId16"/>
    <p:sldId id="322" r:id="rId17"/>
    <p:sldId id="31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602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57" autoAdjust="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DD57A2-742B-4FA5-912B-946A99A60A6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2E8AA-5A9D-4A7B-889E-B4292CC9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struct</a:t>
            </a:r>
            <a:r>
              <a:rPr lang="en-US" dirty="0"/>
              <a:t> Person { char name[50]; int age; float salary; 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87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&lt;string&gt;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struct {</a:t>
            </a:r>
          </a:p>
          <a:p>
            <a:r>
              <a:rPr lang="en-US" dirty="0"/>
              <a:t>    string name;</a:t>
            </a:r>
          </a:p>
          <a:p>
            <a:r>
              <a:rPr lang="en-US" dirty="0"/>
              <a:t>    int ID;</a:t>
            </a:r>
          </a:p>
          <a:p>
            <a:r>
              <a:rPr lang="en-US" dirty="0"/>
              <a:t>    float GPA;</a:t>
            </a:r>
          </a:p>
          <a:p>
            <a:r>
              <a:rPr lang="en-US" dirty="0"/>
              <a:t>  } student1,student2;</a:t>
            </a:r>
          </a:p>
          <a:p>
            <a:endParaRPr lang="en-US" dirty="0"/>
          </a:p>
          <a:p>
            <a:r>
              <a:rPr lang="en-US" dirty="0"/>
              <a:t>  // Put data into the first structure</a:t>
            </a:r>
          </a:p>
          <a:p>
            <a:r>
              <a:rPr lang="en-US" dirty="0"/>
              <a:t>  student1.name = "Ayman";</a:t>
            </a:r>
          </a:p>
          <a:p>
            <a:r>
              <a:rPr lang="en-US" dirty="0"/>
              <a:t>  student1.ID = 20240014;</a:t>
            </a:r>
          </a:p>
          <a:p>
            <a:r>
              <a:rPr lang="en-US" dirty="0"/>
              <a:t>  student1.GPA = 3.2;</a:t>
            </a:r>
          </a:p>
          <a:p>
            <a:endParaRPr lang="en-US" dirty="0"/>
          </a:p>
          <a:p>
            <a:r>
              <a:rPr lang="en-US" dirty="0"/>
              <a:t>  // Put data into the second structure</a:t>
            </a:r>
          </a:p>
          <a:p>
            <a:r>
              <a:rPr lang="en-US" dirty="0"/>
              <a:t>  student2.name = "Amal";</a:t>
            </a:r>
          </a:p>
          <a:p>
            <a:r>
              <a:rPr lang="en-US" dirty="0"/>
              <a:t>  student2.ID = 20240020;</a:t>
            </a:r>
          </a:p>
          <a:p>
            <a:r>
              <a:rPr lang="en-US" dirty="0"/>
              <a:t>  student2.GPA = 3.8;</a:t>
            </a:r>
          </a:p>
          <a:p>
            <a:endParaRPr lang="en-US" dirty="0"/>
          </a:p>
          <a:p>
            <a:r>
              <a:rPr lang="en-US" dirty="0"/>
              <a:t>  // Print the structure members</a:t>
            </a:r>
          </a:p>
          <a:p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&lt;&lt;student1.name&lt;&lt;" "&lt;&lt; student1.ID &lt;&lt;" "&lt;&lt; student1.GPA &lt;&lt;"\n";</a:t>
            </a:r>
          </a:p>
          <a:p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&lt;&lt;student2.name&lt;&lt;" "&lt;&lt; student2.ID &lt;&lt;" "&lt;&lt; student2.GPA &lt;&lt;"\n";</a:t>
            </a:r>
          </a:p>
          <a:p>
            <a:r>
              <a:rPr lang="en-US" dirty="0"/>
              <a:t>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66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students[</a:t>
            </a:r>
            <a:r>
              <a:rPr lang="en-US" dirty="0">
                <a:effectLst/>
              </a:rPr>
              <a:t>10</a:t>
            </a:r>
            <a:r>
              <a:rPr lang="en-US" dirty="0"/>
              <a:t>]; </a:t>
            </a:r>
            <a:r>
              <a:rPr lang="en-US" dirty="0">
                <a:effectLst/>
              </a:rPr>
              <a:t>// An array of 10 Student structures</a:t>
            </a:r>
            <a:r>
              <a:rPr lang="en-US" dirty="0"/>
              <a:t> </a:t>
            </a:r>
            <a:br>
              <a:rPr lang="en-US" b="0" i="0" dirty="0">
                <a:effectLst/>
                <a:latin typeface="Google San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47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636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&lt;string&gt;</a:t>
            </a:r>
          </a:p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// Declaring a structure class</a:t>
            </a:r>
          </a:p>
          <a:p>
            <a:r>
              <a:rPr lang="en-US" dirty="0"/>
              <a:t>struct student {</a:t>
            </a:r>
          </a:p>
          <a:p>
            <a:r>
              <a:rPr lang="en-US" dirty="0"/>
              <a:t>  int id;</a:t>
            </a:r>
          </a:p>
          <a:p>
            <a:r>
              <a:rPr lang="en-US" dirty="0"/>
              <a:t>  string name;</a:t>
            </a:r>
          </a:p>
          <a:p>
            <a:r>
              <a:rPr lang="en-US" dirty="0"/>
              <a:t>  double </a:t>
            </a:r>
            <a:r>
              <a:rPr lang="en-US" dirty="0" err="1"/>
              <a:t>gpa</a:t>
            </a:r>
            <a:r>
              <a:rPr lang="en-US" dirty="0"/>
              <a:t>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int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// Initialize of an array of structures</a:t>
            </a:r>
          </a:p>
          <a:p>
            <a:r>
              <a:rPr lang="en-US" dirty="0"/>
              <a:t>   struct student students[3] = { { 1, "Ahmed", 3.1 },</a:t>
            </a:r>
          </a:p>
          <a:p>
            <a:r>
              <a:rPr lang="en-US" dirty="0"/>
              <a:t>								  { 2, "Akram", 3.9 },</a:t>
            </a:r>
          </a:p>
          <a:p>
            <a:r>
              <a:rPr lang="en-US" dirty="0"/>
              <a:t>								  { 3, "</a:t>
            </a:r>
            <a:r>
              <a:rPr lang="en-US" dirty="0" err="1"/>
              <a:t>Zeyad</a:t>
            </a:r>
            <a:r>
              <a:rPr lang="en-US" dirty="0"/>
              <a:t>", 3.8 } };</a:t>
            </a:r>
          </a:p>
          <a:p>
            <a:endParaRPr lang="en-US" dirty="0"/>
          </a:p>
          <a:p>
            <a:r>
              <a:rPr lang="en-US" dirty="0"/>
              <a:t>	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3;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&lt;&lt;"ID number : "&lt;&lt;students[</a:t>
            </a:r>
            <a:r>
              <a:rPr lang="en-US" dirty="0" err="1"/>
              <a:t>i</a:t>
            </a:r>
            <a:r>
              <a:rPr lang="en-US" dirty="0"/>
              <a:t>].id&lt;&lt;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 "Name     : "&lt;&lt;students[</a:t>
            </a:r>
            <a:r>
              <a:rPr lang="en-US" dirty="0" err="1"/>
              <a:t>i</a:t>
            </a:r>
            <a:r>
              <a:rPr lang="en-US" dirty="0"/>
              <a:t>].name&lt;&lt;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&lt;&lt;"GPA       : "&lt;&lt;students[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gpa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09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&lt;string&gt;</a:t>
            </a:r>
          </a:p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struct student {</a:t>
            </a:r>
          </a:p>
          <a:p>
            <a:r>
              <a:rPr lang="en-US" dirty="0"/>
              <a:t>  int id;</a:t>
            </a:r>
          </a:p>
          <a:p>
            <a:r>
              <a:rPr lang="en-US" dirty="0"/>
              <a:t>  string name;</a:t>
            </a:r>
          </a:p>
          <a:p>
            <a:r>
              <a:rPr lang="en-US" dirty="0"/>
              <a:t>  double </a:t>
            </a:r>
            <a:r>
              <a:rPr lang="en-US" dirty="0" err="1"/>
              <a:t>gpa</a:t>
            </a:r>
            <a:r>
              <a:rPr lang="en-US" dirty="0"/>
              <a:t>;</a:t>
            </a:r>
          </a:p>
          <a:p>
            <a:r>
              <a:rPr lang="en-US" dirty="0"/>
              <a:t>}students[3];</a:t>
            </a:r>
          </a:p>
          <a:p>
            <a:endParaRPr lang="en-US" dirty="0"/>
          </a:p>
          <a:p>
            <a:r>
              <a:rPr lang="en-US" dirty="0"/>
              <a:t>int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3;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	    </a:t>
            </a:r>
            <a:r>
              <a:rPr lang="en-US" dirty="0" err="1"/>
              <a:t>cout</a:t>
            </a:r>
            <a:r>
              <a:rPr lang="en-US" dirty="0"/>
              <a:t>&lt;&lt;"Enter ID for student "&lt;&lt;i+1;</a:t>
            </a:r>
          </a:p>
          <a:p>
            <a:r>
              <a:rPr lang="en-US" dirty="0"/>
              <a:t>		</a:t>
            </a:r>
            <a:r>
              <a:rPr lang="en-US" dirty="0" err="1"/>
              <a:t>cin</a:t>
            </a:r>
            <a:r>
              <a:rPr lang="en-US" dirty="0"/>
              <a:t>&gt;&gt;students[</a:t>
            </a:r>
            <a:r>
              <a:rPr lang="en-US" dirty="0" err="1"/>
              <a:t>i</a:t>
            </a:r>
            <a:r>
              <a:rPr lang="en-US" dirty="0"/>
              <a:t>].id;</a:t>
            </a:r>
          </a:p>
          <a:p>
            <a:r>
              <a:rPr lang="en-US" dirty="0"/>
              <a:t>	    </a:t>
            </a:r>
            <a:r>
              <a:rPr lang="en-US" dirty="0" err="1"/>
              <a:t>cout</a:t>
            </a:r>
            <a:r>
              <a:rPr lang="en-US" dirty="0"/>
              <a:t>&lt;&lt;"Enter Name for student "&lt;&lt;i+1;</a:t>
            </a:r>
          </a:p>
          <a:p>
            <a:r>
              <a:rPr lang="en-US" dirty="0"/>
              <a:t>		</a:t>
            </a:r>
            <a:r>
              <a:rPr lang="en-US" dirty="0" err="1"/>
              <a:t>cin</a:t>
            </a:r>
            <a:r>
              <a:rPr lang="en-US" dirty="0"/>
              <a:t>&gt;&gt;students[</a:t>
            </a:r>
            <a:r>
              <a:rPr lang="en-US" dirty="0" err="1"/>
              <a:t>i</a:t>
            </a:r>
            <a:r>
              <a:rPr lang="en-US" dirty="0"/>
              <a:t>].name;</a:t>
            </a:r>
          </a:p>
          <a:p>
            <a:r>
              <a:rPr lang="en-US" dirty="0"/>
              <a:t>	    </a:t>
            </a:r>
            <a:r>
              <a:rPr lang="en-US" dirty="0" err="1"/>
              <a:t>cout</a:t>
            </a:r>
            <a:r>
              <a:rPr lang="en-US" dirty="0"/>
              <a:t>&lt;&lt;"Enter GPA for student "&lt;&lt;i+1;</a:t>
            </a:r>
          </a:p>
          <a:p>
            <a:r>
              <a:rPr lang="en-US" dirty="0"/>
              <a:t>		</a:t>
            </a:r>
            <a:r>
              <a:rPr lang="en-US" dirty="0" err="1"/>
              <a:t>cin</a:t>
            </a:r>
            <a:r>
              <a:rPr lang="en-US" dirty="0"/>
              <a:t>&gt;&gt;students[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gpa</a:t>
            </a:r>
            <a:r>
              <a:rPr lang="en-US" dirty="0"/>
              <a:t>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3;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&lt;&lt;"ID number : "&lt;&lt;students[</a:t>
            </a:r>
            <a:r>
              <a:rPr lang="en-US" dirty="0" err="1"/>
              <a:t>i</a:t>
            </a:r>
            <a:r>
              <a:rPr lang="en-US" dirty="0"/>
              <a:t>].id&lt;&lt;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 "Name     : "&lt;&lt;students[</a:t>
            </a:r>
            <a:r>
              <a:rPr lang="en-US" dirty="0" err="1"/>
              <a:t>i</a:t>
            </a:r>
            <a:r>
              <a:rPr lang="en-US" dirty="0"/>
              <a:t>].name&lt;&lt;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&lt;&lt;"GPA       : "&lt;&lt;students[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gpa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45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numCourses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Struct to store course info (common for all)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Course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courseName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creditHours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Struct to store student info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name;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numCourses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Only grades needed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to calculate GPA for a student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calculateGPA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 s, Course courses[])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totalPoints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totalCredits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numCourses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s.grades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s.grades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s.grades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s.grades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totalPoints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courses[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creditHours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totalCredits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courses[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creditHours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totalCredits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totalPoints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totalCredits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Define common courses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Course courses[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numCourses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"Math"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"Physics"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"Computer Science"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numStudents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Student students[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numStudents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Input student data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numStudents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name of student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students[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].name);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ID of student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students[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].id;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j 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numCourses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Enter grade for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courses[j].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courseName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students[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].grades[j];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cin.ignore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Clear input buffer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Display GPA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numStudents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"Student: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students[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].name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"GPA: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calculateGPA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courses)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"------------------------"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25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89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29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48FD-B8EC-D3EF-50F0-6E7CFF788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C3146-60A9-88E4-8DE7-46B64E1DF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8EE7B-6ECF-0BA6-298A-F3C2BE110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A75E0-260B-F6AE-AE6B-354D3F99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1CF23-0874-EE7B-B1E0-BBD1FF3A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E0833-8051-D313-0CB7-FAA52D215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D9264-3D9A-8988-6AAA-2C9172811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156AF-0285-85FF-0BBE-8E8F8658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E73C3-AA13-D031-5F34-F3E0FB76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6FCD-E80C-0844-B08C-AB0A09BC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28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1B9F-8CA4-47F1-D236-3D65E4B0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96552-4B00-0A40-95BF-1315CB543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2616C-5B8A-F464-E936-1300AA4F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7648B-7377-DFC8-8427-2B5A13C1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78BFF-ED0B-6A15-D88C-76E1B007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AD64-AE19-773A-A09B-C411951D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3D35A-ECA4-A8DB-1F3A-332FA1C10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F62D4-439D-5BCB-F9DA-63FBFC5CC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4CC9B-FC1F-4B93-0290-639B9700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BEF4D-2631-9211-D9F6-DCD9B545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75366-FE30-47FC-0D1B-07D02D56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0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8A95-1CBB-3094-8AB3-3516E6E4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67365-1EF2-C6F0-3BAE-ECCDBCBBC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F12DB-A9AA-6516-B049-58FEA42A3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50DD4-7A4B-2C6A-3AC8-ECC36C88C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DC1A7-866B-A3A5-6C7E-46C89095B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93143-2B90-C506-5F44-F754B2F3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E37FC-0CFC-444E-B04E-60B5D18F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D655B-FDD6-B453-3303-6A50E3B5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2C81-8388-6E73-3A09-8B22D802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15C56D-1B60-04EE-77B6-1BE205D2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2DE97-8F59-32CB-86DB-F54BBC5B1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12E94-F18F-B427-F526-A9FEB2EC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10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D3CCC-2186-BB1B-8947-2D62D766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07A37-2815-31D0-6DEA-117FCAF7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D1DFA-8EED-09F0-E865-F87BA6CB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9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3DBA-5C3F-C000-5A16-8F95A4BF0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09DA6-D853-C62B-B716-8ED5A81FD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68587-9B83-39D6-3D58-F2E80FAD9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F160B-EFEF-FF49-7DC0-054714E8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4CABE-9E7E-A0A3-6829-36DA4755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7A380-A621-FEE4-4931-E0C54658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4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1929-4CB6-9F1E-EF1C-8ABCA981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BD3F39-BDA5-16E3-A16E-81344570E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B0F1D3-2640-8099-BC32-83FE6B528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FE80-249A-33E5-13D9-389F7DB7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DC424-2369-E58B-BB0F-E57BC157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62C20-840D-3019-BD7C-C83EC6A7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AE770-957D-701A-642C-629F242A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1B69C-4886-A382-9DE3-6C2522355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5F29C-1B52-DFE2-3016-C20CE7B7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4BAFE-543D-EFE4-064E-19657BFA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2BA47-AB99-0B1F-ED62-833A5EED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3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2426C-7653-3F8E-1E65-37B4FD5FF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166A5-576F-3BB3-0CB6-C36DFAA58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3E69E-80B2-722F-B33C-C0C42136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EB04B-B98D-B8A9-3FA7-E41A1ECC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DA651-B5A2-9F65-90FF-03268277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83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103BA1-E893-C009-C305-1BAF2035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F0B26-33CC-ABAE-4E38-1C67604E0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14C3-0016-D459-C7EA-ABC5C7860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BA668-D979-EA15-00C4-4C6E1A915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64088-9964-53F5-9C10-B6C72B535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5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33C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C48BA3C7-823E-9780-2B98-2E72A56FA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902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AA833-BA70-F313-BB9A-AE6A4BDA6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331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85DCC-7053-BF30-C88B-43F9AD1AF683}"/>
              </a:ext>
            </a:extLst>
          </p:cNvPr>
          <p:cNvSpPr txBox="1"/>
          <p:nvPr/>
        </p:nvSpPr>
        <p:spPr>
          <a:xfrm>
            <a:off x="2065687" y="315555"/>
            <a:ext cx="81020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D0361E3C-A4D8-DA35-5F2A-4457CF9F1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189" y="5203011"/>
            <a:ext cx="4972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sz="2400" b="1" dirty="0">
                <a:latin typeface="Verdana"/>
                <a:cs typeface="Verdana"/>
              </a:rPr>
              <a:t>Prof. Ahmed Youssef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9966157-FE14-8C22-1DE4-181DB889A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331" y="4655826"/>
            <a:ext cx="437376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350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5835B742-3E69-1975-1279-80D115CE3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54" y="2817244"/>
            <a:ext cx="7693292" cy="154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50" b="1" dirty="0">
                <a:latin typeface="Verdana"/>
                <a:cs typeface="Verdana"/>
              </a:rPr>
              <a:t>ENG 151</a:t>
            </a:r>
          </a:p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Verdana"/>
                <a:cs typeface="Verdana"/>
              </a:rPr>
              <a:t>Computer Programming I</a:t>
            </a:r>
            <a:endParaRPr lang="en-US" sz="36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1026" name="Picture 2" descr="C++ Explained: Everything You Need to Know - History-Computer">
            <a:extLst>
              <a:ext uri="{FF2B5EF4-FFF2-40B4-BE49-F238E27FC236}">
                <a16:creationId xmlns:a16="http://schemas.microsoft.com/office/drawing/2014/main" id="{F97A68F0-469C-2BB3-9BDC-C5466AC43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137" y="5111184"/>
            <a:ext cx="2131090" cy="127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++ Programming, Lecture# 1 - YouTube">
            <a:extLst>
              <a:ext uri="{FF2B5EF4-FFF2-40B4-BE49-F238E27FC236}">
                <a16:creationId xmlns:a16="http://schemas.microsoft.com/office/drawing/2014/main" id="{D678A2E5-0642-CCEE-6852-5A8BFACDD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73" y="4985573"/>
            <a:ext cx="2164080" cy="127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FCD84C4-FB0F-89AB-BFC0-E872F9C10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96" y="163838"/>
            <a:ext cx="1440000" cy="153918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5F8D5C6-3169-1438-CEF6-67C05C4AEF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167704" y="168947"/>
            <a:ext cx="1440000" cy="14425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715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99D2-B51C-6E31-166E-99C8AA4F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33939AF9-9ED2-9C8C-64F6-0162DE7CF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902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3941C-1C99-028F-E8AA-6F54418C9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331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4693CD-665B-FC47-7B6E-1664A3F07B9F}"/>
              </a:ext>
            </a:extLst>
          </p:cNvPr>
          <p:cNvSpPr txBox="1"/>
          <p:nvPr/>
        </p:nvSpPr>
        <p:spPr>
          <a:xfrm>
            <a:off x="2065687" y="315555"/>
            <a:ext cx="81020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08EA510-056F-099D-0803-18656BA6A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331" y="4655826"/>
            <a:ext cx="437376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350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E6ECADC8-755D-C93C-9E6E-2FB1412BC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54" y="2241263"/>
            <a:ext cx="7693292" cy="154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50" b="1" dirty="0">
                <a:latin typeface="Verdana"/>
                <a:cs typeface="Verdana"/>
              </a:rPr>
              <a:t>ENG 151</a:t>
            </a:r>
          </a:p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Verdana"/>
                <a:cs typeface="Verdana"/>
              </a:rPr>
              <a:t>Computer Programming I</a:t>
            </a:r>
            <a:endParaRPr lang="en-US" sz="36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2E1F3D0-D9AF-953E-FFAE-C7F79857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96" y="163838"/>
            <a:ext cx="1440000" cy="153918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7EC8350D-0473-7F37-F838-F581E97A40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167704" y="168947"/>
            <a:ext cx="1440000" cy="1442510"/>
          </a:xfrm>
          <a:prstGeom prst="rect">
            <a:avLst/>
          </a:prstGeom>
          <a:noFill/>
        </p:spPr>
      </p:pic>
      <p:sp>
        <p:nvSpPr>
          <p:cNvPr id="5" name="Text Box 8">
            <a:extLst>
              <a:ext uri="{FF2B5EF4-FFF2-40B4-BE49-F238E27FC236}">
                <a16:creationId xmlns:a16="http://schemas.microsoft.com/office/drawing/2014/main" id="{6D8E507D-BCCC-99D2-9454-5C1BB6AFB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4328553"/>
            <a:ext cx="681989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 b="1" dirty="0"/>
              <a:t>Structure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22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DEA9-D75E-6425-3442-4D49D53B2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C664D-7A4C-4512-0266-0100538A7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5776" cy="4351338"/>
          </a:xfrm>
        </p:spPr>
        <p:txBody>
          <a:bodyPr>
            <a:normAutofit/>
          </a:bodyPr>
          <a:lstStyle/>
          <a:p>
            <a:pPr marL="12700" indent="0" algn="just">
              <a:lnSpc>
                <a:spcPct val="100000"/>
              </a:lnSpc>
              <a:spcBef>
                <a:spcPts val="100"/>
              </a:spcBef>
              <a:buNone/>
              <a:tabLst>
                <a:tab pos="354965" algn="l"/>
                <a:tab pos="355600" algn="l"/>
              </a:tabLst>
            </a:pPr>
            <a:r>
              <a:rPr lang="en-US" sz="3200" spc="60" dirty="0">
                <a:solidFill>
                  <a:srgbClr val="1F487C"/>
                </a:solidFill>
              </a:rPr>
              <a:t>Structure is a collection of variables of different data types under a single name.</a:t>
            </a:r>
            <a:endParaRPr lang="en-US" sz="3200" dirty="0">
              <a:latin typeface="Trebuchet MS"/>
              <a:cs typeface="Trebuchet MS"/>
            </a:endParaRPr>
          </a:p>
          <a:p>
            <a:pPr lvl="2" algn="just"/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B48DA5-D8AA-B8B3-7457-387A60EC4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989" y="3294778"/>
            <a:ext cx="3052276" cy="20952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D3A2FF-45A5-9BD9-B87D-A813B14C1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108" y="3217506"/>
            <a:ext cx="4865692" cy="196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2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51D6FA-9D8B-F444-0A2C-3C164EA8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144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0ED206-B97C-A8E2-29B3-1CE12EE65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04495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#include &lt;string&gt;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 ) {</a:t>
            </a:r>
          </a:p>
          <a:p>
            <a:pPr marL="0" indent="0">
              <a:buNone/>
            </a:pPr>
            <a:r>
              <a:rPr lang="en-US" dirty="0"/>
              <a:t>  struct {</a:t>
            </a:r>
          </a:p>
          <a:p>
            <a:pPr marL="0" indent="0">
              <a:buNone/>
            </a:pPr>
            <a:r>
              <a:rPr lang="en-US" dirty="0"/>
              <a:t>    string name;</a:t>
            </a:r>
          </a:p>
          <a:p>
            <a:pPr marL="0" indent="0">
              <a:buNone/>
            </a:pPr>
            <a:r>
              <a:rPr lang="en-US" dirty="0"/>
              <a:t>    int ID;</a:t>
            </a:r>
          </a:p>
          <a:p>
            <a:pPr marL="0" indent="0">
              <a:buNone/>
            </a:pPr>
            <a:r>
              <a:rPr lang="en-US" dirty="0"/>
              <a:t>    float GPA;</a:t>
            </a:r>
          </a:p>
          <a:p>
            <a:pPr marL="0" indent="0">
              <a:buNone/>
            </a:pPr>
            <a:r>
              <a:rPr lang="en-US" dirty="0"/>
              <a:t>  } student1,student2;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2AE740-C35A-3EB9-6CB8-0622387A7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4648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33CC"/>
                </a:solidFill>
              </a:rPr>
              <a:t>// Put data into the first structure</a:t>
            </a:r>
          </a:p>
          <a:p>
            <a:pPr marL="0" indent="0">
              <a:buNone/>
            </a:pPr>
            <a:r>
              <a:rPr lang="en-US" dirty="0"/>
              <a:t>  student1.name = "Ayman";</a:t>
            </a:r>
          </a:p>
          <a:p>
            <a:pPr marL="0" indent="0">
              <a:buNone/>
            </a:pPr>
            <a:r>
              <a:rPr lang="en-US" dirty="0"/>
              <a:t>  student1.ID = 20240014;</a:t>
            </a:r>
          </a:p>
          <a:p>
            <a:pPr marL="0" indent="0">
              <a:buNone/>
            </a:pPr>
            <a:r>
              <a:rPr lang="en-US" dirty="0"/>
              <a:t>  student1.GPA = 3.2;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sz="2600" b="1" dirty="0">
                <a:solidFill>
                  <a:srgbClr val="0033CC"/>
                </a:solidFill>
              </a:rPr>
              <a:t>// Put data into the second structure</a:t>
            </a:r>
          </a:p>
          <a:p>
            <a:pPr marL="0" indent="0">
              <a:buNone/>
            </a:pPr>
            <a:r>
              <a:rPr lang="en-US" dirty="0"/>
              <a:t>  student2.name = "Amal";</a:t>
            </a:r>
          </a:p>
          <a:p>
            <a:pPr marL="0" indent="0">
              <a:buNone/>
            </a:pPr>
            <a:r>
              <a:rPr lang="en-US" dirty="0"/>
              <a:t>  student2.ID = 20240020;</a:t>
            </a:r>
          </a:p>
          <a:p>
            <a:pPr marL="0" indent="0">
              <a:buNone/>
            </a:pPr>
            <a:r>
              <a:rPr lang="en-US" dirty="0"/>
              <a:t>  student2.GPA = 3.8;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46FB59-6836-60A6-423B-8A00C9EFEA16}"/>
              </a:ext>
            </a:extLst>
          </p:cNvPr>
          <p:cNvSpPr txBox="1"/>
          <p:nvPr/>
        </p:nvSpPr>
        <p:spPr>
          <a:xfrm>
            <a:off x="950167" y="5075840"/>
            <a:ext cx="106571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Print the structure members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&lt;&lt;student1.name&lt;&lt;" "&lt;&lt; student1.ID &lt;&lt;" "&lt;&lt; student1.GPA &lt;&lt;"\n";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&lt;&lt;student2.name&lt;&lt;" "&lt;&lt; student2.ID &lt;&lt;" "&lt;&lt; student2.GPA &lt;&lt;"\n";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4291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940C7A-9F40-710C-B735-1EC03AD6C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365125"/>
            <a:ext cx="8839200" cy="610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58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C02404C-BBF0-7FDA-BE70-7F832036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Structure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E907A5-ABA4-DDAB-C92A-E7133C66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i="0" dirty="0">
                <a:solidFill>
                  <a:srgbClr val="0033CC"/>
                </a:solidFill>
                <a:effectLst/>
                <a:latin typeface="Google Sans"/>
              </a:rPr>
              <a:t>1. Defining the Structure: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D0BC9-9582-2BBE-BDDE-E8A26E1ECC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latin typeface="Google Sans Mono"/>
              </a:rPr>
              <a:t>struct </a:t>
            </a:r>
            <a:r>
              <a:rPr lang="en-US" b="1" i="0" dirty="0">
                <a:solidFill>
                  <a:srgbClr val="FF0000"/>
                </a:solidFill>
                <a:effectLst/>
                <a:latin typeface="Google Sans Mono"/>
              </a:rPr>
              <a:t>student</a:t>
            </a:r>
            <a:r>
              <a:rPr lang="en-US" b="0" i="0" dirty="0">
                <a:effectLst/>
                <a:latin typeface="Google Sans Mono"/>
              </a:rPr>
              <a:t> {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Google Sans Mono"/>
              </a:rPr>
              <a:t>  int id;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Google Sans Mono"/>
              </a:rPr>
              <a:t>  string name;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Google Sans Mono"/>
              </a:rPr>
              <a:t>  double </a:t>
            </a:r>
            <a:r>
              <a:rPr lang="en-US" b="0" i="0" dirty="0" err="1">
                <a:effectLst/>
                <a:latin typeface="Google Sans Mono"/>
              </a:rPr>
              <a:t>gpa</a:t>
            </a:r>
            <a:r>
              <a:rPr lang="en-US" b="0" i="0" dirty="0">
                <a:effectLst/>
                <a:latin typeface="Google Sans Mono"/>
              </a:rPr>
              <a:t>;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Google Sans Mono"/>
              </a:rPr>
              <a:t>};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2BC3B5-C4DE-2328-8B13-51FC95CB98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l"/>
            <a:r>
              <a:rPr lang="en-US" i="0" dirty="0">
                <a:solidFill>
                  <a:srgbClr val="0033CC"/>
                </a:solidFill>
                <a:effectLst/>
                <a:latin typeface="Google Sans"/>
              </a:rPr>
              <a:t>2. Declaring an Array of Structures: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9288FD5-5317-E87D-3C86-7755D7B9F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8327" y="2505075"/>
            <a:ext cx="5617061" cy="3684588"/>
          </a:xfrm>
        </p:spPr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Google Sans Mono"/>
              </a:rPr>
              <a:t>student</a:t>
            </a:r>
            <a:r>
              <a:rPr lang="en-US" dirty="0"/>
              <a:t> students[</a:t>
            </a:r>
            <a:r>
              <a:rPr lang="en-US" dirty="0">
                <a:effectLst/>
              </a:rPr>
              <a:t>10</a:t>
            </a:r>
            <a:r>
              <a:rPr lang="en-US" dirty="0"/>
              <a:t>]; 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// An array of 10 Student structures</a:t>
            </a:r>
            <a:r>
              <a:rPr lang="en-US" dirty="0"/>
              <a:t> </a:t>
            </a:r>
            <a:br>
              <a:rPr lang="en-US" b="0" i="0" dirty="0">
                <a:effectLst/>
                <a:latin typeface="Google Sans"/>
              </a:rPr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41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C02404C-BBF0-7FDA-BE70-7F832036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Structure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E907A5-ABA4-DDAB-C92A-E7133C66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  <a:latin typeface="Google Sans"/>
              </a:rPr>
              <a:t>3.Initialize of an array of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D0BC9-9582-2BBE-BDDE-E8A26E1ECC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effectLst/>
              </a:rPr>
              <a:t>struct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Google Sans Mono"/>
              </a:rPr>
              <a:t>student</a:t>
            </a:r>
            <a:r>
              <a:rPr lang="en-US" sz="2400" b="0" i="0" dirty="0">
                <a:effectLst/>
              </a:rPr>
              <a:t> students[3] = { </a:t>
            </a:r>
          </a:p>
          <a:p>
            <a:pPr marL="0" indent="0">
              <a:buNone/>
            </a:pPr>
            <a:r>
              <a:rPr lang="en-US" sz="2400" dirty="0"/>
              <a:t>     </a:t>
            </a:r>
            <a:r>
              <a:rPr lang="en-US" sz="2400" b="0" i="0" dirty="0">
                <a:effectLst/>
              </a:rPr>
              <a:t>{ 1, "Ahmed", 3.1 },	  </a:t>
            </a:r>
          </a:p>
          <a:p>
            <a:pPr marL="0" indent="0">
              <a:buNone/>
            </a:pPr>
            <a:r>
              <a:rPr lang="en-US" sz="2400" b="0" i="0" dirty="0">
                <a:effectLst/>
              </a:rPr>
              <a:t>     { 2, "Akram", 3.9 },</a:t>
            </a:r>
          </a:p>
          <a:p>
            <a:pPr marL="0" indent="0">
              <a:buNone/>
            </a:pPr>
            <a:r>
              <a:rPr lang="en-US" sz="2400" b="0" i="0" dirty="0">
                <a:effectLst/>
              </a:rPr>
              <a:t>     { 3, "</a:t>
            </a:r>
            <a:r>
              <a:rPr lang="en-US" sz="2400" b="0" i="0" dirty="0" err="1">
                <a:effectLst/>
              </a:rPr>
              <a:t>Zeyad</a:t>
            </a:r>
            <a:r>
              <a:rPr lang="en-US" sz="2400" b="0" i="0" dirty="0">
                <a:effectLst/>
              </a:rPr>
              <a:t>", 3.8 } </a:t>
            </a:r>
          </a:p>
          <a:p>
            <a:pPr marL="0" indent="0">
              <a:buNone/>
            </a:pPr>
            <a:r>
              <a:rPr lang="en-US" sz="2400" b="0" i="0" dirty="0">
                <a:effectLst/>
              </a:rPr>
              <a:t>  };</a:t>
            </a:r>
            <a:endParaRPr lang="en-US" sz="2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2BC3B5-C4DE-2328-8B13-51FC95CB98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0033CC"/>
                </a:solidFill>
                <a:latin typeface="Google Sans"/>
              </a:rPr>
              <a:t>4. Display information of students</a:t>
            </a:r>
            <a:endParaRPr lang="en-US" i="0" dirty="0">
              <a:solidFill>
                <a:srgbClr val="0033CC"/>
              </a:solidFill>
              <a:effectLst/>
              <a:latin typeface="Google San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9288FD5-5317-E87D-3C86-7755D7B9F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8327" y="2505075"/>
            <a:ext cx="5617061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for (int </a:t>
            </a:r>
            <a:r>
              <a:rPr lang="en-US" sz="2400" dirty="0" err="1"/>
              <a:t>i</a:t>
            </a:r>
            <a:r>
              <a:rPr lang="en-US" sz="2400" dirty="0"/>
              <a:t> = 0; </a:t>
            </a:r>
            <a:r>
              <a:rPr lang="en-US" sz="2400" dirty="0" err="1"/>
              <a:t>i</a:t>
            </a:r>
            <a:r>
              <a:rPr lang="en-US" sz="2400" dirty="0"/>
              <a:t> &lt; 3; </a:t>
            </a:r>
            <a:r>
              <a:rPr lang="en-US" sz="2400" dirty="0" err="1"/>
              <a:t>i</a:t>
            </a:r>
            <a:r>
              <a:rPr lang="en-US" sz="2400" dirty="0"/>
              <a:t>++) {</a:t>
            </a:r>
          </a:p>
          <a:p>
            <a:pPr marL="0" indent="0">
              <a:buNone/>
            </a:pPr>
            <a:r>
              <a:rPr lang="en-US" sz="2400" dirty="0" err="1"/>
              <a:t>cout</a:t>
            </a:r>
            <a:r>
              <a:rPr lang="en-US" sz="2400" dirty="0"/>
              <a:t>&lt;&lt;"ID number:"&lt;&lt;students[</a:t>
            </a:r>
            <a:r>
              <a:rPr lang="en-US" sz="2400" dirty="0" err="1"/>
              <a:t>i</a:t>
            </a:r>
            <a:r>
              <a:rPr lang="en-US" sz="2400" dirty="0"/>
              <a:t>].id&lt;&lt;</a:t>
            </a:r>
            <a:r>
              <a:rPr lang="en-US" sz="2400" dirty="0" err="1"/>
              <a:t>endl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 err="1"/>
              <a:t>cout</a:t>
            </a:r>
            <a:r>
              <a:rPr lang="en-US" sz="2400" dirty="0"/>
              <a:t>&lt;&lt; "Name:" &lt;&lt;students[</a:t>
            </a:r>
            <a:r>
              <a:rPr lang="en-US" sz="2400" dirty="0" err="1"/>
              <a:t>i</a:t>
            </a:r>
            <a:r>
              <a:rPr lang="en-US" sz="2400" dirty="0"/>
              <a:t>].name&lt;&lt;</a:t>
            </a:r>
            <a:r>
              <a:rPr lang="en-US" sz="2400" dirty="0" err="1"/>
              <a:t>endl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 err="1"/>
              <a:t>cout</a:t>
            </a:r>
            <a:r>
              <a:rPr lang="en-US" sz="2400" dirty="0"/>
              <a:t>&lt;&lt;"GPA   :"&lt;&lt;students[</a:t>
            </a:r>
            <a:r>
              <a:rPr lang="en-US" sz="2400" dirty="0" err="1"/>
              <a:t>i</a:t>
            </a:r>
            <a:r>
              <a:rPr lang="en-US" sz="2400" dirty="0"/>
              <a:t>].</a:t>
            </a:r>
            <a:r>
              <a:rPr lang="en-US" sz="2400" dirty="0" err="1"/>
              <a:t>gpa</a:t>
            </a:r>
            <a:r>
              <a:rPr lang="en-US" sz="2400" dirty="0"/>
              <a:t>&lt;&lt;</a:t>
            </a:r>
            <a:r>
              <a:rPr lang="en-US" sz="2400" dirty="0" err="1"/>
              <a:t>endl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}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122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54807F-47B1-3490-C0C1-C762E2CC2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419099"/>
            <a:ext cx="9810750" cy="605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320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5E2116-DDF3-38D0-14B2-2F9ECF7B5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85" y="428624"/>
            <a:ext cx="9395925" cy="600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30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BF53-4A9B-43EC-A7C8-3E24EAE51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745F9-A858-D231-1802-FB7F419DC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525"/>
            <a:ext cx="10515600" cy="46434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Write a C++ program to calculate the GPA for multiple students, where all students are enrolled in the same set of courses.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Define a structure to represent a student (e.g., name, ID, and grades).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Define a structure to represent a course (e.g., course name and credit hours).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Accept input for each student’s information.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Accept input for each student’s grades in the common courses.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Calculate each student’s GPA based on their grades and the credit hours of the courses.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Display each student’s name, ID, and GPA.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430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B2AD3-DFC7-579E-6C1E-895E1D24D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E7E9217-951E-D6CC-A39C-ECE4621ECA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0818555"/>
              </p:ext>
            </p:extLst>
          </p:nvPr>
        </p:nvGraphicFramePr>
        <p:xfrm>
          <a:off x="2314574" y="3255674"/>
          <a:ext cx="7505700" cy="2560320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3752850">
                  <a:extLst>
                    <a:ext uri="{9D8B030D-6E8A-4147-A177-3AD203B41FA5}">
                      <a16:colId xmlns:a16="http://schemas.microsoft.com/office/drawing/2014/main" val="4094945242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350816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 dirty="0">
                          <a:effectLst/>
                        </a:rPr>
                        <a:t>Grade</a:t>
                      </a:r>
                      <a:endParaRPr lang="en-US" sz="2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>
                          <a:effectLst/>
                        </a:rPr>
                        <a:t>Grade Point</a:t>
                      </a:r>
                      <a:endParaRPr lang="en-US" sz="24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05880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 dirty="0">
                          <a:effectLst/>
                        </a:rPr>
                        <a:t>90–100</a:t>
                      </a:r>
                      <a:endParaRPr lang="en-US" sz="2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>
                          <a:effectLst/>
                        </a:rPr>
                        <a:t>4.0</a:t>
                      </a:r>
                      <a:endParaRPr lang="en-US" sz="24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5474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 dirty="0">
                          <a:effectLst/>
                        </a:rPr>
                        <a:t>80–89</a:t>
                      </a:r>
                      <a:endParaRPr lang="en-US" sz="2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>
                          <a:effectLst/>
                        </a:rPr>
                        <a:t>3.3</a:t>
                      </a:r>
                      <a:endParaRPr lang="en-US" sz="24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379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>
                          <a:effectLst/>
                        </a:rPr>
                        <a:t>70–79</a:t>
                      </a:r>
                      <a:endParaRPr lang="en-US" sz="24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 dirty="0">
                          <a:effectLst/>
                        </a:rPr>
                        <a:t>2.3</a:t>
                      </a:r>
                      <a:endParaRPr lang="en-US" sz="2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64505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>
                          <a:effectLst/>
                        </a:rPr>
                        <a:t>60–69</a:t>
                      </a:r>
                      <a:endParaRPr lang="en-US" sz="2400" b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 dirty="0">
                          <a:effectLst/>
                        </a:rPr>
                        <a:t>1.7</a:t>
                      </a:r>
                      <a:endParaRPr lang="en-US" sz="2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3565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 dirty="0">
                          <a:effectLst/>
                        </a:rPr>
                        <a:t>Below 60</a:t>
                      </a:r>
                      <a:endParaRPr lang="en-US" sz="2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800" b="0" dirty="0">
                          <a:effectLst/>
                        </a:rPr>
                        <a:t>0.0</a:t>
                      </a:r>
                      <a:endParaRPr lang="en-US" sz="2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51893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27E5E4-6B55-D9D9-7420-CCF12EC7D0E8}"/>
                  </a:ext>
                </a:extLst>
              </p:cNvPr>
              <p:cNvSpPr txBox="1"/>
              <p:nvPr/>
            </p:nvSpPr>
            <p:spPr>
              <a:xfrm>
                <a:off x="2314574" y="2038350"/>
                <a:ext cx="6981825" cy="869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𝐺𝑃𝐴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𝐺𝑟𝑎𝑑𝑒</m:t>
                                  </m:r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𝑃𝑜𝑖𝑛𝑡</m:t>
                                  </m:r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𝐶𝑟𝑒𝑑𝑖𝑡</m:t>
                                  </m:r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𝐻𝑜𝑢𝑟𝑠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𝐶𝑟𝑒𝑑𝑖𝑡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𝐻𝑜𝑢𝑟𝑠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27E5E4-6B55-D9D9-7420-CCF12EC7D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574" y="2038350"/>
                <a:ext cx="6981825" cy="8696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96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E358D-2BEE-FE08-048A-FDFAE210F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3850"/>
            <a:ext cx="10515600" cy="61055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numCourses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Struct to store course info (common for all)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Course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courseName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creditHours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Struct to store student info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numCourses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24389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02D4F-9203-8643-8BA5-7B6A28A7A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700"/>
            <a:ext cx="10515600" cy="59102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to calculate GPA for a student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calculateGPA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 s, Course courses[])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totalPoints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totalCredits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numCourses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s.grades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s.grades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s.grades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s.grades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                  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totalPoints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courses[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creditHours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totalCredits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courses[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creditHours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totalCredits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totalPoints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totalCredits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9208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7D07C-9129-BDC4-E171-61A74EFD6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3900"/>
            <a:ext cx="10515600" cy="5453063"/>
          </a:xfrm>
        </p:spPr>
        <p:txBody>
          <a:bodyPr/>
          <a:lstStyle/>
          <a:p>
            <a:pPr marL="0" indent="0">
              <a:lnSpc>
                <a:spcPts val="20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ts val="20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Define common courses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Course courses[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numCourses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</a:p>
          <a:p>
            <a:pPr marL="0" indent="0"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"Math"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"Physics"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"Computer Programming"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 marL="0" indent="0"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numStudents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0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Student students[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numStudents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ts val="20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649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5CFFD-416B-BF4A-1741-865A2EC5D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1975"/>
            <a:ext cx="10515600" cy="5614988"/>
          </a:xfrm>
        </p:spPr>
        <p:txBody>
          <a:bodyPr>
            <a:normAutofit/>
          </a:bodyPr>
          <a:lstStyle/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// Input student data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numStudents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name of student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students[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].name);</a:t>
            </a: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ID of student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students[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].id;</a:t>
            </a: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j 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numCourses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grade for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courses[j].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courseName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students[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].grades[j];</a:t>
            </a: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cin.ignore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Clear input buffer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025"/>
              </a:lnSpc>
              <a:spcBef>
                <a:spcPts val="3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6028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C854-8927-CE7E-60CF-5AC3209BC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81050"/>
            <a:ext cx="10744200" cy="5395913"/>
          </a:xfrm>
        </p:spPr>
        <p:txBody>
          <a:bodyPr>
            <a:normAutofit/>
          </a:bodyPr>
          <a:lstStyle/>
          <a:p>
            <a:pPr marL="0" indent="0">
              <a:lnSpc>
                <a:spcPts val="2025"/>
              </a:lnSpc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Display GPA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0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numStudents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 marL="0" indent="0">
              <a:lnSpc>
                <a:spcPts val="20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"Student: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students[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].name &lt;&lt;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0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"GPA: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calculateGPA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(students[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courses) &lt;&lt;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0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"------------------------"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0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ts val="20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0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63804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575ED-D06E-34FA-2589-CF9C249B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B6A2F-4099-A057-E2A9-A784F43BF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kern="100" dirty="0">
                <a:effectLst/>
                <a:ea typeface="Aptos" panose="020B0004020202020204" pitchFamily="34" charset="0"/>
              </a:rPr>
              <a:t>Define a structure named Employee with the following members: name (string), age (int), and salary (float).</a:t>
            </a:r>
          </a:p>
          <a:p>
            <a:pPr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en-US" sz="2400" kern="100" dirty="0">
                <a:effectLst/>
                <a:ea typeface="Aptos" panose="020B0004020202020204" pitchFamily="34" charset="0"/>
              </a:rPr>
              <a:t>Write a program that asks the user to input the details of an employee (name, age, and salary).</a:t>
            </a:r>
          </a:p>
          <a:p>
            <a:pPr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en-US" sz="2400" kern="100" dirty="0">
                <a:effectLst/>
                <a:ea typeface="Aptos" panose="020B0004020202020204" pitchFamily="34" charset="0"/>
              </a:rPr>
              <a:t>Create an array of Employee structures to store the details of 3 employees.</a:t>
            </a:r>
          </a:p>
          <a:p>
            <a:pPr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en-US" sz="2400" kern="100" dirty="0">
                <a:effectLst/>
                <a:ea typeface="Aptos" panose="020B0004020202020204" pitchFamily="34" charset="0"/>
              </a:rPr>
              <a:t>Write a loop to input the details of each employee.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kern="100" dirty="0">
                <a:effectLst/>
                <a:ea typeface="Aptos" panose="020B0004020202020204" pitchFamily="34" charset="0"/>
              </a:rPr>
              <a:t>Use another loop to display the details of all employees.</a:t>
            </a:r>
          </a:p>
        </p:txBody>
      </p:sp>
    </p:spTree>
    <p:extLst>
      <p:ext uri="{BB962C8B-B14F-4D97-AF65-F5344CB8AC3E}">
        <p14:creationId xmlns:p14="http://schemas.microsoft.com/office/powerpoint/2010/main" val="1692681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13880</TotalTime>
  <Words>2116</Words>
  <Application>Microsoft Office PowerPoint</Application>
  <PresentationFormat>Widescreen</PresentationFormat>
  <Paragraphs>309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Cambria Math</vt:lpstr>
      <vt:lpstr>Consolas</vt:lpstr>
      <vt:lpstr>Google Sans</vt:lpstr>
      <vt:lpstr>Google Sans Mono</vt:lpstr>
      <vt:lpstr>Times New Roman</vt:lpstr>
      <vt:lpstr>Trebuchet MS</vt:lpstr>
      <vt:lpstr>Verdana</vt:lpstr>
      <vt:lpstr>Office Theme</vt:lpstr>
      <vt:lpstr>PowerPoint Presentation</vt:lpstr>
      <vt:lpstr>PowerPoint Presentation</vt:lpstr>
      <vt:lpstr>Structure</vt:lpstr>
      <vt:lpstr>Example</vt:lpstr>
      <vt:lpstr>PowerPoint Presentation</vt:lpstr>
      <vt:lpstr>Array of Structure</vt:lpstr>
      <vt:lpstr>Array of Structure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a.y.m.khedr@outlook.com</dc:creator>
  <cp:lastModifiedBy>Ahmed khedr</cp:lastModifiedBy>
  <cp:revision>120</cp:revision>
  <dcterms:created xsi:type="dcterms:W3CDTF">2023-10-27T05:29:14Z</dcterms:created>
  <dcterms:modified xsi:type="dcterms:W3CDTF">2025-11-21T14:34:44Z</dcterms:modified>
</cp:coreProperties>
</file>