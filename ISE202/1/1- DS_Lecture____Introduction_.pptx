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1"/>
  </p:notesMasterIdLst>
  <p:sldIdLst>
    <p:sldId id="256" r:id="rId2"/>
    <p:sldId id="258" r:id="rId3"/>
    <p:sldId id="309" r:id="rId4"/>
    <p:sldId id="310" r:id="rId5"/>
    <p:sldId id="311" r:id="rId6"/>
    <p:sldId id="304" r:id="rId7"/>
    <p:sldId id="356" r:id="rId8"/>
    <p:sldId id="278" r:id="rId9"/>
    <p:sldId id="262" r:id="rId10"/>
    <p:sldId id="357" r:id="rId11"/>
    <p:sldId id="359" r:id="rId12"/>
    <p:sldId id="358" r:id="rId13"/>
    <p:sldId id="360" r:id="rId14"/>
    <p:sldId id="361" r:id="rId15"/>
    <p:sldId id="348" r:id="rId16"/>
    <p:sldId id="349" r:id="rId17"/>
    <p:sldId id="315" r:id="rId18"/>
    <p:sldId id="318" r:id="rId19"/>
    <p:sldId id="362" r:id="rId20"/>
    <p:sldId id="339" r:id="rId21"/>
    <p:sldId id="340" r:id="rId22"/>
    <p:sldId id="341" r:id="rId23"/>
    <p:sldId id="342" r:id="rId24"/>
    <p:sldId id="343" r:id="rId25"/>
    <p:sldId id="344" r:id="rId26"/>
    <p:sldId id="345" r:id="rId27"/>
    <p:sldId id="346" r:id="rId28"/>
    <p:sldId id="347" r:id="rId29"/>
    <p:sldId id="363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DC2746-0C17-4968-BA3F-C22A99B1CA4F}" type="doc">
      <dgm:prSet loTypeId="urn:microsoft.com/office/officeart/2005/8/layout/gear1" loCatId="relationship" qsTypeId="urn:microsoft.com/office/officeart/2005/8/quickstyle/simple1" qsCatId="simple" csTypeId="urn:microsoft.com/office/officeart/2005/8/colors/accent1_2" csCatId="accent1" phldr="1"/>
      <dgm:spPr/>
    </dgm:pt>
    <dgm:pt modelId="{42E4112C-BF4E-4787-9768-51F7B5CF25E3}">
      <dgm:prSet phldrT="[Text]"/>
      <dgm:spPr/>
      <dgm:t>
        <a:bodyPr/>
        <a:lstStyle/>
        <a:p>
          <a:r>
            <a:rPr lang="en-US" dirty="0" smtClean="0"/>
            <a:t>Store Data</a:t>
          </a:r>
          <a:endParaRPr lang="en-US" dirty="0"/>
        </a:p>
      </dgm:t>
    </dgm:pt>
    <dgm:pt modelId="{AD4C5D5C-9672-438D-8912-E11B921A598F}" type="parTrans" cxnId="{D3980299-C118-458F-B6C7-C26F29EFF589}">
      <dgm:prSet/>
      <dgm:spPr/>
      <dgm:t>
        <a:bodyPr/>
        <a:lstStyle/>
        <a:p>
          <a:endParaRPr lang="en-US"/>
        </a:p>
      </dgm:t>
    </dgm:pt>
    <dgm:pt modelId="{CC34465F-785C-46F3-BA8C-201FA352BA9F}" type="sibTrans" cxnId="{D3980299-C118-458F-B6C7-C26F29EFF589}">
      <dgm:prSet/>
      <dgm:spPr/>
      <dgm:t>
        <a:bodyPr/>
        <a:lstStyle/>
        <a:p>
          <a:endParaRPr lang="en-US"/>
        </a:p>
      </dgm:t>
    </dgm:pt>
    <dgm:pt modelId="{280C9190-0859-433D-A843-D9B9AB7642FB}">
      <dgm:prSet phldrT="[Text]"/>
      <dgm:spPr/>
      <dgm:t>
        <a:bodyPr/>
        <a:lstStyle/>
        <a:p>
          <a:r>
            <a:rPr lang="en-US" dirty="0" smtClean="0"/>
            <a:t>Sort Data</a:t>
          </a:r>
          <a:endParaRPr lang="en-US" dirty="0"/>
        </a:p>
      </dgm:t>
    </dgm:pt>
    <dgm:pt modelId="{A5E60380-12E3-4F63-AB3E-EC7267A4DE48}" type="parTrans" cxnId="{44AA5360-2553-417A-840D-3AE8BC1690B9}">
      <dgm:prSet/>
      <dgm:spPr/>
      <dgm:t>
        <a:bodyPr/>
        <a:lstStyle/>
        <a:p>
          <a:endParaRPr lang="en-US"/>
        </a:p>
      </dgm:t>
    </dgm:pt>
    <dgm:pt modelId="{84A7D2D4-DF8B-4E26-ACCB-6C66C86CAB73}" type="sibTrans" cxnId="{44AA5360-2553-417A-840D-3AE8BC1690B9}">
      <dgm:prSet/>
      <dgm:spPr/>
      <dgm:t>
        <a:bodyPr/>
        <a:lstStyle/>
        <a:p>
          <a:endParaRPr lang="en-US"/>
        </a:p>
      </dgm:t>
    </dgm:pt>
    <dgm:pt modelId="{919B28B7-B9DB-49A8-BC66-50037AAFAEBC}">
      <dgm:prSet phldrT="[Text]"/>
      <dgm:spPr/>
      <dgm:t>
        <a:bodyPr/>
        <a:lstStyle/>
        <a:p>
          <a:r>
            <a:rPr lang="en-US" dirty="0" smtClean="0"/>
            <a:t>Search</a:t>
          </a:r>
          <a:endParaRPr lang="en-US" dirty="0"/>
        </a:p>
      </dgm:t>
    </dgm:pt>
    <dgm:pt modelId="{F5C64B7B-C03D-4DCE-9A67-6FD773B8EA78}" type="parTrans" cxnId="{0AD28C80-CF97-4449-A672-98677AC11FBD}">
      <dgm:prSet/>
      <dgm:spPr/>
      <dgm:t>
        <a:bodyPr/>
        <a:lstStyle/>
        <a:p>
          <a:endParaRPr lang="en-US"/>
        </a:p>
      </dgm:t>
    </dgm:pt>
    <dgm:pt modelId="{EBF93351-976A-4779-AFC0-9DC92FA1C64A}" type="sibTrans" cxnId="{0AD28C80-CF97-4449-A672-98677AC11FBD}">
      <dgm:prSet/>
      <dgm:spPr/>
      <dgm:t>
        <a:bodyPr/>
        <a:lstStyle/>
        <a:p>
          <a:endParaRPr lang="en-US"/>
        </a:p>
      </dgm:t>
    </dgm:pt>
    <dgm:pt modelId="{718BFAF9-F7F6-4802-BFB7-018CCE623D4A}" type="pres">
      <dgm:prSet presAssocID="{A7DC2746-0C17-4968-BA3F-C22A99B1CA4F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72874EE8-7615-4DC9-8C69-B85501A46BE4}" type="pres">
      <dgm:prSet presAssocID="{42E4112C-BF4E-4787-9768-51F7B5CF25E3}" presName="gear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14C1EAC-7B73-43D8-95BF-7E4CC351C1F9}" type="pres">
      <dgm:prSet presAssocID="{42E4112C-BF4E-4787-9768-51F7B5CF25E3}" presName="gear1srcNode" presStyleLbl="node1" presStyleIdx="0" presStyleCnt="3"/>
      <dgm:spPr/>
      <dgm:t>
        <a:bodyPr/>
        <a:lstStyle/>
        <a:p>
          <a:endParaRPr lang="en-US"/>
        </a:p>
      </dgm:t>
    </dgm:pt>
    <dgm:pt modelId="{E903121F-B6DF-433E-B9E9-63BD77E98326}" type="pres">
      <dgm:prSet presAssocID="{42E4112C-BF4E-4787-9768-51F7B5CF25E3}" presName="gear1dstNode" presStyleLbl="node1" presStyleIdx="0" presStyleCnt="3"/>
      <dgm:spPr/>
      <dgm:t>
        <a:bodyPr/>
        <a:lstStyle/>
        <a:p>
          <a:endParaRPr lang="en-US"/>
        </a:p>
      </dgm:t>
    </dgm:pt>
    <dgm:pt modelId="{B170188D-4CF1-46DA-9710-DE065069AD65}" type="pres">
      <dgm:prSet presAssocID="{280C9190-0859-433D-A843-D9B9AB7642FB}" presName="gear2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6D005E-7F0B-423E-BB03-466E947C738E}" type="pres">
      <dgm:prSet presAssocID="{280C9190-0859-433D-A843-D9B9AB7642FB}" presName="gear2srcNode" presStyleLbl="node1" presStyleIdx="1" presStyleCnt="3"/>
      <dgm:spPr/>
      <dgm:t>
        <a:bodyPr/>
        <a:lstStyle/>
        <a:p>
          <a:endParaRPr lang="en-US"/>
        </a:p>
      </dgm:t>
    </dgm:pt>
    <dgm:pt modelId="{AEE272F1-F987-41F6-8492-E0689A1FBB3E}" type="pres">
      <dgm:prSet presAssocID="{280C9190-0859-433D-A843-D9B9AB7642FB}" presName="gear2dstNode" presStyleLbl="node1" presStyleIdx="1" presStyleCnt="3"/>
      <dgm:spPr/>
      <dgm:t>
        <a:bodyPr/>
        <a:lstStyle/>
        <a:p>
          <a:endParaRPr lang="en-US"/>
        </a:p>
      </dgm:t>
    </dgm:pt>
    <dgm:pt modelId="{F808A2EE-49C9-46FF-83D3-FE8824E75364}" type="pres">
      <dgm:prSet presAssocID="{919B28B7-B9DB-49A8-BC66-50037AAFAEBC}" presName="gear3" presStyleLbl="node1" presStyleIdx="2" presStyleCnt="3"/>
      <dgm:spPr/>
      <dgm:t>
        <a:bodyPr/>
        <a:lstStyle/>
        <a:p>
          <a:endParaRPr lang="en-US"/>
        </a:p>
      </dgm:t>
    </dgm:pt>
    <dgm:pt modelId="{7691E16D-61D5-4CC5-87F9-6534AD6082BD}" type="pres">
      <dgm:prSet presAssocID="{919B28B7-B9DB-49A8-BC66-50037AAFAEBC}" presName="gear3tx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4787B41-AF49-4130-9916-2EA21DFA3BF6}" type="pres">
      <dgm:prSet presAssocID="{919B28B7-B9DB-49A8-BC66-50037AAFAEBC}" presName="gear3srcNode" presStyleLbl="node1" presStyleIdx="2" presStyleCnt="3"/>
      <dgm:spPr/>
      <dgm:t>
        <a:bodyPr/>
        <a:lstStyle/>
        <a:p>
          <a:endParaRPr lang="en-US"/>
        </a:p>
      </dgm:t>
    </dgm:pt>
    <dgm:pt modelId="{A7828988-C62C-4EDF-8B89-9376AD70ECDA}" type="pres">
      <dgm:prSet presAssocID="{919B28B7-B9DB-49A8-BC66-50037AAFAEBC}" presName="gear3dstNode" presStyleLbl="node1" presStyleIdx="2" presStyleCnt="3"/>
      <dgm:spPr/>
      <dgm:t>
        <a:bodyPr/>
        <a:lstStyle/>
        <a:p>
          <a:endParaRPr lang="en-US"/>
        </a:p>
      </dgm:t>
    </dgm:pt>
    <dgm:pt modelId="{E2F5641B-CDC2-4C54-9262-3F28922EF1DC}" type="pres">
      <dgm:prSet presAssocID="{CC34465F-785C-46F3-BA8C-201FA352BA9F}" presName="connector1" presStyleLbl="sibTrans2D1" presStyleIdx="0" presStyleCnt="3"/>
      <dgm:spPr/>
      <dgm:t>
        <a:bodyPr/>
        <a:lstStyle/>
        <a:p>
          <a:endParaRPr lang="en-US"/>
        </a:p>
      </dgm:t>
    </dgm:pt>
    <dgm:pt modelId="{565A181A-EEFC-4B4E-A692-0DFF12613E6B}" type="pres">
      <dgm:prSet presAssocID="{84A7D2D4-DF8B-4E26-ACCB-6C66C86CAB73}" presName="connector2" presStyleLbl="sibTrans2D1" presStyleIdx="1" presStyleCnt="3"/>
      <dgm:spPr/>
      <dgm:t>
        <a:bodyPr/>
        <a:lstStyle/>
        <a:p>
          <a:endParaRPr lang="en-US"/>
        </a:p>
      </dgm:t>
    </dgm:pt>
    <dgm:pt modelId="{AD16CED3-F741-4CB3-85B5-31640B91EF44}" type="pres">
      <dgm:prSet presAssocID="{EBF93351-976A-4779-AFC0-9DC92FA1C64A}" presName="connector3" presStyleLbl="sibTrans2D1" presStyleIdx="2" presStyleCnt="3"/>
      <dgm:spPr/>
      <dgm:t>
        <a:bodyPr/>
        <a:lstStyle/>
        <a:p>
          <a:endParaRPr lang="en-US"/>
        </a:p>
      </dgm:t>
    </dgm:pt>
  </dgm:ptLst>
  <dgm:cxnLst>
    <dgm:cxn modelId="{AF1EE196-1D02-4E8F-9A44-1FD3FABE9AFC}" type="presOf" srcId="{84A7D2D4-DF8B-4E26-ACCB-6C66C86CAB73}" destId="{565A181A-EEFC-4B4E-A692-0DFF12613E6B}" srcOrd="0" destOrd="0" presId="urn:microsoft.com/office/officeart/2005/8/layout/gear1"/>
    <dgm:cxn modelId="{4C0403CC-5873-4565-9F97-A0241327C6DF}" type="presOf" srcId="{280C9190-0859-433D-A843-D9B9AB7642FB}" destId="{AEE272F1-F987-41F6-8492-E0689A1FBB3E}" srcOrd="2" destOrd="0" presId="urn:microsoft.com/office/officeart/2005/8/layout/gear1"/>
    <dgm:cxn modelId="{D3980299-C118-458F-B6C7-C26F29EFF589}" srcId="{A7DC2746-0C17-4968-BA3F-C22A99B1CA4F}" destId="{42E4112C-BF4E-4787-9768-51F7B5CF25E3}" srcOrd="0" destOrd="0" parTransId="{AD4C5D5C-9672-438D-8912-E11B921A598F}" sibTransId="{CC34465F-785C-46F3-BA8C-201FA352BA9F}"/>
    <dgm:cxn modelId="{F0553C99-C9DA-4034-B4B7-9AD2B71F4627}" type="presOf" srcId="{CC34465F-785C-46F3-BA8C-201FA352BA9F}" destId="{E2F5641B-CDC2-4C54-9262-3F28922EF1DC}" srcOrd="0" destOrd="0" presId="urn:microsoft.com/office/officeart/2005/8/layout/gear1"/>
    <dgm:cxn modelId="{799466D8-C850-4CB0-8E0A-A848B60DFC26}" type="presOf" srcId="{919B28B7-B9DB-49A8-BC66-50037AAFAEBC}" destId="{7691E16D-61D5-4CC5-87F9-6534AD6082BD}" srcOrd="1" destOrd="0" presId="urn:microsoft.com/office/officeart/2005/8/layout/gear1"/>
    <dgm:cxn modelId="{9A9FFF86-4919-4550-83AB-AB42C483E0CF}" type="presOf" srcId="{EBF93351-976A-4779-AFC0-9DC92FA1C64A}" destId="{AD16CED3-F741-4CB3-85B5-31640B91EF44}" srcOrd="0" destOrd="0" presId="urn:microsoft.com/office/officeart/2005/8/layout/gear1"/>
    <dgm:cxn modelId="{0AD28C80-CF97-4449-A672-98677AC11FBD}" srcId="{A7DC2746-0C17-4968-BA3F-C22A99B1CA4F}" destId="{919B28B7-B9DB-49A8-BC66-50037AAFAEBC}" srcOrd="2" destOrd="0" parTransId="{F5C64B7B-C03D-4DCE-9A67-6FD773B8EA78}" sibTransId="{EBF93351-976A-4779-AFC0-9DC92FA1C64A}"/>
    <dgm:cxn modelId="{7E2C6CC1-79FB-424D-8578-DD24262CA616}" type="presOf" srcId="{280C9190-0859-433D-A843-D9B9AB7642FB}" destId="{E66D005E-7F0B-423E-BB03-466E947C738E}" srcOrd="1" destOrd="0" presId="urn:microsoft.com/office/officeart/2005/8/layout/gear1"/>
    <dgm:cxn modelId="{FA72C1C9-4A5E-4F6F-89CA-BF2EB7697ED4}" type="presOf" srcId="{919B28B7-B9DB-49A8-BC66-50037AAFAEBC}" destId="{F808A2EE-49C9-46FF-83D3-FE8824E75364}" srcOrd="0" destOrd="0" presId="urn:microsoft.com/office/officeart/2005/8/layout/gear1"/>
    <dgm:cxn modelId="{61A69301-F0E3-41B8-BB54-E92734D7713B}" type="presOf" srcId="{42E4112C-BF4E-4787-9768-51F7B5CF25E3}" destId="{214C1EAC-7B73-43D8-95BF-7E4CC351C1F9}" srcOrd="1" destOrd="0" presId="urn:microsoft.com/office/officeart/2005/8/layout/gear1"/>
    <dgm:cxn modelId="{C8BC4B1F-1F9E-442E-9461-04D9B9696D2E}" type="presOf" srcId="{919B28B7-B9DB-49A8-BC66-50037AAFAEBC}" destId="{A7828988-C62C-4EDF-8B89-9376AD70ECDA}" srcOrd="3" destOrd="0" presId="urn:microsoft.com/office/officeart/2005/8/layout/gear1"/>
    <dgm:cxn modelId="{0DB2C53C-4263-4BC5-90AD-74A6FC2BE8E9}" type="presOf" srcId="{280C9190-0859-433D-A843-D9B9AB7642FB}" destId="{B170188D-4CF1-46DA-9710-DE065069AD65}" srcOrd="0" destOrd="0" presId="urn:microsoft.com/office/officeart/2005/8/layout/gear1"/>
    <dgm:cxn modelId="{44AA5360-2553-417A-840D-3AE8BC1690B9}" srcId="{A7DC2746-0C17-4968-BA3F-C22A99B1CA4F}" destId="{280C9190-0859-433D-A843-D9B9AB7642FB}" srcOrd="1" destOrd="0" parTransId="{A5E60380-12E3-4F63-AB3E-EC7267A4DE48}" sibTransId="{84A7D2D4-DF8B-4E26-ACCB-6C66C86CAB73}"/>
    <dgm:cxn modelId="{D89FC543-B23B-4EC9-91A9-C414F4394F4F}" type="presOf" srcId="{42E4112C-BF4E-4787-9768-51F7B5CF25E3}" destId="{E903121F-B6DF-433E-B9E9-63BD77E98326}" srcOrd="2" destOrd="0" presId="urn:microsoft.com/office/officeart/2005/8/layout/gear1"/>
    <dgm:cxn modelId="{38455D2A-5C82-49E0-BC64-0E0B3C6F458B}" type="presOf" srcId="{919B28B7-B9DB-49A8-BC66-50037AAFAEBC}" destId="{04787B41-AF49-4130-9916-2EA21DFA3BF6}" srcOrd="2" destOrd="0" presId="urn:microsoft.com/office/officeart/2005/8/layout/gear1"/>
    <dgm:cxn modelId="{F909748F-8AFD-4D1C-9289-33F3F9ACD4B3}" type="presOf" srcId="{A7DC2746-0C17-4968-BA3F-C22A99B1CA4F}" destId="{718BFAF9-F7F6-4802-BFB7-018CCE623D4A}" srcOrd="0" destOrd="0" presId="urn:microsoft.com/office/officeart/2005/8/layout/gear1"/>
    <dgm:cxn modelId="{41C284D5-D186-4DD8-A357-F4AC5E0271FE}" type="presOf" srcId="{42E4112C-BF4E-4787-9768-51F7B5CF25E3}" destId="{72874EE8-7615-4DC9-8C69-B85501A46BE4}" srcOrd="0" destOrd="0" presId="urn:microsoft.com/office/officeart/2005/8/layout/gear1"/>
    <dgm:cxn modelId="{B7D76EE0-7D95-4092-B52A-31D5818F4437}" type="presParOf" srcId="{718BFAF9-F7F6-4802-BFB7-018CCE623D4A}" destId="{72874EE8-7615-4DC9-8C69-B85501A46BE4}" srcOrd="0" destOrd="0" presId="urn:microsoft.com/office/officeart/2005/8/layout/gear1"/>
    <dgm:cxn modelId="{107C03A2-753D-4889-A9CE-28AB70695E5B}" type="presParOf" srcId="{718BFAF9-F7F6-4802-BFB7-018CCE623D4A}" destId="{214C1EAC-7B73-43D8-95BF-7E4CC351C1F9}" srcOrd="1" destOrd="0" presId="urn:microsoft.com/office/officeart/2005/8/layout/gear1"/>
    <dgm:cxn modelId="{D9974156-4CDB-4130-9E80-0982C7C9178D}" type="presParOf" srcId="{718BFAF9-F7F6-4802-BFB7-018CCE623D4A}" destId="{E903121F-B6DF-433E-B9E9-63BD77E98326}" srcOrd="2" destOrd="0" presId="urn:microsoft.com/office/officeart/2005/8/layout/gear1"/>
    <dgm:cxn modelId="{0A8EC29F-7F43-4DF1-B705-9E6FDACF1DC0}" type="presParOf" srcId="{718BFAF9-F7F6-4802-BFB7-018CCE623D4A}" destId="{B170188D-4CF1-46DA-9710-DE065069AD65}" srcOrd="3" destOrd="0" presId="urn:microsoft.com/office/officeart/2005/8/layout/gear1"/>
    <dgm:cxn modelId="{F1640908-37A0-483D-B639-8A837957297A}" type="presParOf" srcId="{718BFAF9-F7F6-4802-BFB7-018CCE623D4A}" destId="{E66D005E-7F0B-423E-BB03-466E947C738E}" srcOrd="4" destOrd="0" presId="urn:microsoft.com/office/officeart/2005/8/layout/gear1"/>
    <dgm:cxn modelId="{A389DC4E-1200-412A-8C26-F950B21B4224}" type="presParOf" srcId="{718BFAF9-F7F6-4802-BFB7-018CCE623D4A}" destId="{AEE272F1-F987-41F6-8492-E0689A1FBB3E}" srcOrd="5" destOrd="0" presId="urn:microsoft.com/office/officeart/2005/8/layout/gear1"/>
    <dgm:cxn modelId="{F48F8899-BC4B-4DE1-9B16-AE33C6CF97CF}" type="presParOf" srcId="{718BFAF9-F7F6-4802-BFB7-018CCE623D4A}" destId="{F808A2EE-49C9-46FF-83D3-FE8824E75364}" srcOrd="6" destOrd="0" presId="urn:microsoft.com/office/officeart/2005/8/layout/gear1"/>
    <dgm:cxn modelId="{509E49A5-32AD-4E52-9028-526864856A96}" type="presParOf" srcId="{718BFAF9-F7F6-4802-BFB7-018CCE623D4A}" destId="{7691E16D-61D5-4CC5-87F9-6534AD6082BD}" srcOrd="7" destOrd="0" presId="urn:microsoft.com/office/officeart/2005/8/layout/gear1"/>
    <dgm:cxn modelId="{948E8262-9EE0-4C67-B933-A7911D3ED50B}" type="presParOf" srcId="{718BFAF9-F7F6-4802-BFB7-018CCE623D4A}" destId="{04787B41-AF49-4130-9916-2EA21DFA3BF6}" srcOrd="8" destOrd="0" presId="urn:microsoft.com/office/officeart/2005/8/layout/gear1"/>
    <dgm:cxn modelId="{3B4910F3-CFE0-4440-A8B2-C2947CE88F52}" type="presParOf" srcId="{718BFAF9-F7F6-4802-BFB7-018CCE623D4A}" destId="{A7828988-C62C-4EDF-8B89-9376AD70ECDA}" srcOrd="9" destOrd="0" presId="urn:microsoft.com/office/officeart/2005/8/layout/gear1"/>
    <dgm:cxn modelId="{A6F21545-8708-4BA5-8BA2-F4BD88FAAF1E}" type="presParOf" srcId="{718BFAF9-F7F6-4802-BFB7-018CCE623D4A}" destId="{E2F5641B-CDC2-4C54-9262-3F28922EF1DC}" srcOrd="10" destOrd="0" presId="urn:microsoft.com/office/officeart/2005/8/layout/gear1"/>
    <dgm:cxn modelId="{4765FB73-72BF-4E7E-A7E6-A651DFA59B46}" type="presParOf" srcId="{718BFAF9-F7F6-4802-BFB7-018CCE623D4A}" destId="{565A181A-EEFC-4B4E-A692-0DFF12613E6B}" srcOrd="11" destOrd="0" presId="urn:microsoft.com/office/officeart/2005/8/layout/gear1"/>
    <dgm:cxn modelId="{EEB93182-8D9B-4931-BDC8-B10D231CEC0F}" type="presParOf" srcId="{718BFAF9-F7F6-4802-BFB7-018CCE623D4A}" destId="{AD16CED3-F741-4CB3-85B5-31640B91EF44}" srcOrd="12" destOrd="0" presId="urn:microsoft.com/office/officeart/2005/8/layout/gear1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37AA79-8CAD-4B20-B669-D01BF5DC0832}" type="datetimeFigureOut">
              <a:rPr lang="en-US" smtClean="0"/>
              <a:pPr/>
              <a:t>3/15/2014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4E2AD1-020A-4F3E-BCC9-8444F9A355C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66BDE64-C10E-4DEE-8124-5788826CEBDC}" type="slidenum">
              <a:rPr lang="en-US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8EFFE6-5C34-465D-830A-81670C17F90F}" type="slidenum">
              <a:rPr lang="en-US" altLang="zh-CN"/>
              <a:pPr/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E25823C-89A0-4075-A223-0D07AED27B3D}" type="slidenum">
              <a:rPr lang="en-US" altLang="zh-CN"/>
              <a:pPr/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0FD8BF-807E-45BF-9B25-F1646AE3DA86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E7381B-BCC9-45DA-B20A-DF4D00668200}" type="slidenum">
              <a:rPr lang="en-US" altLang="zh-CN"/>
              <a:pPr/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7C1713A8-9F49-4842-AB4F-82E85B458CFC}" type="slidenum">
              <a:rPr lang="en-US"/>
              <a:pPr/>
              <a:t>21</a:t>
            </a:fld>
            <a:endParaRPr lang="en-US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smtClean="0">
                <a:ea typeface="ＭＳ Ｐゴシック" pitchFamily="-1" charset="-128"/>
              </a:rPr>
              <a:t>analysis = determining run-time efficiency. </a:t>
            </a:r>
          </a:p>
          <a:p>
            <a:pPr eaLnBrk="1" hangingPunct="1">
              <a:spcBef>
                <a:spcPct val="0"/>
              </a:spcBef>
            </a:pPr>
            <a:r>
              <a:rPr lang="en-US" smtClean="0">
                <a:ea typeface="ＭＳ Ｐゴシック" pitchFamily="-1" charset="-128"/>
              </a:rPr>
              <a:t>model = estimate, not meant to represent everything in real-world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7D36DC89-3DBC-4878-8C51-29B115187675}" type="slidenum">
              <a:rPr lang="en-US"/>
              <a:pPr/>
              <a:t>26</a:t>
            </a:fld>
            <a:endParaRPr lang="en-US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>
              <a:ea typeface="ＭＳ Ｐゴシック" pitchFamily="-1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46824DB1-451A-4AA1-AAE7-B0AC661E4FB6}" type="slidenum">
              <a:rPr lang="en-US"/>
              <a:pPr/>
              <a:t>27</a:t>
            </a:fld>
            <a:endParaRPr 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>
              <a:ea typeface="ＭＳ Ｐゴシック" pitchFamily="-1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A580DD87-CEFB-4E64-AEB2-BDC91646B645}" type="slidenum">
              <a:rPr lang="en-US"/>
              <a:pPr/>
              <a:t>28</a:t>
            </a:fld>
            <a:endParaRPr 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>
              <a:ea typeface="ＭＳ Ｐゴシック" pitchFamily="-1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1D8BD707-D9CF-40AE-B4C6-C98DA3205C09}" type="datetimeFigureOut">
              <a:rPr lang="en-US" smtClean="0"/>
              <a:pPr/>
              <a:t>3/15/2014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271A1-F6D6-438B-A432-4747EE7ECD40}" type="datetimeFigureOut">
              <a:rPr lang="en-US" smtClean="0"/>
              <a:pPr/>
              <a:t>3/15/2014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3/15/2014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3A271A1-F6D6-438B-A432-4747EE7ECD40}" type="datetimeFigureOut">
              <a:rPr lang="en-US" smtClean="0"/>
              <a:pPr/>
              <a:t>3/15/2014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hyperlink" Target="mailto:ms@gmail.com" TargetMode="External"/><Relationship Id="rId7" Type="http://schemas.openxmlformats.org/officeDocument/2006/relationships/diagramLayout" Target="../diagrams/layout1.xml"/><Relationship Id="rId2" Type="http://schemas.openxmlformats.org/officeDocument/2006/relationships/hyperlink" Target="mailto:tr@gmail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openxmlformats.org/officeDocument/2006/relationships/hyperlink" Target="mailto:nh@gmail.com" TargetMode="External"/><Relationship Id="rId4" Type="http://schemas.openxmlformats.org/officeDocument/2006/relationships/hyperlink" Target="mailto:km@gmail.com" TargetMode="External"/><Relationship Id="rId9" Type="http://schemas.openxmlformats.org/officeDocument/2006/relationships/diagramColors" Target="../diagrams/colors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Structure &amp; Algorithm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1: Overview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33400" y="5943600"/>
            <a:ext cx="8458200" cy="685800"/>
          </a:xfrm>
          <a:prstGeom prst="rect">
            <a:avLst/>
          </a:prstGeom>
        </p:spPr>
        <p:txBody>
          <a:bodyPr vert="horz" anchor="b">
            <a:normAutofit fontScale="85000" lnSpcReduction="20000"/>
          </a:bodyPr>
          <a:lstStyle/>
          <a:p>
            <a:pPr lvl="0" algn="r">
              <a:spcBef>
                <a:spcPct val="20000"/>
              </a:spcBef>
              <a:buClr>
                <a:schemeClr val="accent1"/>
              </a:buClr>
              <a:buSzPct val="70000"/>
            </a:pPr>
            <a:r>
              <a:rPr lang="en-US" sz="2400" b="1" dirty="0" smtClean="0">
                <a:solidFill>
                  <a:schemeClr val="tx2">
                    <a:shade val="75000"/>
                  </a:schemeClr>
                </a:solidFill>
              </a:rPr>
              <a:t>Dr. Mohamed Ezz  </a:t>
            </a:r>
          </a:p>
          <a:p>
            <a:pPr lvl="0" algn="r">
              <a:spcBef>
                <a:spcPct val="20000"/>
              </a:spcBef>
              <a:buClr>
                <a:schemeClr val="accent1"/>
              </a:buClr>
              <a:buSzPct val="70000"/>
            </a:pPr>
            <a:r>
              <a:rPr lang="en-US" sz="2400" b="1" dirty="0" smtClean="0">
                <a:solidFill>
                  <a:schemeClr val="tx2">
                    <a:shade val="75000"/>
                  </a:schemeClr>
                </a:solidFill>
              </a:rPr>
              <a:t>Al-</a:t>
            </a:r>
            <a:r>
              <a:rPr lang="en-US" sz="2400" b="1" dirty="0" err="1" smtClean="0">
                <a:solidFill>
                  <a:schemeClr val="tx2">
                    <a:shade val="75000"/>
                  </a:schemeClr>
                </a:solidFill>
              </a:rPr>
              <a:t>Azhar</a:t>
            </a:r>
            <a:r>
              <a:rPr lang="en-US" sz="2400" b="1" dirty="0" smtClean="0">
                <a:solidFill>
                  <a:schemeClr val="tx2">
                    <a:shade val="75000"/>
                  </a:schemeClr>
                </a:solidFill>
              </a:rPr>
              <a:t>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Textbook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24A4952-06D8-41E7-B4E3-81C9AC6D9B34}" type="slidenum">
              <a:rPr lang="en-US"/>
              <a:pPr/>
              <a:t>2</a:t>
            </a:fld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spcBef>
                <a:spcPts val="525"/>
              </a:spcBef>
              <a:spcAft>
                <a:spcPts val="525"/>
              </a:spcAft>
            </a:pPr>
            <a:r>
              <a:rPr lang="en-US" sz="2800" i="1" dirty="0" smtClean="0"/>
              <a:t>Data Structures &amp; Algorithms in Java, </a:t>
            </a:r>
            <a:r>
              <a:rPr lang="en-US" sz="2800" b="1" i="1" dirty="0" smtClean="0"/>
              <a:t>by Robert </a:t>
            </a:r>
            <a:r>
              <a:rPr lang="en-US" sz="2800" b="1" i="1" dirty="0" err="1" smtClean="0"/>
              <a:t>Lafore</a:t>
            </a:r>
            <a:endParaRPr lang="en-US" sz="2800" b="1" i="1" dirty="0" smtClean="0"/>
          </a:p>
          <a:p>
            <a:pPr>
              <a:spcBef>
                <a:spcPts val="525"/>
              </a:spcBef>
              <a:spcAft>
                <a:spcPts val="525"/>
              </a:spcAft>
            </a:pPr>
            <a:r>
              <a:rPr lang="en-US" sz="2800" i="1" dirty="0" smtClean="0"/>
              <a:t>Data Structures Succinctly Part 1,2, </a:t>
            </a:r>
            <a:r>
              <a:rPr lang="en-US" sz="2800" b="1" i="1" dirty="0" smtClean="0"/>
              <a:t>by </a:t>
            </a:r>
            <a:r>
              <a:rPr lang="en-US" sz="2800" b="1" dirty="0" smtClean="0"/>
              <a:t>Robert </a:t>
            </a:r>
            <a:r>
              <a:rPr lang="en-US" sz="2800" b="1" dirty="0" err="1" smtClean="0"/>
              <a:t>Horvick</a:t>
            </a:r>
            <a:r>
              <a:rPr lang="en-US" sz="2800" dirty="0" smtClean="0"/>
              <a:t>. </a:t>
            </a:r>
          </a:p>
          <a:p>
            <a:pPr lvl="1">
              <a:spcBef>
                <a:spcPts val="525"/>
              </a:spcBef>
              <a:spcAft>
                <a:spcPts val="525"/>
              </a:spcAft>
            </a:pPr>
            <a:r>
              <a:rPr lang="en-US" sz="2400" i="1" dirty="0" smtClean="0"/>
              <a:t>Free for download from </a:t>
            </a:r>
            <a:r>
              <a:rPr lang="en-US" sz="2800" dirty="0" smtClean="0"/>
              <a:t>Syncfusion.com</a:t>
            </a:r>
          </a:p>
          <a:p>
            <a:pPr lvl="1">
              <a:spcBef>
                <a:spcPts val="525"/>
              </a:spcBef>
              <a:spcAft>
                <a:spcPts val="525"/>
              </a:spcAft>
            </a:pPr>
            <a:endParaRPr lang="en-US" i="1" dirty="0" smtClean="0"/>
          </a:p>
          <a:p>
            <a:pPr lvl="1">
              <a:spcBef>
                <a:spcPts val="525"/>
              </a:spcBef>
              <a:spcAft>
                <a:spcPts val="525"/>
              </a:spcAft>
            </a:pPr>
            <a:endParaRPr lang="en-US" i="1" dirty="0" smtClean="0"/>
          </a:p>
          <a:p>
            <a:pPr>
              <a:lnSpc>
                <a:spcPct val="100000"/>
              </a:lnSpc>
            </a:pPr>
            <a:r>
              <a:rPr lang="fr-FR" sz="2700" b="1" dirty="0" smtClean="0">
                <a:solidFill>
                  <a:srgbClr val="002060"/>
                </a:solidFill>
                <a:latin typeface="Times New Roman"/>
              </a:rPr>
              <a:t>Lectures </a:t>
            </a:r>
            <a:r>
              <a:rPr lang="fr-FR" sz="2700" b="1" dirty="0" err="1" smtClean="0">
                <a:solidFill>
                  <a:srgbClr val="002060"/>
                </a:solidFill>
                <a:latin typeface="Times New Roman"/>
              </a:rPr>
              <a:t>Website</a:t>
            </a:r>
            <a:r>
              <a:rPr lang="fr-FR" sz="2700" b="1" dirty="0" smtClean="0">
                <a:solidFill>
                  <a:srgbClr val="002060"/>
                </a:solidFill>
                <a:latin typeface="Times New Roman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fr-FR" sz="2000" dirty="0" smtClean="0"/>
              <a:t>http://classjump.com/e/ezz/?what=classes&amp;class=192385</a:t>
            </a:r>
          </a:p>
          <a:p>
            <a:pPr>
              <a:lnSpc>
                <a:spcPct val="100000"/>
              </a:lnSpc>
            </a:pPr>
            <a:endParaRPr lang="fr-FR" dirty="0" smtClean="0"/>
          </a:p>
          <a:p>
            <a:pPr lvl="1">
              <a:spcBef>
                <a:spcPts val="525"/>
              </a:spcBef>
              <a:spcAft>
                <a:spcPts val="525"/>
              </a:spcAft>
            </a:pPr>
            <a:endParaRPr lang="en-US" i="1" dirty="0" smtClean="0"/>
          </a:p>
          <a:p>
            <a:pPr lvl="1">
              <a:spcBef>
                <a:spcPts val="525"/>
              </a:spcBef>
              <a:spcAft>
                <a:spcPts val="525"/>
              </a:spcAft>
            </a:pPr>
            <a:endParaRPr lang="en-US" sz="2800" i="1" dirty="0" smtClean="0"/>
          </a:p>
          <a:p>
            <a:pPr lvl="1">
              <a:spcBef>
                <a:spcPts val="525"/>
              </a:spcBef>
              <a:spcAft>
                <a:spcPts val="525"/>
              </a:spcAft>
            </a:pPr>
            <a:endParaRPr lang="en-US" i="1" dirty="0" smtClean="0"/>
          </a:p>
          <a:p>
            <a:pPr lvl="1">
              <a:spcBef>
                <a:spcPts val="525"/>
              </a:spcBef>
              <a:spcAft>
                <a:spcPts val="525"/>
              </a:spcAft>
            </a:pPr>
            <a:endParaRPr lang="en-US" sz="2800" i="1" dirty="0" smtClean="0"/>
          </a:p>
          <a:p>
            <a:pPr>
              <a:spcBef>
                <a:spcPts val="525"/>
              </a:spcBef>
              <a:spcAft>
                <a:spcPts val="525"/>
              </a:spcAft>
            </a:pP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464646"/>
                </a:solidFill>
                <a:latin typeface="Lucida Sans Unicode"/>
              </a:rPr>
              <a:t>Schedule and Arrangement 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24A4952-06D8-41E7-B4E3-81C9AC6D9B34}" type="slidenum">
              <a:rPr lang="en-US"/>
              <a:pPr/>
              <a:t>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Lectures </a:t>
            </a:r>
          </a:p>
          <a:p>
            <a:pPr marL="1028700" lvl="1" indent="-571500"/>
            <a:r>
              <a:rPr lang="en-US" dirty="0" smtClean="0"/>
              <a:t>FOR N= 1 to 5</a:t>
            </a:r>
          </a:p>
          <a:p>
            <a:pPr marL="1885950" lvl="3" indent="-514350"/>
            <a:r>
              <a:rPr lang="en-US" dirty="0" smtClean="0"/>
              <a:t>If N Odd then Increment Week by two lectures</a:t>
            </a:r>
          </a:p>
          <a:p>
            <a:pPr marL="1885950" lvl="3" indent="-514350"/>
            <a:r>
              <a:rPr lang="en-US" dirty="0" smtClean="0"/>
              <a:t>If N Even then Increment Week by one lecture</a:t>
            </a:r>
          </a:p>
          <a:p>
            <a:pPr marL="1154430" lvl="1" indent="-514350"/>
            <a:r>
              <a:rPr lang="en-US" sz="2600" dirty="0" smtClean="0">
                <a:solidFill>
                  <a:schemeClr val="tx2"/>
                </a:solidFill>
              </a:rPr>
              <a:t>End For</a:t>
            </a:r>
          </a:p>
          <a:p>
            <a:r>
              <a:rPr lang="en-US" dirty="0" smtClean="0"/>
              <a:t>1 Class Weekly </a:t>
            </a:r>
          </a:p>
          <a:p>
            <a:pPr lvl="1"/>
            <a:r>
              <a:rPr lang="en-US" dirty="0" smtClean="0"/>
              <a:t>Bring your laptop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464646"/>
                </a:solidFill>
                <a:latin typeface="Lucida Sans Unicode"/>
              </a:rPr>
              <a:t>Participation 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24A4952-06D8-41E7-B4E3-81C9AC6D9B34}" type="slidenum">
              <a:rPr lang="en-US"/>
              <a:pPr/>
              <a:t>4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You are expected to attend all of the lectures</a:t>
            </a:r>
          </a:p>
          <a:p>
            <a:pPr lvl="1"/>
            <a:r>
              <a:rPr lang="en-US" dirty="0" smtClean="0"/>
              <a:t>Exams will be based on the </a:t>
            </a:r>
            <a:r>
              <a:rPr lang="en-US" dirty="0" smtClean="0"/>
              <a:t>lectures </a:t>
            </a:r>
            <a:r>
              <a:rPr lang="en-US" dirty="0" smtClean="0"/>
              <a:t>materials</a:t>
            </a:r>
            <a:endParaRPr lang="en-US" dirty="0" smtClean="0"/>
          </a:p>
          <a:p>
            <a:pPr lvl="1"/>
            <a:r>
              <a:rPr lang="en-US" dirty="0" smtClean="0"/>
              <a:t>More than four absent will not attend final exam</a:t>
            </a:r>
          </a:p>
          <a:p>
            <a:endParaRPr lang="en-US" dirty="0" smtClean="0"/>
          </a:p>
          <a:p>
            <a:r>
              <a:rPr lang="en-US" dirty="0" smtClean="0"/>
              <a:t>Group Activities </a:t>
            </a:r>
          </a:p>
          <a:p>
            <a:pPr lvl="1"/>
            <a:r>
              <a:rPr lang="en-US" dirty="0" smtClean="0"/>
              <a:t>Very Important </a:t>
            </a:r>
          </a:p>
          <a:p>
            <a:endParaRPr lang="en-US" dirty="0" smtClean="0"/>
          </a:p>
          <a:p>
            <a:r>
              <a:rPr lang="en-US" dirty="0" smtClean="0"/>
              <a:t>Team Project</a:t>
            </a:r>
          </a:p>
          <a:p>
            <a:pPr lvl="1"/>
            <a:r>
              <a:rPr lang="en-US" dirty="0" smtClean="0"/>
              <a:t>Select your project  as early as possible </a:t>
            </a:r>
            <a:endParaRPr lang="en-US" dirty="0" smtClean="0"/>
          </a:p>
          <a:p>
            <a:pPr lvl="2"/>
            <a:r>
              <a:rPr lang="en-US" dirty="0" smtClean="0"/>
              <a:t>Website </a:t>
            </a:r>
            <a:r>
              <a:rPr lang="en-US" dirty="0" smtClean="0"/>
              <a:t>contain sample </a:t>
            </a:r>
            <a:r>
              <a:rPr lang="en-US" dirty="0" smtClean="0"/>
              <a:t>projects</a:t>
            </a:r>
            <a:endParaRPr lang="en-US" dirty="0" smtClean="0"/>
          </a:p>
          <a:p>
            <a:pPr lvl="1"/>
            <a:r>
              <a:rPr lang="en-US" dirty="0" smtClean="0"/>
              <a:t>Group of </a:t>
            </a:r>
            <a:r>
              <a:rPr lang="en-US" dirty="0" smtClean="0"/>
              <a:t>max.10 </a:t>
            </a:r>
            <a:r>
              <a:rPr lang="en-US" dirty="0" smtClean="0"/>
              <a:t>students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464646"/>
                </a:solidFill>
                <a:latin typeface="Lucida Sans Unicode"/>
              </a:rPr>
              <a:t>Assignments and Quizzes 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24A4952-06D8-41E7-B4E3-81C9AC6D9B34}" type="slidenum">
              <a:rPr lang="en-US"/>
              <a:pPr/>
              <a:t>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n-US" dirty="0" smtClean="0"/>
              <a:t>Must be submitted on time </a:t>
            </a:r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n-US" dirty="0" smtClean="0"/>
              <a:t>Late assignments will be accepted within one week with -25% penalties </a:t>
            </a:r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n-US" dirty="0" smtClean="0"/>
              <a:t>Lecture example/programs should be solved same day on your computer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</a:t>
            </a:r>
            <a:r>
              <a:rPr lang="en-US" u="sng" dirty="0" smtClean="0"/>
              <a:t>This prerequisite fro attend class</a:t>
            </a:r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n-US" dirty="0" smtClean="0"/>
              <a:t>All sheets questions </a:t>
            </a:r>
            <a:r>
              <a:rPr lang="en-US" u="sng" dirty="0" smtClean="0"/>
              <a:t>must be solved by student </a:t>
            </a:r>
            <a:r>
              <a:rPr lang="en-US" u="sng" dirty="0" smtClean="0">
                <a:sym typeface="Wingdings" pitchFamily="2" charset="2"/>
              </a:rPr>
              <a:t> </a:t>
            </a:r>
            <a:r>
              <a:rPr lang="en-US" dirty="0" smtClean="0"/>
              <a:t>please come ready</a:t>
            </a:r>
            <a:r>
              <a:rPr lang="en-US" u="sng" dirty="0" smtClean="0">
                <a:sym typeface="Wingdings" pitchFamily="2" charset="2"/>
              </a:rPr>
              <a:t> </a:t>
            </a:r>
            <a:endParaRPr lang="en-US" u="sng" dirty="0" smtClean="0"/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n-US" dirty="0" smtClean="0"/>
              <a:t>Bonus points for first 5 student solve quiz in the class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Why you want to study Algorithms?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24A4952-06D8-41E7-B4E3-81C9AC6D9B34}" type="slidenum">
              <a:rPr lang="en-US"/>
              <a:pPr/>
              <a:t>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dirty="0" smtClean="0">
                <a:solidFill>
                  <a:srgbClr val="2D2DB9"/>
                </a:solidFill>
              </a:rPr>
              <a:t>Making a lot of money out of a great algorithm…</a:t>
            </a:r>
          </a:p>
          <a:p>
            <a:pPr>
              <a:buFont typeface="Arial" charset="0"/>
              <a:buChar char="•"/>
            </a:pPr>
            <a:endParaRPr lang="en-US" dirty="0" smtClean="0">
              <a:solidFill>
                <a:srgbClr val="2D2DB9"/>
              </a:solidFill>
            </a:endParaRPr>
          </a:p>
          <a:p>
            <a:pPr>
              <a:buFont typeface="Arial" charset="0"/>
              <a:buChar char="•"/>
            </a:pPr>
            <a:endParaRPr lang="en-US" dirty="0" smtClean="0">
              <a:solidFill>
                <a:srgbClr val="2D2DB9"/>
              </a:solidFill>
            </a:endParaRPr>
          </a:p>
          <a:p>
            <a:pPr>
              <a:buFont typeface="Arial" charset="0"/>
              <a:buChar char="•"/>
            </a:pPr>
            <a:endParaRPr lang="en-US" dirty="0" smtClean="0">
              <a:solidFill>
                <a:srgbClr val="2D2DB9"/>
              </a:solidFill>
            </a:endParaRPr>
          </a:p>
          <a:p>
            <a:pPr>
              <a:buFont typeface="Arial" charset="0"/>
              <a:buChar char="•"/>
            </a:pPr>
            <a:endParaRPr lang="en-US" sz="2600" dirty="0" smtClean="0">
              <a:solidFill>
                <a:srgbClr val="2D2DB9"/>
              </a:solidFill>
            </a:endParaRPr>
          </a:p>
          <a:p>
            <a:pPr>
              <a:buFont typeface="Arial" charset="0"/>
              <a:buChar char="•"/>
            </a:pPr>
            <a:r>
              <a:rPr lang="en-US" sz="2600" dirty="0" smtClean="0"/>
              <a:t>Founders Larry Page and Sergey </a:t>
            </a:r>
            <a:r>
              <a:rPr lang="en-US" sz="2600" dirty="0" err="1" smtClean="0"/>
              <a:t>Brin</a:t>
            </a:r>
            <a:r>
              <a:rPr lang="en-US" sz="2600" dirty="0" smtClean="0"/>
              <a:t> met at Stanford University in 1995. By 1996, they had built a search engine (initially called </a:t>
            </a:r>
            <a:r>
              <a:rPr lang="en-US" sz="2600" dirty="0" err="1" smtClean="0"/>
              <a:t>BackRub</a:t>
            </a:r>
            <a:r>
              <a:rPr lang="en-US" sz="2600" dirty="0" smtClean="0"/>
              <a:t>) that used links to determine the importance of individual </a:t>
            </a:r>
            <a:r>
              <a:rPr lang="en-US" sz="2600" dirty="0" err="1" smtClean="0"/>
              <a:t>webpages</a:t>
            </a:r>
            <a:r>
              <a:rPr lang="en-US" sz="2600" dirty="0" smtClean="0"/>
              <a:t>.</a:t>
            </a:r>
            <a:endParaRPr lang="en-US" sz="2600" dirty="0" smtClean="0">
              <a:solidFill>
                <a:srgbClr val="2D2DB9"/>
              </a:solidFill>
            </a:endParaRPr>
          </a:p>
        </p:txBody>
      </p:sp>
      <p:pic>
        <p:nvPicPr>
          <p:cNvPr id="32770" name="Picture 2" descr="http://upload.wikimedia.org/wikipedia/commons/thumb/0/0a/Google_page_brin.jpg/330px-Google_page_brin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62400" y="1981200"/>
            <a:ext cx="1967948" cy="1371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Why you want to study Algorithms?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381000" y="2438400"/>
          <a:ext cx="60198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990600"/>
                <a:gridCol w="1771650"/>
                <a:gridCol w="1504950"/>
              </a:tblGrid>
              <a:tr h="313509">
                <a:tc>
                  <a:txBody>
                    <a:bodyPr/>
                    <a:lstStyle/>
                    <a:p>
                      <a:r>
                        <a:rPr lang="en-US" dirty="0" smtClean="0"/>
                        <a:t>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Email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phone</a:t>
                      </a:r>
                      <a:endParaRPr lang="en-US" dirty="0"/>
                    </a:p>
                  </a:txBody>
                  <a:tcPr/>
                </a:tc>
              </a:tr>
              <a:tr h="313509">
                <a:tc>
                  <a:txBody>
                    <a:bodyPr/>
                    <a:lstStyle/>
                    <a:p>
                      <a:r>
                        <a:rPr lang="en-US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Tamer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hlinkClick r:id="rId2"/>
                        </a:rPr>
                        <a:t>tr@gmail.com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0101052474</a:t>
                      </a:r>
                      <a:endParaRPr lang="en-US" dirty="0"/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Mustafa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hlinkClick r:id="rId3"/>
                        </a:rPr>
                        <a:t>ms@gmail.com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0125544775</a:t>
                      </a:r>
                      <a:endParaRPr lang="en-US" dirty="0"/>
                    </a:p>
                  </a:txBody>
                  <a:tcPr/>
                </a:tc>
              </a:tr>
              <a:tr h="313509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Kamel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hlinkClick r:id="rId4"/>
                        </a:rPr>
                        <a:t>km@gmail.com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0115554422</a:t>
                      </a:r>
                      <a:endParaRPr lang="en-US" dirty="0"/>
                    </a:p>
                  </a:txBody>
                  <a:tcPr/>
                </a:tc>
              </a:tr>
              <a:tr h="313509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Noha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hlinkClick r:id="rId5"/>
                        </a:rPr>
                        <a:t>nh@gmail.com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0102225544</a:t>
                      </a:r>
                      <a:endParaRPr lang="en-US" dirty="0"/>
                    </a:p>
                  </a:txBody>
                  <a:tcPr/>
                </a:tc>
              </a:tr>
              <a:tr h="313509">
                <a:tc>
                  <a:txBody>
                    <a:bodyPr/>
                    <a:lstStyle/>
                    <a:p>
                      <a:r>
                        <a:rPr lang="en-US" dirty="0" smtClean="0"/>
                        <a:t>..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135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13509">
                <a:tc>
                  <a:txBody>
                    <a:bodyPr/>
                    <a:lstStyle/>
                    <a:p>
                      <a:r>
                        <a:rPr lang="en-US" dirty="0" smtClean="0"/>
                        <a:t>2,000,000,000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57200" y="1219200"/>
            <a:ext cx="8229600" cy="9906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r>
              <a:rPr kumimoji="0" 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How </a:t>
            </a:r>
            <a:r>
              <a:rPr kumimoji="0" lang="en-US" sz="2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Facebook</a:t>
            </a:r>
            <a:r>
              <a:rPr kumimoji="0" 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Gmail,</a:t>
            </a:r>
            <a:r>
              <a:rPr kumimoji="0" lang="en-US" sz="26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Yahoo store our account?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r>
              <a:rPr lang="en-US" sz="2600" baseline="0" dirty="0" smtClean="0"/>
              <a:t>Using Database</a:t>
            </a:r>
            <a:r>
              <a:rPr lang="en-US" sz="2600" dirty="0" smtClean="0"/>
              <a:t> Tables as shown: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 bwMode="auto">
          <a:xfrm>
            <a:off x="612648" y="6356350"/>
            <a:ext cx="1981200" cy="36576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81509C76-AC54-489E-A873-49AC368F4858}" type="slidenum">
              <a:rPr lang="en-US"/>
              <a:pPr/>
              <a:t>7</a:t>
            </a:fld>
            <a:endParaRPr lang="en-US"/>
          </a:p>
        </p:txBody>
      </p:sp>
      <p:graphicFrame>
        <p:nvGraphicFramePr>
          <p:cNvPr id="9" name="Content Placeholder 3"/>
          <p:cNvGraphicFramePr>
            <a:graphicFrameLocks/>
          </p:cNvGraphicFramePr>
          <p:nvPr/>
        </p:nvGraphicFramePr>
        <p:xfrm>
          <a:off x="6324600" y="1981200"/>
          <a:ext cx="2590800" cy="4175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609600" y="5791200"/>
            <a:ext cx="8229600" cy="5334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en-US" sz="2400" dirty="0" smtClean="0"/>
              <a:t>The base for </a:t>
            </a:r>
            <a:r>
              <a:rPr lang="en-US" sz="2400" dirty="0" smtClean="0">
                <a:sym typeface="Wingdings" pitchFamily="2" charset="2"/>
              </a:rPr>
              <a:t>Database  is </a:t>
            </a:r>
            <a:r>
              <a:rPr lang="en-US" sz="2400" dirty="0" smtClean="0"/>
              <a:t>Data Structure &amp; Algorithm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endParaRPr kumimoji="0" lang="en-US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</a:p>
        </p:txBody>
      </p:sp>
      <p:sp>
        <p:nvSpPr>
          <p:cNvPr id="2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1509C76-AC54-489E-A873-49AC368F4858}" type="slidenum">
              <a:rPr lang="en-US"/>
              <a:pPr/>
              <a:t>8</a:t>
            </a:fld>
            <a:endParaRPr lang="en-US"/>
          </a:p>
        </p:txBody>
      </p:sp>
      <p:sp>
        <p:nvSpPr>
          <p:cNvPr id="16388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>
            <a:normAutofit/>
          </a:bodyPr>
          <a:lstStyle/>
          <a:p>
            <a:r>
              <a:rPr lang="en-US" dirty="0" smtClean="0"/>
              <a:t>Learn basic data structures and algorithms</a:t>
            </a:r>
          </a:p>
          <a:p>
            <a:pPr lvl="1"/>
            <a:r>
              <a:rPr lang="en-US" dirty="0" smtClean="0"/>
              <a:t>data structures – how data is organized</a:t>
            </a:r>
          </a:p>
          <a:p>
            <a:pPr lvl="1"/>
            <a:r>
              <a:rPr lang="en-US" dirty="0" smtClean="0"/>
              <a:t>algorithms – unambiguous sequence of steps to compute something</a:t>
            </a:r>
          </a:p>
          <a:p>
            <a:pPr lvl="1"/>
            <a:r>
              <a:rPr lang="en-US" dirty="0" smtClean="0"/>
              <a:t>algorithm analysis – determining how long an algorithm will take to solve a problem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Become a better software developer</a:t>
            </a:r>
          </a:p>
          <a:p>
            <a:pPr lvl="1"/>
            <a:r>
              <a:rPr lang="en-US" dirty="0" smtClean="0"/>
              <a:t>"Data Structures + Algorithms = Programs"</a:t>
            </a:r>
            <a:br>
              <a:rPr lang="en-US" dirty="0" smtClean="0"/>
            </a:br>
            <a:r>
              <a:rPr lang="en-US" dirty="0" smtClean="0"/>
              <a:t>-- </a:t>
            </a:r>
            <a:r>
              <a:rPr lang="en-US" dirty="0" err="1" smtClean="0"/>
              <a:t>Niklaus</a:t>
            </a:r>
            <a:r>
              <a:rPr lang="en-US" dirty="0" smtClean="0"/>
              <a:t> Wirth, author of Pascal language</a:t>
            </a:r>
          </a:p>
          <a:p>
            <a:pPr>
              <a:buFont typeface="Wingdings 3" pitchFamily="-1" charset="2"/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Course Topics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5E6BD10A-8484-4360-B6BD-D49B4AB91B14}" type="slidenum">
              <a:rPr lang="en-US"/>
              <a:pPr/>
              <a:t>9</a:t>
            </a:fld>
            <a:endParaRPr 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Store Data: Array, Lists</a:t>
            </a:r>
            <a:r>
              <a:rPr lang="en-US" dirty="0"/>
              <a:t>, Stacks, Queues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Sorting Data: Sort Algorithms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Search for Data : Search </a:t>
            </a:r>
            <a:r>
              <a:rPr lang="en-US" dirty="0"/>
              <a:t>Algorithms and Trees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Algorithm Analysis: good or bad algorithm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ea typeface="幼圆"/>
              </a:rPr>
              <a:t>1-Storing Data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24A4952-06D8-41E7-B4E3-81C9AC6D9B34}" type="slidenum">
              <a:rPr lang="en-US"/>
              <a:pPr/>
              <a:t>10</a:t>
            </a:fld>
            <a:endParaRPr lang="en-US"/>
          </a:p>
        </p:txBody>
      </p:sp>
      <p:sp>
        <p:nvSpPr>
          <p:cNvPr id="16388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Lists</a:t>
            </a:r>
          </a:p>
          <a:p>
            <a:r>
              <a:rPr lang="en-US" dirty="0" smtClean="0"/>
              <a:t>Graphs</a:t>
            </a:r>
          </a:p>
          <a:p>
            <a:r>
              <a:rPr lang="en-US" dirty="0" smtClean="0"/>
              <a:t>Trees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4" descr="fig01_03"/>
          <p:cNvPicPr>
            <a:picLocks noChangeAspect="1" noChangeArrowheads="1"/>
          </p:cNvPicPr>
          <p:nvPr/>
        </p:nvPicPr>
        <p:blipFill>
          <a:blip r:embed="rId3"/>
          <a:srcRect l="15654" t="-8603" b="27240"/>
          <a:stretch>
            <a:fillRect/>
          </a:stretch>
        </p:blipFill>
        <p:spPr bwMode="auto">
          <a:xfrm>
            <a:off x="971550" y="1254125"/>
            <a:ext cx="7005638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5" name="Picture 5" descr="fig01_04"/>
          <p:cNvPicPr>
            <a:picLocks noChangeAspect="1" noChangeArrowheads="1"/>
          </p:cNvPicPr>
          <p:nvPr/>
        </p:nvPicPr>
        <p:blipFill>
          <a:blip r:embed="rId4"/>
          <a:srcRect b="26387"/>
          <a:stretch>
            <a:fillRect/>
          </a:stretch>
        </p:blipFill>
        <p:spPr bwMode="auto">
          <a:xfrm>
            <a:off x="0" y="2982913"/>
            <a:ext cx="83058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6" name="Picture 6" descr="fig01_05"/>
          <p:cNvPicPr>
            <a:picLocks noChangeAspect="1" noChangeArrowheads="1"/>
          </p:cNvPicPr>
          <p:nvPr/>
        </p:nvPicPr>
        <p:blipFill>
          <a:blip r:embed="rId5"/>
          <a:srcRect b="26833"/>
          <a:stretch>
            <a:fillRect/>
          </a:stretch>
        </p:blipFill>
        <p:spPr bwMode="auto">
          <a:xfrm>
            <a:off x="468313" y="4854575"/>
            <a:ext cx="8229600" cy="79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7" name="Text Box 7" descr="blue055"/>
          <p:cNvSpPr txBox="1">
            <a:spLocks noChangeArrowheads="1"/>
          </p:cNvSpPr>
          <p:nvPr/>
        </p:nvSpPr>
        <p:spPr bwMode="auto">
          <a:xfrm>
            <a:off x="2679700" y="2190750"/>
            <a:ext cx="33321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Array of </a:t>
            </a:r>
            <a:r>
              <a:rPr lang="en-US" altLang="zh-CN" i="1"/>
              <a:t>n</a:t>
            </a:r>
            <a:r>
              <a:rPr lang="en-US" altLang="zh-CN"/>
              <a:t> elements</a:t>
            </a:r>
          </a:p>
        </p:txBody>
      </p:sp>
      <p:sp>
        <p:nvSpPr>
          <p:cNvPr id="18438" name="Text Box 8" descr="blue055"/>
          <p:cNvSpPr txBox="1">
            <a:spLocks noChangeArrowheads="1"/>
          </p:cNvSpPr>
          <p:nvPr/>
        </p:nvSpPr>
        <p:spPr bwMode="auto">
          <a:xfrm>
            <a:off x="2411413" y="3990975"/>
            <a:ext cx="424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Singly linked list of </a:t>
            </a:r>
            <a:r>
              <a:rPr lang="en-US" altLang="zh-CN" i="1"/>
              <a:t>n</a:t>
            </a:r>
            <a:r>
              <a:rPr lang="en-US" altLang="zh-CN"/>
              <a:t> elements</a:t>
            </a:r>
          </a:p>
        </p:txBody>
      </p:sp>
      <p:sp>
        <p:nvSpPr>
          <p:cNvPr id="18439" name="Text Box 10" descr="blue055"/>
          <p:cNvSpPr txBox="1">
            <a:spLocks noChangeArrowheads="1"/>
          </p:cNvSpPr>
          <p:nvPr/>
        </p:nvSpPr>
        <p:spPr bwMode="auto">
          <a:xfrm>
            <a:off x="2484438" y="5791200"/>
            <a:ext cx="424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Double linked list of </a:t>
            </a:r>
            <a:r>
              <a:rPr lang="en-US" altLang="zh-CN" i="1"/>
              <a:t>n</a:t>
            </a:r>
            <a:r>
              <a:rPr lang="en-US" altLang="zh-CN"/>
              <a:t> elements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</p:spPr>
        <p:txBody>
          <a:bodyPr>
            <a:normAutofit/>
          </a:bodyPr>
          <a:lstStyle/>
          <a:p>
            <a:fld id="{B24A4952-06D8-41E7-B4E3-81C9AC6D9B34}" type="slidenum">
              <a:rPr lang="en-US"/>
              <a:pPr/>
              <a:t>11</a:t>
            </a:fld>
            <a:endParaRPr lang="en-US"/>
          </a:p>
        </p:txBody>
      </p: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 dirty="0" smtClean="0">
                <a:ea typeface="幼圆"/>
              </a:rPr>
              <a:t>Linear Data Structures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幼圆"/>
              </a:rPr>
              <a:t>Linear Data Structures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>
            <a:normAutofit fontScale="85000" lnSpcReduction="20000"/>
          </a:bodyPr>
          <a:lstStyle/>
          <a:p>
            <a:fld id="{B24A4952-06D8-41E7-B4E3-81C9AC6D9B34}" type="slidenum">
              <a:rPr lang="en-US"/>
              <a:pPr/>
              <a:t>12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dirty="0" smtClean="0"/>
              <a:t>Arrays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/>
              <a:t>A sequence of n items of the same data type that are stored </a:t>
            </a:r>
            <a:r>
              <a:rPr lang="en-US" sz="2000" b="1" dirty="0" smtClean="0"/>
              <a:t>contiguously</a:t>
            </a:r>
            <a:r>
              <a:rPr lang="en-US" sz="2000" dirty="0" smtClean="0"/>
              <a:t> in computer memory and made accessible by specifying a value of the array’s </a:t>
            </a:r>
            <a:r>
              <a:rPr lang="en-US" sz="2000" b="1" dirty="0" smtClean="0"/>
              <a:t>index</a:t>
            </a:r>
            <a:r>
              <a:rPr lang="en-US" sz="2000" dirty="0" smtClean="0"/>
              <a:t>.</a:t>
            </a:r>
          </a:p>
          <a:p>
            <a:pPr>
              <a:lnSpc>
                <a:spcPct val="80000"/>
              </a:lnSpc>
            </a:pPr>
            <a:r>
              <a:rPr lang="en-US" dirty="0" smtClean="0"/>
              <a:t>Linked List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/>
              <a:t>A sequence of zero or more nodes each containing two kinds of information: some data and one or more links called pointers to other nodes of the linked list.</a:t>
            </a:r>
          </a:p>
          <a:p>
            <a:pPr lvl="2">
              <a:lnSpc>
                <a:spcPct val="80000"/>
              </a:lnSpc>
            </a:pPr>
            <a:r>
              <a:rPr lang="en-US" sz="1700" dirty="0" smtClean="0"/>
              <a:t>Singly linked list (next pointer)</a:t>
            </a:r>
          </a:p>
          <a:p>
            <a:pPr lvl="2">
              <a:lnSpc>
                <a:spcPct val="80000"/>
              </a:lnSpc>
            </a:pPr>
            <a:r>
              <a:rPr lang="en-US" sz="1700" dirty="0" smtClean="0"/>
              <a:t>Doubly linked list (next + previous pointers)</a:t>
            </a:r>
            <a:endParaRPr lang="en-CA" altLang="zh-CN" sz="1700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2"/>
          </p:nvPr>
        </p:nvSpPr>
        <p:spPr/>
        <p:txBody>
          <a:bodyPr>
            <a:normAutofit/>
          </a:bodyPr>
          <a:lstStyle/>
          <a:p>
            <a:pPr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dirty="0" smtClean="0">
                <a:latin typeface="Tahoma" pitchFamily="34" charset="0"/>
              </a:rPr>
              <a:t>Arrays</a:t>
            </a:r>
          </a:p>
          <a:p>
            <a:pPr lvl="1"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1800" dirty="0" smtClean="0">
                <a:latin typeface="Tahoma" pitchFamily="34" charset="0"/>
              </a:rPr>
              <a:t>fixed length (need preliminary reservation of memory)</a:t>
            </a:r>
          </a:p>
          <a:p>
            <a:pPr lvl="1"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1800" dirty="0" smtClean="0">
                <a:latin typeface="Tahoma" pitchFamily="34" charset="0"/>
              </a:rPr>
              <a:t>contiguous memory locations</a:t>
            </a:r>
          </a:p>
          <a:p>
            <a:pPr lvl="1"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1800" dirty="0" smtClean="0">
                <a:latin typeface="Tahoma" pitchFamily="34" charset="0"/>
              </a:rPr>
              <a:t>direct access</a:t>
            </a:r>
          </a:p>
          <a:p>
            <a:pPr lvl="1"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1800" dirty="0" smtClean="0">
                <a:latin typeface="Tahoma" pitchFamily="34" charset="0"/>
              </a:rPr>
              <a:t>Insert/delete</a:t>
            </a:r>
          </a:p>
          <a:p>
            <a:pPr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dirty="0" smtClean="0">
                <a:latin typeface="Tahoma" pitchFamily="34" charset="0"/>
              </a:rPr>
              <a:t>Linked Lists</a:t>
            </a:r>
          </a:p>
          <a:p>
            <a:pPr lvl="1"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1800" dirty="0" smtClean="0">
                <a:latin typeface="Tahoma" pitchFamily="34" charset="0"/>
              </a:rPr>
              <a:t>dynamic length</a:t>
            </a:r>
          </a:p>
          <a:p>
            <a:pPr lvl="1"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1800" dirty="0" smtClean="0">
                <a:latin typeface="Tahoma" pitchFamily="34" charset="0"/>
              </a:rPr>
              <a:t>arbitrary memory locations</a:t>
            </a:r>
          </a:p>
          <a:p>
            <a:pPr lvl="1"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1800" dirty="0" smtClean="0">
                <a:latin typeface="Tahoma" pitchFamily="34" charset="0"/>
              </a:rPr>
              <a:t>access by following links</a:t>
            </a:r>
          </a:p>
          <a:p>
            <a:pPr lvl="1"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1800" dirty="0" smtClean="0">
                <a:latin typeface="Tahoma" pitchFamily="34" charset="0"/>
              </a:rPr>
              <a:t>Insert/delete</a:t>
            </a:r>
            <a:endParaRPr lang="en-CA" altLang="zh-CN" sz="1800" dirty="0" smtClean="0">
              <a:latin typeface="Tahoma" pitchFamily="34" charset="0"/>
            </a:endParaRPr>
          </a:p>
        </p:txBody>
      </p:sp>
      <p:sp>
        <p:nvSpPr>
          <p:cNvPr id="8" name="Slide Number Placeholder 5"/>
          <p:cNvSpPr txBox="1">
            <a:spLocks/>
          </p:cNvSpPr>
          <p:nvPr/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4A4952-06D8-41E7-B4E3-81C9AC6D9B34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幼圆"/>
              </a:rPr>
              <a:t>Stacks, Queues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</p:spPr>
        <p:txBody>
          <a:bodyPr>
            <a:normAutofit/>
          </a:bodyPr>
          <a:lstStyle/>
          <a:p>
            <a:fld id="{B24A4952-06D8-41E7-B4E3-81C9AC6D9B34}" type="slidenum">
              <a:rPr lang="en-US"/>
              <a:pPr/>
              <a:t>13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2133600"/>
            <a:ext cx="6729413" cy="267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幼圆"/>
              </a:rPr>
              <a:t>Graphs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1800" dirty="0" smtClean="0"/>
              <a:t>A graph </a:t>
            </a:r>
            <a:r>
              <a:rPr lang="en-US" sz="1800" i="1" dirty="0" smtClean="0"/>
              <a:t>G = &lt;V, E&gt;</a:t>
            </a:r>
            <a:r>
              <a:rPr lang="en-US" sz="1800" dirty="0" smtClean="0"/>
              <a:t> is defined by a pair of two sets: a finite set V of items called </a:t>
            </a:r>
            <a:r>
              <a:rPr lang="en-US" sz="1800" dirty="0" smtClean="0">
                <a:solidFill>
                  <a:schemeClr val="folHlink"/>
                </a:solidFill>
              </a:rPr>
              <a:t>vertices</a:t>
            </a:r>
            <a:r>
              <a:rPr lang="en-US" sz="1800" dirty="0" smtClean="0"/>
              <a:t> and a set E of vertex pairs called </a:t>
            </a:r>
            <a:r>
              <a:rPr lang="en-US" sz="1800" dirty="0" smtClean="0">
                <a:solidFill>
                  <a:schemeClr val="folHlink"/>
                </a:solidFill>
              </a:rPr>
              <a:t>edges</a:t>
            </a:r>
            <a:r>
              <a:rPr lang="en-US" sz="1800" dirty="0" smtClean="0"/>
              <a:t>.</a:t>
            </a:r>
          </a:p>
          <a:p>
            <a:pPr>
              <a:lnSpc>
                <a:spcPct val="80000"/>
              </a:lnSpc>
            </a:pPr>
            <a:r>
              <a:rPr lang="en-US" sz="1800" dirty="0" smtClean="0">
                <a:solidFill>
                  <a:schemeClr val="folHlink"/>
                </a:solidFill>
              </a:rPr>
              <a:t>Undirected</a:t>
            </a:r>
            <a:r>
              <a:rPr lang="en-US" sz="1800" dirty="0" smtClean="0"/>
              <a:t> and </a:t>
            </a:r>
            <a:r>
              <a:rPr lang="en-US" sz="1800" dirty="0" smtClean="0">
                <a:solidFill>
                  <a:schemeClr val="folHlink"/>
                </a:solidFill>
              </a:rPr>
              <a:t>directed</a:t>
            </a:r>
            <a:r>
              <a:rPr lang="en-US" sz="1800" dirty="0" smtClean="0"/>
              <a:t> graphs (</a:t>
            </a:r>
            <a:r>
              <a:rPr lang="en-US" sz="1800" dirty="0" smtClean="0">
                <a:solidFill>
                  <a:schemeClr val="folHlink"/>
                </a:solidFill>
              </a:rPr>
              <a:t>digraph</a:t>
            </a:r>
            <a:r>
              <a:rPr lang="en-US" sz="1800" dirty="0" smtClean="0"/>
              <a:t>).</a:t>
            </a:r>
          </a:p>
          <a:p>
            <a:pPr>
              <a:lnSpc>
                <a:spcPct val="80000"/>
              </a:lnSpc>
            </a:pPr>
            <a:endParaRPr lang="en-US" sz="2400" dirty="0" smtClean="0"/>
          </a:p>
          <a:p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447800" y="2057400"/>
            <a:ext cx="7229475" cy="2071688"/>
            <a:chOff x="990600" y="4191000"/>
            <a:chExt cx="7229475" cy="2071688"/>
          </a:xfrm>
        </p:grpSpPr>
        <p:pic>
          <p:nvPicPr>
            <p:cNvPr id="5" name="Picture 4" descr="fig01_06"/>
            <p:cNvPicPr>
              <a:picLocks noChangeAspect="1" noChangeArrowheads="1"/>
            </p:cNvPicPr>
            <p:nvPr/>
          </p:nvPicPr>
          <p:blipFill>
            <a:blip r:embed="rId2"/>
            <a:srcRect l="13750" b="36427"/>
            <a:stretch>
              <a:fillRect/>
            </a:stretch>
          </p:blipFill>
          <p:spPr bwMode="auto">
            <a:xfrm>
              <a:off x="990600" y="4191000"/>
              <a:ext cx="7229475" cy="1728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Text Box 5" descr="blue055"/>
            <p:cNvSpPr txBox="1">
              <a:spLocks noChangeArrowheads="1"/>
            </p:cNvSpPr>
            <p:nvPr/>
          </p:nvSpPr>
          <p:spPr bwMode="auto">
            <a:xfrm>
              <a:off x="2352675" y="5792788"/>
              <a:ext cx="522288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/>
                <a:t>(a)</a:t>
              </a:r>
            </a:p>
          </p:txBody>
        </p:sp>
        <p:sp>
          <p:nvSpPr>
            <p:cNvPr id="7" name="Text Box 6" descr="blue055"/>
            <p:cNvSpPr txBox="1">
              <a:spLocks noChangeArrowheads="1"/>
            </p:cNvSpPr>
            <p:nvPr/>
          </p:nvSpPr>
          <p:spPr bwMode="auto">
            <a:xfrm>
              <a:off x="6724650" y="5805488"/>
              <a:ext cx="5397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/>
                <a:t>(b)</a:t>
              </a:r>
            </a:p>
          </p:txBody>
        </p:sp>
      </p:grp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12648" y="6356350"/>
            <a:ext cx="1981200" cy="36576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B009985B-33DA-41CA-BCF4-05DDBD8E26FD}" type="slidenum">
              <a:rPr lang="en-US"/>
              <a:pPr/>
              <a:t>14</a:t>
            </a:fld>
            <a:endParaRPr lang="en-US" dirty="0"/>
          </a:p>
        </p:txBody>
      </p:sp>
      <p:pic>
        <p:nvPicPr>
          <p:cNvPr id="9" name="Picture 4" descr="fig01_07"/>
          <p:cNvPicPr>
            <a:picLocks noChangeAspect="1" noChangeArrowheads="1"/>
          </p:cNvPicPr>
          <p:nvPr/>
        </p:nvPicPr>
        <p:blipFill>
          <a:blip r:embed="rId3"/>
          <a:srcRect l="9767" r="53822" b="30656"/>
          <a:stretch>
            <a:fillRect/>
          </a:stretch>
        </p:blipFill>
        <p:spPr bwMode="auto">
          <a:xfrm>
            <a:off x="228600" y="3962400"/>
            <a:ext cx="2895600" cy="1942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幼圆"/>
              </a:rPr>
              <a:t>2-Sorting Data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24A4952-06D8-41E7-B4E3-81C9AC6D9B34}" type="slidenum">
              <a:rPr lang="en-US"/>
              <a:pPr/>
              <a:t>15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 smtClean="0"/>
              <a:t>Rearrange the items of a given list in ascending</a:t>
            </a:r>
            <a:r>
              <a:rPr lang="en-US" altLang="zh-CN" sz="2400" dirty="0" smtClean="0"/>
              <a:t>/descending</a:t>
            </a:r>
            <a:r>
              <a:rPr lang="en-US" sz="2400" dirty="0" smtClean="0"/>
              <a:t> order.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Input: A sequence of n numbers &lt;a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, </a:t>
            </a:r>
            <a:r>
              <a:rPr lang="en-US" sz="2000" baseline="-25000" dirty="0" smtClean="0"/>
              <a:t>  </a:t>
            </a:r>
            <a:r>
              <a:rPr lang="en-US" sz="2000" dirty="0" smtClean="0"/>
              <a:t>a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, …, a</a:t>
            </a:r>
            <a:r>
              <a:rPr lang="en-US" sz="2000" i="1" baseline="-25000" dirty="0" smtClean="0"/>
              <a:t>n</a:t>
            </a:r>
            <a:r>
              <a:rPr lang="en-US" sz="2000" dirty="0" smtClean="0"/>
              <a:t>&gt;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Output: A reordering &lt;a</a:t>
            </a:r>
            <a:r>
              <a:rPr lang="en-US" sz="2000" baseline="30000" dirty="0" smtClean="0"/>
              <a:t>´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, </a:t>
            </a:r>
            <a:r>
              <a:rPr lang="en-US" sz="2000" baseline="-25000" dirty="0" smtClean="0"/>
              <a:t>  </a:t>
            </a:r>
            <a:r>
              <a:rPr lang="en-US" sz="2000" dirty="0" smtClean="0"/>
              <a:t>a</a:t>
            </a:r>
            <a:r>
              <a:rPr lang="en-US" sz="2000" baseline="30000" dirty="0" smtClean="0"/>
              <a:t>´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, …, </a:t>
            </a:r>
            <a:r>
              <a:rPr lang="en-US" sz="2000" dirty="0" err="1" smtClean="0"/>
              <a:t>a</a:t>
            </a:r>
            <a:r>
              <a:rPr lang="en-US" sz="2000" baseline="30000" dirty="0" err="1" smtClean="0"/>
              <a:t>´</a:t>
            </a:r>
            <a:r>
              <a:rPr lang="en-US" sz="2000" i="1" baseline="-25000" dirty="0" err="1" smtClean="0"/>
              <a:t>n</a:t>
            </a:r>
            <a:r>
              <a:rPr lang="en-US" sz="2000" dirty="0" smtClean="0"/>
              <a:t>&gt; of the input sequence such that a</a:t>
            </a:r>
            <a:r>
              <a:rPr lang="en-US" sz="2000" baseline="30000" dirty="0" smtClean="0"/>
              <a:t>´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≤ a</a:t>
            </a:r>
            <a:r>
              <a:rPr lang="en-US" sz="2000" baseline="30000" dirty="0" smtClean="0"/>
              <a:t>´</a:t>
            </a:r>
            <a:r>
              <a:rPr lang="en-US" sz="2000" baseline="-25000" dirty="0" smtClean="0"/>
              <a:t>2 </a:t>
            </a:r>
            <a:r>
              <a:rPr lang="en-US" sz="2000" dirty="0" smtClean="0"/>
              <a:t>≤</a:t>
            </a:r>
            <a:r>
              <a:rPr lang="en-US" sz="2000" i="1" baseline="-25000" dirty="0" smtClean="0"/>
              <a:t> … </a:t>
            </a:r>
            <a:r>
              <a:rPr lang="en-US" sz="2000" dirty="0" smtClean="0"/>
              <a:t>≤</a:t>
            </a:r>
            <a:r>
              <a:rPr lang="en-US" sz="2000" i="1" baseline="-25000" dirty="0" smtClean="0"/>
              <a:t> </a:t>
            </a:r>
            <a:r>
              <a:rPr lang="en-US" sz="2000" dirty="0" err="1" smtClean="0"/>
              <a:t>a</a:t>
            </a:r>
            <a:r>
              <a:rPr lang="en-US" sz="2000" baseline="30000" dirty="0" err="1" smtClean="0"/>
              <a:t>´</a:t>
            </a:r>
            <a:r>
              <a:rPr lang="en-US" sz="2000" i="1" baseline="-25000" dirty="0" err="1" smtClean="0"/>
              <a:t>n</a:t>
            </a:r>
            <a:r>
              <a:rPr lang="en-US" sz="2000" i="1" baseline="-25000" dirty="0" smtClean="0"/>
              <a:t>.</a:t>
            </a:r>
            <a:endParaRPr lang="en-US" sz="2000" dirty="0" smtClean="0"/>
          </a:p>
          <a:p>
            <a:pPr>
              <a:lnSpc>
                <a:spcPct val="90000"/>
              </a:lnSpc>
            </a:pPr>
            <a:r>
              <a:rPr lang="en-US" sz="2400" dirty="0" smtClean="0"/>
              <a:t>Why sorting?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Help searching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Algorithms often use sorting as a key subroutine.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Sorting key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A specially chosen piece of information used to guide sorting. I.e., sort student records by names.</a:t>
            </a:r>
            <a:endParaRPr lang="en-CA" altLang="zh-CN" sz="20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幼圆"/>
              </a:rPr>
              <a:t>Sorting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24A4952-06D8-41E7-B4E3-81C9AC6D9B34}" type="slidenum">
              <a:rPr lang="en-US"/>
              <a:pPr/>
              <a:t>16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000" dirty="0" smtClean="0"/>
              <a:t>Examples of sorting algorithms</a:t>
            </a:r>
          </a:p>
          <a:p>
            <a:pPr lvl="1">
              <a:lnSpc>
                <a:spcPct val="90000"/>
              </a:lnSpc>
            </a:pPr>
            <a:r>
              <a:rPr lang="en-US" sz="1800" dirty="0" smtClean="0"/>
              <a:t>Bubble sort</a:t>
            </a:r>
            <a:endParaRPr lang="en-US" altLang="zh-CN" sz="1800" dirty="0" smtClean="0"/>
          </a:p>
          <a:p>
            <a:pPr lvl="1">
              <a:lnSpc>
                <a:spcPct val="90000"/>
              </a:lnSpc>
            </a:pPr>
            <a:r>
              <a:rPr lang="en-US" altLang="zh-CN" sz="1800" dirty="0" smtClean="0"/>
              <a:t>Selection sort</a:t>
            </a:r>
            <a:endParaRPr lang="en-US" sz="1800" dirty="0" smtClean="0"/>
          </a:p>
          <a:p>
            <a:pPr lvl="1">
              <a:lnSpc>
                <a:spcPct val="90000"/>
              </a:lnSpc>
            </a:pPr>
            <a:r>
              <a:rPr lang="en-US" sz="1800" dirty="0" smtClean="0"/>
              <a:t>Insertion sort</a:t>
            </a:r>
          </a:p>
          <a:p>
            <a:pPr lvl="1">
              <a:lnSpc>
                <a:spcPct val="90000"/>
              </a:lnSpc>
            </a:pPr>
            <a:r>
              <a:rPr lang="en-US" sz="1800" dirty="0" smtClean="0"/>
              <a:t>Merge sort</a:t>
            </a:r>
            <a:endParaRPr lang="en-US" altLang="zh-CN" sz="1800" dirty="0" smtClean="0"/>
          </a:p>
          <a:p>
            <a:pPr lvl="1">
              <a:lnSpc>
                <a:spcPct val="90000"/>
              </a:lnSpc>
            </a:pPr>
            <a:r>
              <a:rPr lang="en-US" altLang="zh-CN" sz="1800" dirty="0" smtClean="0"/>
              <a:t>Quick sort</a:t>
            </a:r>
            <a:endParaRPr lang="en-US" sz="1800" dirty="0" smtClean="0"/>
          </a:p>
          <a:p>
            <a:pPr>
              <a:lnSpc>
                <a:spcPct val="90000"/>
              </a:lnSpc>
            </a:pPr>
            <a:r>
              <a:rPr lang="en-US" sz="2000" dirty="0" smtClean="0"/>
              <a:t>Evaluate </a:t>
            </a:r>
            <a:r>
              <a:rPr lang="en-US" sz="2000" dirty="0" smtClean="0"/>
              <a:t>sorting algorithm complexity: </a:t>
            </a:r>
            <a:r>
              <a:rPr lang="en-US" sz="2000" b="1" dirty="0" smtClean="0"/>
              <a:t>the number of key comparisons</a:t>
            </a:r>
            <a:r>
              <a:rPr lang="en-US" sz="2000" dirty="0" smtClean="0"/>
              <a:t>. </a:t>
            </a:r>
          </a:p>
          <a:p>
            <a:pPr>
              <a:lnSpc>
                <a:spcPct val="90000"/>
              </a:lnSpc>
            </a:pPr>
            <a:endParaRPr lang="en-US" sz="2000" dirty="0" smtClean="0"/>
          </a:p>
          <a:p>
            <a:pPr>
              <a:lnSpc>
                <a:spcPct val="90000"/>
              </a:lnSpc>
            </a:pPr>
            <a:r>
              <a:rPr lang="en-US" sz="2000" dirty="0" smtClean="0"/>
              <a:t>Sort the following :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3,1,7,3,2,9,6,5</a:t>
            </a:r>
          </a:p>
          <a:p>
            <a:pPr lvl="1">
              <a:lnSpc>
                <a:spcPct val="90000"/>
              </a:lnSpc>
            </a:pPr>
            <a:r>
              <a:rPr lang="en-US" sz="1600" dirty="0" err="1" smtClean="0"/>
              <a:t>f,s,h,e,c,h,y,s</a:t>
            </a:r>
            <a:endParaRPr lang="en-US" sz="1600" dirty="0" smtClean="0"/>
          </a:p>
          <a:p>
            <a:pPr lvl="1">
              <a:lnSpc>
                <a:spcPct val="90000"/>
              </a:lnSpc>
            </a:pPr>
            <a:r>
              <a:rPr lang="en-US" sz="1600" dirty="0" smtClean="0"/>
              <a:t>Mohamed, Ahmed, </a:t>
            </a:r>
            <a:r>
              <a:rPr lang="en-US" sz="1600" dirty="0" err="1" smtClean="0"/>
              <a:t>Manal</a:t>
            </a:r>
            <a:r>
              <a:rPr lang="en-US" sz="1600" dirty="0" smtClean="0"/>
              <a:t>, </a:t>
            </a:r>
            <a:r>
              <a:rPr lang="en-US" sz="1600" dirty="0" err="1" smtClean="0"/>
              <a:t>Karema</a:t>
            </a:r>
            <a:endParaRPr lang="en-US" sz="1600" dirty="0" smtClean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 descr="blue05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幼圆"/>
              </a:rPr>
              <a:t>3-Searching for data</a:t>
            </a:r>
            <a:endParaRPr lang="en-CA" altLang="zh-CN" dirty="0" smtClean="0">
              <a:ea typeface="SimSun" pitchFamily="2" charset="-122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24A4952-06D8-41E7-B4E3-81C9AC6D9B34}" type="slidenum">
              <a:rPr lang="en-US"/>
              <a:pPr/>
              <a:t>17</a:t>
            </a:fld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 smtClean="0"/>
              <a:t>Find a given value, called a </a:t>
            </a:r>
            <a:r>
              <a:rPr lang="en-US" sz="2400" b="1" u="sng" dirty="0" smtClean="0">
                <a:solidFill>
                  <a:srgbClr val="FF0000"/>
                </a:solidFill>
              </a:rPr>
              <a:t>search key</a:t>
            </a:r>
            <a:r>
              <a:rPr lang="en-US" sz="2400" dirty="0" smtClean="0"/>
              <a:t>, in a given set.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Examples of searching algorithms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Sequential searching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Binary searching…</a:t>
            </a:r>
          </a:p>
          <a:p>
            <a:pPr lvl="1">
              <a:lnSpc>
                <a:spcPct val="90000"/>
              </a:lnSpc>
            </a:pPr>
            <a:endParaRPr lang="en-US" sz="2000" dirty="0" smtClean="0"/>
          </a:p>
          <a:p>
            <a:pPr>
              <a:lnSpc>
                <a:spcPct val="90000"/>
              </a:lnSpc>
            </a:pPr>
            <a:r>
              <a:rPr lang="en-US" sz="2400" dirty="0" smtClean="0"/>
              <a:t>What is </a:t>
            </a:r>
            <a:r>
              <a:rPr lang="en-US" sz="2400" dirty="0" err="1" smtClean="0"/>
              <a:t>Hamza</a:t>
            </a:r>
            <a:r>
              <a:rPr lang="en-US" sz="2400" dirty="0" smtClean="0"/>
              <a:t> Age? Search for </a:t>
            </a:r>
            <a:r>
              <a:rPr lang="en-US" sz="2400" dirty="0" err="1" smtClean="0"/>
              <a:t>Hamza</a:t>
            </a:r>
            <a:endParaRPr lang="en-US" sz="2400" dirty="0" smtClean="0"/>
          </a:p>
          <a:p>
            <a:pPr lvl="1">
              <a:lnSpc>
                <a:spcPct val="90000"/>
              </a:lnSpc>
              <a:buNone/>
            </a:pPr>
            <a:endParaRPr lang="en-US" sz="2000" dirty="0" smtClean="0"/>
          </a:p>
          <a:p>
            <a:pPr lvl="1">
              <a:lnSpc>
                <a:spcPct val="90000"/>
              </a:lnSpc>
              <a:buNone/>
            </a:pPr>
            <a:endParaRPr lang="en-US" sz="2000" dirty="0" smtClean="0"/>
          </a:p>
          <a:p>
            <a:pPr lvl="1">
              <a:lnSpc>
                <a:spcPct val="90000"/>
              </a:lnSpc>
              <a:buNone/>
            </a:pPr>
            <a:endParaRPr lang="en-US" sz="2000" dirty="0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zh-CN" altLang="en-CA" sz="2400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798" y="3886200"/>
          <a:ext cx="7924805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534"/>
                <a:gridCol w="880534"/>
                <a:gridCol w="880534"/>
                <a:gridCol w="880534"/>
                <a:gridCol w="880534"/>
                <a:gridCol w="880534"/>
                <a:gridCol w="880534"/>
                <a:gridCol w="968584"/>
                <a:gridCol w="792483"/>
              </a:tblGrid>
              <a:tr h="589031">
                <a:tc>
                  <a:txBody>
                    <a:bodyPr/>
                    <a:lstStyle/>
                    <a:p>
                      <a:r>
                        <a:rPr kumimoji="0" lang="en-US" sz="12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Ahmed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2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Amal</a:t>
                      </a:r>
                      <a:endParaRPr kumimoji="0" lang="en-US" sz="1200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2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Basma</a:t>
                      </a:r>
                      <a:endParaRPr kumimoji="0" lang="en-US" sz="1200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2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2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Hamza</a:t>
                      </a:r>
                      <a:endParaRPr kumimoji="0" lang="en-US" sz="1200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2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Kareem</a:t>
                      </a:r>
                      <a:endParaRPr kumimoji="0" 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2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Kamel</a:t>
                      </a:r>
                      <a:endParaRPr kumimoji="0" 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2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Mohamed</a:t>
                      </a:r>
                      <a:endParaRPr kumimoji="0" 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2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Nadia</a:t>
                      </a:r>
                    </a:p>
                  </a:txBody>
                  <a:tcPr/>
                </a:tc>
              </a:tr>
              <a:tr h="477769">
                <a:tc>
                  <a:txBody>
                    <a:bodyPr/>
                    <a:lstStyle/>
                    <a:p>
                      <a:r>
                        <a:rPr kumimoji="0" lang="en-US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幼圆"/>
              </a:rPr>
              <a:t>Other algorithm problems	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24A4952-06D8-41E7-B4E3-81C9AC6D9B34}" type="slidenum">
              <a:rPr lang="en-US"/>
              <a:pPr/>
              <a:t>18</a:t>
            </a:fld>
            <a:endParaRPr lang="en-US"/>
          </a:p>
        </p:txBody>
      </p:sp>
      <p:sp>
        <p:nvSpPr>
          <p:cNvPr id="1536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Combinatorial problems</a:t>
            </a:r>
          </a:p>
          <a:p>
            <a:pPr lvl="1"/>
            <a:r>
              <a:rPr lang="en-US" dirty="0" smtClean="0"/>
              <a:t>Find a combinatorial object: permutation, combination, subset that satisfies constraints and objectives</a:t>
            </a:r>
          </a:p>
          <a:p>
            <a:r>
              <a:rPr lang="en-US" dirty="0" smtClean="0"/>
              <a:t>Geometric problems</a:t>
            </a:r>
          </a:p>
          <a:p>
            <a:pPr lvl="1"/>
            <a:r>
              <a:rPr lang="en-US" dirty="0" smtClean="0"/>
              <a:t>Closest-pair problem: given n points in the plane, find the closest pair (Data mining - cluster)</a:t>
            </a:r>
          </a:p>
          <a:p>
            <a:r>
              <a:rPr lang="en-US" dirty="0" smtClean="0"/>
              <a:t>Numerical problems</a:t>
            </a:r>
          </a:p>
          <a:p>
            <a:pPr lvl="1"/>
            <a:r>
              <a:rPr lang="en-US" dirty="0" smtClean="0"/>
              <a:t>Solving equations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4-Algorithm Analysis: Why?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921C400-AFDC-42F4-8CA7-55653080FCB3}" type="slidenum">
              <a:rPr lang="en-US"/>
              <a:pPr/>
              <a:t>19</a:t>
            </a:fld>
            <a:endParaRPr lang="en-US"/>
          </a:p>
        </p:txBody>
      </p:sp>
      <p:sp>
        <p:nvSpPr>
          <p:cNvPr id="552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Correctness</a:t>
            </a:r>
            <a:r>
              <a:rPr lang="en-US" dirty="0">
                <a:solidFill>
                  <a:schemeClr val="accent2"/>
                </a:solidFill>
              </a:rPr>
              <a:t>:</a:t>
            </a:r>
            <a:r>
              <a:rPr lang="en-US" dirty="0"/>
              <a:t> 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Does the algorithm do what is intended.</a:t>
            </a:r>
          </a:p>
          <a:p>
            <a:pPr>
              <a:lnSpc>
                <a:spcPct val="90000"/>
              </a:lnSpc>
            </a:pPr>
            <a:r>
              <a:rPr lang="en-US" dirty="0"/>
              <a:t>Performance: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What is the running time of the algorithm.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How much storage does it consume.</a:t>
            </a:r>
          </a:p>
          <a:p>
            <a:pPr>
              <a:lnSpc>
                <a:spcPct val="90000"/>
              </a:lnSpc>
            </a:pPr>
            <a:r>
              <a:rPr lang="en-US" dirty="0"/>
              <a:t>Different algorithms may correctly solve a given task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Which should I use?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Measuring Performance: Empirical Approach</a:t>
            </a:r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B36E515-3BF5-4C13-9D70-50CDB42DCBBA}" type="slidenum">
              <a:rPr lang="en-US"/>
              <a:pPr/>
              <a:t>20</a:t>
            </a:fld>
            <a:endParaRPr lang="en-US"/>
          </a:p>
        </p:txBody>
      </p:sp>
      <p:sp>
        <p:nvSpPr>
          <p:cNvPr id="18436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>
            <a:normAutofit/>
          </a:bodyPr>
          <a:lstStyle/>
          <a:p>
            <a:r>
              <a:rPr lang="en-US" dirty="0" smtClean="0"/>
              <a:t>Implement it, run it, time it (averaging trials)</a:t>
            </a:r>
          </a:p>
          <a:p>
            <a:pPr lvl="1"/>
            <a:r>
              <a:rPr lang="en-US" dirty="0" smtClean="0"/>
              <a:t>Pros?</a:t>
            </a:r>
          </a:p>
          <a:p>
            <a:pPr lvl="2"/>
            <a:r>
              <a:rPr lang="en-US" dirty="0" smtClean="0"/>
              <a:t>No math!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Cons?</a:t>
            </a:r>
          </a:p>
          <a:p>
            <a:pPr lvl="2"/>
            <a:r>
              <a:rPr lang="en-US" dirty="0" smtClean="0"/>
              <a:t>Need to implement code</a:t>
            </a:r>
          </a:p>
          <a:p>
            <a:pPr lvl="2"/>
            <a:r>
              <a:rPr lang="en-US" dirty="0" smtClean="0"/>
              <a:t>When comparing two algorithms, all other factors need to be held constant (e.g., same computer, OS, processor, load)</a:t>
            </a:r>
          </a:p>
          <a:p>
            <a:pPr lvl="2"/>
            <a:r>
              <a:rPr lang="en-US" dirty="0" smtClean="0"/>
              <a:t>A really bad algorithm could take a really long time to execute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Measuring Performance: Analytical Approach</a:t>
            </a:r>
          </a:p>
        </p:txBody>
      </p:sp>
      <p:sp>
        <p:nvSpPr>
          <p:cNvPr id="1946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885DA82-13C2-4F31-A1B6-E1B52621C96D}" type="slidenum">
              <a:rPr lang="en-US"/>
              <a:pPr/>
              <a:t>21</a:t>
            </a:fld>
            <a:endParaRPr lang="en-US"/>
          </a:p>
        </p:txBody>
      </p:sp>
      <p:sp>
        <p:nvSpPr>
          <p:cNvPr id="19459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r>
              <a:rPr lang="en-US" dirty="0" smtClean="0"/>
              <a:t>Use a simple model for basic operation costs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Computational Model</a:t>
            </a:r>
          </a:p>
          <a:p>
            <a:pPr lvl="1"/>
            <a:r>
              <a:rPr lang="en-US" dirty="0" smtClean="0"/>
              <a:t>has all the basic operations:</a:t>
            </a:r>
            <a:br>
              <a:rPr lang="en-US" dirty="0" smtClean="0"/>
            </a:br>
            <a:r>
              <a:rPr lang="en-US" dirty="0" smtClean="0"/>
              <a:t>+, -, *, / , =, comparisons</a:t>
            </a:r>
          </a:p>
          <a:p>
            <a:pPr lvl="1"/>
            <a:r>
              <a:rPr lang="en-US" dirty="0" smtClean="0"/>
              <a:t>infinite memory</a:t>
            </a:r>
          </a:p>
          <a:p>
            <a:pPr lvl="1"/>
            <a:r>
              <a:rPr lang="en-US" dirty="0" smtClean="0"/>
              <a:t>all basic operations take exactly one time T unit to execute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smtClean="0"/>
              <a:t>Measuring Performance: Analytical Approach</a:t>
            </a:r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B4E8E5E-FA5A-4842-9F57-8F929643FD09}" type="slidenum">
              <a:rPr lang="en-US"/>
              <a:pPr/>
              <a:t>22</a:t>
            </a:fld>
            <a:endParaRPr lang="en-US"/>
          </a:p>
        </p:txBody>
      </p:sp>
      <p:sp>
        <p:nvSpPr>
          <p:cNvPr id="21508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r>
              <a:rPr lang="en-US" smtClean="0"/>
              <a:t>Analyze steps of algorithm, estimating amount of work each step takes</a:t>
            </a:r>
          </a:p>
          <a:p>
            <a:pPr lvl="1"/>
            <a:r>
              <a:rPr lang="en-US" smtClean="0"/>
              <a:t>Pros?</a:t>
            </a:r>
          </a:p>
          <a:p>
            <a:pPr lvl="2"/>
            <a:r>
              <a:rPr lang="en-US" smtClean="0"/>
              <a:t>Independent of system-specific configuration</a:t>
            </a:r>
          </a:p>
          <a:p>
            <a:pPr lvl="2"/>
            <a:r>
              <a:rPr lang="en-US" smtClean="0"/>
              <a:t>Good for estimating</a:t>
            </a:r>
          </a:p>
          <a:p>
            <a:pPr lvl="2"/>
            <a:r>
              <a:rPr lang="en-US" smtClean="0"/>
              <a:t>Don't need to implement code</a:t>
            </a:r>
          </a:p>
          <a:p>
            <a:pPr lvl="1"/>
            <a:r>
              <a:rPr lang="en-US" smtClean="0"/>
              <a:t>Cons?</a:t>
            </a:r>
          </a:p>
          <a:p>
            <a:pPr lvl="2"/>
            <a:r>
              <a:rPr lang="en-US" smtClean="0"/>
              <a:t>Won't give you info exact runtimes optimizations made by the computer architecture</a:t>
            </a:r>
          </a:p>
          <a:p>
            <a:pPr lvl="2"/>
            <a:r>
              <a:rPr lang="en-US" smtClean="0"/>
              <a:t>Only gives useful information for large problem sizes</a:t>
            </a:r>
          </a:p>
          <a:p>
            <a:pPr lvl="2"/>
            <a:r>
              <a:rPr lang="en-US" smtClean="0"/>
              <a:t>In real life, not all operations take exactly the same time (multiplication takes longer than addition) and have memory limitations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Analyzing Performance</a:t>
            </a:r>
          </a:p>
        </p:txBody>
      </p:sp>
      <p:sp>
        <p:nvSpPr>
          <p:cNvPr id="2253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5B73707-3769-4004-B083-5FD68D938475}" type="slidenum">
              <a:rPr lang="en-US"/>
              <a:pPr/>
              <a:t>23</a:t>
            </a:fld>
            <a:endParaRPr lang="en-US"/>
          </a:p>
        </p:txBody>
      </p:sp>
      <p:sp>
        <p:nvSpPr>
          <p:cNvPr id="22531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r>
              <a:rPr lang="en-US" smtClean="0"/>
              <a:t>General “rules” to help measure how long it takes to do things:</a:t>
            </a:r>
          </a:p>
        </p:txBody>
      </p:sp>
      <p:sp>
        <p:nvSpPr>
          <p:cNvPr id="5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25438" y="2243138"/>
            <a:ext cx="3890962" cy="280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 algn="r" defTabSz="914400"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en-US" sz="2400" b="1">
                <a:latin typeface="Gill Sans MT" pitchFamily="-1" charset="0"/>
              </a:rPr>
              <a:t>Basic operations</a:t>
            </a:r>
          </a:p>
          <a:p>
            <a:pPr marL="273050" indent="-273050" algn="r" defTabSz="914400"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en-US" sz="2400" b="1">
                <a:latin typeface="Gill Sans MT" pitchFamily="-1" charset="0"/>
              </a:rPr>
              <a:t>Consecutive statements</a:t>
            </a:r>
          </a:p>
          <a:p>
            <a:pPr marL="273050" indent="-273050" algn="r" defTabSz="914400"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en-US" sz="2400" b="1">
                <a:latin typeface="Gill Sans MT" pitchFamily="-1" charset="0"/>
              </a:rPr>
              <a:t>Conditionals</a:t>
            </a:r>
          </a:p>
          <a:p>
            <a:pPr marL="273050" indent="-273050" algn="r" defTabSz="914400"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en-US" sz="2400" b="1">
                <a:latin typeface="Gill Sans MT" pitchFamily="-1" charset="0"/>
              </a:rPr>
              <a:t>Loops</a:t>
            </a:r>
          </a:p>
          <a:p>
            <a:pPr marL="273050" indent="-273050" algn="r" defTabSz="914400"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en-US" sz="2400" b="1">
                <a:latin typeface="Gill Sans MT" pitchFamily="-1" charset="0"/>
              </a:rPr>
              <a:t>Function calls</a:t>
            </a:r>
          </a:p>
          <a:p>
            <a:pPr marL="273050" indent="-273050" algn="r" defTabSz="914400"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en-US" sz="2400" b="1">
                <a:latin typeface="Gill Sans MT" pitchFamily="-1" charset="0"/>
              </a:rPr>
              <a:t>Recursive functions</a:t>
            </a:r>
          </a:p>
        </p:txBody>
      </p:sp>
      <p:sp>
        <p:nvSpPr>
          <p:cNvPr id="6" name="Rectangle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629150" y="2243138"/>
            <a:ext cx="4343400" cy="280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 defTabSz="914400">
              <a:spcBef>
                <a:spcPts val="600"/>
              </a:spcBef>
              <a:buClr>
                <a:schemeClr val="hlink"/>
              </a:buClr>
              <a:buSzPct val="110000"/>
              <a:buFont typeface="Wingdings" pitchFamily="-1" charset="2"/>
              <a:buNone/>
            </a:pPr>
            <a:r>
              <a:rPr lang="en-US" sz="2400" dirty="0">
                <a:solidFill>
                  <a:srgbClr val="C00000"/>
                </a:solidFill>
                <a:latin typeface="Gill Sans MT" pitchFamily="-1" charset="0"/>
              </a:rPr>
              <a:t>Constant time</a:t>
            </a:r>
          </a:p>
          <a:p>
            <a:pPr marL="273050" indent="-273050" defTabSz="914400">
              <a:spcBef>
                <a:spcPts val="600"/>
              </a:spcBef>
              <a:buClr>
                <a:schemeClr val="hlink"/>
              </a:buClr>
              <a:buSzPct val="110000"/>
              <a:buFont typeface="Wingdings" pitchFamily="-1" charset="2"/>
              <a:buNone/>
            </a:pPr>
            <a:r>
              <a:rPr lang="en-US" sz="2400" dirty="0">
                <a:solidFill>
                  <a:srgbClr val="C00000"/>
                </a:solidFill>
                <a:latin typeface="Gill Sans MT" pitchFamily="-1" charset="0"/>
              </a:rPr>
              <a:t>Sum of number of statements</a:t>
            </a:r>
          </a:p>
          <a:p>
            <a:pPr marL="273050" indent="-273050" defTabSz="914400">
              <a:spcBef>
                <a:spcPts val="600"/>
              </a:spcBef>
              <a:buClr>
                <a:schemeClr val="hlink"/>
              </a:buClr>
              <a:buSzPct val="110000"/>
              <a:buFont typeface="Wingdings" pitchFamily="-1" charset="2"/>
              <a:buNone/>
            </a:pPr>
            <a:r>
              <a:rPr lang="en-US" sz="2400" dirty="0">
                <a:solidFill>
                  <a:srgbClr val="C00000"/>
                </a:solidFill>
                <a:latin typeface="Gill Sans MT" pitchFamily="-1" charset="0"/>
              </a:rPr>
              <a:t>Test, plus larger branch cost</a:t>
            </a:r>
          </a:p>
          <a:p>
            <a:pPr marL="273050" indent="-273050" defTabSz="914400">
              <a:spcBef>
                <a:spcPts val="600"/>
              </a:spcBef>
              <a:buClr>
                <a:schemeClr val="hlink"/>
              </a:buClr>
              <a:buSzPct val="110000"/>
              <a:buFont typeface="Wingdings" pitchFamily="-1" charset="2"/>
              <a:buNone/>
            </a:pPr>
            <a:r>
              <a:rPr lang="en-US" sz="2400" dirty="0">
                <a:solidFill>
                  <a:srgbClr val="C00000"/>
                </a:solidFill>
                <a:latin typeface="Gill Sans MT" pitchFamily="-1" charset="0"/>
              </a:rPr>
              <a:t>Sum of iterations</a:t>
            </a:r>
          </a:p>
          <a:p>
            <a:pPr marL="273050" indent="-273050" defTabSz="914400">
              <a:spcBef>
                <a:spcPts val="600"/>
              </a:spcBef>
              <a:buClr>
                <a:schemeClr val="hlink"/>
              </a:buClr>
              <a:buSzPct val="110000"/>
              <a:buFont typeface="Wingdings" pitchFamily="-1" charset="2"/>
              <a:buNone/>
            </a:pPr>
            <a:r>
              <a:rPr lang="en-US" sz="2400" dirty="0">
                <a:solidFill>
                  <a:srgbClr val="C00000"/>
                </a:solidFill>
                <a:latin typeface="Gill Sans MT" pitchFamily="-1" charset="0"/>
              </a:rPr>
              <a:t>Cost of function body</a:t>
            </a:r>
          </a:p>
          <a:p>
            <a:pPr marL="273050" indent="-273050" defTabSz="914400">
              <a:spcBef>
                <a:spcPts val="600"/>
              </a:spcBef>
              <a:buClr>
                <a:schemeClr val="hlink"/>
              </a:buClr>
              <a:buSzPct val="110000"/>
              <a:buFont typeface="Wingdings" pitchFamily="-1" charset="2"/>
              <a:buNone/>
            </a:pPr>
            <a:r>
              <a:rPr lang="en-US" sz="2400" dirty="0">
                <a:solidFill>
                  <a:srgbClr val="C00000"/>
                </a:solidFill>
                <a:latin typeface="Gill Sans MT" pitchFamily="-1" charset="0"/>
              </a:rPr>
              <a:t>Solve “recurrence relation”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Efficiency examples</a:t>
            </a:r>
          </a:p>
        </p:txBody>
      </p:sp>
      <p:sp>
        <p:nvSpPr>
          <p:cNvPr id="23555" name="Slide Number Placeholder 17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701286A-8D38-4152-8FF9-0D6422C3AB45}" type="slidenum">
              <a:rPr lang="en-US"/>
              <a:pPr/>
              <a:t>24</a:t>
            </a:fld>
            <a:endParaRPr lang="en-US"/>
          </a:p>
        </p:txBody>
      </p:sp>
      <p:sp>
        <p:nvSpPr>
          <p:cNvPr id="25604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>
            <a:normAutofit/>
          </a:bodyPr>
          <a:lstStyle/>
          <a:p>
            <a:pPr eaLnBrk="1" hangingPunct="1">
              <a:lnSpc>
                <a:spcPct val="70000"/>
              </a:lnSpc>
              <a:buFontTx/>
              <a:buNone/>
            </a:pPr>
            <a:endParaRPr lang="en-US" sz="2400" b="1" smtClean="0"/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400" b="1" smtClean="0"/>
              <a:t>statement1</a:t>
            </a:r>
            <a:r>
              <a:rPr lang="en-US" sz="2400" smtClean="0">
                <a:latin typeface="Courier New" pitchFamily="-1" charset="0"/>
              </a:rPr>
              <a:t>;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400" b="1" smtClean="0"/>
              <a:t>statement2</a:t>
            </a:r>
            <a:r>
              <a:rPr lang="en-US" sz="2400" smtClean="0">
                <a:latin typeface="Courier New" pitchFamily="-1" charset="0"/>
              </a:rPr>
              <a:t>;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400" b="1" smtClean="0"/>
              <a:t>statement3</a:t>
            </a:r>
            <a:r>
              <a:rPr lang="en-US" sz="2400" smtClean="0">
                <a:latin typeface="Courier New" pitchFamily="-1" charset="0"/>
              </a:rPr>
              <a:t>;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endParaRPr lang="en-US" sz="2400" smtClean="0">
              <a:latin typeface="Courier New" pitchFamily="-1" charset="0"/>
            </a:endParaRP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400" smtClean="0">
                <a:latin typeface="Courier New" pitchFamily="-1" charset="0"/>
              </a:rPr>
              <a:t>for (int i = 1; i &lt;= N; i++) {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400" smtClean="0">
                <a:latin typeface="Courier New" pitchFamily="-1" charset="0"/>
              </a:rPr>
              <a:t>    </a:t>
            </a:r>
            <a:r>
              <a:rPr lang="en-US" sz="2400" b="1" smtClean="0"/>
              <a:t>statement4</a:t>
            </a:r>
            <a:r>
              <a:rPr lang="en-US" sz="2400" smtClean="0">
                <a:latin typeface="Courier New" pitchFamily="-1" charset="0"/>
              </a:rPr>
              <a:t>;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400" smtClean="0">
                <a:latin typeface="Courier New" pitchFamily="-1" charset="0"/>
              </a:rPr>
              <a:t>}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endParaRPr lang="en-US" sz="2400" smtClean="0">
              <a:latin typeface="Courier New" pitchFamily="-1" charset="0"/>
            </a:endParaRP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400" smtClean="0">
                <a:latin typeface="Courier New" pitchFamily="-1" charset="0"/>
              </a:rPr>
              <a:t>for (int i = 1; i &lt;= N; i++) {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400" smtClean="0">
                <a:latin typeface="Courier New" pitchFamily="-1" charset="0"/>
              </a:rPr>
              <a:t>    </a:t>
            </a:r>
            <a:r>
              <a:rPr lang="en-US" sz="2400" b="1" smtClean="0"/>
              <a:t>statement5</a:t>
            </a:r>
            <a:r>
              <a:rPr lang="en-US" sz="2400" smtClean="0">
                <a:latin typeface="Courier New" pitchFamily="-1" charset="0"/>
              </a:rPr>
              <a:t>;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400" smtClean="0">
                <a:latin typeface="Courier New" pitchFamily="-1" charset="0"/>
              </a:rPr>
              <a:t>    </a:t>
            </a:r>
            <a:r>
              <a:rPr lang="en-US" sz="2400" b="1" smtClean="0"/>
              <a:t>statement6</a:t>
            </a:r>
            <a:r>
              <a:rPr lang="en-US" sz="2400" smtClean="0">
                <a:latin typeface="Courier New" pitchFamily="-1" charset="0"/>
              </a:rPr>
              <a:t>;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400" smtClean="0">
                <a:latin typeface="Courier New" pitchFamily="-1" charset="0"/>
              </a:rPr>
              <a:t>    </a:t>
            </a:r>
            <a:r>
              <a:rPr lang="en-US" sz="2400" b="1" smtClean="0"/>
              <a:t>statement7</a:t>
            </a:r>
            <a:r>
              <a:rPr lang="en-US" sz="2400" smtClean="0">
                <a:latin typeface="Courier New" pitchFamily="-1" charset="0"/>
              </a:rPr>
              <a:t>;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400" smtClean="0">
                <a:latin typeface="Courier New" pitchFamily="-1" charset="0"/>
              </a:rPr>
              <a:t>}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2316163" y="1489075"/>
            <a:ext cx="777875" cy="1143000"/>
            <a:chOff x="1440" y="816"/>
            <a:chExt cx="490" cy="720"/>
          </a:xfrm>
        </p:grpSpPr>
        <p:sp>
          <p:nvSpPr>
            <p:cNvPr id="23567" name="AutoShape 4"/>
            <p:cNvSpPr>
              <a:spLocks/>
            </p:cNvSpPr>
            <p:nvPr/>
          </p:nvSpPr>
          <p:spPr bwMode="auto">
            <a:xfrm>
              <a:off x="1440" y="816"/>
              <a:ext cx="240" cy="720"/>
            </a:xfrm>
            <a:prstGeom prst="rightBrace">
              <a:avLst>
                <a:gd name="adj1" fmla="val 25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latin typeface="Calibri" pitchFamily="-1" charset="0"/>
              </a:endParaRPr>
            </a:p>
          </p:txBody>
        </p:sp>
        <p:sp>
          <p:nvSpPr>
            <p:cNvPr id="23568" name="Text Box 9"/>
            <p:cNvSpPr txBox="1">
              <a:spLocks noChangeArrowheads="1"/>
            </p:cNvSpPr>
            <p:nvPr/>
          </p:nvSpPr>
          <p:spPr bwMode="auto">
            <a:xfrm>
              <a:off x="1709" y="1029"/>
              <a:ext cx="22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>
                  <a:latin typeface="Tahoma" pitchFamily="-1" charset="0"/>
                </a:rPr>
                <a:t>3</a:t>
              </a:r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6242050" y="2901950"/>
            <a:ext cx="914400" cy="990600"/>
            <a:chOff x="3648" y="1728"/>
            <a:chExt cx="576" cy="624"/>
          </a:xfrm>
        </p:grpSpPr>
        <p:sp>
          <p:nvSpPr>
            <p:cNvPr id="23565" name="AutoShape 6"/>
            <p:cNvSpPr>
              <a:spLocks/>
            </p:cNvSpPr>
            <p:nvPr/>
          </p:nvSpPr>
          <p:spPr bwMode="auto">
            <a:xfrm>
              <a:off x="3648" y="1728"/>
              <a:ext cx="240" cy="624"/>
            </a:xfrm>
            <a:prstGeom prst="rightBrace">
              <a:avLst>
                <a:gd name="adj1" fmla="val 216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-1" charset="0"/>
              </a:endParaRPr>
            </a:p>
          </p:txBody>
        </p:sp>
        <p:sp>
          <p:nvSpPr>
            <p:cNvPr id="23566" name="Text Box 10"/>
            <p:cNvSpPr txBox="1">
              <a:spLocks noChangeArrowheads="1"/>
            </p:cNvSpPr>
            <p:nvPr/>
          </p:nvSpPr>
          <p:spPr bwMode="auto">
            <a:xfrm>
              <a:off x="3980" y="1872"/>
              <a:ext cx="2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>
                  <a:latin typeface="Tahoma" pitchFamily="-1" charset="0"/>
                </a:rPr>
                <a:t>N</a:t>
              </a:r>
            </a:p>
          </p:txBody>
        </p:sp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6242050" y="4237038"/>
            <a:ext cx="1066800" cy="1752600"/>
            <a:chOff x="3648" y="2688"/>
            <a:chExt cx="672" cy="1104"/>
          </a:xfrm>
        </p:grpSpPr>
        <p:sp>
          <p:nvSpPr>
            <p:cNvPr id="23563" name="AutoShape 7"/>
            <p:cNvSpPr>
              <a:spLocks/>
            </p:cNvSpPr>
            <p:nvPr/>
          </p:nvSpPr>
          <p:spPr bwMode="auto">
            <a:xfrm>
              <a:off x="3648" y="2688"/>
              <a:ext cx="240" cy="1104"/>
            </a:xfrm>
            <a:prstGeom prst="rightBrace">
              <a:avLst>
                <a:gd name="adj1" fmla="val 38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-1" charset="0"/>
              </a:endParaRPr>
            </a:p>
          </p:txBody>
        </p:sp>
        <p:sp>
          <p:nvSpPr>
            <p:cNvPr id="23564" name="Text Box 11"/>
            <p:cNvSpPr txBox="1">
              <a:spLocks noChangeArrowheads="1"/>
            </p:cNvSpPr>
            <p:nvPr/>
          </p:nvSpPr>
          <p:spPr bwMode="auto">
            <a:xfrm>
              <a:off x="3971" y="3072"/>
              <a:ext cx="34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>
                  <a:latin typeface="Tahoma" pitchFamily="-1" charset="0"/>
                </a:rPr>
                <a:t>3N</a:t>
              </a:r>
            </a:p>
          </p:txBody>
        </p:sp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7308850" y="1219200"/>
            <a:ext cx="1752600" cy="4937125"/>
            <a:chOff x="4512" y="768"/>
            <a:chExt cx="1104" cy="3264"/>
          </a:xfrm>
        </p:grpSpPr>
        <p:sp>
          <p:nvSpPr>
            <p:cNvPr id="23561" name="AutoShape 8"/>
            <p:cNvSpPr>
              <a:spLocks/>
            </p:cNvSpPr>
            <p:nvPr/>
          </p:nvSpPr>
          <p:spPr bwMode="auto">
            <a:xfrm>
              <a:off x="4512" y="768"/>
              <a:ext cx="384" cy="3264"/>
            </a:xfrm>
            <a:prstGeom prst="rightBrace">
              <a:avLst>
                <a:gd name="adj1" fmla="val 70833"/>
                <a:gd name="adj2" fmla="val 47009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-1" charset="0"/>
              </a:endParaRPr>
            </a:p>
          </p:txBody>
        </p:sp>
        <p:sp>
          <p:nvSpPr>
            <p:cNvPr id="23562" name="Text Box 12"/>
            <p:cNvSpPr txBox="1">
              <a:spLocks noChangeArrowheads="1"/>
            </p:cNvSpPr>
            <p:nvPr/>
          </p:nvSpPr>
          <p:spPr bwMode="auto">
            <a:xfrm>
              <a:off x="4902" y="2160"/>
              <a:ext cx="714" cy="3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400">
                  <a:latin typeface="Tahoma" pitchFamily="-1" charset="0"/>
                </a:rPr>
                <a:t>4N + 3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Efficiency examples 2</a:t>
            </a:r>
          </a:p>
        </p:txBody>
      </p:sp>
      <p:sp>
        <p:nvSpPr>
          <p:cNvPr id="24579" name="Slide Number Placeholder 1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5A9908D-D8B8-4A74-BAB8-634DF180AF5C}" type="slidenum">
              <a:rPr lang="en-US"/>
              <a:pPr/>
              <a:t>25</a:t>
            </a:fld>
            <a:endParaRPr lang="en-US"/>
          </a:p>
        </p:txBody>
      </p:sp>
      <p:sp>
        <p:nvSpPr>
          <p:cNvPr id="2611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>
            <a:normAutofit/>
          </a:bodyPr>
          <a:lstStyle/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400" smtClean="0">
                <a:latin typeface="Courier New" pitchFamily="-1" charset="0"/>
              </a:rPr>
              <a:t>for (int i = 1; i &lt;= N; i++) {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400" smtClean="0">
                <a:latin typeface="Courier New" pitchFamily="-1" charset="0"/>
              </a:rPr>
              <a:t>    for (int j = 1; j &lt;= N; j++) {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400" smtClean="0">
                <a:latin typeface="Courier New" pitchFamily="-1" charset="0"/>
              </a:rPr>
              <a:t>        </a:t>
            </a:r>
            <a:r>
              <a:rPr lang="en-US" sz="2400" b="1" smtClean="0"/>
              <a:t>statement1</a:t>
            </a:r>
            <a:r>
              <a:rPr lang="en-US" sz="2400" smtClean="0">
                <a:latin typeface="Courier New" pitchFamily="-1" charset="0"/>
              </a:rPr>
              <a:t>;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400" smtClean="0">
                <a:latin typeface="Courier New" pitchFamily="-1" charset="0"/>
              </a:rPr>
              <a:t>    }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400" smtClean="0">
                <a:latin typeface="Courier New" pitchFamily="-1" charset="0"/>
              </a:rPr>
              <a:t>}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endParaRPr lang="en-US" sz="2400" smtClean="0">
              <a:latin typeface="Courier New" pitchFamily="-1" charset="0"/>
            </a:endParaRP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400" smtClean="0">
                <a:latin typeface="Courier New" pitchFamily="-1" charset="0"/>
              </a:rPr>
              <a:t>for (int i = 1; i &lt;= N; i++) {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400" smtClean="0">
                <a:latin typeface="Courier New" pitchFamily="-1" charset="0"/>
              </a:rPr>
              <a:t>    </a:t>
            </a:r>
            <a:r>
              <a:rPr lang="en-US" sz="2400" b="1" smtClean="0"/>
              <a:t>statement2</a:t>
            </a:r>
            <a:r>
              <a:rPr lang="en-US" sz="2400" smtClean="0">
                <a:latin typeface="Courier New" pitchFamily="-1" charset="0"/>
              </a:rPr>
              <a:t>;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400" smtClean="0">
                <a:latin typeface="Courier New" pitchFamily="-1" charset="0"/>
              </a:rPr>
              <a:t>    </a:t>
            </a:r>
            <a:r>
              <a:rPr lang="en-US" sz="2400" b="1" smtClean="0"/>
              <a:t>statement3</a:t>
            </a:r>
            <a:r>
              <a:rPr lang="en-US" sz="2400" smtClean="0">
                <a:latin typeface="Courier New" pitchFamily="-1" charset="0"/>
              </a:rPr>
              <a:t>;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400" smtClean="0">
                <a:latin typeface="Courier New" pitchFamily="-1" charset="0"/>
              </a:rPr>
              <a:t>    </a:t>
            </a:r>
            <a:r>
              <a:rPr lang="en-US" sz="2400" b="1" smtClean="0"/>
              <a:t>statement4</a:t>
            </a:r>
            <a:r>
              <a:rPr lang="en-US" sz="2400" smtClean="0">
                <a:latin typeface="Courier New" pitchFamily="-1" charset="0"/>
              </a:rPr>
              <a:t>;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400" smtClean="0">
                <a:latin typeface="Courier New" pitchFamily="-1" charset="0"/>
              </a:rPr>
              <a:t>    </a:t>
            </a:r>
            <a:r>
              <a:rPr lang="en-US" sz="2400" b="1" smtClean="0"/>
              <a:t>statement5</a:t>
            </a:r>
            <a:r>
              <a:rPr lang="en-US" sz="2400" smtClean="0">
                <a:latin typeface="Courier New" pitchFamily="-1" charset="0"/>
              </a:rPr>
              <a:t>;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400" smtClean="0">
                <a:latin typeface="Courier New" pitchFamily="-1" charset="0"/>
              </a:rPr>
              <a:t>}</a:t>
            </a:r>
          </a:p>
          <a:p>
            <a:pPr lvl="1" eaLnBrk="1" hangingPunct="1">
              <a:lnSpc>
                <a:spcPct val="70000"/>
              </a:lnSpc>
            </a:pPr>
            <a:endParaRPr lang="en-US" smtClean="0">
              <a:solidFill>
                <a:srgbClr val="000000"/>
              </a:solidFill>
            </a:endParaRPr>
          </a:p>
          <a:p>
            <a:pPr eaLnBrk="1" hangingPunct="1">
              <a:lnSpc>
                <a:spcPct val="70000"/>
              </a:lnSpc>
            </a:pPr>
            <a:r>
              <a:rPr lang="en-US" sz="2400" smtClean="0"/>
              <a:t>How many statements will execute if N = 10?  If N = 1000?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302500" y="1219200"/>
            <a:ext cx="1727200" cy="4038600"/>
            <a:chOff x="4512" y="768"/>
            <a:chExt cx="1088" cy="2746"/>
          </a:xfrm>
        </p:grpSpPr>
        <p:sp>
          <p:nvSpPr>
            <p:cNvPr id="24588" name="AutoShape 5"/>
            <p:cNvSpPr>
              <a:spLocks/>
            </p:cNvSpPr>
            <p:nvPr/>
          </p:nvSpPr>
          <p:spPr bwMode="auto">
            <a:xfrm>
              <a:off x="4512" y="768"/>
              <a:ext cx="384" cy="2746"/>
            </a:xfrm>
            <a:prstGeom prst="rightBrace">
              <a:avLst>
                <a:gd name="adj1" fmla="val 70848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-1" charset="0"/>
              </a:endParaRPr>
            </a:p>
          </p:txBody>
        </p:sp>
        <p:sp>
          <p:nvSpPr>
            <p:cNvPr id="24589" name="Text Box 6"/>
            <p:cNvSpPr txBox="1">
              <a:spLocks noChangeArrowheads="1"/>
            </p:cNvSpPr>
            <p:nvPr/>
          </p:nvSpPr>
          <p:spPr bwMode="auto">
            <a:xfrm>
              <a:off x="4902" y="2007"/>
              <a:ext cx="698" cy="2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>
                  <a:latin typeface="Tahoma" pitchFamily="-1" charset="0"/>
                </a:rPr>
                <a:t>N</a:t>
              </a:r>
              <a:r>
                <a:rPr lang="en-US" sz="2000" baseline="30000">
                  <a:latin typeface="Tahoma" pitchFamily="-1" charset="0"/>
                </a:rPr>
                <a:t>2</a:t>
              </a:r>
              <a:r>
                <a:rPr lang="en-US" sz="2000">
                  <a:latin typeface="Tahoma" pitchFamily="-1" charset="0"/>
                </a:rPr>
                <a:t> + 4N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6727825" y="1219200"/>
            <a:ext cx="865188" cy="1673225"/>
            <a:chOff x="3648" y="1728"/>
            <a:chExt cx="545" cy="624"/>
          </a:xfrm>
        </p:grpSpPr>
        <p:sp>
          <p:nvSpPr>
            <p:cNvPr id="24586" name="AutoShape 8"/>
            <p:cNvSpPr>
              <a:spLocks/>
            </p:cNvSpPr>
            <p:nvPr/>
          </p:nvSpPr>
          <p:spPr bwMode="auto">
            <a:xfrm>
              <a:off x="3648" y="1728"/>
              <a:ext cx="240" cy="624"/>
            </a:xfrm>
            <a:prstGeom prst="rightBrace">
              <a:avLst>
                <a:gd name="adj1" fmla="val 216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-1" charset="0"/>
              </a:endParaRPr>
            </a:p>
          </p:txBody>
        </p:sp>
        <p:sp>
          <p:nvSpPr>
            <p:cNvPr id="24587" name="Text Box 9"/>
            <p:cNvSpPr txBox="1">
              <a:spLocks noChangeArrowheads="1"/>
            </p:cNvSpPr>
            <p:nvPr/>
          </p:nvSpPr>
          <p:spPr bwMode="auto">
            <a:xfrm>
              <a:off x="3910" y="1964"/>
              <a:ext cx="283" cy="1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>
                  <a:latin typeface="Tahoma" pitchFamily="-1" charset="0"/>
                </a:rPr>
                <a:t>N</a:t>
              </a:r>
              <a:r>
                <a:rPr lang="en-US" sz="2000" baseline="30000">
                  <a:latin typeface="Tahoma" pitchFamily="-1" charset="0"/>
                </a:rPr>
                <a:t>2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6324600" y="3273425"/>
            <a:ext cx="898525" cy="1984375"/>
            <a:chOff x="3648" y="2688"/>
            <a:chExt cx="566" cy="1104"/>
          </a:xfrm>
        </p:grpSpPr>
        <p:sp>
          <p:nvSpPr>
            <p:cNvPr id="24584" name="AutoShape 11"/>
            <p:cNvSpPr>
              <a:spLocks/>
            </p:cNvSpPr>
            <p:nvPr/>
          </p:nvSpPr>
          <p:spPr bwMode="auto">
            <a:xfrm>
              <a:off x="3648" y="2688"/>
              <a:ext cx="240" cy="1104"/>
            </a:xfrm>
            <a:prstGeom prst="rightBrace">
              <a:avLst>
                <a:gd name="adj1" fmla="val 38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-1" charset="0"/>
              </a:endParaRPr>
            </a:p>
          </p:txBody>
        </p:sp>
        <p:sp>
          <p:nvSpPr>
            <p:cNvPr id="24585" name="Text Box 12"/>
            <p:cNvSpPr txBox="1">
              <a:spLocks noChangeArrowheads="1"/>
            </p:cNvSpPr>
            <p:nvPr/>
          </p:nvSpPr>
          <p:spPr bwMode="auto">
            <a:xfrm>
              <a:off x="3902" y="3126"/>
              <a:ext cx="312" cy="2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>
                  <a:latin typeface="Tahoma" pitchFamily="-1" charset="0"/>
                </a:rPr>
                <a:t>4N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2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Relative rates of growth</a:t>
            </a:r>
          </a:p>
        </p:txBody>
      </p:sp>
      <p:sp>
        <p:nvSpPr>
          <p:cNvPr id="2560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6348BFC-72B0-45A8-A952-284CD126F287}" type="slidenum">
              <a:rPr lang="en-US"/>
              <a:pPr/>
              <a:t>26</a:t>
            </a:fld>
            <a:endParaRPr lang="en-US"/>
          </a:p>
        </p:txBody>
      </p:sp>
      <p:sp>
        <p:nvSpPr>
          <p:cNvPr id="19460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400" smtClean="0"/>
              <a:t>Most algorithms' runtime can be expressed as a function of the input size </a:t>
            </a:r>
            <a:r>
              <a:rPr lang="en-US" sz="2400" i="1" smtClean="0"/>
              <a:t>N</a:t>
            </a:r>
          </a:p>
          <a:p>
            <a:pPr>
              <a:lnSpc>
                <a:spcPct val="80000"/>
              </a:lnSpc>
            </a:pPr>
            <a:endParaRPr lang="en-US" sz="2400" smtClean="0"/>
          </a:p>
          <a:p>
            <a:pPr>
              <a:lnSpc>
                <a:spcPct val="80000"/>
              </a:lnSpc>
            </a:pPr>
            <a:r>
              <a:rPr lang="en-US" sz="2400" b="1" smtClean="0"/>
              <a:t>rate of growth</a:t>
            </a:r>
            <a:r>
              <a:rPr lang="en-US" sz="2400" smtClean="0"/>
              <a:t>: measure of how quickly the graph of a function rises</a:t>
            </a:r>
          </a:p>
          <a:p>
            <a:pPr>
              <a:lnSpc>
                <a:spcPct val="80000"/>
              </a:lnSpc>
            </a:pPr>
            <a:endParaRPr lang="en-US" sz="2400" smtClean="0"/>
          </a:p>
          <a:p>
            <a:pPr>
              <a:lnSpc>
                <a:spcPct val="80000"/>
              </a:lnSpc>
            </a:pPr>
            <a:r>
              <a:rPr lang="en-US" sz="2400" smtClean="0"/>
              <a:t>Goal: distinguish between fast- and slow-growing functions</a:t>
            </a:r>
          </a:p>
          <a:p>
            <a:pPr lvl="1">
              <a:lnSpc>
                <a:spcPct val="80000"/>
              </a:lnSpc>
            </a:pPr>
            <a:r>
              <a:rPr lang="en-US" sz="2100" smtClean="0"/>
              <a:t>We only care about very large input sizes (for small sizes, almost any algorithm is fast enough)</a:t>
            </a:r>
          </a:p>
          <a:p>
            <a:pPr lvl="1">
              <a:lnSpc>
                <a:spcPct val="80000"/>
              </a:lnSpc>
            </a:pPr>
            <a:r>
              <a:rPr lang="en-US" sz="2100" smtClean="0"/>
              <a:t>This helps us discover which algorithms will run more quickly or slowly, for large input sizes</a:t>
            </a:r>
          </a:p>
          <a:p>
            <a:pPr>
              <a:lnSpc>
                <a:spcPct val="80000"/>
              </a:lnSpc>
            </a:pPr>
            <a:endParaRPr lang="en-US" sz="2400" smtClean="0"/>
          </a:p>
          <a:p>
            <a:pPr>
              <a:lnSpc>
                <a:spcPct val="80000"/>
              </a:lnSpc>
            </a:pPr>
            <a:r>
              <a:rPr lang="en-US" sz="2400" smtClean="0"/>
              <a:t>Most of the time interested in worst case performance; sometimes look at best or average performance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4" descr="F:\cse326\images\race1.1.gif"/>
          <p:cNvPicPr>
            <a:picLocks noChangeAspect="1" noChangeArrowheads="1"/>
          </p:cNvPicPr>
          <p:nvPr/>
        </p:nvPicPr>
        <p:blipFill>
          <a:blip r:embed="rId3"/>
          <a:srcRect r="1266"/>
          <a:stretch>
            <a:fillRect/>
          </a:stretch>
        </p:blipFill>
        <p:spPr bwMode="auto">
          <a:xfrm>
            <a:off x="3279775" y="2333625"/>
            <a:ext cx="5643563" cy="3709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53731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466138" cy="990600"/>
          </a:xfrm>
        </p:spPr>
        <p:txBody>
          <a:bodyPr>
            <a:normAutofit/>
          </a:bodyPr>
          <a:lstStyle/>
          <a:p>
            <a:pPr eaLnBrk="1" hangingPunct="1"/>
            <a:r>
              <a:rPr lang="en-US" smtClean="0"/>
              <a:t>Growth rate example</a:t>
            </a:r>
          </a:p>
        </p:txBody>
      </p:sp>
      <p:sp>
        <p:nvSpPr>
          <p:cNvPr id="2765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A0BA97E-395F-423E-9792-59A6BDED3DC4}" type="slidenum">
              <a:rPr lang="en-US"/>
              <a:pPr/>
              <a:t>27</a:t>
            </a:fld>
            <a:endParaRPr lang="en-US"/>
          </a:p>
        </p:txBody>
      </p:sp>
      <p:sp>
        <p:nvSpPr>
          <p:cNvPr id="27653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 smtClean="0"/>
              <a:t>Consider these graphs of functions.</a:t>
            </a:r>
          </a:p>
          <a:p>
            <a:pPr eaLnBrk="1" hangingPunct="1">
              <a:lnSpc>
                <a:spcPct val="90000"/>
              </a:lnSpc>
              <a:buFont typeface="Wingdings 3" pitchFamily="-1" charset="2"/>
              <a:buNone/>
            </a:pPr>
            <a:r>
              <a:rPr lang="en-US" dirty="0" smtClean="0"/>
              <a:t>	Perhaps each one represents an algorithm: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chemeClr val="hlink"/>
                </a:solidFill>
              </a:rPr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n</a:t>
            </a:r>
            <a:r>
              <a:rPr lang="en-US" sz="2400" baseline="30000" dirty="0" smtClean="0">
                <a:solidFill>
                  <a:srgbClr val="C00000"/>
                </a:solidFill>
              </a:rPr>
              <a:t>3</a:t>
            </a:r>
            <a:r>
              <a:rPr lang="en-US" sz="2400" dirty="0" smtClean="0">
                <a:solidFill>
                  <a:srgbClr val="C00000"/>
                </a:solidFill>
              </a:rPr>
              <a:t> + 2n</a:t>
            </a:r>
            <a:r>
              <a:rPr lang="en-US" sz="2400" baseline="30000" dirty="0" smtClean="0">
                <a:solidFill>
                  <a:srgbClr val="C00000"/>
                </a:solidFill>
              </a:rPr>
              <a:t>2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0033CC"/>
                </a:solidFill>
              </a:rPr>
              <a:t>	100n</a:t>
            </a:r>
            <a:r>
              <a:rPr lang="en-US" sz="2400" baseline="30000" dirty="0" smtClean="0">
                <a:solidFill>
                  <a:srgbClr val="0033CC"/>
                </a:solidFill>
              </a:rPr>
              <a:t>2</a:t>
            </a:r>
            <a:r>
              <a:rPr lang="en-US" sz="2400" dirty="0" smtClean="0">
                <a:solidFill>
                  <a:srgbClr val="0033CC"/>
                </a:solidFill>
              </a:rPr>
              <a:t> + 1000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sz="2400" dirty="0" smtClean="0">
              <a:solidFill>
                <a:schemeClr val="folHlink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Which grows faster?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Growth rate example</a:t>
            </a:r>
          </a:p>
        </p:txBody>
      </p:sp>
      <p:sp>
        <p:nvSpPr>
          <p:cNvPr id="2970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009985B-33DA-41CA-BCF4-05DDBD8E26FD}" type="slidenum">
              <a:rPr lang="en-US"/>
              <a:pPr/>
              <a:t>28</a:t>
            </a:fld>
            <a:endParaRPr lang="en-US" dirty="0"/>
          </a:p>
        </p:txBody>
      </p:sp>
      <p:sp>
        <p:nvSpPr>
          <p:cNvPr id="29699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r>
              <a:rPr lang="en-US" smtClean="0"/>
              <a:t>How about now?</a:t>
            </a:r>
          </a:p>
        </p:txBody>
      </p:sp>
      <p:pic>
        <p:nvPicPr>
          <p:cNvPr id="29701" name="Picture 4" descr="F:\cse326\images\race1.2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90713" y="2054225"/>
            <a:ext cx="6096000" cy="395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Homework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pPr lvl="1"/>
            <a:r>
              <a:rPr lang="en-US" sz="2900" dirty="0" smtClean="0"/>
              <a:t>Implement the following </a:t>
            </a:r>
            <a:r>
              <a:rPr lang="en-US" sz="2900" dirty="0" smtClean="0"/>
              <a:t>program</a:t>
            </a:r>
          </a:p>
          <a:p>
            <a:pPr lvl="1"/>
            <a:r>
              <a:rPr lang="en-US" sz="2900" dirty="0" smtClean="0"/>
              <a:t>Test this </a:t>
            </a:r>
            <a:r>
              <a:rPr lang="en-US" sz="2900" dirty="0" smtClean="0"/>
              <a:t>program with Measuring Performance: </a:t>
            </a:r>
            <a:r>
              <a:rPr lang="en-US" sz="2900" dirty="0" smtClean="0"/>
              <a:t>using Empirical  and Analytical </a:t>
            </a:r>
          </a:p>
          <a:p>
            <a:pPr lvl="1"/>
            <a:r>
              <a:rPr lang="en-US" sz="2900" dirty="0" smtClean="0"/>
              <a:t>Test Encryption using key 123, decryption using 132</a:t>
            </a:r>
          </a:p>
          <a:p>
            <a:pPr lvl="1"/>
            <a:endParaRPr lang="en-US" sz="2900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62500" lnSpcReduction="20000"/>
          </a:bodyPr>
          <a:lstStyle/>
          <a:p>
            <a:pPr lvl="1">
              <a:buNone/>
            </a:pPr>
            <a:r>
              <a:rPr lang="en-US" dirty="0" smtClean="0"/>
              <a:t>public </a:t>
            </a:r>
            <a:r>
              <a:rPr lang="en-US" dirty="0" smtClean="0"/>
              <a:t>class </a:t>
            </a:r>
            <a:r>
              <a:rPr lang="en-US" dirty="0" err="1" smtClean="0"/>
              <a:t>EncryptXOR</a:t>
            </a:r>
            <a:r>
              <a:rPr lang="en-US" dirty="0" smtClean="0"/>
              <a:t> {</a:t>
            </a:r>
          </a:p>
          <a:p>
            <a:pPr lvl="1">
              <a:buNone/>
            </a:pPr>
            <a:r>
              <a:rPr lang="en-US" dirty="0" smtClean="0"/>
              <a:t>    public static String </a:t>
            </a:r>
            <a:r>
              <a:rPr lang="en-US" dirty="0" err="1" smtClean="0"/>
              <a:t>xorEnc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encKey</a:t>
            </a:r>
            <a:r>
              <a:rPr lang="en-US" dirty="0" smtClean="0"/>
              <a:t>, String </a:t>
            </a:r>
            <a:r>
              <a:rPr lang="en-US" dirty="0" err="1" smtClean="0"/>
              <a:t>toEnc</a:t>
            </a:r>
            <a:r>
              <a:rPr lang="en-US" dirty="0" smtClean="0"/>
              <a:t>) {</a:t>
            </a:r>
          </a:p>
          <a:p>
            <a:pPr lvl="1">
              <a:buNone/>
            </a:pPr>
            <a:r>
              <a:rPr lang="en-US" dirty="0" smtClean="0"/>
              <a:t>        String tog = "";</a:t>
            </a:r>
          </a:p>
          <a:p>
            <a:pPr lvl="1">
              <a:buNone/>
            </a:pPr>
            <a:r>
              <a:rPr lang="en-US" dirty="0" smtClean="0"/>
              <a:t>        for 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= 0; </a:t>
            </a:r>
            <a:r>
              <a:rPr lang="en-US" dirty="0" err="1" smtClean="0"/>
              <a:t>i</a:t>
            </a:r>
            <a:r>
              <a:rPr lang="en-US" dirty="0" smtClean="0"/>
              <a:t> &lt; </a:t>
            </a:r>
            <a:r>
              <a:rPr lang="en-US" dirty="0" err="1" smtClean="0"/>
              <a:t>toEnc.length</a:t>
            </a:r>
            <a:r>
              <a:rPr lang="en-US" dirty="0" smtClean="0"/>
              <a:t>(); </a:t>
            </a:r>
            <a:r>
              <a:rPr lang="en-US" dirty="0" err="1" smtClean="0"/>
              <a:t>i</a:t>
            </a:r>
            <a:r>
              <a:rPr lang="en-US" dirty="0" smtClean="0"/>
              <a:t>++) {</a:t>
            </a:r>
          </a:p>
          <a:p>
            <a:pPr lvl="1">
              <a:buNone/>
            </a:pPr>
            <a:r>
              <a:rPr lang="en-US" dirty="0" smtClean="0"/>
              <a:t>            </a:t>
            </a:r>
            <a:r>
              <a:rPr lang="en-US" dirty="0" err="1" smtClean="0"/>
              <a:t>int</a:t>
            </a:r>
            <a:r>
              <a:rPr lang="en-US" dirty="0" smtClean="0"/>
              <a:t> a = </a:t>
            </a:r>
            <a:r>
              <a:rPr lang="en-US" dirty="0" err="1" smtClean="0"/>
              <a:t>toEnc.charAt</a:t>
            </a:r>
            <a:r>
              <a:rPr lang="en-US" dirty="0" smtClean="0"/>
              <a:t>(</a:t>
            </a:r>
            <a:r>
              <a:rPr lang="en-US" dirty="0" err="1" smtClean="0"/>
              <a:t>i</a:t>
            </a:r>
            <a:r>
              <a:rPr lang="en-US" dirty="0" smtClean="0"/>
              <a:t>);</a:t>
            </a:r>
          </a:p>
          <a:p>
            <a:pPr lvl="1">
              <a:buNone/>
            </a:pPr>
            <a:r>
              <a:rPr lang="en-US" dirty="0" smtClean="0"/>
              <a:t>            </a:t>
            </a:r>
            <a:r>
              <a:rPr lang="en-US" dirty="0" err="1" smtClean="0"/>
              <a:t>int</a:t>
            </a:r>
            <a:r>
              <a:rPr lang="en-US" dirty="0" smtClean="0"/>
              <a:t> c = a ^ </a:t>
            </a:r>
            <a:r>
              <a:rPr lang="en-US" dirty="0" err="1" smtClean="0"/>
              <a:t>encKey</a:t>
            </a:r>
            <a:r>
              <a:rPr lang="en-US" dirty="0" smtClean="0"/>
              <a:t>;</a:t>
            </a:r>
          </a:p>
          <a:p>
            <a:pPr lvl="1">
              <a:buNone/>
            </a:pPr>
            <a:r>
              <a:rPr lang="en-US" dirty="0" smtClean="0"/>
              <a:t>            char d = (char) c;</a:t>
            </a:r>
          </a:p>
          <a:p>
            <a:pPr lvl="1">
              <a:buNone/>
            </a:pPr>
            <a:r>
              <a:rPr lang="en-US" dirty="0" smtClean="0"/>
              <a:t>            tog = tog + d;</a:t>
            </a:r>
          </a:p>
          <a:p>
            <a:pPr lvl="1">
              <a:buNone/>
            </a:pPr>
            <a:r>
              <a:rPr lang="en-US" dirty="0" smtClean="0"/>
              <a:t>        }</a:t>
            </a:r>
          </a:p>
          <a:p>
            <a:pPr lvl="1">
              <a:buNone/>
            </a:pPr>
            <a:r>
              <a:rPr lang="en-US" dirty="0" smtClean="0"/>
              <a:t>        return tog;</a:t>
            </a:r>
          </a:p>
          <a:p>
            <a:pPr lvl="1">
              <a:buNone/>
            </a:pPr>
            <a:r>
              <a:rPr lang="en-US" dirty="0" smtClean="0"/>
              <a:t>    }</a:t>
            </a:r>
          </a:p>
          <a:p>
            <a:pPr lvl="1">
              <a:buNone/>
            </a:pPr>
            <a:r>
              <a:rPr lang="en-US" dirty="0" smtClean="0"/>
              <a:t>    public static void main(String[] </a:t>
            </a:r>
            <a:r>
              <a:rPr lang="en-US" dirty="0" err="1" smtClean="0"/>
              <a:t>arg</a:t>
            </a:r>
            <a:r>
              <a:rPr lang="en-US" dirty="0" smtClean="0"/>
              <a:t>) {</a:t>
            </a:r>
          </a:p>
          <a:p>
            <a:pPr lvl="1">
              <a:buNone/>
            </a:pPr>
            <a:r>
              <a:rPr lang="en-US" dirty="0" smtClean="0"/>
              <a:t>        String s = </a:t>
            </a:r>
            <a:r>
              <a:rPr lang="en-US" dirty="0" err="1" smtClean="0"/>
              <a:t>xorEnc</a:t>
            </a:r>
            <a:r>
              <a:rPr lang="en-US" dirty="0" smtClean="0"/>
              <a:t>(123, "</a:t>
            </a:r>
            <a:r>
              <a:rPr lang="en-US" dirty="0" smtClean="0"/>
              <a:t>1234567890");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System.out.println</a:t>
            </a:r>
            <a:r>
              <a:rPr lang="en-US" dirty="0" smtClean="0"/>
              <a:t>("enc:" + s);</a:t>
            </a:r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r>
              <a:rPr lang="en-US" dirty="0" smtClean="0"/>
              <a:t>        s = </a:t>
            </a:r>
            <a:r>
              <a:rPr lang="en-US" dirty="0" err="1" smtClean="0"/>
              <a:t>xorEnc</a:t>
            </a:r>
            <a:r>
              <a:rPr lang="en-US" dirty="0" smtClean="0"/>
              <a:t>(123, s);</a:t>
            </a:r>
          </a:p>
          <a:p>
            <a:pPr lvl="1"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System.out.println</a:t>
            </a:r>
            <a:r>
              <a:rPr lang="en-US" dirty="0" smtClean="0"/>
              <a:t>("</a:t>
            </a:r>
            <a:r>
              <a:rPr lang="en-US" dirty="0" err="1" smtClean="0"/>
              <a:t>dec</a:t>
            </a:r>
            <a:r>
              <a:rPr lang="en-US" dirty="0" smtClean="0"/>
              <a:t>:" + s);</a:t>
            </a:r>
          </a:p>
          <a:p>
            <a:pPr lvl="1">
              <a:buNone/>
            </a:pPr>
            <a:r>
              <a:rPr lang="en-US" dirty="0" smtClean="0"/>
              <a:t>    }</a:t>
            </a:r>
          </a:p>
          <a:p>
            <a:pPr lvl="1">
              <a:buNone/>
            </a:pPr>
            <a:r>
              <a:rPr lang="en-US" dirty="0" smtClean="0"/>
              <a:t>}</a:t>
            </a:r>
            <a:endParaRPr lang="en-US" dirty="0" smtClean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336</TotalTime>
  <Words>1511</Words>
  <Application>Microsoft Office PowerPoint</Application>
  <PresentationFormat>On-screen Show (4:3)</PresentationFormat>
  <Paragraphs>345</Paragraphs>
  <Slides>29</Slides>
  <Notes>9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Origin</vt:lpstr>
      <vt:lpstr>Data Structure &amp; Algorithm</vt:lpstr>
      <vt:lpstr>Textbook </vt:lpstr>
      <vt:lpstr>Schedule and Arrangement </vt:lpstr>
      <vt:lpstr>Participation </vt:lpstr>
      <vt:lpstr>Assignments and Quizzes </vt:lpstr>
      <vt:lpstr>Why you want to study Algorithms?</vt:lpstr>
      <vt:lpstr>Why you want to study Algorithms?</vt:lpstr>
      <vt:lpstr>Objectives</vt:lpstr>
      <vt:lpstr>Course Topics</vt:lpstr>
      <vt:lpstr>1-Storing Data</vt:lpstr>
      <vt:lpstr>Linear Data Structures</vt:lpstr>
      <vt:lpstr>Linear Data Structures</vt:lpstr>
      <vt:lpstr>Stacks, Queues</vt:lpstr>
      <vt:lpstr>Graphs</vt:lpstr>
      <vt:lpstr>2-Sorting Data</vt:lpstr>
      <vt:lpstr>Sorting</vt:lpstr>
      <vt:lpstr>3-Searching for data</vt:lpstr>
      <vt:lpstr>Other algorithm problems </vt:lpstr>
      <vt:lpstr>4-Algorithm Analysis: Why?</vt:lpstr>
      <vt:lpstr>Measuring Performance: Empirical Approach</vt:lpstr>
      <vt:lpstr>Measuring Performance: Analytical Approach</vt:lpstr>
      <vt:lpstr>Measuring Performance: Analytical Approach</vt:lpstr>
      <vt:lpstr>Analyzing Performance</vt:lpstr>
      <vt:lpstr>Efficiency examples</vt:lpstr>
      <vt:lpstr>Efficiency examples 2</vt:lpstr>
      <vt:lpstr>Relative rates of growth</vt:lpstr>
      <vt:lpstr>Growth rate example</vt:lpstr>
      <vt:lpstr>Growth rate example</vt:lpstr>
      <vt:lpstr>Homework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ezz</dc:creator>
  <cp:lastModifiedBy>Mohamed Ezz</cp:lastModifiedBy>
  <cp:revision>62</cp:revision>
  <dcterms:created xsi:type="dcterms:W3CDTF">2006-08-16T00:00:00Z</dcterms:created>
  <dcterms:modified xsi:type="dcterms:W3CDTF">2014-03-15T22:22:57Z</dcterms:modified>
</cp:coreProperties>
</file>