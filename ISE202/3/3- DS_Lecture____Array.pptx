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7"/>
  </p:notesMasterIdLst>
  <p:sldIdLst>
    <p:sldId id="256" r:id="rId2"/>
    <p:sldId id="371" r:id="rId3"/>
    <p:sldId id="372" r:id="rId4"/>
    <p:sldId id="368" r:id="rId5"/>
    <p:sldId id="349" r:id="rId6"/>
    <p:sldId id="352" r:id="rId7"/>
    <p:sldId id="353" r:id="rId8"/>
    <p:sldId id="354" r:id="rId9"/>
    <p:sldId id="359" r:id="rId10"/>
    <p:sldId id="360" r:id="rId11"/>
    <p:sldId id="361" r:id="rId12"/>
    <p:sldId id="369" r:id="rId13"/>
    <p:sldId id="362" r:id="rId14"/>
    <p:sldId id="377" r:id="rId15"/>
    <p:sldId id="370" r:id="rId16"/>
    <p:sldId id="378" r:id="rId17"/>
    <p:sldId id="363" r:id="rId18"/>
    <p:sldId id="381" r:id="rId19"/>
    <p:sldId id="385" r:id="rId20"/>
    <p:sldId id="384" r:id="rId21"/>
    <p:sldId id="387" r:id="rId22"/>
    <p:sldId id="382" r:id="rId23"/>
    <p:sldId id="386" r:id="rId24"/>
    <p:sldId id="379" r:id="rId25"/>
    <p:sldId id="392" r:id="rId26"/>
    <p:sldId id="395" r:id="rId27"/>
    <p:sldId id="396" r:id="rId28"/>
    <p:sldId id="394" r:id="rId29"/>
    <p:sldId id="398" r:id="rId30"/>
    <p:sldId id="399" r:id="rId31"/>
    <p:sldId id="401" r:id="rId32"/>
    <p:sldId id="400" r:id="rId33"/>
    <p:sldId id="388" r:id="rId34"/>
    <p:sldId id="390" r:id="rId35"/>
    <p:sldId id="3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7AA79-8CAD-4B20-B669-D01BF5DC0832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E2AD1-020A-4F3E-BCC9-8444F9A35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BFD40A-4C66-4400-B2F0-929CCBFED168}" type="slidenum">
              <a:rPr lang="en-US"/>
              <a:pPr/>
              <a:t>5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1F317-2CD5-4DA8-88E1-BEFC122F9AFB}" type="slidenum">
              <a:rPr lang="en-US"/>
              <a:pPr/>
              <a:t>6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7C1B5-7CAA-450D-B594-72CB9095643B}" type="slidenum">
              <a:rPr lang="en-US"/>
              <a:pPr/>
              <a:t>7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97427-F752-4A06-91C6-8CE571B09DB7}" type="slidenum">
              <a:rPr lang="en-US"/>
              <a:pPr/>
              <a:t>8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97742-4737-4DC7-B063-EDEBB121851E}" type="slidenum">
              <a:rPr lang="en-US"/>
              <a:pPr/>
              <a:t>9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16CF01-0AF1-4A59-8EA0-8739582A4C73}" type="slidenum">
              <a:rPr lang="en-US"/>
              <a:pPr/>
              <a:t>10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30F9FA-28A4-4CFD-869E-02B7FFD58B2B}" type="slidenum">
              <a:rPr lang="en-US"/>
              <a:pPr/>
              <a:t>11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rtl="1" fontAlgn="t"/>
            <a:r>
              <a:rPr lang="ar-EG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غير منظم</a:t>
            </a:r>
          </a:p>
          <a:p>
            <a:r>
              <a:rPr lang="ar-EG" dirty="0" smtClean="0"/>
              <a:t/>
            </a:r>
            <a:br>
              <a:rPr lang="ar-EG" dirty="0" smtClean="0"/>
            </a:b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695B74-B7A7-4054-A044-4CF95067D83E}" type="slidenum">
              <a:rPr lang="en-US"/>
              <a:pPr/>
              <a:t>13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695B74-B7A7-4054-A044-4CF95067D83E}" type="slidenum">
              <a:rPr lang="en-US"/>
              <a:pPr/>
              <a:t>15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C479C-A799-40FC-9901-64BB7F4254D9}" type="slidenum">
              <a:rPr lang="en-US"/>
              <a:pPr/>
              <a:t>17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C479C-A799-40FC-9901-64BB7F4254D9}" type="slidenum">
              <a:rPr lang="en-US"/>
              <a:pPr/>
              <a:t>20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ar-EG" dirty="0" smtClean="0"/>
              <a:t>ثابتة</a:t>
            </a:r>
            <a:r>
              <a:rPr lang="en-US" sz="1200" i="1" dirty="0" smtClean="0"/>
              <a:t>Invariant 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DBBA3A-F98F-442B-B3FF-19C60468D29F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849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B84C5A-96FC-48AA-997D-CBE810B178C6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860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AE3E7-2F1B-4D53-BA26-4ABA313328C3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870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8116A7-51E3-4D3D-80E7-05B18D318B37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942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F4C250-BB5B-4F3A-8A0E-CBC935133C36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931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3/17/2014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3A271A1-F6D6-438B-A432-4747EE7ECD40}" type="datetimeFigureOut">
              <a:rPr lang="en-US" smtClean="0"/>
              <a:pPr/>
              <a:t>3/17/2014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1.doc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Structure &amp; Algorithm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2: Array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3400" y="5943600"/>
            <a:ext cx="8458200" cy="685800"/>
          </a:xfrm>
          <a:prstGeom prst="rect">
            <a:avLst/>
          </a:prstGeom>
        </p:spPr>
        <p:txBody>
          <a:bodyPr vert="horz" anchor="b">
            <a:normAutofit fontScale="85000" lnSpcReduction="20000"/>
          </a:bodyPr>
          <a:lstStyle/>
          <a:p>
            <a:pPr lvl="0" algn="r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Dr. Mohamed Ezz  </a:t>
            </a:r>
          </a:p>
          <a:p>
            <a:pPr lvl="0" algn="r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Al-</a:t>
            </a:r>
            <a:r>
              <a:rPr lang="en-US" sz="2400" b="1" dirty="0" err="1" smtClean="0">
                <a:solidFill>
                  <a:schemeClr val="tx2">
                    <a:shade val="75000"/>
                  </a:schemeClr>
                </a:solidFill>
              </a:rPr>
              <a:t>Azhar</a:t>
            </a: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Content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Array Overview </a:t>
            </a:r>
          </a:p>
          <a:p>
            <a:r>
              <a:rPr lang="en-US" dirty="0" smtClean="0"/>
              <a:t>The Basics of Arrays in Java</a:t>
            </a:r>
          </a:p>
          <a:p>
            <a:r>
              <a:rPr lang="en-US" dirty="0" smtClean="0"/>
              <a:t>Operation on Array </a:t>
            </a:r>
          </a:p>
          <a:p>
            <a:pPr lvl="1"/>
            <a:r>
              <a:rPr lang="en-US" dirty="0" smtClean="0"/>
              <a:t>Insertion</a:t>
            </a:r>
          </a:p>
          <a:p>
            <a:pPr lvl="1"/>
            <a:r>
              <a:rPr lang="en-US" dirty="0" smtClean="0"/>
              <a:t>Searching (Linear , Binary )</a:t>
            </a:r>
          </a:p>
          <a:p>
            <a:pPr lvl="1"/>
            <a:r>
              <a:rPr lang="en-US" dirty="0" smtClean="0"/>
              <a:t>Deletion</a:t>
            </a:r>
          </a:p>
          <a:p>
            <a:r>
              <a:rPr lang="en-US" dirty="0" smtClean="0"/>
              <a:t>The Duplicates Issue</a:t>
            </a:r>
          </a:p>
          <a:p>
            <a:r>
              <a:rPr lang="en-US" dirty="0" smtClean="0"/>
              <a:t>Big O Notation</a:t>
            </a:r>
          </a:p>
          <a:p>
            <a:r>
              <a:rPr lang="en-US" dirty="0" smtClean="0"/>
              <a:t>Cloning an </a:t>
            </a:r>
            <a:r>
              <a:rPr lang="en-US" dirty="0" smtClean="0"/>
              <a:t>Array</a:t>
            </a:r>
          </a:p>
          <a:p>
            <a:r>
              <a:rPr lang="en-US" dirty="0" err="1" smtClean="0"/>
              <a:t>java.util.Arrays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Data Storage Structure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t="12000"/>
          <a:stretch>
            <a:fillRect/>
          </a:stretch>
        </p:blipFill>
        <p:spPr bwMode="auto">
          <a:xfrm>
            <a:off x="742950" y="1219200"/>
            <a:ext cx="76581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 t="91933"/>
          <a:stretch>
            <a:fillRect/>
          </a:stretch>
        </p:blipFill>
        <p:spPr bwMode="auto">
          <a:xfrm>
            <a:off x="762000" y="5791200"/>
            <a:ext cx="6677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 b="62353"/>
          <a:stretch>
            <a:fillRect/>
          </a:stretch>
        </p:blipFill>
        <p:spPr bwMode="auto">
          <a:xfrm>
            <a:off x="790575" y="2743200"/>
            <a:ext cx="66770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 t="67227" b="16639"/>
          <a:stretch>
            <a:fillRect/>
          </a:stretch>
        </p:blipFill>
        <p:spPr bwMode="auto">
          <a:xfrm>
            <a:off x="790575" y="4876800"/>
            <a:ext cx="66770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on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important operation on Data Structure:</a:t>
            </a:r>
          </a:p>
          <a:p>
            <a:pPr lvl="1"/>
            <a:r>
              <a:rPr lang="en-US" dirty="0" smtClean="0"/>
              <a:t>Insert a new data item.</a:t>
            </a:r>
          </a:p>
          <a:p>
            <a:pPr lvl="1"/>
            <a:r>
              <a:rPr lang="en-US" dirty="0" smtClean="0"/>
              <a:t>Delete a specified item.</a:t>
            </a:r>
          </a:p>
          <a:p>
            <a:pPr lvl="1"/>
            <a:r>
              <a:rPr lang="en-US" dirty="0" smtClean="0"/>
              <a:t>Search for a specified item.</a:t>
            </a:r>
          </a:p>
          <a:p>
            <a:pPr lvl="1"/>
            <a:r>
              <a:rPr lang="en-US" dirty="0" smtClean="0"/>
              <a:t>Sort items in DS to simplify search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5B7C1-A2A6-44BC-8295-B81BBA1B277D}" type="slidenum">
              <a:rPr lang="en-US"/>
              <a:pPr/>
              <a:t>5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793038" cy="614363"/>
          </a:xfrm>
        </p:spPr>
        <p:txBody>
          <a:bodyPr/>
          <a:lstStyle/>
          <a:p>
            <a:r>
              <a:rPr lang="en-US"/>
              <a:t>The array data structure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0540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An </a:t>
            </a:r>
            <a:r>
              <a:rPr lang="en-US" sz="2200" dirty="0" smtClean="0">
                <a:solidFill>
                  <a:schemeClr val="tx2"/>
                </a:solidFill>
              </a:rPr>
              <a:t>array</a:t>
            </a:r>
            <a:r>
              <a:rPr lang="en-US" sz="2200" dirty="0" smtClean="0"/>
              <a:t> is an indexed sequence of components/elements that are numbered 0, 1, 2, ... </a:t>
            </a:r>
          </a:p>
          <a:p>
            <a:r>
              <a:rPr lang="en-US" sz="2200" dirty="0" smtClean="0"/>
              <a:t>The element numbers are called index numbers. </a:t>
            </a:r>
          </a:p>
          <a:p>
            <a:r>
              <a:rPr lang="en-US" sz="2200" dirty="0" smtClean="0"/>
              <a:t>Array elements can be accessed by their index numbers using the </a:t>
            </a:r>
            <a:r>
              <a:rPr lang="en-US" sz="2200" u="sng" dirty="0" smtClean="0"/>
              <a:t>subscript operator </a:t>
            </a:r>
            <a:r>
              <a:rPr lang="en-US" sz="2200" dirty="0" smtClean="0"/>
              <a:t>[], as a[0], a[1], a[2], and so on.</a:t>
            </a:r>
          </a:p>
          <a:p>
            <a:r>
              <a:rPr lang="en-US" sz="2200" dirty="0" smtClean="0"/>
              <a:t>Typically</a:t>
            </a:r>
            <a:r>
              <a:rPr lang="en-US" sz="2200" dirty="0"/>
              <a:t>, the array occupies sequential storage locations</a:t>
            </a:r>
          </a:p>
          <a:p>
            <a:r>
              <a:rPr lang="en-US" sz="2200" dirty="0"/>
              <a:t>The length of the array is determined when the array is created, and cannot be changed</a:t>
            </a:r>
          </a:p>
          <a:p>
            <a:r>
              <a:rPr lang="en-US" sz="2200" dirty="0"/>
              <a:t>Each component of the array has a fixed, unique </a:t>
            </a:r>
            <a:r>
              <a:rPr lang="en-US" sz="2200" dirty="0">
                <a:solidFill>
                  <a:schemeClr val="tx2"/>
                </a:solidFill>
              </a:rPr>
              <a:t>index</a:t>
            </a:r>
            <a:endParaRPr lang="en-US" sz="2200" dirty="0"/>
          </a:p>
          <a:p>
            <a:r>
              <a:rPr lang="en-US" sz="2200" dirty="0"/>
              <a:t>Indices range from a </a:t>
            </a:r>
            <a:r>
              <a:rPr lang="en-US" sz="2200" dirty="0">
                <a:solidFill>
                  <a:schemeClr val="tx2"/>
                </a:solidFill>
              </a:rPr>
              <a:t>lower bound</a:t>
            </a:r>
            <a:r>
              <a:rPr lang="en-US" sz="2200" dirty="0"/>
              <a:t> to an </a:t>
            </a:r>
            <a:r>
              <a:rPr lang="en-US" sz="2200" dirty="0">
                <a:solidFill>
                  <a:schemeClr val="tx2"/>
                </a:solidFill>
              </a:rPr>
              <a:t>upper </a:t>
            </a:r>
            <a:r>
              <a:rPr lang="en-US" sz="2200" dirty="0" smtClean="0">
                <a:solidFill>
                  <a:schemeClr val="tx2"/>
                </a:solidFill>
              </a:rPr>
              <a:t>bound</a:t>
            </a:r>
            <a:endParaRPr lang="en-US" sz="2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30789-D498-4F2F-93A7-A4EE0E3B0EEF}" type="slidenum">
              <a:rPr lang="en-US"/>
              <a:pPr/>
              <a:t>6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in Java 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924800" cy="4572000"/>
          </a:xfrm>
        </p:spPr>
        <p:txBody>
          <a:bodyPr>
            <a:normAutofit/>
          </a:bodyPr>
          <a:lstStyle/>
          <a:p>
            <a:r>
              <a:rPr lang="en-US" dirty="0"/>
              <a:t>Array indices are integers</a:t>
            </a:r>
          </a:p>
          <a:p>
            <a:r>
              <a:rPr lang="en-US" dirty="0"/>
              <a:t>An array of length</a:t>
            </a:r>
            <a:r>
              <a:rPr lang="en-US" dirty="0">
                <a:latin typeface="Verdana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n</a:t>
            </a:r>
            <a:r>
              <a:rPr lang="en-US" dirty="0">
                <a:latin typeface="Verdana" pitchFamily="34" charset="0"/>
              </a:rPr>
              <a:t> </a:t>
            </a:r>
            <a:r>
              <a:rPr lang="en-US" dirty="0"/>
              <a:t>has bounds</a:t>
            </a:r>
            <a:r>
              <a:rPr lang="en-US" dirty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0</a:t>
            </a:r>
            <a:r>
              <a:rPr lang="en-US" dirty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n-1</a:t>
            </a:r>
          </a:p>
          <a:p>
            <a:r>
              <a:rPr lang="en-US" dirty="0"/>
              <a:t>Arrays are </a:t>
            </a:r>
            <a:r>
              <a:rPr lang="en-US" dirty="0" smtClean="0"/>
              <a:t>homogeneous (one type)</a:t>
            </a:r>
          </a:p>
          <a:p>
            <a:r>
              <a:rPr lang="en-US" sz="3200" dirty="0" smtClean="0"/>
              <a:t>Arrays are reflective</a:t>
            </a:r>
          </a:p>
          <a:p>
            <a:pPr lvl="1"/>
            <a:r>
              <a:rPr lang="en-US" dirty="0" err="1" smtClean="0">
                <a:solidFill>
                  <a:srgbClr val="FF0000"/>
                </a:solidFill>
                <a:latin typeface="Verdana" pitchFamily="34" charset="0"/>
              </a:rPr>
              <a:t>a.length</a:t>
            </a:r>
            <a:r>
              <a:rPr lang="en-US" dirty="0" smtClean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dirty="0" smtClean="0"/>
              <a:t>is the length of array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a</a:t>
            </a:r>
          </a:p>
          <a:p>
            <a:pPr lvl="1"/>
            <a:r>
              <a:rPr lang="en-US" dirty="0" err="1" smtClean="0">
                <a:solidFill>
                  <a:srgbClr val="FF0000"/>
                </a:solidFill>
                <a:latin typeface="Verdana" pitchFamily="34" charset="0"/>
              </a:rPr>
              <a:t>a.getClass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() </a:t>
            </a:r>
            <a:r>
              <a:rPr lang="en-US" dirty="0" smtClean="0"/>
              <a:t>is the type of array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a</a:t>
            </a:r>
          </a:p>
          <a:p>
            <a:r>
              <a:rPr lang="en-US" dirty="0" smtClean="0"/>
              <a:t>Array as an ADT</a:t>
            </a:r>
          </a:p>
          <a:p>
            <a:pPr lvl="1"/>
            <a:r>
              <a:rPr lang="en-US" dirty="0" smtClean="0"/>
              <a:t>It’s </a:t>
            </a:r>
            <a:r>
              <a:rPr lang="en-US" i="1" dirty="0" smtClean="0"/>
              <a:t>abstract</a:t>
            </a:r>
            <a:r>
              <a:rPr lang="en-US" dirty="0" smtClean="0"/>
              <a:t>  because the implementation is hidden: all access is via the defined operations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5FFC0-AAF8-49B8-B6C1-9975A3F790B9}" type="slidenum">
              <a:rPr lang="en-US"/>
              <a:pPr/>
              <a:t>7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in Java II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Creating an Array</a:t>
            </a:r>
            <a:endParaRPr lang="en-US" sz="1700" dirty="0" smtClean="0">
              <a:solidFill>
                <a:schemeClr val="tx2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sz="1700" dirty="0" err="1" smtClean="0"/>
              <a:t>int</a:t>
            </a:r>
            <a:r>
              <a:rPr lang="en-US" sz="1700" dirty="0" smtClean="0"/>
              <a:t>[] </a:t>
            </a:r>
            <a:r>
              <a:rPr lang="en-US" sz="1700" dirty="0" err="1" smtClean="0"/>
              <a:t>intArray</a:t>
            </a:r>
            <a:r>
              <a:rPr lang="en-US" sz="1700" dirty="0" smtClean="0"/>
              <a:t>;                 // defines a reference to an array</a:t>
            </a:r>
          </a:p>
          <a:p>
            <a:pPr lvl="1">
              <a:buFont typeface="Wingdings" pitchFamily="2" charset="2"/>
              <a:buChar char="q"/>
            </a:pPr>
            <a:r>
              <a:rPr lang="en-US" sz="1700" dirty="0" err="1" smtClean="0"/>
              <a:t>intArray</a:t>
            </a:r>
            <a:r>
              <a:rPr lang="en-US" sz="1700" dirty="0" smtClean="0"/>
              <a:t> = new </a:t>
            </a:r>
            <a:r>
              <a:rPr lang="en-US" sz="1700" dirty="0" err="1" smtClean="0"/>
              <a:t>int</a:t>
            </a:r>
            <a:r>
              <a:rPr lang="en-US" sz="1700" dirty="0" smtClean="0"/>
              <a:t>[100]; // creates the array, and</a:t>
            </a:r>
          </a:p>
          <a:p>
            <a:pPr lvl="1">
              <a:buFont typeface="Courier New" pitchFamily="49" charset="0"/>
              <a:buChar char="o"/>
            </a:pPr>
            <a:r>
              <a:rPr lang="en-US" sz="1700" dirty="0" err="1" smtClean="0"/>
              <a:t>int</a:t>
            </a:r>
            <a:r>
              <a:rPr lang="en-US" sz="1700" dirty="0" smtClean="0"/>
              <a:t>[] </a:t>
            </a:r>
            <a:r>
              <a:rPr lang="en-US" sz="1700" dirty="0" err="1" smtClean="0"/>
              <a:t>intArray</a:t>
            </a:r>
            <a:r>
              <a:rPr lang="en-US" sz="1700" dirty="0" smtClean="0"/>
              <a:t> = new </a:t>
            </a:r>
            <a:r>
              <a:rPr lang="en-US" sz="1700" dirty="0" err="1" smtClean="0"/>
              <a:t>int</a:t>
            </a:r>
            <a:r>
              <a:rPr lang="en-US" sz="1700" dirty="0" smtClean="0"/>
              <a:t>[100</a:t>
            </a:r>
            <a:r>
              <a:rPr lang="en-US" sz="1700" dirty="0" smtClean="0"/>
              <a:t>]; // or define ref. &amp; create array in one step</a:t>
            </a:r>
            <a:endParaRPr lang="en-US" sz="1700" dirty="0" smtClean="0"/>
          </a:p>
          <a:p>
            <a:pPr lvl="1">
              <a:buFont typeface="Wingdings" pitchFamily="2" charset="2"/>
              <a:buChar char="Ø"/>
            </a:pPr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intArray</a:t>
            </a:r>
            <a:r>
              <a:rPr lang="en-US" sz="1700" dirty="0" smtClean="0"/>
              <a:t>[] = new </a:t>
            </a:r>
            <a:r>
              <a:rPr lang="en-US" sz="1700" dirty="0" err="1" smtClean="0"/>
              <a:t>int</a:t>
            </a:r>
            <a:r>
              <a:rPr lang="en-US" sz="1700" dirty="0" smtClean="0"/>
              <a:t>[100]; // alternative syntax</a:t>
            </a:r>
          </a:p>
          <a:p>
            <a:r>
              <a:rPr lang="en-US" sz="2000" dirty="0" smtClean="0"/>
              <a:t>Accessing </a:t>
            </a:r>
            <a:r>
              <a:rPr lang="en-US" sz="2000" dirty="0" smtClean="0"/>
              <a:t>Array Elements</a:t>
            </a:r>
          </a:p>
          <a:p>
            <a:pPr lvl="1"/>
            <a:r>
              <a:rPr lang="en-US" sz="1700" dirty="0" smtClean="0"/>
              <a:t>temp = </a:t>
            </a:r>
            <a:r>
              <a:rPr lang="en-US" sz="1700" dirty="0" err="1" smtClean="0"/>
              <a:t>intArray</a:t>
            </a:r>
            <a:r>
              <a:rPr lang="en-US" sz="1700" dirty="0" smtClean="0"/>
              <a:t>[3]; // get contents of fourth element of array</a:t>
            </a:r>
          </a:p>
          <a:p>
            <a:pPr lvl="1"/>
            <a:r>
              <a:rPr lang="en-US" sz="1700" dirty="0" err="1" smtClean="0"/>
              <a:t>intArray</a:t>
            </a:r>
            <a:r>
              <a:rPr lang="en-US" sz="1700" dirty="0" smtClean="0"/>
              <a:t>[7] = 66; // insert 66 into the eighth </a:t>
            </a:r>
            <a:r>
              <a:rPr lang="en-US" sz="1700" dirty="0" smtClean="0"/>
              <a:t>cell</a:t>
            </a:r>
          </a:p>
          <a:p>
            <a:pPr lvl="1"/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arrayLength</a:t>
            </a:r>
            <a:r>
              <a:rPr lang="en-US" sz="1700" dirty="0" smtClean="0"/>
              <a:t> = </a:t>
            </a:r>
            <a:r>
              <a:rPr lang="en-US" sz="1700" dirty="0" err="1" smtClean="0"/>
              <a:t>intArray.length</a:t>
            </a:r>
            <a:r>
              <a:rPr lang="en-US" sz="1700" dirty="0" smtClean="0"/>
              <a:t>; // find array </a:t>
            </a:r>
            <a:r>
              <a:rPr lang="en-US" sz="1700" dirty="0" smtClean="0"/>
              <a:t>size</a:t>
            </a:r>
            <a:endParaRPr lang="en-US" sz="1700" dirty="0" smtClean="0"/>
          </a:p>
          <a:p>
            <a:r>
              <a:rPr lang="en-US" sz="2000" dirty="0" smtClean="0"/>
              <a:t>Initialization</a:t>
            </a:r>
          </a:p>
          <a:p>
            <a:r>
              <a:rPr lang="en-US" sz="1700" dirty="0" err="1" smtClean="0">
                <a:solidFill>
                  <a:schemeClr val="tx2"/>
                </a:solidFill>
              </a:rPr>
              <a:t>int</a:t>
            </a:r>
            <a:r>
              <a:rPr lang="en-US" sz="1700" dirty="0" smtClean="0">
                <a:solidFill>
                  <a:schemeClr val="tx2"/>
                </a:solidFill>
              </a:rPr>
              <a:t>[] </a:t>
            </a:r>
            <a:r>
              <a:rPr lang="en-US" sz="1700" dirty="0" err="1" smtClean="0">
                <a:solidFill>
                  <a:schemeClr val="tx2"/>
                </a:solidFill>
              </a:rPr>
              <a:t>intArray</a:t>
            </a:r>
            <a:r>
              <a:rPr lang="en-US" sz="1700" dirty="0" smtClean="0">
                <a:solidFill>
                  <a:schemeClr val="tx2"/>
                </a:solidFill>
              </a:rPr>
              <a:t> = { 0, 3, 6, 9, 12, 15, 18, 21, 24, 27 };//create, init same in one step</a:t>
            </a:r>
          </a:p>
          <a:p>
            <a:r>
              <a:rPr lang="en-US" sz="1700" dirty="0" err="1" smtClean="0">
                <a:solidFill>
                  <a:schemeClr val="tx2"/>
                </a:solidFill>
              </a:rPr>
              <a:t>intArray</a:t>
            </a:r>
            <a:r>
              <a:rPr lang="en-US" sz="1700" dirty="0" smtClean="0">
                <a:solidFill>
                  <a:schemeClr val="tx2"/>
                </a:solidFill>
              </a:rPr>
              <a:t>[0]=4; 				       // or element by element </a:t>
            </a:r>
          </a:p>
          <a:p>
            <a:r>
              <a:rPr lang="en-US" sz="1700" dirty="0" err="1" smtClean="0">
                <a:solidFill>
                  <a:schemeClr val="tx2"/>
                </a:solidFill>
              </a:rPr>
              <a:t>intArray</a:t>
            </a:r>
            <a:r>
              <a:rPr lang="en-US" sz="1700" dirty="0" smtClean="0">
                <a:solidFill>
                  <a:schemeClr val="tx2"/>
                </a:solidFill>
              </a:rPr>
              <a:t>[1]=7;</a:t>
            </a:r>
          </a:p>
          <a:p>
            <a:endParaRPr lang="en-US" sz="1700" dirty="0" smtClean="0">
              <a:solidFill>
                <a:schemeClr val="tx2"/>
              </a:solidFill>
            </a:endParaRPr>
          </a:p>
          <a:p>
            <a:endParaRPr lang="en-US" sz="1700" dirty="0" smtClean="0">
              <a:solidFill>
                <a:schemeClr val="tx2"/>
              </a:solidFill>
            </a:endParaRPr>
          </a:p>
          <a:p>
            <a:pPr lvl="1"/>
            <a:endParaRPr lang="en-US" sz="1600" dirty="0">
              <a:solidFill>
                <a:srgbClr val="FF000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FC736-4B3C-4913-B7D4-CC690315C9E5}" type="slidenum">
              <a:rPr lang="en-US"/>
              <a:pPr/>
              <a:t>8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in Java III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924800" cy="1066800"/>
          </a:xfrm>
        </p:spPr>
        <p:txBody>
          <a:bodyPr>
            <a:noAutofit/>
          </a:bodyPr>
          <a:lstStyle/>
          <a:p>
            <a:r>
              <a:rPr lang="en-US" sz="1800" dirty="0"/>
              <a:t>Here’s one way to visualize an array in Java</a:t>
            </a:r>
            <a:r>
              <a:rPr lang="en-US" sz="1800" dirty="0" smtClean="0"/>
              <a:t>: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[] </a:t>
            </a:r>
            <a:r>
              <a:rPr lang="en-US" sz="1800" dirty="0" err="1" smtClean="0"/>
              <a:t>myArray</a:t>
            </a:r>
            <a:r>
              <a:rPr lang="en-US" sz="1800" dirty="0" smtClean="0"/>
              <a:t>;</a:t>
            </a:r>
          </a:p>
          <a:p>
            <a:r>
              <a:rPr lang="en-US" sz="1800" dirty="0" err="1" smtClean="0"/>
              <a:t>myArray</a:t>
            </a:r>
            <a:r>
              <a:rPr lang="en-US" sz="1800" dirty="0" smtClean="0"/>
              <a:t> = new </a:t>
            </a:r>
            <a:r>
              <a:rPr lang="en-US" sz="1800" dirty="0" err="1" smtClean="0"/>
              <a:t>int</a:t>
            </a:r>
            <a:r>
              <a:rPr lang="en-US" sz="1800" dirty="0" smtClean="0"/>
              <a:t>[6];</a:t>
            </a:r>
            <a:endParaRPr lang="en-US" sz="1800" dirty="0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655763" y="2398693"/>
            <a:ext cx="1493837" cy="958850"/>
            <a:chOff x="1043" y="1488"/>
            <a:chExt cx="941" cy="604"/>
          </a:xfrm>
        </p:grpSpPr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1101" y="1804"/>
              <a:ext cx="816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1043" y="1488"/>
              <a:ext cx="941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myArray</a:t>
              </a:r>
            </a:p>
          </p:txBody>
        </p:sp>
      </p:grp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3886200" y="3554611"/>
            <a:ext cx="533400" cy="181588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accent2"/>
                </a:solidFill>
                <a:latin typeface="Verdana" pitchFamily="34" charset="0"/>
              </a:rPr>
              <a:t>0</a:t>
            </a:r>
            <a:br>
              <a:rPr lang="en-US" sz="28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800" dirty="0">
                <a:solidFill>
                  <a:schemeClr val="accent2"/>
                </a:solidFill>
                <a:latin typeface="Verdana" pitchFamily="34" charset="0"/>
              </a:rPr>
              <a:t>1</a:t>
            </a:r>
            <a:br>
              <a:rPr lang="en-US" sz="28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800" dirty="0">
                <a:solidFill>
                  <a:schemeClr val="accent2"/>
                </a:solidFill>
                <a:latin typeface="Verdana" pitchFamily="34" charset="0"/>
              </a:rPr>
              <a:t>2</a:t>
            </a:r>
            <a:br>
              <a:rPr lang="en-US" sz="28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800" dirty="0" smtClean="0">
                <a:solidFill>
                  <a:schemeClr val="accent2"/>
                </a:solidFill>
                <a:latin typeface="Verdana" pitchFamily="34" charset="0"/>
              </a:rPr>
              <a:t>3</a:t>
            </a: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4419600" y="3568005"/>
            <a:ext cx="914400" cy="138499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>  17</a:t>
            </a:r>
            <a:br>
              <a:rPr lang="en-US" sz="24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>  </a:t>
            </a:r>
            <a:r>
              <a:rPr lang="en-US" sz="2400" dirty="0" smtClean="0">
                <a:solidFill>
                  <a:schemeClr val="accent2"/>
                </a:solidFill>
                <a:latin typeface="Verdana" pitchFamily="34" charset="0"/>
              </a:rPr>
              <a:t>23</a:t>
            </a:r>
          </a:p>
          <a:p>
            <a:pPr algn="ctr">
              <a:spcBef>
                <a:spcPct val="50000"/>
              </a:spcBef>
            </a:pPr>
            <a:r>
              <a:rPr lang="en-US" sz="2400" dirty="0" smtClean="0">
                <a:solidFill>
                  <a:schemeClr val="accent2"/>
                </a:solidFill>
                <a:latin typeface="Verdana" pitchFamily="34" charset="0"/>
              </a:rPr>
              <a:t>94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439988" y="3060681"/>
            <a:ext cx="3046412" cy="3224212"/>
            <a:chOff x="1537" y="1905"/>
            <a:chExt cx="1919" cy="2031"/>
          </a:xfrm>
        </p:grpSpPr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688" y="2208"/>
              <a:ext cx="768" cy="1728"/>
              <a:chOff x="2688" y="2208"/>
              <a:chExt cx="768" cy="1728"/>
            </a:xfrm>
          </p:grpSpPr>
          <p:sp>
            <p:nvSpPr>
              <p:cNvPr id="13318" name="Rectangle 6"/>
              <p:cNvSpPr>
                <a:spLocks noChangeArrowheads="1"/>
              </p:cNvSpPr>
              <p:nvPr/>
            </p:nvSpPr>
            <p:spPr bwMode="auto">
              <a:xfrm>
                <a:off x="2688" y="2208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" name="Rectangle 7"/>
              <p:cNvSpPr>
                <a:spLocks noChangeArrowheads="1"/>
              </p:cNvSpPr>
              <p:nvPr/>
            </p:nvSpPr>
            <p:spPr bwMode="auto">
              <a:xfrm>
                <a:off x="2688" y="2496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0" name="Rectangle 8"/>
              <p:cNvSpPr>
                <a:spLocks noChangeArrowheads="1"/>
              </p:cNvSpPr>
              <p:nvPr/>
            </p:nvSpPr>
            <p:spPr bwMode="auto">
              <a:xfrm>
                <a:off x="2688" y="3648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1" name="Rectangle 9"/>
              <p:cNvSpPr>
                <a:spLocks noChangeArrowheads="1"/>
              </p:cNvSpPr>
              <p:nvPr/>
            </p:nvSpPr>
            <p:spPr bwMode="auto">
              <a:xfrm>
                <a:off x="2688" y="3360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2" name="Rectangle 10"/>
              <p:cNvSpPr>
                <a:spLocks noChangeArrowheads="1"/>
              </p:cNvSpPr>
              <p:nvPr/>
            </p:nvSpPr>
            <p:spPr bwMode="auto">
              <a:xfrm>
                <a:off x="2688" y="3072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3" name="Rectangle 11"/>
              <p:cNvSpPr>
                <a:spLocks noChangeArrowheads="1"/>
              </p:cNvSpPr>
              <p:nvPr/>
            </p:nvSpPr>
            <p:spPr bwMode="auto">
              <a:xfrm>
                <a:off x="2688" y="2784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30" name="Freeform 18"/>
            <p:cNvSpPr>
              <a:spLocks/>
            </p:cNvSpPr>
            <p:nvPr/>
          </p:nvSpPr>
          <p:spPr bwMode="auto">
            <a:xfrm>
              <a:off x="1537" y="1905"/>
              <a:ext cx="1152" cy="253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72" y="16"/>
                </a:cxn>
                <a:cxn ang="0">
                  <a:pos x="1008" y="112"/>
                </a:cxn>
                <a:cxn ang="0">
                  <a:pos x="1152" y="256"/>
                </a:cxn>
              </a:cxnLst>
              <a:rect l="0" t="0" r="r" b="b"/>
              <a:pathLst>
                <a:path w="1152" h="256">
                  <a:moveTo>
                    <a:pt x="0" y="16"/>
                  </a:moveTo>
                  <a:cubicBezTo>
                    <a:pt x="252" y="8"/>
                    <a:pt x="504" y="0"/>
                    <a:pt x="672" y="16"/>
                  </a:cubicBezTo>
                  <a:cubicBezTo>
                    <a:pt x="840" y="32"/>
                    <a:pt x="928" y="72"/>
                    <a:pt x="1008" y="112"/>
                  </a:cubicBezTo>
                  <a:cubicBezTo>
                    <a:pt x="1088" y="152"/>
                    <a:pt x="1128" y="232"/>
                    <a:pt x="1152" y="25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3886200" y="5370493"/>
            <a:ext cx="533400" cy="95410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smtClean="0">
                <a:solidFill>
                  <a:schemeClr val="accent2"/>
                </a:solidFill>
                <a:latin typeface="Verdana" pitchFamily="34" charset="0"/>
              </a:rPr>
              <a:t>4</a:t>
            </a:r>
            <a:r>
              <a:rPr lang="en-US" sz="2800" dirty="0">
                <a:solidFill>
                  <a:schemeClr val="accent2"/>
                </a:solidFill>
                <a:latin typeface="Verdana" pitchFamily="34" charset="0"/>
              </a:rPr>
              <a:t/>
            </a:r>
            <a:br>
              <a:rPr lang="en-US" sz="28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800" dirty="0" smtClean="0">
                <a:solidFill>
                  <a:schemeClr val="accent2"/>
                </a:solidFill>
                <a:latin typeface="Verdana" pitchFamily="34" charset="0"/>
              </a:rPr>
              <a:t>5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4343400" y="4899898"/>
            <a:ext cx="914400" cy="138499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>  </a:t>
            </a:r>
            <a:r>
              <a:rPr lang="en-US" sz="2400" dirty="0" smtClean="0">
                <a:solidFill>
                  <a:schemeClr val="accent2"/>
                </a:solidFill>
                <a:latin typeface="Verdana" pitchFamily="34" charset="0"/>
              </a:rPr>
              <a:t>12</a:t>
            </a: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/>
            </a:r>
            <a:br>
              <a:rPr lang="en-US" sz="2400" dirty="0">
                <a:solidFill>
                  <a:schemeClr val="accent2"/>
                </a:solidFill>
                <a:latin typeface="Verdana" pitchFamily="34" charset="0"/>
              </a:rPr>
            </a:b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>  </a:t>
            </a:r>
            <a:r>
              <a:rPr lang="en-US" sz="2400" dirty="0" smtClean="0">
                <a:solidFill>
                  <a:schemeClr val="accent2"/>
                </a:solidFill>
                <a:latin typeface="Verdana" pitchFamily="34" charset="0"/>
              </a:rPr>
              <a:t>55</a:t>
            </a:r>
          </a:p>
          <a:p>
            <a:pPr algn="ctr">
              <a:spcBef>
                <a:spcPct val="50000"/>
              </a:spcBef>
            </a:pPr>
            <a:r>
              <a:rPr lang="en-US" sz="2400" dirty="0" smtClean="0">
                <a:solidFill>
                  <a:schemeClr val="accent2"/>
                </a:solidFill>
                <a:latin typeface="Verdana" pitchFamily="34" charset="0"/>
              </a:rPr>
              <a:t>74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6096000" y="2667000"/>
            <a:ext cx="2667000" cy="26670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Initialize array: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myArray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[0]=17;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dirty="0" err="1" smtClean="0"/>
              <a:t>myArray</a:t>
            </a:r>
            <a:r>
              <a:rPr lang="en-US" dirty="0" smtClean="0"/>
              <a:t> [0</a:t>
            </a:r>
            <a:r>
              <a:rPr lang="en-US" dirty="0" smtClean="0"/>
              <a:t>]=23;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dirty="0" err="1" smtClean="0"/>
              <a:t>myArray</a:t>
            </a:r>
            <a:r>
              <a:rPr lang="en-US" dirty="0" smtClean="0"/>
              <a:t> [0</a:t>
            </a:r>
            <a:r>
              <a:rPr lang="en-US" dirty="0" smtClean="0"/>
              <a:t>]=94;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dirty="0" err="1" smtClean="0"/>
              <a:t>myArray</a:t>
            </a:r>
            <a:r>
              <a:rPr lang="en-US" dirty="0" smtClean="0"/>
              <a:t> [0]=</a:t>
            </a:r>
            <a:r>
              <a:rPr lang="en-US" dirty="0" smtClean="0"/>
              <a:t>12;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dirty="0" err="1" smtClean="0"/>
              <a:t>myArray</a:t>
            </a:r>
            <a:r>
              <a:rPr lang="en-US" dirty="0" smtClean="0"/>
              <a:t> [0</a:t>
            </a:r>
            <a:r>
              <a:rPr lang="en-US" dirty="0" smtClean="0"/>
              <a:t>]=55;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dirty="0" err="1" smtClean="0"/>
              <a:t>myArray</a:t>
            </a:r>
            <a:r>
              <a:rPr lang="en-US" dirty="0" smtClean="0"/>
              <a:t> [0</a:t>
            </a:r>
            <a:r>
              <a:rPr lang="en-US" dirty="0" smtClean="0"/>
              <a:t>]=75;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3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7" grpId="0" autoUpdateAnimBg="0"/>
      <p:bldP spid="13328" grpId="0" build="allAtOnce"/>
      <p:bldP spid="26" grpId="0" autoUpdateAnimBg="0"/>
      <p:bldP spid="27" grpId="0" uiExpand="1" build="allAtOnce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92657-683F-4CD4-8F50-94262B7DB556}" type="slidenum">
              <a:rPr lang="en-US"/>
              <a:pPr/>
              <a:t>9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Two-dimensional arrays II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574088" cy="1666875"/>
          </a:xfrm>
        </p:spPr>
        <p:txBody>
          <a:bodyPr/>
          <a:lstStyle/>
          <a:p>
            <a:r>
              <a:rPr lang="en-US" sz="2400"/>
              <a:t>In a 2D array, we generally consider the first index to be the row, and the second to be the column: </a:t>
            </a:r>
            <a:r>
              <a:rPr lang="en-US" sz="2400">
                <a:solidFill>
                  <a:schemeClr val="accent2"/>
                </a:solidFill>
                <a:latin typeface="Verdana" pitchFamily="34" charset="0"/>
              </a:rPr>
              <a:t>a[</a:t>
            </a:r>
            <a:r>
              <a:rPr lang="en-US" sz="2400" i="1">
                <a:solidFill>
                  <a:schemeClr val="accent2"/>
                </a:solidFill>
                <a:latin typeface="Verdana" pitchFamily="34" charset="0"/>
              </a:rPr>
              <a:t>row, col</a:t>
            </a:r>
            <a:r>
              <a:rPr lang="en-US" sz="2400">
                <a:solidFill>
                  <a:schemeClr val="accent2"/>
                </a:solidFill>
                <a:latin typeface="Verdana" pitchFamily="34" charset="0"/>
              </a:rPr>
              <a:t>]</a:t>
            </a:r>
            <a:endParaRPr lang="en-US" sz="2400">
              <a:solidFill>
                <a:schemeClr val="accent2"/>
              </a:solidFill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295400" y="2225675"/>
            <a:ext cx="4648200" cy="2346325"/>
            <a:chOff x="288" y="2016"/>
            <a:chExt cx="2928" cy="1478"/>
          </a:xfrm>
        </p:grpSpPr>
        <p:sp>
          <p:nvSpPr>
            <p:cNvPr id="19460" name="Rectangle 4"/>
            <p:cNvSpPr>
              <a:spLocks noChangeArrowheads="1"/>
            </p:cNvSpPr>
            <p:nvPr/>
          </p:nvSpPr>
          <p:spPr bwMode="auto">
            <a:xfrm>
              <a:off x="960" y="253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0,0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1392" y="253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0,1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1824" y="253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0,2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2256" y="253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0,3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4" name="Rectangle 8"/>
            <p:cNvSpPr>
              <a:spLocks noChangeArrowheads="1"/>
            </p:cNvSpPr>
            <p:nvPr/>
          </p:nvSpPr>
          <p:spPr bwMode="auto">
            <a:xfrm>
              <a:off x="2688" y="253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0,4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5" name="Rectangle 9"/>
            <p:cNvSpPr>
              <a:spLocks noChangeArrowheads="1"/>
            </p:cNvSpPr>
            <p:nvPr/>
          </p:nvSpPr>
          <p:spPr bwMode="auto">
            <a:xfrm>
              <a:off x="960" y="277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1,0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6" name="Rectangle 10"/>
            <p:cNvSpPr>
              <a:spLocks noChangeArrowheads="1"/>
            </p:cNvSpPr>
            <p:nvPr/>
          </p:nvSpPr>
          <p:spPr bwMode="auto">
            <a:xfrm>
              <a:off x="1392" y="277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1,1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7" name="Rectangle 11"/>
            <p:cNvSpPr>
              <a:spLocks noChangeArrowheads="1"/>
            </p:cNvSpPr>
            <p:nvPr/>
          </p:nvSpPr>
          <p:spPr bwMode="auto">
            <a:xfrm>
              <a:off x="1824" y="277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1,2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8" name="Rectangle 12"/>
            <p:cNvSpPr>
              <a:spLocks noChangeArrowheads="1"/>
            </p:cNvSpPr>
            <p:nvPr/>
          </p:nvSpPr>
          <p:spPr bwMode="auto">
            <a:xfrm>
              <a:off x="2256" y="277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1,3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69" name="Rectangle 13"/>
            <p:cNvSpPr>
              <a:spLocks noChangeArrowheads="1"/>
            </p:cNvSpPr>
            <p:nvPr/>
          </p:nvSpPr>
          <p:spPr bwMode="auto">
            <a:xfrm>
              <a:off x="2688" y="277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1,4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0" name="Rectangle 14"/>
            <p:cNvSpPr>
              <a:spLocks noChangeArrowheads="1"/>
            </p:cNvSpPr>
            <p:nvPr/>
          </p:nvSpPr>
          <p:spPr bwMode="auto">
            <a:xfrm>
              <a:off x="960" y="301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2,0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1" name="Rectangle 15"/>
            <p:cNvSpPr>
              <a:spLocks noChangeArrowheads="1"/>
            </p:cNvSpPr>
            <p:nvPr/>
          </p:nvSpPr>
          <p:spPr bwMode="auto">
            <a:xfrm>
              <a:off x="1392" y="301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2,1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2" name="Rectangle 16"/>
            <p:cNvSpPr>
              <a:spLocks noChangeArrowheads="1"/>
            </p:cNvSpPr>
            <p:nvPr/>
          </p:nvSpPr>
          <p:spPr bwMode="auto">
            <a:xfrm>
              <a:off x="1824" y="301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2,2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3" name="Rectangle 17"/>
            <p:cNvSpPr>
              <a:spLocks noChangeArrowheads="1"/>
            </p:cNvSpPr>
            <p:nvPr/>
          </p:nvSpPr>
          <p:spPr bwMode="auto">
            <a:xfrm>
              <a:off x="2256" y="301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2,3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4" name="Rectangle 18"/>
            <p:cNvSpPr>
              <a:spLocks noChangeArrowheads="1"/>
            </p:cNvSpPr>
            <p:nvPr/>
          </p:nvSpPr>
          <p:spPr bwMode="auto">
            <a:xfrm>
              <a:off x="2688" y="301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2,4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5" name="Rectangle 19"/>
            <p:cNvSpPr>
              <a:spLocks noChangeArrowheads="1"/>
            </p:cNvSpPr>
            <p:nvPr/>
          </p:nvSpPr>
          <p:spPr bwMode="auto">
            <a:xfrm>
              <a:off x="960" y="325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3,0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6" name="Rectangle 20"/>
            <p:cNvSpPr>
              <a:spLocks noChangeArrowheads="1"/>
            </p:cNvSpPr>
            <p:nvPr/>
          </p:nvSpPr>
          <p:spPr bwMode="auto">
            <a:xfrm>
              <a:off x="1392" y="325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3,1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1824" y="325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3,2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8" name="Rectangle 22"/>
            <p:cNvSpPr>
              <a:spLocks noChangeArrowheads="1"/>
            </p:cNvSpPr>
            <p:nvPr/>
          </p:nvSpPr>
          <p:spPr bwMode="auto">
            <a:xfrm>
              <a:off x="2256" y="325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3,3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79" name="Rectangle 23"/>
            <p:cNvSpPr>
              <a:spLocks noChangeArrowheads="1"/>
            </p:cNvSpPr>
            <p:nvPr/>
          </p:nvSpPr>
          <p:spPr bwMode="auto">
            <a:xfrm>
              <a:off x="2688" y="3254"/>
              <a:ext cx="43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i="1">
                  <a:latin typeface="Times New Roman" pitchFamily="18" charset="0"/>
                </a:rPr>
                <a:t>3,4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9480" name="Text Box 24"/>
            <p:cNvSpPr txBox="1">
              <a:spLocks noChangeArrowheads="1"/>
            </p:cNvSpPr>
            <p:nvPr/>
          </p:nvSpPr>
          <p:spPr bwMode="auto">
            <a:xfrm>
              <a:off x="720" y="2486"/>
              <a:ext cx="288" cy="9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 dirty="0">
                  <a:latin typeface="Times New Roman" pitchFamily="18" charset="0"/>
                </a:rPr>
                <a:t>0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1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2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9481" name="Text Box 25"/>
            <p:cNvSpPr txBox="1">
              <a:spLocks noChangeArrowheads="1"/>
            </p:cNvSpPr>
            <p:nvPr/>
          </p:nvSpPr>
          <p:spPr bwMode="auto">
            <a:xfrm>
              <a:off x="1056" y="2016"/>
              <a:ext cx="2160" cy="52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 dirty="0">
                  <a:latin typeface="Times New Roman" pitchFamily="18" charset="0"/>
                </a:rPr>
                <a:t>            columns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0       1       2       3       4</a:t>
              </a:r>
            </a:p>
          </p:txBody>
        </p:sp>
        <p:sp>
          <p:nvSpPr>
            <p:cNvPr id="19483" name="Text Box 27"/>
            <p:cNvSpPr txBox="1">
              <a:spLocks noChangeArrowheads="1"/>
            </p:cNvSpPr>
            <p:nvPr/>
          </p:nvSpPr>
          <p:spPr bwMode="auto">
            <a:xfrm>
              <a:off x="288" y="2822"/>
              <a:ext cx="528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 dirty="0">
                  <a:latin typeface="Times New Roman" pitchFamily="18" charset="0"/>
                </a:rPr>
                <a:t>rows</a:t>
              </a:r>
            </a:p>
          </p:txBody>
        </p:sp>
      </p:grpSp>
      <p:sp>
        <p:nvSpPr>
          <p:cNvPr id="19485" name="Rectangle 29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953000"/>
            <a:ext cx="8305800" cy="1371600"/>
          </a:xfrm>
        </p:spPr>
        <p:txBody>
          <a:bodyPr/>
          <a:lstStyle/>
          <a:p>
            <a:r>
              <a:rPr lang="en-US" sz="2400" dirty="0"/>
              <a:t>In most languages we don’t need to know the implementation--we work with this </a:t>
            </a:r>
            <a:r>
              <a:rPr lang="en-US" sz="2400" i="1" dirty="0" smtClean="0"/>
              <a:t>abstraction</a:t>
            </a:r>
            <a:endParaRPr lang="en-US" sz="24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5" autoUpdateAnimBg="0"/>
      <p:bldP spid="19485" grpId="0" build="p" bldLvl="4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9F0A0-B8B1-4F79-92B2-A07E215346E0}" type="slidenum">
              <a:rPr lang="en-US"/>
              <a:pPr/>
              <a:t>10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arrays in Java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8001000" cy="3581400"/>
          </a:xfrm>
        </p:spPr>
        <p:txBody>
          <a:bodyPr/>
          <a:lstStyle/>
          <a:p>
            <a:r>
              <a:rPr lang="en-US" sz="2400"/>
              <a:t>Java doesn’t have “real” 2D arrays, but array elements can themselves be arrays:</a:t>
            </a:r>
          </a:p>
          <a:p>
            <a:pPr lvl="1"/>
            <a:r>
              <a:rPr lang="en-US" sz="2000">
                <a:solidFill>
                  <a:schemeClr val="accent2"/>
                </a:solidFill>
                <a:latin typeface="Verdana" pitchFamily="34" charset="0"/>
              </a:rPr>
              <a:t>int x[]</a:t>
            </a:r>
            <a:r>
              <a:rPr lang="en-US" sz="2000">
                <a:solidFill>
                  <a:schemeClr val="tx2"/>
                </a:solidFill>
                <a:latin typeface="Verdana" pitchFamily="34" charset="0"/>
              </a:rPr>
              <a:t>[]</a:t>
            </a:r>
            <a:r>
              <a:rPr lang="en-US" sz="200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000"/>
              <a:t>denotes an array </a:t>
            </a:r>
            <a:r>
              <a:rPr lang="en-US" sz="2000">
                <a:solidFill>
                  <a:schemeClr val="accent2"/>
                </a:solidFill>
                <a:latin typeface="Verdana" pitchFamily="34" charset="0"/>
              </a:rPr>
              <a:t>x</a:t>
            </a:r>
            <a:r>
              <a:rPr lang="en-US" sz="200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000"/>
              <a:t>of </a:t>
            </a:r>
            <a:r>
              <a:rPr lang="en-US" sz="2000" i="1"/>
              <a:t>array</a:t>
            </a:r>
            <a:r>
              <a:rPr lang="en-US" sz="2000"/>
              <a:t> components, each of which is an array of </a:t>
            </a:r>
            <a:r>
              <a:rPr lang="en-US" sz="2000" i="1"/>
              <a:t>integer</a:t>
            </a:r>
            <a:r>
              <a:rPr lang="en-US" sz="2000"/>
              <a:t> components</a:t>
            </a:r>
          </a:p>
          <a:p>
            <a:r>
              <a:rPr lang="en-US" sz="2400"/>
              <a:t>We can define the above array like this:</a:t>
            </a:r>
            <a:br>
              <a:rPr lang="en-US" sz="2400"/>
            </a:br>
            <a:r>
              <a:rPr lang="en-US" sz="2400"/>
              <a:t>	</a:t>
            </a:r>
            <a:r>
              <a:rPr lang="en-US" sz="2400">
                <a:solidFill>
                  <a:schemeClr val="accent2"/>
                </a:solidFill>
                <a:latin typeface="Verdana" pitchFamily="34" charset="0"/>
              </a:rPr>
              <a:t>x = new int[5]</a:t>
            </a:r>
            <a:r>
              <a:rPr lang="en-US" sz="2400">
                <a:solidFill>
                  <a:schemeClr val="tx2"/>
                </a:solidFill>
                <a:latin typeface="Verdana" pitchFamily="34" charset="0"/>
              </a:rPr>
              <a:t>[8]</a:t>
            </a:r>
            <a:r>
              <a:rPr lang="en-US" sz="2400">
                <a:solidFill>
                  <a:schemeClr val="accent2"/>
                </a:solidFill>
                <a:latin typeface="Verdana" pitchFamily="34" charset="0"/>
              </a:rPr>
              <a:t>;</a:t>
            </a:r>
            <a:r>
              <a:rPr lang="en-US" sz="2400"/>
              <a:t/>
            </a:r>
            <a:br>
              <a:rPr lang="en-US" sz="2400"/>
            </a:br>
            <a:r>
              <a:rPr lang="en-US" sz="2400"/>
              <a:t>and treat it as a regular 2D array</a:t>
            </a:r>
          </a:p>
          <a:p>
            <a:r>
              <a:rPr lang="en-US" sz="2400"/>
              <a:t>This is an </a:t>
            </a:r>
            <a:r>
              <a:rPr lang="en-US" sz="2400" i="1"/>
              <a:t>array of 5 arrays</a:t>
            </a:r>
          </a:p>
          <a:p>
            <a:pPr lvl="1"/>
            <a:r>
              <a:rPr lang="en-US" sz="2000"/>
              <a:t>Each subarray is an array of 8</a:t>
            </a:r>
            <a:r>
              <a:rPr lang="en-US" sz="2000">
                <a:solidFill>
                  <a:schemeClr val="accent2"/>
                </a:solidFill>
                <a:latin typeface="Trebuchet MS" pitchFamily="34" charset="0"/>
              </a:rPr>
              <a:t> int</a:t>
            </a:r>
            <a:r>
              <a:rPr lang="en-US" sz="2000"/>
              <a:t>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5105400"/>
            <a:ext cx="7848600" cy="1066800"/>
          </a:xfrm>
        </p:spPr>
        <p:txBody>
          <a:bodyPr/>
          <a:lstStyle/>
          <a:p>
            <a:r>
              <a:rPr lang="en-US" sz="2400"/>
              <a:t>However, we can do fancier things than this with arrays in Java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477000" y="2971800"/>
            <a:ext cx="1828800" cy="1752600"/>
            <a:chOff x="3408" y="2160"/>
            <a:chExt cx="1152" cy="1104"/>
          </a:xfrm>
        </p:grpSpPr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08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3552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3696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3840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3984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Rectangle 14"/>
            <p:cNvSpPr>
              <a:spLocks noChangeArrowheads="1"/>
            </p:cNvSpPr>
            <p:nvPr/>
          </p:nvSpPr>
          <p:spPr bwMode="auto">
            <a:xfrm>
              <a:off x="4128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Rectangle 15"/>
            <p:cNvSpPr>
              <a:spLocks noChangeArrowheads="1"/>
            </p:cNvSpPr>
            <p:nvPr/>
          </p:nvSpPr>
          <p:spPr bwMode="auto">
            <a:xfrm>
              <a:off x="4272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Rectangle 16"/>
            <p:cNvSpPr>
              <a:spLocks noChangeArrowheads="1"/>
            </p:cNvSpPr>
            <p:nvPr/>
          </p:nvSpPr>
          <p:spPr bwMode="auto">
            <a:xfrm>
              <a:off x="4416" y="240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Rectangle 17"/>
            <p:cNvSpPr>
              <a:spLocks noChangeArrowheads="1"/>
            </p:cNvSpPr>
            <p:nvPr/>
          </p:nvSpPr>
          <p:spPr bwMode="auto">
            <a:xfrm>
              <a:off x="3408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8" name="Rectangle 18"/>
            <p:cNvSpPr>
              <a:spLocks noChangeArrowheads="1"/>
            </p:cNvSpPr>
            <p:nvPr/>
          </p:nvSpPr>
          <p:spPr bwMode="auto">
            <a:xfrm>
              <a:off x="3552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Rectangle 19"/>
            <p:cNvSpPr>
              <a:spLocks noChangeArrowheads="1"/>
            </p:cNvSpPr>
            <p:nvPr/>
          </p:nvSpPr>
          <p:spPr bwMode="auto">
            <a:xfrm>
              <a:off x="3696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0" name="Rectangle 20"/>
            <p:cNvSpPr>
              <a:spLocks noChangeArrowheads="1"/>
            </p:cNvSpPr>
            <p:nvPr/>
          </p:nvSpPr>
          <p:spPr bwMode="auto">
            <a:xfrm>
              <a:off x="3840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1" name="Rectangle 21"/>
            <p:cNvSpPr>
              <a:spLocks noChangeArrowheads="1"/>
            </p:cNvSpPr>
            <p:nvPr/>
          </p:nvSpPr>
          <p:spPr bwMode="auto">
            <a:xfrm>
              <a:off x="3984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2" name="Rectangle 22"/>
            <p:cNvSpPr>
              <a:spLocks noChangeArrowheads="1"/>
            </p:cNvSpPr>
            <p:nvPr/>
          </p:nvSpPr>
          <p:spPr bwMode="auto">
            <a:xfrm>
              <a:off x="4128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Rectangle 23"/>
            <p:cNvSpPr>
              <a:spLocks noChangeArrowheads="1"/>
            </p:cNvSpPr>
            <p:nvPr/>
          </p:nvSpPr>
          <p:spPr bwMode="auto">
            <a:xfrm>
              <a:off x="4272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4" name="Rectangle 24"/>
            <p:cNvSpPr>
              <a:spLocks noChangeArrowheads="1"/>
            </p:cNvSpPr>
            <p:nvPr/>
          </p:nvSpPr>
          <p:spPr bwMode="auto">
            <a:xfrm>
              <a:off x="4416" y="216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Rectangle 25"/>
            <p:cNvSpPr>
              <a:spLocks noChangeArrowheads="1"/>
            </p:cNvSpPr>
            <p:nvPr/>
          </p:nvSpPr>
          <p:spPr bwMode="auto">
            <a:xfrm>
              <a:off x="3408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Rectangle 26"/>
            <p:cNvSpPr>
              <a:spLocks noChangeArrowheads="1"/>
            </p:cNvSpPr>
            <p:nvPr/>
          </p:nvSpPr>
          <p:spPr bwMode="auto">
            <a:xfrm>
              <a:off x="3552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Rectangle 27"/>
            <p:cNvSpPr>
              <a:spLocks noChangeArrowheads="1"/>
            </p:cNvSpPr>
            <p:nvPr/>
          </p:nvSpPr>
          <p:spPr bwMode="auto">
            <a:xfrm>
              <a:off x="3696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Rectangle 28"/>
            <p:cNvSpPr>
              <a:spLocks noChangeArrowheads="1"/>
            </p:cNvSpPr>
            <p:nvPr/>
          </p:nvSpPr>
          <p:spPr bwMode="auto">
            <a:xfrm>
              <a:off x="3840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9" name="Rectangle 29"/>
            <p:cNvSpPr>
              <a:spLocks noChangeArrowheads="1"/>
            </p:cNvSpPr>
            <p:nvPr/>
          </p:nvSpPr>
          <p:spPr bwMode="auto">
            <a:xfrm>
              <a:off x="3984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Rectangle 30"/>
            <p:cNvSpPr>
              <a:spLocks noChangeArrowheads="1"/>
            </p:cNvSpPr>
            <p:nvPr/>
          </p:nvSpPr>
          <p:spPr bwMode="auto">
            <a:xfrm>
              <a:off x="4128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Rectangle 31"/>
            <p:cNvSpPr>
              <a:spLocks noChangeArrowheads="1"/>
            </p:cNvSpPr>
            <p:nvPr/>
          </p:nvSpPr>
          <p:spPr bwMode="auto">
            <a:xfrm>
              <a:off x="4272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Rectangle 32"/>
            <p:cNvSpPr>
              <a:spLocks noChangeArrowheads="1"/>
            </p:cNvSpPr>
            <p:nvPr/>
          </p:nvSpPr>
          <p:spPr bwMode="auto">
            <a:xfrm>
              <a:off x="4416" y="264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Rectangle 33"/>
            <p:cNvSpPr>
              <a:spLocks noChangeArrowheads="1"/>
            </p:cNvSpPr>
            <p:nvPr/>
          </p:nvSpPr>
          <p:spPr bwMode="auto">
            <a:xfrm>
              <a:off x="3408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Rectangle 34"/>
            <p:cNvSpPr>
              <a:spLocks noChangeArrowheads="1"/>
            </p:cNvSpPr>
            <p:nvPr/>
          </p:nvSpPr>
          <p:spPr bwMode="auto">
            <a:xfrm>
              <a:off x="3552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5" name="Rectangle 35"/>
            <p:cNvSpPr>
              <a:spLocks noChangeArrowheads="1"/>
            </p:cNvSpPr>
            <p:nvPr/>
          </p:nvSpPr>
          <p:spPr bwMode="auto">
            <a:xfrm>
              <a:off x="3696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6" name="Rectangle 36"/>
            <p:cNvSpPr>
              <a:spLocks noChangeArrowheads="1"/>
            </p:cNvSpPr>
            <p:nvPr/>
          </p:nvSpPr>
          <p:spPr bwMode="auto">
            <a:xfrm>
              <a:off x="3840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7" name="Rectangle 37"/>
            <p:cNvSpPr>
              <a:spLocks noChangeArrowheads="1"/>
            </p:cNvSpPr>
            <p:nvPr/>
          </p:nvSpPr>
          <p:spPr bwMode="auto">
            <a:xfrm>
              <a:off x="3984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8" name="Rectangle 38"/>
            <p:cNvSpPr>
              <a:spLocks noChangeArrowheads="1"/>
            </p:cNvSpPr>
            <p:nvPr/>
          </p:nvSpPr>
          <p:spPr bwMode="auto">
            <a:xfrm>
              <a:off x="4128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9" name="Rectangle 39"/>
            <p:cNvSpPr>
              <a:spLocks noChangeArrowheads="1"/>
            </p:cNvSpPr>
            <p:nvPr/>
          </p:nvSpPr>
          <p:spPr bwMode="auto">
            <a:xfrm>
              <a:off x="4272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0" name="Rectangle 40"/>
            <p:cNvSpPr>
              <a:spLocks noChangeArrowheads="1"/>
            </p:cNvSpPr>
            <p:nvPr/>
          </p:nvSpPr>
          <p:spPr bwMode="auto">
            <a:xfrm>
              <a:off x="4416" y="288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Rectangle 41"/>
            <p:cNvSpPr>
              <a:spLocks noChangeArrowheads="1"/>
            </p:cNvSpPr>
            <p:nvPr/>
          </p:nvSpPr>
          <p:spPr bwMode="auto">
            <a:xfrm>
              <a:off x="3408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Rectangle 42"/>
            <p:cNvSpPr>
              <a:spLocks noChangeArrowheads="1"/>
            </p:cNvSpPr>
            <p:nvPr/>
          </p:nvSpPr>
          <p:spPr bwMode="auto">
            <a:xfrm>
              <a:off x="3552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Rectangle 43"/>
            <p:cNvSpPr>
              <a:spLocks noChangeArrowheads="1"/>
            </p:cNvSpPr>
            <p:nvPr/>
          </p:nvSpPr>
          <p:spPr bwMode="auto">
            <a:xfrm>
              <a:off x="3696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3840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Rectangle 45"/>
            <p:cNvSpPr>
              <a:spLocks noChangeArrowheads="1"/>
            </p:cNvSpPr>
            <p:nvPr/>
          </p:nvSpPr>
          <p:spPr bwMode="auto">
            <a:xfrm>
              <a:off x="3984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6" name="Rectangle 46"/>
            <p:cNvSpPr>
              <a:spLocks noChangeArrowheads="1"/>
            </p:cNvSpPr>
            <p:nvPr/>
          </p:nvSpPr>
          <p:spPr bwMode="auto">
            <a:xfrm>
              <a:off x="4128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7" name="Rectangle 47"/>
            <p:cNvSpPr>
              <a:spLocks noChangeArrowheads="1"/>
            </p:cNvSpPr>
            <p:nvPr/>
          </p:nvSpPr>
          <p:spPr bwMode="auto">
            <a:xfrm>
              <a:off x="4272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Rectangle 48"/>
            <p:cNvSpPr>
              <a:spLocks noChangeArrowheads="1"/>
            </p:cNvSpPr>
            <p:nvPr/>
          </p:nvSpPr>
          <p:spPr bwMode="auto">
            <a:xfrm>
              <a:off x="4416" y="3120"/>
              <a:ext cx="144" cy="144"/>
            </a:xfrm>
            <a:prstGeom prst="rect">
              <a:avLst/>
            </a:prstGeom>
            <a:noFill/>
            <a:ln w="15875">
              <a:solidFill>
                <a:schemeClr val="tx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6324600" y="2895600"/>
            <a:ext cx="2133600" cy="1905000"/>
            <a:chOff x="3312" y="2112"/>
            <a:chExt cx="1344" cy="1200"/>
          </a:xfrm>
        </p:grpSpPr>
        <p:sp>
          <p:nvSpPr>
            <p:cNvPr id="20530" name="Rectangle 50"/>
            <p:cNvSpPr>
              <a:spLocks noChangeArrowheads="1"/>
            </p:cNvSpPr>
            <p:nvPr/>
          </p:nvSpPr>
          <p:spPr bwMode="auto">
            <a:xfrm>
              <a:off x="3312" y="2112"/>
              <a:ext cx="1344" cy="2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Rectangle 51"/>
            <p:cNvSpPr>
              <a:spLocks noChangeArrowheads="1"/>
            </p:cNvSpPr>
            <p:nvPr/>
          </p:nvSpPr>
          <p:spPr bwMode="auto">
            <a:xfrm>
              <a:off x="3312" y="2352"/>
              <a:ext cx="1344" cy="2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2" name="Rectangle 52"/>
            <p:cNvSpPr>
              <a:spLocks noChangeArrowheads="1"/>
            </p:cNvSpPr>
            <p:nvPr/>
          </p:nvSpPr>
          <p:spPr bwMode="auto">
            <a:xfrm>
              <a:off x="3312" y="2592"/>
              <a:ext cx="1344" cy="2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Rectangle 53"/>
            <p:cNvSpPr>
              <a:spLocks noChangeArrowheads="1"/>
            </p:cNvSpPr>
            <p:nvPr/>
          </p:nvSpPr>
          <p:spPr bwMode="auto">
            <a:xfrm>
              <a:off x="3312" y="2832"/>
              <a:ext cx="1344" cy="2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4" name="Rectangle 54"/>
            <p:cNvSpPr>
              <a:spLocks noChangeArrowheads="1"/>
            </p:cNvSpPr>
            <p:nvPr/>
          </p:nvSpPr>
          <p:spPr bwMode="auto">
            <a:xfrm>
              <a:off x="3312" y="3072"/>
              <a:ext cx="1344" cy="2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5" autoUpdateAnimBg="0"/>
      <p:bldP spid="20484" grpId="0" build="p" bldLvl="4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CF357-B490-4627-B2F1-7FBB8976648F}" type="slidenum">
              <a:rPr lang="en-US"/>
              <a:pPr/>
              <a:t>11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Ragged arrays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5410200" cy="2057400"/>
          </a:xfrm>
        </p:spPr>
        <p:txBody>
          <a:bodyPr/>
          <a:lstStyle/>
          <a:p>
            <a:pPr>
              <a:buClr>
                <a:srgbClr val="FFFF99"/>
              </a:buClr>
              <a:buFontTx/>
              <a:buChar char=" "/>
            </a:pP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 ragged[][] = new </a:t>
            </a: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[4][];</a:t>
            </a:r>
            <a:br>
              <a:rPr lang="en-US" sz="2400" dirty="0">
                <a:latin typeface="Verdana" pitchFamily="34" charset="0"/>
              </a:rPr>
            </a:br>
            <a:endParaRPr lang="en-US" sz="2400" dirty="0">
              <a:latin typeface="Verdana" pitchFamily="34" charset="0"/>
            </a:endParaRPr>
          </a:p>
          <a:p>
            <a:pPr>
              <a:buClr>
                <a:srgbClr val="FFFF99"/>
              </a:buClr>
              <a:buFontTx/>
              <a:buChar char=" "/>
            </a:pPr>
            <a:r>
              <a:rPr lang="en-US" sz="2400" dirty="0">
                <a:latin typeface="Verdana" pitchFamily="34" charset="0"/>
              </a:rPr>
              <a:t>for (</a:t>
            </a: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= 0;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&lt; 4;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++) {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    ragged[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] = new </a:t>
            </a: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[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+ 1];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}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114800"/>
            <a:ext cx="7772400" cy="1981200"/>
          </a:xfrm>
        </p:spPr>
        <p:txBody>
          <a:bodyPr/>
          <a:lstStyle/>
          <a:p>
            <a:pPr>
              <a:buClr>
                <a:srgbClr val="FFFF99"/>
              </a:buClr>
              <a:buFontTx/>
              <a:buChar char=" "/>
            </a:pPr>
            <a:r>
              <a:rPr lang="en-US" sz="2400" dirty="0">
                <a:latin typeface="Verdana" pitchFamily="34" charset="0"/>
              </a:rPr>
              <a:t>for (</a:t>
            </a: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= 0;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&lt; 4;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++) {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    for (</a:t>
            </a:r>
            <a:r>
              <a:rPr lang="en-US" sz="2400" dirty="0" err="1">
                <a:latin typeface="Verdana" pitchFamily="34" charset="0"/>
              </a:rPr>
              <a:t>int</a:t>
            </a:r>
            <a:r>
              <a:rPr lang="en-US" sz="2400" dirty="0">
                <a:latin typeface="Verdana" pitchFamily="34" charset="0"/>
              </a:rPr>
              <a:t> j = 0; j &lt; ragged[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].length; j++) {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        ragged[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][j] = 10 * </a:t>
            </a:r>
            <a:r>
              <a:rPr lang="en-US" sz="2400" dirty="0" err="1">
                <a:latin typeface="Verdana" pitchFamily="34" charset="0"/>
              </a:rPr>
              <a:t>i</a:t>
            </a:r>
            <a:r>
              <a:rPr lang="en-US" sz="2400" dirty="0">
                <a:latin typeface="Verdana" pitchFamily="34" charset="0"/>
              </a:rPr>
              <a:t> + j;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    }</a:t>
            </a:r>
            <a:br>
              <a:rPr lang="en-US" sz="2400" dirty="0">
                <a:latin typeface="Verdana" pitchFamily="34" charset="0"/>
              </a:rPr>
            </a:br>
            <a:r>
              <a:rPr lang="en-US" sz="2400" dirty="0">
                <a:latin typeface="Verdana" pitchFamily="34" charset="0"/>
              </a:rPr>
              <a:t>}</a:t>
            </a:r>
            <a:endParaRPr lang="en-US" sz="2000" dirty="0">
              <a:latin typeface="Verdana" pitchFamily="34" charset="0"/>
            </a:endParaRP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6019800" y="1727201"/>
            <a:ext cx="2590800" cy="1979613"/>
            <a:chOff x="3792" y="2976"/>
            <a:chExt cx="1632" cy="1247"/>
          </a:xfrm>
        </p:grpSpPr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4032" y="3234"/>
              <a:ext cx="1344" cy="960"/>
              <a:chOff x="4032" y="1392"/>
              <a:chExt cx="1344" cy="960"/>
            </a:xfrm>
          </p:grpSpPr>
          <p:sp>
            <p:nvSpPr>
              <p:cNvPr id="22533" name="Rectangle 5"/>
              <p:cNvSpPr>
                <a:spLocks noChangeArrowheads="1"/>
              </p:cNvSpPr>
              <p:nvPr/>
            </p:nvSpPr>
            <p:spPr bwMode="auto">
              <a:xfrm>
                <a:off x="4032" y="139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4" name="Rectangle 6"/>
              <p:cNvSpPr>
                <a:spLocks noChangeArrowheads="1"/>
              </p:cNvSpPr>
              <p:nvPr/>
            </p:nvSpPr>
            <p:spPr bwMode="auto">
              <a:xfrm>
                <a:off x="4032" y="163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5" name="Rectangle 7"/>
              <p:cNvSpPr>
                <a:spLocks noChangeArrowheads="1"/>
              </p:cNvSpPr>
              <p:nvPr/>
            </p:nvSpPr>
            <p:spPr bwMode="auto">
              <a:xfrm>
                <a:off x="4032" y="187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6" name="Rectangle 8"/>
              <p:cNvSpPr>
                <a:spLocks noChangeArrowheads="1"/>
              </p:cNvSpPr>
              <p:nvPr/>
            </p:nvSpPr>
            <p:spPr bwMode="auto">
              <a:xfrm>
                <a:off x="4032" y="211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7" name="Rectangle 9"/>
              <p:cNvSpPr>
                <a:spLocks noChangeArrowheads="1"/>
              </p:cNvSpPr>
              <p:nvPr/>
            </p:nvSpPr>
            <p:spPr bwMode="auto">
              <a:xfrm>
                <a:off x="4368" y="163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8" name="Rectangle 10"/>
              <p:cNvSpPr>
                <a:spLocks noChangeArrowheads="1"/>
              </p:cNvSpPr>
              <p:nvPr/>
            </p:nvSpPr>
            <p:spPr bwMode="auto">
              <a:xfrm>
                <a:off x="4368" y="187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9" name="Rectangle 11"/>
              <p:cNvSpPr>
                <a:spLocks noChangeArrowheads="1"/>
              </p:cNvSpPr>
              <p:nvPr/>
            </p:nvSpPr>
            <p:spPr bwMode="auto">
              <a:xfrm>
                <a:off x="4368" y="211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40" name="Rectangle 12"/>
              <p:cNvSpPr>
                <a:spLocks noChangeArrowheads="1"/>
              </p:cNvSpPr>
              <p:nvPr/>
            </p:nvSpPr>
            <p:spPr bwMode="auto">
              <a:xfrm>
                <a:off x="5040" y="211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41" name="Rectangle 13"/>
              <p:cNvSpPr>
                <a:spLocks noChangeArrowheads="1"/>
              </p:cNvSpPr>
              <p:nvPr/>
            </p:nvSpPr>
            <p:spPr bwMode="auto">
              <a:xfrm>
                <a:off x="4704" y="187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42" name="Rectangle 14"/>
              <p:cNvSpPr>
                <a:spLocks noChangeArrowheads="1"/>
              </p:cNvSpPr>
              <p:nvPr/>
            </p:nvSpPr>
            <p:spPr bwMode="auto">
              <a:xfrm>
                <a:off x="4704" y="2112"/>
                <a:ext cx="33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3" name="Text Box 15"/>
            <p:cNvSpPr txBox="1">
              <a:spLocks noChangeArrowheads="1"/>
            </p:cNvSpPr>
            <p:nvPr/>
          </p:nvSpPr>
          <p:spPr bwMode="auto">
            <a:xfrm>
              <a:off x="3792" y="3234"/>
              <a:ext cx="288" cy="9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lg" len="lg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 dirty="0">
                  <a:latin typeface="Times New Roman" pitchFamily="18" charset="0"/>
                </a:rPr>
                <a:t>0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 smtClean="0">
                  <a:latin typeface="Times New Roman" pitchFamily="18" charset="0"/>
                </a:rPr>
                <a:t>1</a:t>
              </a:r>
              <a:r>
                <a:rPr lang="en-US" sz="2400" i="1" dirty="0">
                  <a:latin typeface="Times New Roman" pitchFamily="18" charset="0"/>
                </a:rPr>
                <a:t/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2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4032" y="2976"/>
              <a:ext cx="1392" cy="9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 dirty="0">
                  <a:latin typeface="Times New Roman" pitchFamily="18" charset="0"/>
                </a:rPr>
                <a:t>  0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         1</a:t>
              </a:r>
              <a:br>
                <a:rPr lang="en-US" sz="2400" i="1" dirty="0">
                  <a:latin typeface="Times New Roman" pitchFamily="18" charset="0"/>
                </a:rPr>
              </a:br>
              <a:r>
                <a:rPr lang="en-US" sz="2400" i="1" dirty="0">
                  <a:latin typeface="Times New Roman" pitchFamily="18" charset="0"/>
                </a:rPr>
                <a:t>                </a:t>
              </a:r>
              <a:r>
                <a:rPr lang="en-US" sz="2400" i="1" dirty="0" smtClean="0">
                  <a:latin typeface="Times New Roman" pitchFamily="18" charset="0"/>
                </a:rPr>
                <a:t>2</a:t>
              </a:r>
              <a:br>
                <a:rPr lang="en-US" sz="2400" i="1" dirty="0" smtClean="0">
                  <a:latin typeface="Times New Roman" pitchFamily="18" charset="0"/>
                </a:rPr>
              </a:br>
              <a:r>
                <a:rPr lang="en-US" sz="2400" i="1" dirty="0" smtClean="0">
                  <a:latin typeface="Times New Roman" pitchFamily="18" charset="0"/>
                </a:rPr>
                <a:t>                       3</a:t>
              </a:r>
              <a:endParaRPr lang="en-US" sz="2400" i="1" dirty="0">
                <a:latin typeface="Times New Roman" pitchFamily="18" charset="0"/>
              </a:endParaRP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400800" y="2133600"/>
            <a:ext cx="2133600" cy="1524000"/>
            <a:chOff x="4128" y="3312"/>
            <a:chExt cx="1344" cy="960"/>
          </a:xfrm>
        </p:grpSpPr>
        <p:sp>
          <p:nvSpPr>
            <p:cNvPr id="22547" name="Rectangle 19"/>
            <p:cNvSpPr>
              <a:spLocks noChangeArrowheads="1"/>
            </p:cNvSpPr>
            <p:nvPr/>
          </p:nvSpPr>
          <p:spPr bwMode="auto">
            <a:xfrm>
              <a:off x="4128" y="331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 0</a:t>
              </a:r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4128" y="355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10</a:t>
              </a:r>
            </a:p>
          </p:txBody>
        </p:sp>
        <p:sp>
          <p:nvSpPr>
            <p:cNvPr id="22549" name="Rectangle 21"/>
            <p:cNvSpPr>
              <a:spLocks noChangeArrowheads="1"/>
            </p:cNvSpPr>
            <p:nvPr/>
          </p:nvSpPr>
          <p:spPr bwMode="auto">
            <a:xfrm>
              <a:off x="4128" y="379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20</a:t>
              </a:r>
            </a:p>
          </p:txBody>
        </p:sp>
        <p:sp>
          <p:nvSpPr>
            <p:cNvPr id="22550" name="Rectangle 22"/>
            <p:cNvSpPr>
              <a:spLocks noChangeArrowheads="1"/>
            </p:cNvSpPr>
            <p:nvPr/>
          </p:nvSpPr>
          <p:spPr bwMode="auto">
            <a:xfrm>
              <a:off x="4128" y="403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30</a:t>
              </a:r>
            </a:p>
          </p:txBody>
        </p:sp>
        <p:sp>
          <p:nvSpPr>
            <p:cNvPr id="22551" name="Rectangle 23"/>
            <p:cNvSpPr>
              <a:spLocks noChangeArrowheads="1"/>
            </p:cNvSpPr>
            <p:nvPr/>
          </p:nvSpPr>
          <p:spPr bwMode="auto">
            <a:xfrm>
              <a:off x="4464" y="355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11</a:t>
              </a:r>
            </a:p>
          </p:txBody>
        </p:sp>
        <p:sp>
          <p:nvSpPr>
            <p:cNvPr id="22552" name="Rectangle 24"/>
            <p:cNvSpPr>
              <a:spLocks noChangeArrowheads="1"/>
            </p:cNvSpPr>
            <p:nvPr/>
          </p:nvSpPr>
          <p:spPr bwMode="auto">
            <a:xfrm>
              <a:off x="4464" y="379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21</a:t>
              </a:r>
            </a:p>
          </p:txBody>
        </p:sp>
        <p:sp>
          <p:nvSpPr>
            <p:cNvPr id="22553" name="Rectangle 25"/>
            <p:cNvSpPr>
              <a:spLocks noChangeArrowheads="1"/>
            </p:cNvSpPr>
            <p:nvPr/>
          </p:nvSpPr>
          <p:spPr bwMode="auto">
            <a:xfrm>
              <a:off x="4464" y="403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31</a:t>
              </a:r>
            </a:p>
          </p:txBody>
        </p:sp>
        <p:sp>
          <p:nvSpPr>
            <p:cNvPr id="22554" name="Rectangle 26"/>
            <p:cNvSpPr>
              <a:spLocks noChangeArrowheads="1"/>
            </p:cNvSpPr>
            <p:nvPr/>
          </p:nvSpPr>
          <p:spPr bwMode="auto">
            <a:xfrm>
              <a:off x="5136" y="403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33</a:t>
              </a:r>
            </a:p>
          </p:txBody>
        </p:sp>
        <p:sp>
          <p:nvSpPr>
            <p:cNvPr id="22555" name="Rectangle 27"/>
            <p:cNvSpPr>
              <a:spLocks noChangeArrowheads="1"/>
            </p:cNvSpPr>
            <p:nvPr/>
          </p:nvSpPr>
          <p:spPr bwMode="auto">
            <a:xfrm>
              <a:off x="4800" y="379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  <p:sp>
          <p:nvSpPr>
            <p:cNvPr id="22556" name="Rectangle 28"/>
            <p:cNvSpPr>
              <a:spLocks noChangeArrowheads="1"/>
            </p:cNvSpPr>
            <p:nvPr/>
          </p:nvSpPr>
          <p:spPr bwMode="auto">
            <a:xfrm>
              <a:off x="4800" y="4032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5" autoUpdateAnimBg="0"/>
      <p:bldP spid="22532" grpId="0" build="p" bldLvl="4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public class ArrayTest1 {</a:t>
            </a:r>
          </a:p>
          <a:p>
            <a:pPr>
              <a:buNone/>
            </a:pPr>
            <a:r>
              <a:rPr lang="en-US" sz="1400" dirty="0" smtClean="0"/>
              <a:t>    public static void main(String[] </a:t>
            </a:r>
            <a:r>
              <a:rPr lang="en-US" sz="1400" dirty="0" err="1" smtClean="0"/>
              <a:t>args</a:t>
            </a:r>
            <a:r>
              <a:rPr lang="en-US" sz="1400" dirty="0" smtClean="0"/>
              <a:t>) {</a:t>
            </a:r>
          </a:p>
          <a:p>
            <a:pPr>
              <a:buNone/>
            </a:pPr>
            <a:r>
              <a:rPr lang="en-US" sz="1400" dirty="0" smtClean="0"/>
              <a:t>        long[] </a:t>
            </a:r>
            <a:r>
              <a:rPr lang="en-US" sz="1400" dirty="0" err="1" smtClean="0"/>
              <a:t>arr</a:t>
            </a:r>
            <a:r>
              <a:rPr lang="en-US" sz="1400" dirty="0" smtClean="0"/>
              <a:t>; // reference to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 = new long[100]; // make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0; // number of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j; // loop counter</a:t>
            </a:r>
          </a:p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[0] = 77; // insert 10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[1] = 99;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[2] = 44;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[3] = 55;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[4] = 22;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[5] = 88;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[6] = 11;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7; // now 7 items in array</a:t>
            </a:r>
          </a:p>
          <a:p>
            <a:pPr>
              <a:buNone/>
            </a:pPr>
            <a:endParaRPr lang="en-US" sz="14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 for (j = 0; j &lt; </a:t>
            </a:r>
            <a:r>
              <a:rPr lang="en-US" sz="1400" dirty="0" err="1" smtClean="0"/>
              <a:t>nElems</a:t>
            </a:r>
            <a:r>
              <a:rPr lang="en-US" sz="1400" dirty="0" smtClean="0"/>
              <a:t>; j++) // display items</a:t>
            </a:r>
          </a:p>
          <a:p>
            <a:pPr>
              <a:buNone/>
            </a:pPr>
            <a:r>
              <a:rPr lang="en-US" sz="1400" dirty="0" smtClean="0"/>
              <a:t>        {    </a:t>
            </a:r>
            <a:r>
              <a:rPr lang="en-US" sz="1400" dirty="0" err="1" smtClean="0"/>
              <a:t>System.out.print</a:t>
            </a:r>
            <a:r>
              <a:rPr lang="en-US" sz="1400" dirty="0" smtClean="0"/>
              <a:t>(</a:t>
            </a:r>
            <a:r>
              <a:rPr lang="en-US" sz="1400" dirty="0" err="1" smtClean="0"/>
              <a:t>arr</a:t>
            </a:r>
            <a:r>
              <a:rPr lang="en-US" sz="1400" dirty="0" smtClean="0"/>
              <a:t>[j] + "");    }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("");</a:t>
            </a:r>
          </a:p>
          <a:p>
            <a:pPr>
              <a:buNone/>
            </a:pPr>
            <a:r>
              <a:rPr lang="en-US" sz="1400" dirty="0" smtClean="0"/>
              <a:t> } // end main()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F65BB0-2578-45B1-9ABD-C2A6DCF71D6F}" type="slidenum">
              <a:rPr lang="en-US"/>
              <a:pPr/>
              <a:t>13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93038" cy="669925"/>
          </a:xfrm>
        </p:spPr>
        <p:txBody>
          <a:bodyPr>
            <a:normAutofit fontScale="90000"/>
          </a:bodyPr>
          <a:lstStyle/>
          <a:p>
            <a:r>
              <a:rPr lang="en-US" dirty="0"/>
              <a:t>Inserting an element into </a:t>
            </a:r>
            <a:r>
              <a:rPr lang="en-US" dirty="0" smtClean="0"/>
              <a:t>unsorted array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574088" cy="685800"/>
          </a:xfrm>
        </p:spPr>
        <p:txBody>
          <a:bodyPr/>
          <a:lstStyle/>
          <a:p>
            <a:r>
              <a:rPr lang="en-US" sz="2400" dirty="0" smtClean="0"/>
              <a:t>Suppose </a:t>
            </a:r>
            <a:r>
              <a:rPr lang="en-US" sz="2400" dirty="0"/>
              <a:t>we want to insert the value</a:t>
            </a:r>
            <a:r>
              <a:rPr lang="en-US" sz="2400" dirty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itchFamily="34" charset="0"/>
              </a:rPr>
              <a:t>8</a:t>
            </a:r>
            <a:r>
              <a:rPr lang="en-US" sz="2400" dirty="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400" dirty="0"/>
              <a:t>into this </a:t>
            </a:r>
            <a:r>
              <a:rPr lang="en-US" sz="2400" dirty="0" smtClean="0"/>
              <a:t>array</a:t>
            </a:r>
            <a:endParaRPr lang="en-US" sz="2400" dirty="0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2984501"/>
            <a:ext cx="8305800" cy="825500"/>
          </a:xfrm>
        </p:spPr>
        <p:txBody>
          <a:bodyPr/>
          <a:lstStyle/>
          <a:p>
            <a:r>
              <a:rPr lang="en-US" sz="2400" dirty="0"/>
              <a:t>We can do this by </a:t>
            </a:r>
            <a:r>
              <a:rPr lang="en-US" sz="2400" dirty="0" smtClean="0"/>
              <a:t>assign value to last location</a:t>
            </a:r>
            <a:endParaRPr lang="en-US" sz="2400" dirty="0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143000" y="2254250"/>
            <a:ext cx="6096000" cy="685800"/>
            <a:chOff x="720" y="1584"/>
            <a:chExt cx="3840" cy="432"/>
          </a:xfrm>
        </p:grpSpPr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72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110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48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54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187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7</a:t>
              </a:r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225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12</a:t>
              </a:r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264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8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302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17</a:t>
              </a:r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340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2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379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417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>
              <a:off x="4368" y="1584"/>
              <a:ext cx="0" cy="14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762000" y="5149850"/>
            <a:ext cx="7848600" cy="954107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hlink"/>
                </a:solidFill>
                <a:latin typeface="Times New Roman" pitchFamily="18" charset="0"/>
              </a:rPr>
              <a:t>•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</a:rPr>
              <a:t>its very fast operation </a:t>
            </a:r>
            <a:r>
              <a:rPr lang="en-US" sz="2800" dirty="0" smtClean="0">
                <a:latin typeface="Times New Roman" pitchFamily="18" charset="0"/>
                <a:sym typeface="Wingdings" pitchFamily="2" charset="2"/>
              </a:rPr>
              <a:t> one operation O(1)</a:t>
            </a:r>
            <a:r>
              <a:rPr lang="en-US" sz="2800" dirty="0">
                <a:latin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</a:rPr>
            </a:br>
            <a:r>
              <a:rPr lang="en-US" sz="2800" dirty="0">
                <a:latin typeface="Times New Roman" pitchFamily="18" charset="0"/>
              </a:rPr>
              <a:t>    </a:t>
            </a:r>
            <a:endParaRPr lang="en-US" dirty="0">
              <a:latin typeface="Times New Roman" pitchFamily="18" charset="0"/>
            </a:endParaRPr>
          </a:p>
        </p:txBody>
      </p:sp>
      <p:grpSp>
        <p:nvGrpSpPr>
          <p:cNvPr id="39" name="Group 41"/>
          <p:cNvGrpSpPr>
            <a:grpSpLocks/>
          </p:cNvGrpSpPr>
          <p:nvPr/>
        </p:nvGrpSpPr>
        <p:grpSpPr bwMode="auto">
          <a:xfrm>
            <a:off x="1143000" y="4038600"/>
            <a:ext cx="6096000" cy="685800"/>
            <a:chOff x="720" y="1584"/>
            <a:chExt cx="3840" cy="432"/>
          </a:xfrm>
        </p:grpSpPr>
        <p:sp>
          <p:nvSpPr>
            <p:cNvPr id="40" name="Rectangle 5"/>
            <p:cNvSpPr>
              <a:spLocks noChangeArrowheads="1"/>
            </p:cNvSpPr>
            <p:nvPr/>
          </p:nvSpPr>
          <p:spPr bwMode="auto">
            <a:xfrm>
              <a:off x="72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110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148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54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187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7</a:t>
              </a: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5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12</a:t>
              </a:r>
            </a:p>
          </p:txBody>
        </p:sp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264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8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302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17</a:t>
              </a:r>
            </a:p>
          </p:txBody>
        </p:sp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340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  <a:latin typeface="Verdana" pitchFamily="34" charset="0"/>
                </a:rPr>
                <a:t>2</a:t>
              </a:r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379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auto">
            <a:xfrm>
              <a:off x="417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Verdana" pitchFamily="34" charset="0"/>
              </a:endParaRPr>
            </a:p>
          </p:txBody>
        </p:sp>
        <p:sp>
          <p:nvSpPr>
            <p:cNvPr id="50" name="Line 15"/>
            <p:cNvSpPr>
              <a:spLocks noChangeShapeType="1"/>
            </p:cNvSpPr>
            <p:nvPr/>
          </p:nvSpPr>
          <p:spPr bwMode="auto">
            <a:xfrm>
              <a:off x="4368" y="1584"/>
              <a:ext cx="0" cy="14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6629400" y="4343400"/>
            <a:ext cx="6096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pPr algn="ctr"/>
            <a:r>
              <a:rPr lang="en-US" dirty="0" smtClean="0">
                <a:solidFill>
                  <a:schemeClr val="accent2"/>
                </a:solidFill>
                <a:latin typeface="Verdana" pitchFamily="34" charset="0"/>
              </a:rPr>
              <a:t>8</a:t>
            </a:r>
            <a:endParaRPr lang="en-US" dirty="0">
              <a:solidFill>
                <a:schemeClr val="accent2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5" autoUpdateAnimBg="0"/>
      <p:bldP spid="24580" grpId="0" build="p" bldLvl="4" autoUpdateAnimBg="0"/>
      <p:bldP spid="2460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Insert into unsorted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public class ArrayTest1 {</a:t>
            </a:r>
          </a:p>
          <a:p>
            <a:pPr>
              <a:buNone/>
            </a:pPr>
            <a:r>
              <a:rPr lang="en-US" sz="1400" dirty="0" smtClean="0"/>
              <a:t>    public static void main(String[] </a:t>
            </a:r>
            <a:r>
              <a:rPr lang="en-US" sz="1400" dirty="0" err="1" smtClean="0"/>
              <a:t>args</a:t>
            </a:r>
            <a:r>
              <a:rPr lang="en-US" sz="1400" dirty="0" smtClean="0"/>
              <a:t>) {</a:t>
            </a:r>
          </a:p>
          <a:p>
            <a:pPr>
              <a:buNone/>
            </a:pPr>
            <a:r>
              <a:rPr lang="en-US" sz="1400" dirty="0" smtClean="0"/>
              <a:t>        long[] </a:t>
            </a:r>
            <a:r>
              <a:rPr lang="en-US" sz="1400" dirty="0" err="1" smtClean="0"/>
              <a:t>arr</a:t>
            </a:r>
            <a:r>
              <a:rPr lang="en-US" sz="1400" dirty="0" smtClean="0"/>
              <a:t>; // reference to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 = new long[100]; // make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0; // number of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j; // loop counter</a:t>
            </a:r>
          </a:p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[0] = 77; // insert 10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[1] = 99;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[2] = 44;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[3] = 55;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[4] = 22;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[5] = 88;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[6] = 11;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7; // now 7 items in array</a:t>
            </a:r>
          </a:p>
          <a:p>
            <a:pPr>
              <a:buNone/>
            </a:pPr>
            <a:endParaRPr lang="en-US" sz="14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 for (j = 0; j &lt; </a:t>
            </a:r>
            <a:r>
              <a:rPr lang="en-US" sz="1400" dirty="0" err="1" smtClean="0"/>
              <a:t>nElems</a:t>
            </a:r>
            <a:r>
              <a:rPr lang="en-US" sz="1400" dirty="0" smtClean="0"/>
              <a:t>; j++) // display items</a:t>
            </a:r>
          </a:p>
          <a:p>
            <a:pPr>
              <a:buNone/>
            </a:pPr>
            <a:r>
              <a:rPr lang="en-US" sz="1400" dirty="0" smtClean="0"/>
              <a:t>        {    </a:t>
            </a:r>
            <a:r>
              <a:rPr lang="en-US" sz="1400" dirty="0" err="1" smtClean="0"/>
              <a:t>System.out.print</a:t>
            </a:r>
            <a:r>
              <a:rPr lang="en-US" sz="1400" dirty="0" smtClean="0"/>
              <a:t>(</a:t>
            </a:r>
            <a:r>
              <a:rPr lang="en-US" sz="1400" dirty="0" err="1" smtClean="0"/>
              <a:t>arr</a:t>
            </a:r>
            <a:r>
              <a:rPr lang="en-US" sz="1400" dirty="0" smtClean="0"/>
              <a:t>[j] + "");    }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("");</a:t>
            </a:r>
          </a:p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b="1" dirty="0" err="1" smtClean="0"/>
              <a:t>arr</a:t>
            </a:r>
            <a:r>
              <a:rPr lang="en-US" sz="1400" b="1" dirty="0" smtClean="0"/>
              <a:t>[</a:t>
            </a:r>
            <a:r>
              <a:rPr lang="en-US" sz="1400" b="1" dirty="0" err="1" smtClean="0"/>
              <a:t>nElems</a:t>
            </a:r>
            <a:r>
              <a:rPr lang="en-US" sz="1400" b="1" dirty="0" smtClean="0"/>
              <a:t>] = 33; // element added to end</a:t>
            </a:r>
          </a:p>
          <a:p>
            <a:pPr>
              <a:buNone/>
            </a:pPr>
            <a:r>
              <a:rPr lang="en-US" sz="1400" b="1" dirty="0" err="1" smtClean="0"/>
              <a:t>nElems</a:t>
            </a:r>
            <a:r>
              <a:rPr lang="en-US" sz="1400" b="1" dirty="0" smtClean="0"/>
              <a:t>++; // increment size </a:t>
            </a:r>
          </a:p>
          <a:p>
            <a:pPr>
              <a:buNone/>
            </a:pPr>
            <a:r>
              <a:rPr lang="en-US" sz="1400" dirty="0" smtClean="0"/>
              <a:t>  } // end main()</a:t>
            </a:r>
          </a:p>
          <a:p>
            <a:pPr>
              <a:buNone/>
            </a:pPr>
            <a:r>
              <a:rPr lang="en-US" sz="1400" dirty="0" smtClean="0"/>
              <a:t>}//end class</a:t>
            </a: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F65BB0-2578-45B1-9ABD-C2A6DCF71D6F}" type="slidenum">
              <a:rPr lang="en-US"/>
              <a:pPr/>
              <a:t>15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93038" cy="669925"/>
          </a:xfrm>
        </p:spPr>
        <p:txBody>
          <a:bodyPr>
            <a:normAutofit/>
          </a:bodyPr>
          <a:lstStyle/>
          <a:p>
            <a:r>
              <a:rPr lang="en-US" dirty="0"/>
              <a:t>Inserting an element into </a:t>
            </a:r>
            <a:r>
              <a:rPr lang="en-US" dirty="0" smtClean="0"/>
              <a:t>sorted array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574088" cy="1169988"/>
          </a:xfrm>
        </p:spPr>
        <p:txBody>
          <a:bodyPr/>
          <a:lstStyle/>
          <a:p>
            <a:r>
              <a:rPr lang="en-US" sz="2400"/>
              <a:t>Suppose we want to insert the value</a:t>
            </a:r>
            <a:r>
              <a:rPr lang="en-US" sz="240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400">
                <a:solidFill>
                  <a:schemeClr val="accent2"/>
                </a:solidFill>
                <a:latin typeface="Verdana" pitchFamily="34" charset="0"/>
              </a:rPr>
              <a:t>8</a:t>
            </a:r>
            <a:r>
              <a:rPr lang="en-US" sz="240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400"/>
              <a:t>into this sorted array (while keeping the array sorted)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2984500"/>
            <a:ext cx="8574088" cy="1666875"/>
          </a:xfrm>
        </p:spPr>
        <p:txBody>
          <a:bodyPr/>
          <a:lstStyle/>
          <a:p>
            <a:r>
              <a:rPr lang="en-US" sz="2400"/>
              <a:t>We can do this by shifting all the elements after the mark right by one location</a:t>
            </a:r>
          </a:p>
          <a:p>
            <a:pPr lvl="1"/>
            <a:r>
              <a:rPr lang="en-US" sz="2000"/>
              <a:t>Of course, we have to discard the</a:t>
            </a:r>
            <a:r>
              <a:rPr lang="en-US" sz="2000">
                <a:solidFill>
                  <a:schemeClr val="accent2"/>
                </a:solidFill>
                <a:latin typeface="Verdana" pitchFamily="34" charset="0"/>
              </a:rPr>
              <a:t> 30</a:t>
            </a:r>
            <a:r>
              <a:rPr lang="en-US" sz="2000">
                <a:solidFill>
                  <a:srgbClr val="FFFF99"/>
                </a:solidFill>
                <a:latin typeface="Verdana" pitchFamily="34" charset="0"/>
              </a:rPr>
              <a:t> </a:t>
            </a:r>
            <a:r>
              <a:rPr lang="en-US" sz="2000"/>
              <a:t>when we do this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143000" y="2254250"/>
            <a:ext cx="6096000" cy="685800"/>
            <a:chOff x="720" y="1584"/>
            <a:chExt cx="3840" cy="432"/>
          </a:xfrm>
        </p:grpSpPr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72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110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48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187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7</a:t>
              </a:r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225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12</a:t>
              </a:r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2640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14</a:t>
              </a:r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3024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17</a:t>
              </a:r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3408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19</a:t>
              </a: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3792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4176" y="1776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30</a:t>
              </a:r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>
              <a:off x="2256" y="1584"/>
              <a:ext cx="0" cy="14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762000" y="5149850"/>
            <a:ext cx="7848600" cy="1373188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hlink"/>
                </a:solidFill>
                <a:latin typeface="Times New Roman" pitchFamily="18" charset="0"/>
              </a:rPr>
              <a:t>•</a:t>
            </a:r>
            <a:r>
              <a:rPr lang="en-US" sz="2800" dirty="0">
                <a:latin typeface="Times New Roman" pitchFamily="18" charset="0"/>
              </a:rPr>
              <a:t> Moving all those elements makes this a </a:t>
            </a:r>
            <a:r>
              <a:rPr lang="en-US" sz="2800" i="1" dirty="0">
                <a:latin typeface="Times New Roman" pitchFamily="18" charset="0"/>
              </a:rPr>
              <a:t>slow</a:t>
            </a:r>
            <a:r>
              <a:rPr lang="en-US" sz="2800" dirty="0">
                <a:latin typeface="Times New Roman" pitchFamily="18" charset="0"/>
              </a:rPr>
              <a:t> operation (linear in the size of the array</a:t>
            </a:r>
            <a:r>
              <a:rPr lang="en-US" sz="2800" dirty="0" smtClean="0">
                <a:latin typeface="Times New Roman" pitchFamily="18" charset="0"/>
              </a:rPr>
              <a:t>) </a:t>
            </a:r>
            <a:r>
              <a:rPr lang="en-US" sz="2800" dirty="0" smtClean="0">
                <a:latin typeface="Times New Roman" pitchFamily="18" charset="0"/>
                <a:sym typeface="Wingdings" pitchFamily="2" charset="2"/>
              </a:rPr>
              <a:t></a:t>
            </a:r>
            <a:r>
              <a:rPr lang="en-US" sz="2800" dirty="0" smtClean="0">
                <a:latin typeface="Times New Roman" pitchFamily="18" charset="0"/>
              </a:rPr>
              <a:t>O(n)</a:t>
            </a:r>
            <a:r>
              <a:rPr lang="en-US" sz="2800" dirty="0">
                <a:latin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</a:rPr>
            </a:br>
            <a:r>
              <a:rPr lang="en-US" sz="2800" dirty="0">
                <a:latin typeface="Times New Roman" pitchFamily="18" charset="0"/>
              </a:rPr>
              <a:t>    </a:t>
            </a:r>
            <a:endParaRPr lang="en-US" dirty="0">
              <a:latin typeface="Times New Roman" pitchFamily="18" charset="0"/>
            </a:endParaRPr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143000" y="2949575"/>
            <a:ext cx="6716713" cy="2232025"/>
            <a:chOff x="720" y="1858"/>
            <a:chExt cx="4231" cy="1406"/>
          </a:xfrm>
        </p:grpSpPr>
        <p:sp>
          <p:nvSpPr>
            <p:cNvPr id="24609" name="Line 33"/>
            <p:cNvSpPr>
              <a:spLocks noChangeShapeType="1"/>
            </p:cNvSpPr>
            <p:nvPr/>
          </p:nvSpPr>
          <p:spPr bwMode="auto">
            <a:xfrm>
              <a:off x="2448" y="1858"/>
              <a:ext cx="384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>
              <a:off x="2832" y="1858"/>
              <a:ext cx="384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3216" y="1858"/>
              <a:ext cx="384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>
              <a:off x="3600" y="1858"/>
              <a:ext cx="384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3984" y="1858"/>
              <a:ext cx="384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" name="Group 42"/>
            <p:cNvGrpSpPr>
              <a:grpSpLocks/>
            </p:cNvGrpSpPr>
            <p:nvPr/>
          </p:nvGrpSpPr>
          <p:grpSpPr bwMode="auto">
            <a:xfrm>
              <a:off x="720" y="2774"/>
              <a:ext cx="4231" cy="490"/>
              <a:chOff x="720" y="2928"/>
              <a:chExt cx="4231" cy="490"/>
            </a:xfrm>
          </p:grpSpPr>
          <p:grpSp>
            <p:nvGrpSpPr>
              <p:cNvPr id="5" name="Group 29"/>
              <p:cNvGrpSpPr>
                <a:grpSpLocks/>
              </p:cNvGrpSpPr>
              <p:nvPr/>
            </p:nvGrpSpPr>
            <p:grpSpPr bwMode="auto">
              <a:xfrm>
                <a:off x="720" y="3072"/>
                <a:ext cx="3840" cy="240"/>
                <a:chOff x="720" y="3408"/>
                <a:chExt cx="3840" cy="240"/>
              </a:xfrm>
            </p:grpSpPr>
            <p:sp>
              <p:nvSpPr>
                <p:cNvPr id="24594" name="Rectangle 18"/>
                <p:cNvSpPr>
                  <a:spLocks noChangeArrowheads="1"/>
                </p:cNvSpPr>
                <p:nvPr/>
              </p:nvSpPr>
              <p:spPr bwMode="auto">
                <a:xfrm>
                  <a:off x="720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1</a:t>
                  </a:r>
                </a:p>
              </p:txBody>
            </p:sp>
            <p:sp>
              <p:nvSpPr>
                <p:cNvPr id="24595" name="Rectangle 19"/>
                <p:cNvSpPr>
                  <a:spLocks noChangeArrowheads="1"/>
                </p:cNvSpPr>
                <p:nvPr/>
              </p:nvSpPr>
              <p:spPr bwMode="auto">
                <a:xfrm>
                  <a:off x="1104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3</a:t>
                  </a:r>
                </a:p>
              </p:txBody>
            </p:sp>
            <p:sp>
              <p:nvSpPr>
                <p:cNvPr id="24596" name="Rectangle 20"/>
                <p:cNvSpPr>
                  <a:spLocks noChangeArrowheads="1"/>
                </p:cNvSpPr>
                <p:nvPr/>
              </p:nvSpPr>
              <p:spPr bwMode="auto">
                <a:xfrm>
                  <a:off x="1488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3</a:t>
                  </a:r>
                </a:p>
              </p:txBody>
            </p:sp>
            <p:sp>
              <p:nvSpPr>
                <p:cNvPr id="24597" name="Rectangle 21"/>
                <p:cNvSpPr>
                  <a:spLocks noChangeArrowheads="1"/>
                </p:cNvSpPr>
                <p:nvPr/>
              </p:nvSpPr>
              <p:spPr bwMode="auto">
                <a:xfrm>
                  <a:off x="1872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7</a:t>
                  </a:r>
                </a:p>
              </p:txBody>
            </p:sp>
            <p:sp>
              <p:nvSpPr>
                <p:cNvPr id="24598" name="Rectangle 22"/>
                <p:cNvSpPr>
                  <a:spLocks noChangeArrowheads="1"/>
                </p:cNvSpPr>
                <p:nvPr/>
              </p:nvSpPr>
              <p:spPr bwMode="auto">
                <a:xfrm>
                  <a:off x="2256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tx2"/>
                      </a:solidFill>
                      <a:latin typeface="Verdana" pitchFamily="34" charset="0"/>
                    </a:rPr>
                    <a:t>8</a:t>
                  </a:r>
                </a:p>
              </p:txBody>
            </p:sp>
            <p:sp>
              <p:nvSpPr>
                <p:cNvPr id="24599" name="Rectangle 23"/>
                <p:cNvSpPr>
                  <a:spLocks noChangeArrowheads="1"/>
                </p:cNvSpPr>
                <p:nvPr/>
              </p:nvSpPr>
              <p:spPr bwMode="auto">
                <a:xfrm>
                  <a:off x="2640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12</a:t>
                  </a:r>
                </a:p>
              </p:txBody>
            </p:sp>
            <p:sp>
              <p:nvSpPr>
                <p:cNvPr id="24600" name="Rectangle 24"/>
                <p:cNvSpPr>
                  <a:spLocks noChangeArrowheads="1"/>
                </p:cNvSpPr>
                <p:nvPr/>
              </p:nvSpPr>
              <p:spPr bwMode="auto">
                <a:xfrm>
                  <a:off x="3024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14</a:t>
                  </a:r>
                </a:p>
              </p:txBody>
            </p:sp>
            <p:sp>
              <p:nvSpPr>
                <p:cNvPr id="24601" name="Rectangle 25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17</a:t>
                  </a:r>
                </a:p>
              </p:txBody>
            </p:sp>
            <p:sp>
              <p:nvSpPr>
                <p:cNvPr id="24602" name="Rectangle 26"/>
                <p:cNvSpPr>
                  <a:spLocks noChangeArrowheads="1"/>
                </p:cNvSpPr>
                <p:nvPr/>
              </p:nvSpPr>
              <p:spPr bwMode="auto">
                <a:xfrm>
                  <a:off x="3792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19</a:t>
                  </a:r>
                </a:p>
              </p:txBody>
            </p:sp>
            <p:sp>
              <p:nvSpPr>
                <p:cNvPr id="24603" name="Rectangle 27"/>
                <p:cNvSpPr>
                  <a:spLocks noChangeArrowheads="1"/>
                </p:cNvSpPr>
                <p:nvPr/>
              </p:nvSpPr>
              <p:spPr bwMode="auto">
                <a:xfrm>
                  <a:off x="4176" y="3408"/>
                  <a:ext cx="384" cy="2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>
                      <a:solidFill>
                        <a:schemeClr val="accent2"/>
                      </a:solidFill>
                      <a:latin typeface="Verdana" pitchFamily="34" charset="0"/>
                    </a:rPr>
                    <a:t>22</a:t>
                  </a:r>
                </a:p>
              </p:txBody>
            </p:sp>
          </p:grpSp>
          <p:sp>
            <p:nvSpPr>
              <p:cNvPr id="24607" name="Text Box 31"/>
              <p:cNvSpPr txBox="1">
                <a:spLocks noChangeArrowheads="1"/>
              </p:cNvSpPr>
              <p:nvPr/>
            </p:nvSpPr>
            <p:spPr bwMode="auto">
              <a:xfrm rot="1303387">
                <a:off x="4567" y="3130"/>
                <a:ext cx="384" cy="288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 type="none" w="lg" len="lg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30</a:t>
                </a:r>
              </a:p>
            </p:txBody>
          </p:sp>
          <p:sp>
            <p:nvSpPr>
              <p:cNvPr id="24616" name="Line 40"/>
              <p:cNvSpPr>
                <a:spLocks noChangeShapeType="1"/>
              </p:cNvSpPr>
              <p:nvPr/>
            </p:nvSpPr>
            <p:spPr bwMode="auto">
              <a:xfrm>
                <a:off x="2448" y="292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5" autoUpdateAnimBg="0"/>
      <p:bldP spid="24580" grpId="0" build="p" bldLvl="4" autoUpdateAnimBg="0"/>
      <p:bldP spid="2460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Insert into sorted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public class ArrayTest1 {</a:t>
            </a:r>
          </a:p>
          <a:p>
            <a:pPr>
              <a:buNone/>
            </a:pPr>
            <a:r>
              <a:rPr lang="en-US" sz="1400" dirty="0" smtClean="0"/>
              <a:t>    public static void main(String[] </a:t>
            </a:r>
            <a:r>
              <a:rPr lang="en-US" sz="1400" dirty="0" err="1" smtClean="0"/>
              <a:t>args</a:t>
            </a:r>
            <a:r>
              <a:rPr lang="en-US" sz="1400" dirty="0" smtClean="0"/>
              <a:t>) {</a:t>
            </a:r>
          </a:p>
          <a:p>
            <a:pPr>
              <a:buNone/>
            </a:pPr>
            <a:r>
              <a:rPr lang="en-US" sz="1400" dirty="0" smtClean="0"/>
              <a:t>        long[] </a:t>
            </a:r>
            <a:r>
              <a:rPr lang="en-US" sz="1400" dirty="0" err="1" smtClean="0"/>
              <a:t>arr</a:t>
            </a:r>
            <a:r>
              <a:rPr lang="en-US" sz="1400" dirty="0" smtClean="0"/>
              <a:t>; // reference to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 = new long[100]; // make array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0; // number of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int</a:t>
            </a:r>
            <a:r>
              <a:rPr lang="en-US" sz="1400" dirty="0" smtClean="0"/>
              <a:t> j; // loop counter</a:t>
            </a:r>
          </a:p>
          <a:p>
            <a:pPr>
              <a:buNone/>
            </a:pPr>
            <a:r>
              <a:rPr lang="en-US" sz="1400" dirty="0" smtClean="0"/>
              <a:t> 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[0] = 11; // insert 10 items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[1] = 22;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[2] = 44;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[3] = 55;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[4] = 66;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[5] = 77;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arr</a:t>
            </a:r>
            <a:r>
              <a:rPr lang="en-US" sz="1400" dirty="0" smtClean="0"/>
              <a:t>[6] = 88;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nElems</a:t>
            </a:r>
            <a:r>
              <a:rPr lang="en-US" sz="1400" dirty="0" smtClean="0"/>
              <a:t> = 7; // now 7 items in array</a:t>
            </a:r>
          </a:p>
          <a:p>
            <a:pPr>
              <a:buNone/>
            </a:pPr>
            <a:endParaRPr lang="en-US" sz="14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 for (j = 0; j &lt; </a:t>
            </a:r>
            <a:r>
              <a:rPr lang="en-US" sz="1400" dirty="0" err="1" smtClean="0"/>
              <a:t>nElems</a:t>
            </a:r>
            <a:r>
              <a:rPr lang="en-US" sz="1400" dirty="0" smtClean="0"/>
              <a:t>; j++) // display items</a:t>
            </a:r>
          </a:p>
          <a:p>
            <a:pPr>
              <a:buNone/>
            </a:pPr>
            <a:r>
              <a:rPr lang="en-US" sz="1400" dirty="0" smtClean="0"/>
              <a:t>        {    </a:t>
            </a:r>
            <a:r>
              <a:rPr lang="en-US" sz="1400" dirty="0" err="1" smtClean="0"/>
              <a:t>System.out.print</a:t>
            </a:r>
            <a:r>
              <a:rPr lang="en-US" sz="1400" dirty="0" smtClean="0"/>
              <a:t>(</a:t>
            </a:r>
            <a:r>
              <a:rPr lang="en-US" sz="1400" dirty="0" err="1" smtClean="0"/>
              <a:t>arr</a:t>
            </a:r>
            <a:r>
              <a:rPr lang="en-US" sz="1400" dirty="0" smtClean="0"/>
              <a:t>[j] + "");    }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("");</a:t>
            </a:r>
          </a:p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</a:t>
            </a:r>
            <a:r>
              <a:rPr lang="en-US" sz="1400" b="1" dirty="0" smtClean="0"/>
              <a:t>long </a:t>
            </a:r>
            <a:r>
              <a:rPr lang="en-US" sz="1400" b="1" dirty="0" err="1" smtClean="0"/>
              <a:t>e_add</a:t>
            </a:r>
            <a:r>
              <a:rPr lang="en-US" sz="1400" b="1" dirty="0" smtClean="0"/>
              <a:t>= 33; //element to added</a:t>
            </a:r>
          </a:p>
          <a:p>
            <a:pPr>
              <a:buNone/>
            </a:pPr>
            <a:r>
              <a:rPr lang="en-US" sz="1400" b="1" dirty="0" smtClean="0"/>
              <a:t>       </a:t>
            </a:r>
            <a:r>
              <a:rPr lang="en-US" sz="1400" b="1" dirty="0" smtClean="0"/>
              <a:t>j</a:t>
            </a:r>
            <a:r>
              <a:rPr lang="en-US" sz="1400" b="1" dirty="0" smtClean="0"/>
              <a:t>= nElems-1;  //point to last element</a:t>
            </a:r>
          </a:p>
          <a:p>
            <a:pPr>
              <a:buNone/>
            </a:pPr>
            <a:r>
              <a:rPr lang="en-US" sz="1400" b="1" dirty="0" smtClean="0"/>
              <a:t>	 while( </a:t>
            </a:r>
            <a:r>
              <a:rPr lang="en-US" sz="1400" b="1" dirty="0" err="1" smtClean="0"/>
              <a:t>arr</a:t>
            </a:r>
            <a:r>
              <a:rPr lang="en-US" sz="1400" b="1" dirty="0" smtClean="0"/>
              <a:t>[j] &gt; </a:t>
            </a:r>
            <a:r>
              <a:rPr lang="en-US" sz="1400" b="1" dirty="0" err="1" smtClean="0"/>
              <a:t>e_add</a:t>
            </a:r>
            <a:r>
              <a:rPr lang="en-US" sz="1400" b="1" dirty="0" smtClean="0"/>
              <a:t>){</a:t>
            </a:r>
          </a:p>
          <a:p>
            <a:pPr>
              <a:buNone/>
            </a:pPr>
            <a:r>
              <a:rPr lang="en-US" sz="1400" b="1" dirty="0" smtClean="0"/>
              <a:t> 		</a:t>
            </a:r>
            <a:r>
              <a:rPr lang="en-US" sz="1400" b="1" dirty="0" err="1" smtClean="0"/>
              <a:t>arr</a:t>
            </a:r>
            <a:r>
              <a:rPr lang="en-US" sz="1400" b="1" dirty="0" smtClean="0"/>
              <a:t>[j+1]= </a:t>
            </a:r>
            <a:r>
              <a:rPr lang="en-US" sz="1400" b="1" dirty="0" err="1" smtClean="0"/>
              <a:t>arr</a:t>
            </a:r>
            <a:r>
              <a:rPr lang="en-US" sz="1400" b="1" dirty="0" smtClean="0"/>
              <a:t>[j];  //shift element</a:t>
            </a:r>
          </a:p>
          <a:p>
            <a:pPr>
              <a:buNone/>
            </a:pPr>
            <a:r>
              <a:rPr lang="en-US" sz="1400" b="1" dirty="0" smtClean="0"/>
              <a:t>		j--;</a:t>
            </a:r>
          </a:p>
          <a:p>
            <a:pPr>
              <a:buNone/>
            </a:pPr>
            <a:r>
              <a:rPr lang="en-US" sz="1400" b="1" dirty="0" smtClean="0"/>
              <a:t>	}	</a:t>
            </a:r>
          </a:p>
          <a:p>
            <a:pPr>
              <a:buNone/>
            </a:pPr>
            <a:r>
              <a:rPr lang="en-US" sz="1400" b="1" dirty="0" smtClean="0"/>
              <a:t>       </a:t>
            </a:r>
            <a:r>
              <a:rPr lang="en-US" sz="1400" b="1" dirty="0" err="1" smtClean="0"/>
              <a:t>arr</a:t>
            </a:r>
            <a:r>
              <a:rPr lang="en-US" sz="1400" b="1" dirty="0" smtClean="0"/>
              <a:t>[j+1</a:t>
            </a:r>
            <a:r>
              <a:rPr lang="en-US" sz="1400" b="1" dirty="0" smtClean="0"/>
              <a:t>]= </a:t>
            </a:r>
            <a:r>
              <a:rPr lang="en-US" sz="1400" b="1" dirty="0" err="1" smtClean="0"/>
              <a:t>e_add</a:t>
            </a:r>
            <a:r>
              <a:rPr lang="en-US" sz="1400" b="1" dirty="0" smtClean="0"/>
              <a:t>; </a:t>
            </a:r>
          </a:p>
          <a:p>
            <a:pPr>
              <a:buNone/>
            </a:pPr>
            <a:r>
              <a:rPr lang="en-US" sz="1400" b="1" dirty="0" smtClean="0"/>
              <a:t>       </a:t>
            </a:r>
            <a:r>
              <a:rPr lang="en-US" sz="1400" b="1" dirty="0" err="1" smtClean="0"/>
              <a:t>nElems</a:t>
            </a:r>
            <a:r>
              <a:rPr lang="en-US" sz="1400" b="1" dirty="0" smtClean="0"/>
              <a:t>++;</a:t>
            </a:r>
          </a:p>
          <a:p>
            <a:pPr>
              <a:buNone/>
            </a:pPr>
            <a:r>
              <a:rPr lang="en-US" sz="14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400" dirty="0" smtClean="0"/>
              <a:t>        for (j = 0; j &lt; </a:t>
            </a:r>
            <a:r>
              <a:rPr lang="en-US" sz="1400" dirty="0" err="1" smtClean="0"/>
              <a:t>nElems</a:t>
            </a:r>
            <a:r>
              <a:rPr lang="en-US" sz="1400" dirty="0" smtClean="0"/>
              <a:t>; j++) // display items</a:t>
            </a:r>
          </a:p>
          <a:p>
            <a:pPr>
              <a:buNone/>
            </a:pPr>
            <a:r>
              <a:rPr lang="en-US" sz="1400" dirty="0" smtClean="0"/>
              <a:t>        {    </a:t>
            </a:r>
            <a:r>
              <a:rPr lang="en-US" sz="1400" dirty="0" err="1" smtClean="0"/>
              <a:t>System.out.print</a:t>
            </a:r>
            <a:r>
              <a:rPr lang="en-US" sz="1400" dirty="0" smtClean="0"/>
              <a:t>(</a:t>
            </a:r>
            <a:r>
              <a:rPr lang="en-US" sz="1400" dirty="0" err="1" smtClean="0"/>
              <a:t>arr</a:t>
            </a:r>
            <a:r>
              <a:rPr lang="en-US" sz="1400" dirty="0" smtClean="0"/>
              <a:t>[j] + "");    }</a:t>
            </a:r>
          </a:p>
          <a:p>
            <a:pPr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("");</a:t>
            </a:r>
          </a:p>
          <a:p>
            <a:pPr>
              <a:buNone/>
            </a:pPr>
            <a:r>
              <a:rPr lang="en-US" sz="1400" dirty="0" smtClean="0"/>
              <a:t>}//end main   } //end class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4493C-57A1-437A-AB68-20A3B4516D0A}" type="slidenum">
              <a:rPr lang="en-US"/>
              <a:pPr/>
              <a:t>17</a:t>
            </a:fld>
            <a:endParaRPr lang="en-US"/>
          </a:p>
        </p:txBody>
      </p:sp>
      <p:sp>
        <p:nvSpPr>
          <p:cNvPr id="25644" name="Rectangle 4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an element from an array</a:t>
            </a:r>
          </a:p>
        </p:txBody>
      </p:sp>
      <p:sp>
        <p:nvSpPr>
          <p:cNvPr id="25645" name="Rectangle 45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7924800" cy="914400"/>
          </a:xfrm>
        </p:spPr>
        <p:txBody>
          <a:bodyPr/>
          <a:lstStyle/>
          <a:p>
            <a:r>
              <a:rPr lang="en-US" sz="2400"/>
              <a:t>Deleting an element is similar--again, we have to move all the elements after it</a:t>
            </a:r>
          </a:p>
        </p:txBody>
      </p:sp>
      <p:sp>
        <p:nvSpPr>
          <p:cNvPr id="25646" name="Rectangle 46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114800"/>
            <a:ext cx="8305800" cy="2362200"/>
          </a:xfrm>
        </p:spPr>
        <p:txBody>
          <a:bodyPr/>
          <a:lstStyle/>
          <a:p>
            <a:r>
              <a:rPr lang="en-US" sz="2400"/>
              <a:t>Deletion is a slow operation; we don’t want to do it very often</a:t>
            </a:r>
          </a:p>
          <a:p>
            <a:r>
              <a:rPr lang="en-US" sz="2400"/>
              <a:t>Deletion leaves a “vacant” location at the end</a:t>
            </a:r>
          </a:p>
          <a:p>
            <a:pPr lvl="1"/>
            <a:r>
              <a:rPr lang="en-US" sz="2000"/>
              <a:t>How do we mark it vacant?</a:t>
            </a:r>
          </a:p>
          <a:p>
            <a:pPr lvl="2"/>
            <a:r>
              <a:rPr lang="en-US" sz="1800"/>
              <a:t>Every bit pattern represents a valid integer</a:t>
            </a:r>
          </a:p>
          <a:p>
            <a:pPr lvl="2"/>
            <a:r>
              <a:rPr lang="en-US" sz="1800"/>
              <a:t>We must keep a count of how many valid elements are in the array</a:t>
            </a:r>
          </a:p>
          <a:p>
            <a:endParaRPr lang="en-US" sz="24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2514600"/>
            <a:ext cx="6096000" cy="381000"/>
            <a:chOff x="720" y="3408"/>
            <a:chExt cx="3840" cy="240"/>
          </a:xfrm>
        </p:grpSpPr>
        <p:sp>
          <p:nvSpPr>
            <p:cNvPr id="25605" name="Rectangle 5"/>
            <p:cNvSpPr>
              <a:spLocks noChangeArrowheads="1"/>
            </p:cNvSpPr>
            <p:nvPr/>
          </p:nvSpPr>
          <p:spPr bwMode="auto">
            <a:xfrm>
              <a:off x="720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1104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1488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1872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7</a:t>
              </a:r>
            </a:p>
          </p:txBody>
        </p:sp>
        <p:sp>
          <p:nvSpPr>
            <p:cNvPr id="25609" name="Rectangle 9"/>
            <p:cNvSpPr>
              <a:spLocks noChangeArrowheads="1"/>
            </p:cNvSpPr>
            <p:nvPr/>
          </p:nvSpPr>
          <p:spPr bwMode="auto">
            <a:xfrm>
              <a:off x="2256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8</a:t>
              </a:r>
            </a:p>
          </p:txBody>
        </p:sp>
        <p:sp>
          <p:nvSpPr>
            <p:cNvPr id="25610" name="Rectangle 10"/>
            <p:cNvSpPr>
              <a:spLocks noChangeArrowheads="1"/>
            </p:cNvSpPr>
            <p:nvPr/>
          </p:nvSpPr>
          <p:spPr bwMode="auto">
            <a:xfrm>
              <a:off x="2640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12</a:t>
              </a:r>
            </a:p>
          </p:txBody>
        </p:sp>
        <p:sp>
          <p:nvSpPr>
            <p:cNvPr id="25611" name="Rectangle 11"/>
            <p:cNvSpPr>
              <a:spLocks noChangeArrowheads="1"/>
            </p:cNvSpPr>
            <p:nvPr/>
          </p:nvSpPr>
          <p:spPr bwMode="auto">
            <a:xfrm>
              <a:off x="3024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14</a:t>
              </a:r>
            </a:p>
          </p:txBody>
        </p:sp>
        <p:sp>
          <p:nvSpPr>
            <p:cNvPr id="25612" name="Rectangle 12"/>
            <p:cNvSpPr>
              <a:spLocks noChangeArrowheads="1"/>
            </p:cNvSpPr>
            <p:nvPr/>
          </p:nvSpPr>
          <p:spPr bwMode="auto">
            <a:xfrm>
              <a:off x="3408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17</a:t>
              </a:r>
            </a:p>
          </p:txBody>
        </p:sp>
        <p:sp>
          <p:nvSpPr>
            <p:cNvPr id="25613" name="Rectangle 13"/>
            <p:cNvSpPr>
              <a:spLocks noChangeArrowheads="1"/>
            </p:cNvSpPr>
            <p:nvPr/>
          </p:nvSpPr>
          <p:spPr bwMode="auto">
            <a:xfrm>
              <a:off x="3792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19</a:t>
              </a:r>
            </a:p>
          </p:txBody>
        </p:sp>
        <p:sp>
          <p:nvSpPr>
            <p:cNvPr id="25614" name="Rectangle 14"/>
            <p:cNvSpPr>
              <a:spLocks noChangeArrowheads="1"/>
            </p:cNvSpPr>
            <p:nvPr/>
          </p:nvSpPr>
          <p:spPr bwMode="auto">
            <a:xfrm>
              <a:off x="4176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143000" y="2895600"/>
            <a:ext cx="6096000" cy="914400"/>
            <a:chOff x="720" y="2736"/>
            <a:chExt cx="3840" cy="576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720" y="3072"/>
              <a:ext cx="3840" cy="240"/>
              <a:chOff x="720" y="3408"/>
              <a:chExt cx="3840" cy="240"/>
            </a:xfrm>
          </p:grpSpPr>
          <p:sp>
            <p:nvSpPr>
              <p:cNvPr id="25616" name="Rectangle 16"/>
              <p:cNvSpPr>
                <a:spLocks noChangeArrowheads="1"/>
              </p:cNvSpPr>
              <p:nvPr/>
            </p:nvSpPr>
            <p:spPr bwMode="auto">
              <a:xfrm>
                <a:off x="720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1</a:t>
                </a:r>
              </a:p>
            </p:txBody>
          </p:sp>
          <p:sp>
            <p:nvSpPr>
              <p:cNvPr id="25617" name="Rectangle 17"/>
              <p:cNvSpPr>
                <a:spLocks noChangeArrowheads="1"/>
              </p:cNvSpPr>
              <p:nvPr/>
            </p:nvSpPr>
            <p:spPr bwMode="auto">
              <a:xfrm>
                <a:off x="1104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3</a:t>
                </a:r>
              </a:p>
            </p:txBody>
          </p:sp>
          <p:sp>
            <p:nvSpPr>
              <p:cNvPr id="25618" name="Rectangle 18"/>
              <p:cNvSpPr>
                <a:spLocks noChangeArrowheads="1"/>
              </p:cNvSpPr>
              <p:nvPr/>
            </p:nvSpPr>
            <p:spPr bwMode="auto">
              <a:xfrm>
                <a:off x="1488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3</a:t>
                </a:r>
              </a:p>
            </p:txBody>
          </p:sp>
          <p:sp>
            <p:nvSpPr>
              <p:cNvPr id="25619" name="Rectangle 19"/>
              <p:cNvSpPr>
                <a:spLocks noChangeArrowheads="1"/>
              </p:cNvSpPr>
              <p:nvPr/>
            </p:nvSpPr>
            <p:spPr bwMode="auto">
              <a:xfrm>
                <a:off x="1872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7</a:t>
                </a:r>
              </a:p>
            </p:txBody>
          </p:sp>
          <p:sp>
            <p:nvSpPr>
              <p:cNvPr id="25620" name="Rectangle 20"/>
              <p:cNvSpPr>
                <a:spLocks noChangeArrowheads="1"/>
              </p:cNvSpPr>
              <p:nvPr/>
            </p:nvSpPr>
            <p:spPr bwMode="auto">
              <a:xfrm>
                <a:off x="2256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12</a:t>
                </a:r>
              </a:p>
            </p:txBody>
          </p:sp>
          <p:sp>
            <p:nvSpPr>
              <p:cNvPr id="25621" name="Rectangle 21"/>
              <p:cNvSpPr>
                <a:spLocks noChangeArrowheads="1"/>
              </p:cNvSpPr>
              <p:nvPr/>
            </p:nvSpPr>
            <p:spPr bwMode="auto">
              <a:xfrm>
                <a:off x="2640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14</a:t>
                </a:r>
              </a:p>
            </p:txBody>
          </p:sp>
          <p:sp>
            <p:nvSpPr>
              <p:cNvPr id="25622" name="Rectangle 22"/>
              <p:cNvSpPr>
                <a:spLocks noChangeArrowheads="1"/>
              </p:cNvSpPr>
              <p:nvPr/>
            </p:nvSpPr>
            <p:spPr bwMode="auto">
              <a:xfrm>
                <a:off x="3024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17</a:t>
                </a:r>
              </a:p>
            </p:txBody>
          </p:sp>
          <p:sp>
            <p:nvSpPr>
              <p:cNvPr id="25623" name="Rectangle 23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19</a:t>
                </a:r>
              </a:p>
            </p:txBody>
          </p:sp>
          <p:sp>
            <p:nvSpPr>
              <p:cNvPr id="25624" name="Rectangle 24"/>
              <p:cNvSpPr>
                <a:spLocks noChangeArrowheads="1"/>
              </p:cNvSpPr>
              <p:nvPr/>
            </p:nvSpPr>
            <p:spPr bwMode="auto">
              <a:xfrm>
                <a:off x="3792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22</a:t>
                </a:r>
              </a:p>
            </p:txBody>
          </p:sp>
          <p:sp>
            <p:nvSpPr>
              <p:cNvPr id="25625" name="Rectangle 25"/>
              <p:cNvSpPr>
                <a:spLocks noChangeArrowheads="1"/>
              </p:cNvSpPr>
              <p:nvPr/>
            </p:nvSpPr>
            <p:spPr bwMode="auto">
              <a:xfrm>
                <a:off x="4176" y="3408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chemeClr val="accent2"/>
                    </a:solidFill>
                    <a:latin typeface="Verdana" pitchFamily="34" charset="0"/>
                  </a:rPr>
                  <a:t>?</a:t>
                </a:r>
              </a:p>
            </p:txBody>
          </p:sp>
        </p:grpSp>
        <p:sp>
          <p:nvSpPr>
            <p:cNvPr id="25627" name="Line 27"/>
            <p:cNvSpPr>
              <a:spLocks noChangeShapeType="1"/>
            </p:cNvSpPr>
            <p:nvPr/>
          </p:nvSpPr>
          <p:spPr bwMode="auto">
            <a:xfrm flipH="1">
              <a:off x="2448" y="2736"/>
              <a:ext cx="3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Line 28"/>
            <p:cNvSpPr>
              <a:spLocks noChangeShapeType="1"/>
            </p:cNvSpPr>
            <p:nvPr/>
          </p:nvSpPr>
          <p:spPr bwMode="auto">
            <a:xfrm flipH="1">
              <a:off x="2832" y="2736"/>
              <a:ext cx="3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9" name="Line 29"/>
            <p:cNvSpPr>
              <a:spLocks noChangeShapeType="1"/>
            </p:cNvSpPr>
            <p:nvPr/>
          </p:nvSpPr>
          <p:spPr bwMode="auto">
            <a:xfrm flipH="1">
              <a:off x="3216" y="2736"/>
              <a:ext cx="3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0" name="Line 30"/>
            <p:cNvSpPr>
              <a:spLocks noChangeShapeType="1"/>
            </p:cNvSpPr>
            <p:nvPr/>
          </p:nvSpPr>
          <p:spPr bwMode="auto">
            <a:xfrm flipH="1">
              <a:off x="3600" y="2736"/>
              <a:ext cx="3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31"/>
            <p:cNvSpPr>
              <a:spLocks noChangeShapeType="1"/>
            </p:cNvSpPr>
            <p:nvPr/>
          </p:nvSpPr>
          <p:spPr bwMode="auto">
            <a:xfrm flipH="1">
              <a:off x="3984" y="2736"/>
              <a:ext cx="3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3886200" y="225425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: Delete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181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public class ArrayTest1 {</a:t>
            </a:r>
          </a:p>
          <a:p>
            <a:pPr>
              <a:buNone/>
            </a:pPr>
            <a:r>
              <a:rPr lang="en-US" sz="1200" dirty="0" smtClean="0"/>
              <a:t>    public static void main(String[] </a:t>
            </a:r>
            <a:r>
              <a:rPr lang="en-US" sz="1200" dirty="0" err="1" smtClean="0"/>
              <a:t>args</a:t>
            </a:r>
            <a:r>
              <a:rPr lang="en-US" sz="1200" dirty="0" smtClean="0"/>
              <a:t>) {</a:t>
            </a:r>
          </a:p>
          <a:p>
            <a:pPr>
              <a:buNone/>
            </a:pPr>
            <a:r>
              <a:rPr lang="en-US" sz="1200" dirty="0" smtClean="0"/>
              <a:t>        long[] </a:t>
            </a:r>
            <a:r>
              <a:rPr lang="en-US" sz="1200" dirty="0" err="1" smtClean="0"/>
              <a:t>arr</a:t>
            </a:r>
            <a:r>
              <a:rPr lang="en-US" sz="1200" dirty="0" smtClean="0"/>
              <a:t>; // reference to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 = new long[100]; // make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0; // number of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j; // loop counter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[0] = 77; // insert 10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[1] = 99;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[2] = 44;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[3] = 55;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[4] = 22;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[5] = 88;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[6] = 11;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7; // now 7 items in array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dirty="0" smtClean="0"/>
              <a:t>        for (j = 0; j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; j++) // display items</a:t>
            </a:r>
          </a:p>
          <a:p>
            <a:pPr>
              <a:buNone/>
            </a:pPr>
            <a:r>
              <a:rPr lang="en-US" sz="1200" dirty="0" smtClean="0"/>
              <a:t>        {    </a:t>
            </a:r>
            <a:r>
              <a:rPr lang="en-US" sz="1200" dirty="0" err="1" smtClean="0"/>
              <a:t>System.out.print</a:t>
            </a:r>
            <a:r>
              <a:rPr lang="en-US" sz="1200" dirty="0" smtClean="0"/>
              <a:t>(</a:t>
            </a:r>
            <a:r>
              <a:rPr lang="en-US" sz="1200" dirty="0" err="1" smtClean="0"/>
              <a:t>arr</a:t>
            </a:r>
            <a:r>
              <a:rPr lang="en-US" sz="1200" dirty="0" smtClean="0"/>
              <a:t>[j] + "");    }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System.out.println</a:t>
            </a:r>
            <a:r>
              <a:rPr lang="en-US" sz="1200" dirty="0" smtClean="0"/>
              <a:t>("");</a:t>
            </a:r>
          </a:p>
          <a:p>
            <a:pPr>
              <a:buNone/>
            </a:pPr>
            <a:endParaRPr lang="en-US" sz="12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   </a:t>
            </a:r>
            <a:r>
              <a:rPr lang="en-US" sz="1200" dirty="0" smtClean="0"/>
              <a:t>long  </a:t>
            </a:r>
            <a:r>
              <a:rPr lang="en-US" sz="1200" dirty="0" err="1" smtClean="0"/>
              <a:t>searchKey</a:t>
            </a:r>
            <a:r>
              <a:rPr lang="en-US" sz="1200" dirty="0" smtClean="0"/>
              <a:t> = 55; // delete item with key 55</a:t>
            </a:r>
          </a:p>
          <a:p>
            <a:pPr>
              <a:buNone/>
            </a:pPr>
            <a:r>
              <a:rPr lang="en-US" sz="1200" dirty="0" smtClean="0"/>
              <a:t>        for (j = 0; j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; j++) // look for it</a:t>
            </a:r>
          </a:p>
          <a:p>
            <a:pPr>
              <a:buNone/>
            </a:pPr>
            <a:r>
              <a:rPr lang="en-US" sz="1200" dirty="0" smtClean="0"/>
              <a:t>        {</a:t>
            </a:r>
          </a:p>
          <a:p>
            <a:pPr>
              <a:buNone/>
            </a:pPr>
            <a:r>
              <a:rPr lang="en-US" sz="1200" dirty="0" smtClean="0"/>
              <a:t>            if (</a:t>
            </a:r>
            <a:r>
              <a:rPr lang="en-US" sz="1200" dirty="0" err="1" smtClean="0"/>
              <a:t>arr</a:t>
            </a:r>
            <a:r>
              <a:rPr lang="en-US" sz="1200" dirty="0" smtClean="0"/>
              <a:t>[j] == </a:t>
            </a:r>
            <a:r>
              <a:rPr lang="en-US" sz="1200" dirty="0" err="1" smtClean="0"/>
              <a:t>searchKey</a:t>
            </a:r>
            <a:r>
              <a:rPr lang="en-US" sz="1200" dirty="0" smtClean="0"/>
              <a:t>) {</a:t>
            </a:r>
          </a:p>
          <a:p>
            <a:pPr>
              <a:buNone/>
            </a:pPr>
            <a:r>
              <a:rPr lang="en-US" sz="1200" dirty="0" smtClean="0"/>
              <a:t>                break;</a:t>
            </a:r>
          </a:p>
          <a:p>
            <a:pPr>
              <a:buNone/>
            </a:pPr>
            <a:r>
              <a:rPr lang="en-US" sz="1200" dirty="0" smtClean="0"/>
              <a:t>            }</a:t>
            </a:r>
          </a:p>
          <a:p>
            <a:pPr>
              <a:buNone/>
            </a:pPr>
            <a:r>
              <a:rPr lang="en-US" sz="1200" dirty="0" smtClean="0"/>
              <a:t>        }</a:t>
            </a:r>
          </a:p>
          <a:p>
            <a:pPr>
              <a:buNone/>
            </a:pPr>
            <a:r>
              <a:rPr lang="en-US" sz="1200" dirty="0" smtClean="0"/>
              <a:t>// move higher ones down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smtClean="0"/>
              <a:t>for (</a:t>
            </a:r>
            <a:r>
              <a:rPr lang="en-US" sz="1200" dirty="0" err="1" smtClean="0"/>
              <a:t>int</a:t>
            </a:r>
            <a:r>
              <a:rPr lang="en-US" sz="1200" dirty="0" smtClean="0"/>
              <a:t> k = j; k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- 1; k++) 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smtClean="0"/>
              <a:t>{   </a:t>
            </a:r>
          </a:p>
          <a:p>
            <a:pPr>
              <a:buNone/>
            </a:pPr>
            <a:r>
              <a:rPr lang="en-US" sz="1200" dirty="0" smtClean="0"/>
              <a:t>	</a:t>
            </a:r>
            <a:r>
              <a:rPr lang="en-US" sz="1200" dirty="0" smtClean="0"/>
              <a:t>	</a:t>
            </a:r>
            <a:r>
              <a:rPr lang="en-US" sz="1200" dirty="0" err="1" smtClean="0"/>
              <a:t>arr</a:t>
            </a:r>
            <a:r>
              <a:rPr lang="en-US" sz="1200" dirty="0" smtClean="0"/>
              <a:t>[k</a:t>
            </a:r>
            <a:r>
              <a:rPr lang="en-US" sz="1200" dirty="0" smtClean="0"/>
              <a:t>] = </a:t>
            </a:r>
            <a:r>
              <a:rPr lang="en-US" sz="1200" dirty="0" err="1" smtClean="0"/>
              <a:t>arr</a:t>
            </a:r>
            <a:r>
              <a:rPr lang="en-US" sz="1200" dirty="0" smtClean="0"/>
              <a:t>[k + 1</a:t>
            </a:r>
            <a:r>
              <a:rPr lang="en-US" sz="1200" dirty="0" smtClean="0"/>
              <a:t>];  </a:t>
            </a:r>
          </a:p>
          <a:p>
            <a:pPr>
              <a:buNone/>
            </a:pPr>
            <a:r>
              <a:rPr lang="en-US" sz="1200" dirty="0" smtClean="0"/>
              <a:t>	</a:t>
            </a:r>
            <a:r>
              <a:rPr lang="en-US" sz="1200" dirty="0" smtClean="0"/>
              <a:t>}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nElems</a:t>
            </a:r>
            <a:r>
              <a:rPr lang="en-US" sz="1200" dirty="0" smtClean="0"/>
              <a:t>--; // decrement size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dirty="0" smtClean="0"/>
              <a:t>        for (j = 0; j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; j++) // display items</a:t>
            </a:r>
          </a:p>
          <a:p>
            <a:pPr>
              <a:buNone/>
            </a:pPr>
            <a:r>
              <a:rPr lang="en-US" sz="1200" dirty="0" smtClean="0"/>
              <a:t>        {    </a:t>
            </a:r>
            <a:r>
              <a:rPr lang="en-US" sz="1200" dirty="0" err="1" smtClean="0"/>
              <a:t>System.out.print</a:t>
            </a:r>
            <a:r>
              <a:rPr lang="en-US" sz="1200" dirty="0" smtClean="0"/>
              <a:t>(</a:t>
            </a:r>
            <a:r>
              <a:rPr lang="en-US" sz="1200" dirty="0" err="1" smtClean="0"/>
              <a:t>arr</a:t>
            </a:r>
            <a:r>
              <a:rPr lang="en-US" sz="1200" dirty="0" smtClean="0"/>
              <a:t>[j] + "");    }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System.out.println</a:t>
            </a:r>
            <a:r>
              <a:rPr lang="en-US" sz="1200" dirty="0" smtClean="0"/>
              <a:t>("");</a:t>
            </a:r>
          </a:p>
          <a:p>
            <a:pPr>
              <a:buNone/>
            </a:pPr>
            <a:r>
              <a:rPr lang="en-US" sz="1200" dirty="0" smtClean="0"/>
              <a:t>}//end main   } //end class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an element from an array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two type of search depend on array type: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2133600"/>
          <a:ext cx="7086600" cy="22860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362200"/>
                <a:gridCol w="2362200"/>
                <a:gridCol w="2362200"/>
              </a:tblGrid>
              <a:tr h="76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unsorted array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sorted array</a:t>
                      </a:r>
                      <a:endParaRPr lang="en-US" sz="20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Linear Search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Applicable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Applicable</a:t>
                      </a:r>
                      <a:endParaRPr lang="en-US" sz="20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Binary Search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Not Applicable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Applicable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4" name="Rectangle 4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Search</a:t>
            </a:r>
            <a:endParaRPr lang="en-US" dirty="0"/>
          </a:p>
        </p:txBody>
      </p:sp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493C-57A1-437A-AB68-20A3B4516D0A}" type="slidenum">
              <a:rPr lang="en-US"/>
              <a:pPr/>
              <a:t>20</a:t>
            </a:fld>
            <a:endParaRPr lang="en-US"/>
          </a:p>
        </p:txBody>
      </p:sp>
      <p:sp>
        <p:nvSpPr>
          <p:cNvPr id="25645" name="Rectangle 45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Looking for element form start of array till found it</a:t>
            </a:r>
          </a:p>
          <a:p>
            <a:r>
              <a:rPr lang="en-US" sz="2400" dirty="0" smtClean="0"/>
              <a:t>Search for 8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i="1" u="sng" dirty="0" smtClean="0"/>
              <a:t>Sequential search algorithm:</a:t>
            </a:r>
          </a:p>
          <a:p>
            <a:pPr lvl="1">
              <a:buNone/>
            </a:pPr>
            <a:r>
              <a:rPr lang="en-US" sz="1800" i="1" dirty="0" smtClean="0"/>
              <a:t>(</a:t>
            </a:r>
            <a:r>
              <a:rPr lang="en-US" sz="1800" i="1" dirty="0" err="1" smtClean="0"/>
              <a:t>Postcondition</a:t>
            </a:r>
            <a:r>
              <a:rPr lang="en-US" sz="1800" i="1" dirty="0" smtClean="0"/>
              <a:t>: either the index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 is returned where </a:t>
            </a:r>
            <a:r>
              <a:rPr lang="en-US" sz="1800" i="1" dirty="0" err="1" smtClean="0"/>
              <a:t>si</a:t>
            </a:r>
            <a:r>
              <a:rPr lang="en-US" sz="1800" i="1" baseline="-25000" dirty="0" smtClean="0"/>
              <a:t> </a:t>
            </a:r>
            <a:r>
              <a:rPr lang="en-US" sz="1800" i="1" dirty="0" smtClean="0"/>
              <a:t>= x, or –1 is returned.)</a:t>
            </a:r>
          </a:p>
          <a:p>
            <a:pPr lvl="1">
              <a:buNone/>
            </a:pPr>
            <a:r>
              <a:rPr lang="en-US" sz="1800" i="1" dirty="0" smtClean="0"/>
              <a:t>1. Repeat steps </a:t>
            </a:r>
            <a:r>
              <a:rPr lang="en-US" sz="1800" i="1" dirty="0" smtClean="0"/>
              <a:t>2, </a:t>
            </a:r>
            <a:r>
              <a:rPr lang="en-US" sz="1800" i="1" dirty="0" smtClean="0"/>
              <a:t>for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 = 0 to n – 1</a:t>
            </a:r>
            <a:r>
              <a:rPr lang="en-US" sz="1800" i="1" dirty="0" smtClean="0"/>
              <a:t>.</a:t>
            </a:r>
            <a:endParaRPr lang="en-US" sz="1800" i="1" dirty="0" smtClean="0"/>
          </a:p>
          <a:p>
            <a:pPr lvl="1">
              <a:buNone/>
            </a:pPr>
            <a:r>
              <a:rPr lang="en-US" sz="1800" i="1" dirty="0" smtClean="0"/>
              <a:t>2. </a:t>
            </a:r>
            <a:r>
              <a:rPr lang="en-US" sz="1800" i="1" dirty="0" smtClean="0"/>
              <a:t>If </a:t>
            </a:r>
            <a:r>
              <a:rPr lang="en-US" sz="1800" i="1" dirty="0" err="1" smtClean="0"/>
              <a:t>si</a:t>
            </a:r>
            <a:r>
              <a:rPr lang="en-US" sz="1800" i="1" dirty="0" smtClean="0"/>
              <a:t> = x, return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 .</a:t>
            </a:r>
          </a:p>
          <a:p>
            <a:pPr lvl="1">
              <a:buNone/>
            </a:pPr>
            <a:r>
              <a:rPr lang="en-US" sz="1800" i="1" dirty="0" smtClean="0"/>
              <a:t>3</a:t>
            </a:r>
            <a:r>
              <a:rPr lang="en-US" sz="1800" i="1" dirty="0" smtClean="0"/>
              <a:t>. </a:t>
            </a:r>
            <a:r>
              <a:rPr lang="en-US" sz="1800" i="1" dirty="0" smtClean="0"/>
              <a:t>Return –1.</a:t>
            </a:r>
            <a:endParaRPr lang="en-US" sz="1800" i="1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95400" y="2514600"/>
            <a:ext cx="6096000" cy="381000"/>
            <a:chOff x="720" y="3408"/>
            <a:chExt cx="3840" cy="240"/>
          </a:xfrm>
        </p:grpSpPr>
        <p:sp>
          <p:nvSpPr>
            <p:cNvPr id="25605" name="Rectangle 5"/>
            <p:cNvSpPr>
              <a:spLocks noChangeArrowheads="1"/>
            </p:cNvSpPr>
            <p:nvPr/>
          </p:nvSpPr>
          <p:spPr bwMode="auto">
            <a:xfrm>
              <a:off x="720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1104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1488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1872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7</a:t>
              </a:r>
            </a:p>
          </p:txBody>
        </p:sp>
        <p:sp>
          <p:nvSpPr>
            <p:cNvPr id="25609" name="Rectangle 9"/>
            <p:cNvSpPr>
              <a:spLocks noChangeArrowheads="1"/>
            </p:cNvSpPr>
            <p:nvPr/>
          </p:nvSpPr>
          <p:spPr bwMode="auto">
            <a:xfrm>
              <a:off x="2256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8</a:t>
              </a:r>
            </a:p>
          </p:txBody>
        </p:sp>
        <p:sp>
          <p:nvSpPr>
            <p:cNvPr id="25610" name="Rectangle 10"/>
            <p:cNvSpPr>
              <a:spLocks noChangeArrowheads="1"/>
            </p:cNvSpPr>
            <p:nvPr/>
          </p:nvSpPr>
          <p:spPr bwMode="auto">
            <a:xfrm>
              <a:off x="2640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12</a:t>
              </a:r>
            </a:p>
          </p:txBody>
        </p:sp>
        <p:sp>
          <p:nvSpPr>
            <p:cNvPr id="25611" name="Rectangle 11"/>
            <p:cNvSpPr>
              <a:spLocks noChangeArrowheads="1"/>
            </p:cNvSpPr>
            <p:nvPr/>
          </p:nvSpPr>
          <p:spPr bwMode="auto">
            <a:xfrm>
              <a:off x="3024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14</a:t>
              </a:r>
            </a:p>
          </p:txBody>
        </p:sp>
        <p:sp>
          <p:nvSpPr>
            <p:cNvPr id="25612" name="Rectangle 12"/>
            <p:cNvSpPr>
              <a:spLocks noChangeArrowheads="1"/>
            </p:cNvSpPr>
            <p:nvPr/>
          </p:nvSpPr>
          <p:spPr bwMode="auto">
            <a:xfrm>
              <a:off x="3408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17</a:t>
              </a:r>
            </a:p>
          </p:txBody>
        </p:sp>
        <p:sp>
          <p:nvSpPr>
            <p:cNvPr id="25613" name="Rectangle 13"/>
            <p:cNvSpPr>
              <a:spLocks noChangeArrowheads="1"/>
            </p:cNvSpPr>
            <p:nvPr/>
          </p:nvSpPr>
          <p:spPr bwMode="auto">
            <a:xfrm>
              <a:off x="3792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19</a:t>
              </a:r>
            </a:p>
          </p:txBody>
        </p:sp>
        <p:sp>
          <p:nvSpPr>
            <p:cNvPr id="25614" name="Rectangle 14"/>
            <p:cNvSpPr>
              <a:spLocks noChangeArrowheads="1"/>
            </p:cNvSpPr>
            <p:nvPr/>
          </p:nvSpPr>
          <p:spPr bwMode="auto">
            <a:xfrm>
              <a:off x="4176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Verdana" pitchFamily="34" charset="0"/>
                </a:rPr>
                <a:t>22</a:t>
              </a:r>
            </a:p>
          </p:txBody>
        </p:sp>
      </p:grp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4038600" y="220980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15"/>
          <p:cNvSpPr>
            <a:spLocks noChangeShapeType="1"/>
          </p:cNvSpPr>
          <p:nvPr/>
        </p:nvSpPr>
        <p:spPr bwMode="auto">
          <a:xfrm>
            <a:off x="1676400" y="220980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15"/>
          <p:cNvSpPr>
            <a:spLocks noChangeShapeType="1"/>
          </p:cNvSpPr>
          <p:nvPr/>
        </p:nvSpPr>
        <p:spPr bwMode="auto">
          <a:xfrm>
            <a:off x="2209800" y="220980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15"/>
          <p:cNvSpPr>
            <a:spLocks noChangeShapeType="1"/>
          </p:cNvSpPr>
          <p:nvPr/>
        </p:nvSpPr>
        <p:spPr bwMode="auto">
          <a:xfrm>
            <a:off x="2743200" y="220980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5"/>
          <p:cNvSpPr>
            <a:spLocks noChangeShapeType="1"/>
          </p:cNvSpPr>
          <p:nvPr/>
        </p:nvSpPr>
        <p:spPr bwMode="auto">
          <a:xfrm>
            <a:off x="3429000" y="2209800"/>
            <a:ext cx="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Linear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181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public class ArrayTest1 {</a:t>
            </a:r>
          </a:p>
          <a:p>
            <a:pPr>
              <a:buNone/>
            </a:pPr>
            <a:r>
              <a:rPr lang="en-US" sz="1200" dirty="0" smtClean="0"/>
              <a:t>    public static void main(String[] </a:t>
            </a:r>
            <a:r>
              <a:rPr lang="en-US" sz="1200" dirty="0" err="1" smtClean="0"/>
              <a:t>args</a:t>
            </a:r>
            <a:r>
              <a:rPr lang="en-US" sz="1200" dirty="0" smtClean="0"/>
              <a:t>) {</a:t>
            </a:r>
          </a:p>
          <a:p>
            <a:pPr>
              <a:buNone/>
            </a:pPr>
            <a:r>
              <a:rPr lang="en-US" sz="1200" dirty="0" smtClean="0"/>
              <a:t>        long[] </a:t>
            </a:r>
            <a:r>
              <a:rPr lang="en-US" sz="1200" dirty="0" err="1" smtClean="0"/>
              <a:t>arr</a:t>
            </a:r>
            <a:r>
              <a:rPr lang="en-US" sz="1200" dirty="0" smtClean="0"/>
              <a:t>; // reference to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 = new long[100]; // make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0; // number of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j; // loop counter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[0] = 77; // insert 10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[1] = 99;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[2] = 44;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[3] = 55;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[4] = 22;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[5] = 88;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[6] = 11;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7; // now 7 items in array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dirty="0" smtClean="0"/>
              <a:t>        for (j = 0; j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; j++) // display items</a:t>
            </a:r>
          </a:p>
          <a:p>
            <a:pPr>
              <a:buNone/>
            </a:pPr>
            <a:r>
              <a:rPr lang="en-US" sz="1200" dirty="0" smtClean="0"/>
              <a:t>        {    </a:t>
            </a:r>
            <a:r>
              <a:rPr lang="en-US" sz="1200" dirty="0" err="1" smtClean="0"/>
              <a:t>System.out.print</a:t>
            </a:r>
            <a:r>
              <a:rPr lang="en-US" sz="1200" dirty="0" smtClean="0"/>
              <a:t>(</a:t>
            </a:r>
            <a:r>
              <a:rPr lang="en-US" sz="1200" dirty="0" err="1" smtClean="0"/>
              <a:t>arr</a:t>
            </a:r>
            <a:r>
              <a:rPr lang="en-US" sz="1200" dirty="0" smtClean="0"/>
              <a:t>[j] + "");    }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System.out.println</a:t>
            </a:r>
            <a:r>
              <a:rPr lang="en-US" sz="1200" dirty="0" smtClean="0"/>
              <a:t>("");</a:t>
            </a:r>
          </a:p>
          <a:p>
            <a:pPr>
              <a:buNone/>
            </a:pPr>
            <a:endParaRPr lang="en-US" sz="12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b="1" dirty="0" smtClean="0"/>
              <a:t>long 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 </a:t>
            </a:r>
            <a:r>
              <a:rPr lang="en-US" sz="1200" b="1" dirty="0" smtClean="0"/>
              <a:t>= 88; // find item with key 88</a:t>
            </a:r>
          </a:p>
          <a:p>
            <a:pPr>
              <a:buNone/>
            </a:pPr>
            <a:r>
              <a:rPr lang="en-US" sz="1200" b="1" dirty="0" smtClean="0"/>
              <a:t>        for (j = 0; j &lt; </a:t>
            </a:r>
            <a:r>
              <a:rPr lang="en-US" sz="1200" b="1" dirty="0" err="1" smtClean="0"/>
              <a:t>nElems</a:t>
            </a:r>
            <a:r>
              <a:rPr lang="en-US" sz="1200" b="1" dirty="0" smtClean="0"/>
              <a:t>; j++) // for each element,</a:t>
            </a:r>
          </a:p>
          <a:p>
            <a:pPr>
              <a:buNone/>
            </a:pPr>
            <a:r>
              <a:rPr lang="en-US" sz="1200" b="1" dirty="0" smtClean="0"/>
              <a:t>        {</a:t>
            </a:r>
          </a:p>
          <a:p>
            <a:pPr>
              <a:buNone/>
            </a:pPr>
            <a:r>
              <a:rPr lang="en-US" sz="1200" b="1" dirty="0" smtClean="0"/>
              <a:t>            if (</a:t>
            </a:r>
            <a:r>
              <a:rPr lang="en-US" sz="1200" b="1" dirty="0" err="1" smtClean="0"/>
              <a:t>arr</a:t>
            </a:r>
            <a:r>
              <a:rPr lang="en-US" sz="1200" b="1" dirty="0" smtClean="0"/>
              <a:t>[j] == 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) // found item?</a:t>
            </a:r>
          </a:p>
          <a:p>
            <a:pPr>
              <a:buNone/>
            </a:pPr>
            <a:r>
              <a:rPr lang="en-US" sz="1200" b="1" dirty="0" smtClean="0"/>
              <a:t>            {</a:t>
            </a:r>
          </a:p>
          <a:p>
            <a:pPr>
              <a:buNone/>
            </a:pPr>
            <a:r>
              <a:rPr lang="en-US" sz="1200" b="1" dirty="0" smtClean="0"/>
              <a:t>                break;</a:t>
            </a:r>
          </a:p>
          <a:p>
            <a:pPr>
              <a:buNone/>
            </a:pPr>
            <a:r>
              <a:rPr lang="en-US" sz="1200" b="1" dirty="0" smtClean="0"/>
              <a:t>            }</a:t>
            </a:r>
          </a:p>
          <a:p>
            <a:pPr>
              <a:buNone/>
            </a:pPr>
            <a:r>
              <a:rPr lang="en-US" sz="1200" b="1" dirty="0" smtClean="0"/>
              <a:t>        } // yes, exit before end</a:t>
            </a:r>
          </a:p>
          <a:p>
            <a:pPr>
              <a:buNone/>
            </a:pPr>
            <a:r>
              <a:rPr lang="en-US" sz="1200" b="1" dirty="0" smtClean="0"/>
              <a:t>        if (j == </a:t>
            </a:r>
            <a:r>
              <a:rPr lang="en-US" sz="1200" b="1" dirty="0" err="1" smtClean="0"/>
              <a:t>nElems</a:t>
            </a:r>
            <a:r>
              <a:rPr lang="en-US" sz="1200" b="1" dirty="0" smtClean="0"/>
              <a:t>) // at the end?</a:t>
            </a:r>
          </a:p>
          <a:p>
            <a:pPr>
              <a:buNone/>
            </a:pPr>
            <a:r>
              <a:rPr lang="en-US" sz="1200" b="1" dirty="0" smtClean="0"/>
              <a:t>        {			// yes</a:t>
            </a:r>
          </a:p>
          <a:p>
            <a:pPr>
              <a:buNone/>
            </a:pPr>
            <a:r>
              <a:rPr lang="en-US" sz="1200" b="1" dirty="0" smtClean="0"/>
              <a:t>            </a:t>
            </a:r>
            <a:r>
              <a:rPr lang="en-US" sz="1200" b="1" dirty="0" err="1" smtClean="0"/>
              <a:t>System.out.println</a:t>
            </a:r>
            <a:r>
              <a:rPr lang="en-US" sz="1200" b="1" dirty="0" smtClean="0"/>
              <a:t>("Can’t find " + 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); </a:t>
            </a:r>
          </a:p>
          <a:p>
            <a:pPr>
              <a:buNone/>
            </a:pPr>
            <a:r>
              <a:rPr lang="en-US" sz="1200" b="1" dirty="0" smtClean="0"/>
              <a:t>				</a:t>
            </a:r>
          </a:p>
          <a:p>
            <a:pPr>
              <a:buNone/>
            </a:pPr>
            <a:r>
              <a:rPr lang="en-US" sz="1200" b="1" dirty="0" smtClean="0"/>
              <a:t>        } else {			// no</a:t>
            </a:r>
          </a:p>
          <a:p>
            <a:pPr>
              <a:buNone/>
            </a:pPr>
            <a:r>
              <a:rPr lang="en-US" sz="1200" b="1" dirty="0" smtClean="0"/>
              <a:t>            </a:t>
            </a:r>
            <a:r>
              <a:rPr lang="en-US" sz="1200" b="1" dirty="0" err="1" smtClean="0"/>
              <a:t>System.out.println</a:t>
            </a:r>
            <a:r>
              <a:rPr lang="en-US" sz="1200" b="1" dirty="0" smtClean="0"/>
              <a:t>("Found </a:t>
            </a:r>
            <a:r>
              <a:rPr lang="en-US" sz="1200" b="1" dirty="0" smtClean="0"/>
              <a:t> in:" </a:t>
            </a:r>
            <a:r>
              <a:rPr lang="en-US" sz="1200" b="1" dirty="0" smtClean="0"/>
              <a:t>+ </a:t>
            </a:r>
            <a:r>
              <a:rPr lang="en-US" sz="1200" b="1" dirty="0" smtClean="0"/>
              <a:t>j);</a:t>
            </a:r>
            <a:endParaRPr lang="en-US" sz="1200" b="1" dirty="0" smtClean="0"/>
          </a:p>
          <a:p>
            <a:pPr>
              <a:buNone/>
            </a:pPr>
            <a:r>
              <a:rPr lang="en-US" sz="1200" b="1" dirty="0" smtClean="0"/>
              <a:t>        </a:t>
            </a:r>
            <a:r>
              <a:rPr lang="en-US" sz="1200" b="1" dirty="0" smtClean="0"/>
              <a:t>}</a:t>
            </a:r>
          </a:p>
          <a:p>
            <a:pPr>
              <a:buNone/>
            </a:pPr>
            <a:r>
              <a:rPr lang="en-US" sz="1200" dirty="0" smtClean="0"/>
              <a:t>}//end main   } //end class</a:t>
            </a:r>
          </a:p>
          <a:p>
            <a:pPr>
              <a:buNone/>
            </a:pPr>
            <a:endParaRPr lang="en-US" sz="1200" b="1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smtClean="0"/>
              <a:t>The binary search similar to look up a word in a dictionary.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345" y="1752600"/>
            <a:ext cx="829165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binary search similar to look up a word in a dictionary.</a:t>
            </a:r>
          </a:p>
          <a:p>
            <a:endParaRPr lang="en-US" u="sng" dirty="0" smtClean="0"/>
          </a:p>
          <a:p>
            <a:r>
              <a:rPr lang="en-US" u="sng" dirty="0" smtClean="0"/>
              <a:t>The </a:t>
            </a:r>
            <a:r>
              <a:rPr lang="en-US" i="1" u="sng" dirty="0" smtClean="0"/>
              <a:t>binary algorithm:</a:t>
            </a:r>
          </a:p>
          <a:p>
            <a:pPr lvl="1"/>
            <a:r>
              <a:rPr lang="en-US" sz="1900" i="1" dirty="0" smtClean="0"/>
              <a:t>(Precondition: s = {s</a:t>
            </a:r>
            <a:r>
              <a:rPr lang="en-US" sz="1900" i="1" baseline="-25000" dirty="0" smtClean="0"/>
              <a:t>0</a:t>
            </a:r>
            <a:r>
              <a:rPr lang="en-US" sz="1900" i="1" dirty="0" smtClean="0"/>
              <a:t>, s</a:t>
            </a:r>
            <a:r>
              <a:rPr lang="en-US" sz="1900" i="1" baseline="-25000" dirty="0" smtClean="0"/>
              <a:t>1</a:t>
            </a:r>
            <a:r>
              <a:rPr lang="en-US" sz="1900" i="1" dirty="0" smtClean="0"/>
              <a:t>, . . ., s</a:t>
            </a:r>
            <a:r>
              <a:rPr lang="en-US" sz="1900" i="1" baseline="-25000" dirty="0" smtClean="0"/>
              <a:t>n–1</a:t>
            </a:r>
            <a:r>
              <a:rPr lang="en-US" sz="1900" i="1" dirty="0" smtClean="0"/>
              <a:t>} is a sorted sequence of n values of the same type as x.)</a:t>
            </a:r>
          </a:p>
          <a:p>
            <a:pPr lvl="1"/>
            <a:r>
              <a:rPr lang="en-US" sz="1900" i="1" dirty="0" smtClean="0"/>
              <a:t>(</a:t>
            </a:r>
            <a:r>
              <a:rPr lang="en-US" sz="1900" i="1" dirty="0" err="1" smtClean="0"/>
              <a:t>Postcondition</a:t>
            </a:r>
            <a:r>
              <a:rPr lang="en-US" sz="1900" i="1" dirty="0" smtClean="0"/>
              <a:t>: either the index </a:t>
            </a:r>
            <a:r>
              <a:rPr lang="en-US" sz="1900" i="1" dirty="0" err="1" smtClean="0"/>
              <a:t>i</a:t>
            </a:r>
            <a:r>
              <a:rPr lang="en-US" sz="1900" i="1" dirty="0" smtClean="0"/>
              <a:t> is returned where </a:t>
            </a:r>
            <a:r>
              <a:rPr lang="en-US" sz="1900" i="1" dirty="0" err="1" smtClean="0"/>
              <a:t>si</a:t>
            </a:r>
            <a:r>
              <a:rPr lang="en-US" sz="1900" i="1" baseline="-25000" dirty="0" smtClean="0"/>
              <a:t> </a:t>
            </a:r>
            <a:r>
              <a:rPr lang="en-US" sz="1900" i="1" dirty="0" smtClean="0"/>
              <a:t>= x, or –1 is returned.)</a:t>
            </a:r>
          </a:p>
          <a:p>
            <a:pPr lvl="1">
              <a:buNone/>
            </a:pPr>
            <a:r>
              <a:rPr lang="en-US" sz="1900" i="1" dirty="0" smtClean="0"/>
              <a:t>1. Let </a:t>
            </a:r>
            <a:r>
              <a:rPr lang="en-US" sz="1900" i="1" dirty="0" err="1" smtClean="0"/>
              <a:t>ss</a:t>
            </a:r>
            <a:r>
              <a:rPr lang="en-US" sz="1900" i="1" dirty="0" smtClean="0"/>
              <a:t> be a subsequence of the sequence s, initially set equal to s.</a:t>
            </a:r>
          </a:p>
          <a:p>
            <a:pPr lvl="1">
              <a:buNone/>
            </a:pPr>
            <a:r>
              <a:rPr lang="en-US" sz="1900" i="1" dirty="0" smtClean="0"/>
              <a:t>2. If the subsequence </a:t>
            </a:r>
            <a:r>
              <a:rPr lang="en-US" sz="1900" i="1" dirty="0" err="1" smtClean="0"/>
              <a:t>ss</a:t>
            </a:r>
            <a:r>
              <a:rPr lang="en-US" sz="1900" i="1" dirty="0" smtClean="0"/>
              <a:t> is empty, return –1.</a:t>
            </a:r>
          </a:p>
          <a:p>
            <a:pPr lvl="1">
              <a:buNone/>
            </a:pPr>
            <a:r>
              <a:rPr lang="en-US" sz="1900" i="1" dirty="0" smtClean="0"/>
              <a:t>3. </a:t>
            </a:r>
            <a:r>
              <a:rPr lang="en-US" sz="1900" i="1" dirty="0" smtClean="0"/>
              <a:t>Let </a:t>
            </a:r>
            <a:r>
              <a:rPr lang="en-US" sz="1900" i="1" dirty="0" err="1" smtClean="0"/>
              <a:t>si</a:t>
            </a:r>
            <a:r>
              <a:rPr lang="en-US" sz="1900" i="1" dirty="0" smtClean="0"/>
              <a:t> be the middle element of ss.</a:t>
            </a:r>
          </a:p>
          <a:p>
            <a:pPr lvl="1">
              <a:buNone/>
            </a:pPr>
            <a:r>
              <a:rPr lang="en-US" sz="1900" i="1" dirty="0" smtClean="0"/>
              <a:t>4. </a:t>
            </a:r>
            <a:r>
              <a:rPr lang="en-US" sz="1900" i="1" dirty="0" smtClean="0"/>
              <a:t>If </a:t>
            </a:r>
            <a:r>
              <a:rPr lang="en-US" sz="1900" i="1" dirty="0" err="1" smtClean="0"/>
              <a:t>si</a:t>
            </a:r>
            <a:r>
              <a:rPr lang="en-US" sz="1900" i="1" dirty="0" smtClean="0"/>
              <a:t> = x, return its index </a:t>
            </a:r>
            <a:r>
              <a:rPr lang="en-US" sz="1900" i="1" dirty="0" err="1" smtClean="0"/>
              <a:t>i</a:t>
            </a:r>
            <a:r>
              <a:rPr lang="en-US" sz="1900" i="1" dirty="0" smtClean="0"/>
              <a:t> .</a:t>
            </a:r>
          </a:p>
          <a:p>
            <a:pPr lvl="1">
              <a:buNone/>
            </a:pPr>
            <a:r>
              <a:rPr lang="en-US" sz="1900" i="1" dirty="0" smtClean="0"/>
              <a:t>5. </a:t>
            </a:r>
            <a:r>
              <a:rPr lang="en-US" sz="1900" i="1" dirty="0" smtClean="0"/>
              <a:t>If </a:t>
            </a:r>
            <a:r>
              <a:rPr lang="en-US" sz="1900" i="1" dirty="0" err="1" smtClean="0"/>
              <a:t>si</a:t>
            </a:r>
            <a:r>
              <a:rPr lang="en-US" sz="1900" i="1" dirty="0" smtClean="0"/>
              <a:t> &lt; x, repeat steps </a:t>
            </a:r>
            <a:r>
              <a:rPr lang="en-US" sz="1900" i="1" dirty="0" smtClean="0"/>
              <a:t>2–6 </a:t>
            </a:r>
            <a:r>
              <a:rPr lang="en-US" sz="1900" i="1" dirty="0" smtClean="0"/>
              <a:t>on </a:t>
            </a:r>
            <a:r>
              <a:rPr lang="en-US" sz="1900" i="1" dirty="0" err="1" smtClean="0"/>
              <a:t>ss</a:t>
            </a:r>
            <a:r>
              <a:rPr lang="en-US" sz="1900" i="1" dirty="0" smtClean="0"/>
              <a:t> </a:t>
            </a:r>
            <a:r>
              <a:rPr lang="en-US" sz="1900" i="1" dirty="0" smtClean="0"/>
              <a:t>= the </a:t>
            </a:r>
            <a:r>
              <a:rPr lang="en-US" sz="1900" i="1" dirty="0" smtClean="0"/>
              <a:t>subsequence </a:t>
            </a:r>
            <a:r>
              <a:rPr lang="en-US" sz="1900" i="1" dirty="0" smtClean="0"/>
              <a:t>that </a:t>
            </a:r>
            <a:r>
              <a:rPr lang="en-US" sz="1900" i="1" dirty="0" smtClean="0"/>
              <a:t>lies above </a:t>
            </a:r>
            <a:r>
              <a:rPr lang="en-US" sz="1900" i="1" dirty="0" err="1" smtClean="0"/>
              <a:t>si</a:t>
            </a:r>
            <a:r>
              <a:rPr lang="en-US" sz="1900" i="1" dirty="0" smtClean="0"/>
              <a:t>.</a:t>
            </a:r>
          </a:p>
          <a:p>
            <a:pPr lvl="1">
              <a:buNone/>
            </a:pPr>
            <a:r>
              <a:rPr lang="en-US" sz="1900" i="1" dirty="0" smtClean="0"/>
              <a:t>6. </a:t>
            </a:r>
            <a:r>
              <a:rPr lang="en-US" sz="1900" i="1" dirty="0" smtClean="0"/>
              <a:t>Repeat steps </a:t>
            </a:r>
            <a:r>
              <a:rPr lang="en-US" sz="1900" i="1" dirty="0" smtClean="0"/>
              <a:t>2–6 </a:t>
            </a:r>
            <a:r>
              <a:rPr lang="en-US" sz="1900" i="1" dirty="0" smtClean="0"/>
              <a:t>on </a:t>
            </a:r>
            <a:r>
              <a:rPr lang="en-US" sz="1900" i="1" dirty="0" err="1" smtClean="0"/>
              <a:t>ss</a:t>
            </a:r>
            <a:r>
              <a:rPr lang="en-US" sz="1900" i="1" dirty="0" smtClean="0"/>
              <a:t> = the </a:t>
            </a:r>
            <a:r>
              <a:rPr lang="en-US" sz="1900" i="1" dirty="0" smtClean="0"/>
              <a:t>subsequence </a:t>
            </a:r>
            <a:r>
              <a:rPr lang="en-US" sz="1900" i="1" dirty="0" smtClean="0"/>
              <a:t>that </a:t>
            </a:r>
            <a:r>
              <a:rPr lang="en-US" sz="1900" i="1" dirty="0" smtClean="0"/>
              <a:t>lies below </a:t>
            </a:r>
            <a:r>
              <a:rPr lang="en-US" sz="1900" i="1" dirty="0" err="1" smtClean="0"/>
              <a:t>si</a:t>
            </a:r>
            <a:r>
              <a:rPr lang="en-US" sz="1900" i="1" dirty="0" smtClean="0"/>
              <a:t>.</a:t>
            </a:r>
            <a:endParaRPr lang="en-US" sz="1900" 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Example:Binary</a:t>
            </a:r>
            <a:r>
              <a:rPr lang="en-US" dirty="0" smtClean="0"/>
              <a:t>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181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public class ArrayTest1 {</a:t>
            </a:r>
          </a:p>
          <a:p>
            <a:pPr>
              <a:buNone/>
            </a:pPr>
            <a:r>
              <a:rPr lang="en-US" sz="1200" dirty="0" smtClean="0"/>
              <a:t>    public static void main(String[] </a:t>
            </a:r>
            <a:r>
              <a:rPr lang="en-US" sz="1200" dirty="0" err="1" smtClean="0"/>
              <a:t>args</a:t>
            </a:r>
            <a:r>
              <a:rPr lang="en-US" sz="1200" dirty="0" smtClean="0"/>
              <a:t>) {</a:t>
            </a:r>
          </a:p>
          <a:p>
            <a:pPr>
              <a:buNone/>
            </a:pPr>
            <a:r>
              <a:rPr lang="en-US" sz="1200" dirty="0" smtClean="0"/>
              <a:t>        long[] </a:t>
            </a:r>
            <a:r>
              <a:rPr lang="en-US" sz="1200" dirty="0" err="1" smtClean="0"/>
              <a:t>arr</a:t>
            </a:r>
            <a:r>
              <a:rPr lang="en-US" sz="1200" dirty="0" smtClean="0"/>
              <a:t>; // reference to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 = new long[100]; // make array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0; // number of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j; // loop counter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[0] = 77; // insert 10 items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[1] = 99;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[2] = 44;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[3] = 55;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[4] = 22;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[5] = 88;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arr</a:t>
            </a:r>
            <a:r>
              <a:rPr lang="en-US" sz="1200" dirty="0" smtClean="0"/>
              <a:t>[6] = 11;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nElems</a:t>
            </a:r>
            <a:r>
              <a:rPr lang="en-US" sz="1200" dirty="0" smtClean="0"/>
              <a:t> = 7; // now 7 items in array</a:t>
            </a:r>
          </a:p>
          <a:p>
            <a:pPr>
              <a:buNone/>
            </a:pPr>
            <a:r>
              <a:rPr lang="en-US" sz="1200" dirty="0" smtClean="0"/>
              <a:t>//--------------------------------------------------------------</a:t>
            </a:r>
          </a:p>
          <a:p>
            <a:pPr>
              <a:buNone/>
            </a:pPr>
            <a:r>
              <a:rPr lang="en-US" sz="1200" dirty="0" smtClean="0"/>
              <a:t>        for (j = 0; j &lt; </a:t>
            </a:r>
            <a:r>
              <a:rPr lang="en-US" sz="1200" dirty="0" err="1" smtClean="0"/>
              <a:t>nElems</a:t>
            </a:r>
            <a:r>
              <a:rPr lang="en-US" sz="1200" dirty="0" smtClean="0"/>
              <a:t>; j++) // display items</a:t>
            </a:r>
          </a:p>
          <a:p>
            <a:pPr>
              <a:buNone/>
            </a:pPr>
            <a:r>
              <a:rPr lang="en-US" sz="1200" dirty="0" smtClean="0"/>
              <a:t>        {    </a:t>
            </a:r>
            <a:r>
              <a:rPr lang="en-US" sz="1200" dirty="0" err="1" smtClean="0"/>
              <a:t>System.out.print</a:t>
            </a:r>
            <a:r>
              <a:rPr lang="en-US" sz="1200" dirty="0" smtClean="0"/>
              <a:t>(</a:t>
            </a:r>
            <a:r>
              <a:rPr lang="en-US" sz="1200" dirty="0" err="1" smtClean="0"/>
              <a:t>arr</a:t>
            </a:r>
            <a:r>
              <a:rPr lang="en-US" sz="1200" dirty="0" smtClean="0"/>
              <a:t>[j] + "");    }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System.out.println</a:t>
            </a:r>
            <a:r>
              <a:rPr lang="en-US" sz="1200" dirty="0" smtClean="0"/>
              <a:t>("");</a:t>
            </a:r>
          </a:p>
          <a:p>
            <a:pPr>
              <a:buNone/>
            </a:pPr>
            <a:endParaRPr lang="en-US" sz="12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108448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200" b="1" dirty="0" smtClean="0"/>
              <a:t>long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= 88;</a:t>
            </a:r>
          </a:p>
          <a:p>
            <a:pPr>
              <a:buNone/>
            </a:pPr>
            <a:r>
              <a:rPr lang="en-US" sz="1200" b="1" dirty="0" smtClean="0"/>
              <a:t>j= find(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)</a:t>
            </a:r>
          </a:p>
          <a:p>
            <a:pPr>
              <a:buNone/>
            </a:pPr>
            <a:r>
              <a:rPr lang="en-US" sz="1200" b="1" dirty="0" smtClean="0"/>
              <a:t> if (j == </a:t>
            </a:r>
            <a:r>
              <a:rPr lang="en-US" sz="1200" b="1" dirty="0" err="1" smtClean="0"/>
              <a:t>nElems</a:t>
            </a:r>
            <a:r>
              <a:rPr lang="en-US" sz="1200" b="1" dirty="0" smtClean="0"/>
              <a:t>) // at the end?</a:t>
            </a:r>
          </a:p>
          <a:p>
            <a:pPr>
              <a:buNone/>
            </a:pPr>
            <a:r>
              <a:rPr lang="en-US" sz="1200" b="1" dirty="0" smtClean="0"/>
              <a:t>        {			// yes</a:t>
            </a:r>
          </a:p>
          <a:p>
            <a:pPr>
              <a:buNone/>
            </a:pPr>
            <a:r>
              <a:rPr lang="en-US" sz="1200" b="1" dirty="0" smtClean="0"/>
              <a:t>            </a:t>
            </a:r>
            <a:r>
              <a:rPr lang="en-US" sz="1200" b="1" dirty="0" err="1" smtClean="0"/>
              <a:t>System.out.println</a:t>
            </a:r>
            <a:r>
              <a:rPr lang="en-US" sz="1200" b="1" dirty="0" smtClean="0"/>
              <a:t>("Can’t find " + </a:t>
            </a:r>
            <a:r>
              <a:rPr lang="en-US" sz="1200" b="1" dirty="0" err="1" smtClean="0"/>
              <a:t>searchKey</a:t>
            </a:r>
            <a:r>
              <a:rPr lang="en-US" sz="1200" b="1" dirty="0" smtClean="0"/>
              <a:t>); </a:t>
            </a:r>
          </a:p>
          <a:p>
            <a:pPr>
              <a:buNone/>
            </a:pPr>
            <a:r>
              <a:rPr lang="en-US" sz="1200" b="1" dirty="0" smtClean="0"/>
              <a:t>				</a:t>
            </a:r>
          </a:p>
          <a:p>
            <a:pPr>
              <a:buNone/>
            </a:pPr>
            <a:r>
              <a:rPr lang="en-US" sz="1200" b="1" dirty="0" smtClean="0"/>
              <a:t>        } else {			// no</a:t>
            </a:r>
          </a:p>
          <a:p>
            <a:pPr>
              <a:buNone/>
            </a:pPr>
            <a:r>
              <a:rPr lang="en-US" sz="1200" b="1" dirty="0" smtClean="0"/>
              <a:t>            </a:t>
            </a:r>
            <a:r>
              <a:rPr lang="en-US" sz="1200" b="1" dirty="0" err="1" smtClean="0"/>
              <a:t>System.out.println</a:t>
            </a:r>
            <a:r>
              <a:rPr lang="en-US" sz="1200" b="1" dirty="0" smtClean="0"/>
              <a:t>("Found </a:t>
            </a:r>
            <a:r>
              <a:rPr lang="en-US" sz="1200" b="1" dirty="0" smtClean="0"/>
              <a:t>in:" </a:t>
            </a:r>
            <a:r>
              <a:rPr lang="en-US" sz="1200" b="1" dirty="0" smtClean="0"/>
              <a:t>+ </a:t>
            </a:r>
            <a:r>
              <a:rPr lang="en-US" sz="1200" b="1" dirty="0" smtClean="0"/>
              <a:t>j</a:t>
            </a:r>
            <a:r>
              <a:rPr lang="en-US" sz="1200" b="1" dirty="0" smtClean="0"/>
              <a:t>);</a:t>
            </a:r>
            <a:endParaRPr lang="en-US" sz="1200" b="1" dirty="0" smtClean="0"/>
          </a:p>
          <a:p>
            <a:pPr>
              <a:buNone/>
            </a:pPr>
            <a:r>
              <a:rPr lang="en-US" sz="1200" b="1" dirty="0" smtClean="0"/>
              <a:t>        </a:t>
            </a:r>
            <a:r>
              <a:rPr lang="en-US" sz="1200" b="1" dirty="0" smtClean="0"/>
              <a:t>}</a:t>
            </a:r>
          </a:p>
          <a:p>
            <a:pPr>
              <a:buNone/>
            </a:pPr>
            <a:r>
              <a:rPr lang="en-US" sz="1200" b="1" u="sng" dirty="0" smtClean="0"/>
              <a:t>}//end </a:t>
            </a:r>
            <a:r>
              <a:rPr lang="en-US" sz="1200" b="1" u="sng" dirty="0" smtClean="0"/>
              <a:t>main</a:t>
            </a:r>
            <a:endParaRPr lang="en-US" sz="1200" b="1" u="sng" dirty="0" smtClean="0"/>
          </a:p>
          <a:p>
            <a:pPr>
              <a:buNone/>
            </a:pPr>
            <a:endParaRPr lang="en-US" sz="1200" b="1" dirty="0" smtClean="0"/>
          </a:p>
          <a:p>
            <a:pPr>
              <a:buNone/>
            </a:pP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Example:Binary</a:t>
            </a:r>
            <a:r>
              <a:rPr lang="en-US" dirty="0" smtClean="0"/>
              <a:t> Search-cont.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>
              <a:buNone/>
            </a:pPr>
            <a:r>
              <a:rPr lang="en-US" sz="2400" dirty="0" smtClean="0"/>
              <a:t>public </a:t>
            </a:r>
            <a:r>
              <a:rPr lang="en-US" sz="2400" dirty="0" smtClean="0"/>
              <a:t>static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smtClean="0"/>
              <a:t>find(long </a:t>
            </a:r>
            <a:r>
              <a:rPr lang="en-US" sz="2400" dirty="0" err="1" smtClean="0"/>
              <a:t>searchKey</a:t>
            </a:r>
            <a:r>
              <a:rPr lang="en-US" sz="2400" dirty="0" smtClean="0"/>
              <a:t>){</a:t>
            </a:r>
            <a:endParaRPr lang="en-US" sz="2500" dirty="0" smtClean="0"/>
          </a:p>
          <a:p>
            <a:pPr lvl="2">
              <a:buNone/>
            </a:pPr>
            <a:r>
              <a:rPr lang="en-US" sz="2200" dirty="0" smtClean="0"/>
              <a:t> </a:t>
            </a:r>
            <a:r>
              <a:rPr lang="en-US" sz="2200" dirty="0" err="1" smtClean="0"/>
              <a:t>int</a:t>
            </a:r>
            <a:r>
              <a:rPr lang="en-US" sz="2200" dirty="0" smtClean="0"/>
              <a:t> </a:t>
            </a:r>
            <a:r>
              <a:rPr lang="en-US" sz="2200" dirty="0" err="1" smtClean="0"/>
              <a:t>lowerBound</a:t>
            </a:r>
            <a:r>
              <a:rPr lang="en-US" sz="2200" dirty="0" smtClean="0"/>
              <a:t> = 0;</a:t>
            </a:r>
          </a:p>
          <a:p>
            <a:pPr lvl="2">
              <a:buNone/>
            </a:pPr>
            <a:r>
              <a:rPr lang="en-US" sz="2200" dirty="0" smtClean="0"/>
              <a:t> </a:t>
            </a:r>
            <a:r>
              <a:rPr lang="en-US" sz="2200" dirty="0" err="1" smtClean="0"/>
              <a:t>int</a:t>
            </a:r>
            <a:r>
              <a:rPr lang="en-US" sz="2200" dirty="0" smtClean="0"/>
              <a:t> </a:t>
            </a:r>
            <a:r>
              <a:rPr lang="en-US" sz="2200" dirty="0" err="1" smtClean="0"/>
              <a:t>upperBound</a:t>
            </a:r>
            <a:r>
              <a:rPr lang="en-US" sz="2200" dirty="0" smtClean="0"/>
              <a:t> = nElems-1;</a:t>
            </a:r>
          </a:p>
          <a:p>
            <a:pPr lvl="2">
              <a:buNone/>
            </a:pPr>
            <a:r>
              <a:rPr lang="en-US" sz="2200" dirty="0" smtClean="0"/>
              <a:t> </a:t>
            </a:r>
            <a:r>
              <a:rPr lang="en-US" sz="2200" dirty="0" err="1" smtClean="0"/>
              <a:t>int</a:t>
            </a:r>
            <a:r>
              <a:rPr lang="en-US" sz="2200" dirty="0" smtClean="0"/>
              <a:t> </a:t>
            </a:r>
            <a:r>
              <a:rPr lang="en-US" sz="2200" dirty="0" err="1" smtClean="0"/>
              <a:t>curIn</a:t>
            </a:r>
            <a:r>
              <a:rPr lang="en-US" sz="2200" dirty="0" smtClean="0"/>
              <a:t>;</a:t>
            </a:r>
          </a:p>
          <a:p>
            <a:pPr lvl="2">
              <a:buNone/>
            </a:pPr>
            <a:r>
              <a:rPr lang="en-US" sz="2500" dirty="0" smtClean="0"/>
              <a:t> while(true)</a:t>
            </a:r>
          </a:p>
          <a:p>
            <a:pPr lvl="2">
              <a:buNone/>
            </a:pPr>
            <a:r>
              <a:rPr lang="en-US" sz="2500" dirty="0" smtClean="0"/>
              <a:t>  {</a:t>
            </a:r>
          </a:p>
          <a:p>
            <a:pPr lvl="2">
              <a:buNone/>
            </a:pPr>
            <a:r>
              <a:rPr lang="en-US" sz="2500" dirty="0" smtClean="0"/>
              <a:t>   	</a:t>
            </a:r>
            <a:r>
              <a:rPr lang="en-US" sz="2500" dirty="0" err="1" smtClean="0"/>
              <a:t>curIn</a:t>
            </a:r>
            <a:r>
              <a:rPr lang="en-US" sz="2500" dirty="0" smtClean="0"/>
              <a:t> = (</a:t>
            </a:r>
            <a:r>
              <a:rPr lang="en-US" sz="2500" dirty="0" err="1" smtClean="0"/>
              <a:t>lowerBound</a:t>
            </a:r>
            <a:r>
              <a:rPr lang="en-US" sz="2500" dirty="0" smtClean="0"/>
              <a:t> + </a:t>
            </a:r>
            <a:r>
              <a:rPr lang="en-US" sz="2500" dirty="0" err="1" smtClean="0"/>
              <a:t>upperBound</a:t>
            </a:r>
            <a:r>
              <a:rPr lang="en-US" sz="2500" dirty="0" smtClean="0"/>
              <a:t> ) / 2;</a:t>
            </a:r>
          </a:p>
          <a:p>
            <a:pPr lvl="2">
              <a:buNone/>
            </a:pPr>
            <a:r>
              <a:rPr lang="en-US" sz="2500" dirty="0" smtClean="0"/>
              <a:t>   	if(a[</a:t>
            </a:r>
            <a:r>
              <a:rPr lang="en-US" sz="2500" dirty="0" err="1" smtClean="0"/>
              <a:t>curIn</a:t>
            </a:r>
            <a:r>
              <a:rPr lang="en-US" sz="2500" dirty="0" smtClean="0"/>
              <a:t>]==</a:t>
            </a:r>
            <a:r>
              <a:rPr lang="en-US" sz="2500" dirty="0" err="1" smtClean="0"/>
              <a:t>searchKey</a:t>
            </a:r>
            <a:r>
              <a:rPr lang="en-US" sz="2500" dirty="0" smtClean="0"/>
              <a:t>)</a:t>
            </a:r>
          </a:p>
          <a:p>
            <a:pPr lvl="2">
              <a:buNone/>
            </a:pPr>
            <a:r>
              <a:rPr lang="en-US" sz="2500" dirty="0" smtClean="0"/>
              <a:t>		</a:t>
            </a:r>
            <a:r>
              <a:rPr lang="en-US" sz="2500" dirty="0" smtClean="0"/>
              <a:t>	return </a:t>
            </a:r>
            <a:r>
              <a:rPr lang="en-US" sz="2500" dirty="0" err="1" smtClean="0"/>
              <a:t>curIn</a:t>
            </a:r>
            <a:r>
              <a:rPr lang="en-US" sz="2500" dirty="0" smtClean="0"/>
              <a:t>; // found it</a:t>
            </a:r>
          </a:p>
          <a:p>
            <a:pPr lvl="2">
              <a:buNone/>
            </a:pPr>
            <a:r>
              <a:rPr lang="en-US" sz="2500" dirty="0" smtClean="0"/>
              <a:t>	else if(</a:t>
            </a:r>
            <a:r>
              <a:rPr lang="en-US" sz="2500" dirty="0" err="1" smtClean="0"/>
              <a:t>lowerBound</a:t>
            </a:r>
            <a:r>
              <a:rPr lang="en-US" sz="2500" dirty="0" smtClean="0"/>
              <a:t> &gt; </a:t>
            </a:r>
            <a:r>
              <a:rPr lang="en-US" sz="2500" dirty="0" err="1" smtClean="0"/>
              <a:t>upperBound</a:t>
            </a:r>
            <a:r>
              <a:rPr lang="en-US" sz="2500" dirty="0" smtClean="0"/>
              <a:t>)</a:t>
            </a:r>
          </a:p>
          <a:p>
            <a:pPr lvl="2">
              <a:buNone/>
            </a:pPr>
            <a:r>
              <a:rPr lang="en-US" sz="2500" dirty="0" smtClean="0"/>
              <a:t>	</a:t>
            </a:r>
            <a:r>
              <a:rPr lang="en-US" sz="2500" dirty="0" smtClean="0"/>
              <a:t>	</a:t>
            </a:r>
            <a:r>
              <a:rPr lang="en-US" sz="2500" dirty="0" smtClean="0"/>
              <a:t>	return </a:t>
            </a:r>
            <a:r>
              <a:rPr lang="en-US" sz="2500" dirty="0" err="1" smtClean="0"/>
              <a:t>nElems</a:t>
            </a:r>
            <a:r>
              <a:rPr lang="en-US" sz="2500" dirty="0" smtClean="0"/>
              <a:t>; // can’t find it</a:t>
            </a:r>
          </a:p>
          <a:p>
            <a:pPr lvl="2">
              <a:buNone/>
            </a:pPr>
            <a:r>
              <a:rPr lang="en-US" sz="2500" dirty="0" smtClean="0"/>
              <a:t>	else // divide range</a:t>
            </a:r>
          </a:p>
          <a:p>
            <a:pPr lvl="2">
              <a:buNone/>
            </a:pPr>
            <a:r>
              <a:rPr lang="en-US" sz="2500" dirty="0" smtClean="0"/>
              <a:t>	{</a:t>
            </a:r>
          </a:p>
          <a:p>
            <a:pPr lvl="2">
              <a:buNone/>
            </a:pPr>
            <a:r>
              <a:rPr lang="en-US" sz="2500" dirty="0" smtClean="0"/>
              <a:t>	      if(a[</a:t>
            </a:r>
            <a:r>
              <a:rPr lang="en-US" sz="2500" dirty="0" err="1" smtClean="0"/>
              <a:t>curIn</a:t>
            </a:r>
            <a:r>
              <a:rPr lang="en-US" sz="2500" dirty="0" smtClean="0"/>
              <a:t>] &lt; </a:t>
            </a:r>
            <a:r>
              <a:rPr lang="en-US" sz="2500" dirty="0" err="1" smtClean="0"/>
              <a:t>searchKey</a:t>
            </a:r>
            <a:r>
              <a:rPr lang="en-US" sz="2500" dirty="0" smtClean="0"/>
              <a:t>)</a:t>
            </a:r>
          </a:p>
          <a:p>
            <a:pPr lvl="2">
              <a:buNone/>
            </a:pPr>
            <a:r>
              <a:rPr lang="en-US" sz="2500" dirty="0" smtClean="0"/>
              <a:t>	</a:t>
            </a:r>
            <a:r>
              <a:rPr lang="en-US" sz="2500" dirty="0" smtClean="0"/>
              <a:t>	</a:t>
            </a:r>
            <a:r>
              <a:rPr lang="en-US" sz="2500" dirty="0" smtClean="0"/>
              <a:t>	</a:t>
            </a:r>
            <a:r>
              <a:rPr lang="en-US" sz="2500" dirty="0" err="1" smtClean="0"/>
              <a:t>lowerBound</a:t>
            </a:r>
            <a:r>
              <a:rPr lang="en-US" sz="2500" dirty="0" smtClean="0"/>
              <a:t> = </a:t>
            </a:r>
            <a:r>
              <a:rPr lang="en-US" sz="2500" dirty="0" err="1" smtClean="0"/>
              <a:t>curIn</a:t>
            </a:r>
            <a:r>
              <a:rPr lang="en-US" sz="2500" dirty="0" smtClean="0"/>
              <a:t> + 1; // it’s in upper half</a:t>
            </a:r>
          </a:p>
          <a:p>
            <a:pPr lvl="2">
              <a:buNone/>
            </a:pPr>
            <a:r>
              <a:rPr lang="en-US" sz="2500" dirty="0" smtClean="0"/>
              <a:t>	      else</a:t>
            </a:r>
          </a:p>
          <a:p>
            <a:pPr lvl="2">
              <a:buNone/>
            </a:pPr>
            <a:r>
              <a:rPr lang="en-US" sz="2500" dirty="0" smtClean="0"/>
              <a:t>	</a:t>
            </a:r>
            <a:r>
              <a:rPr lang="en-US" sz="2500" dirty="0" smtClean="0"/>
              <a:t>	</a:t>
            </a:r>
            <a:r>
              <a:rPr lang="en-US" sz="2500" dirty="0" smtClean="0"/>
              <a:t>	</a:t>
            </a:r>
            <a:r>
              <a:rPr lang="en-US" sz="2500" dirty="0" err="1" smtClean="0"/>
              <a:t>upperBound</a:t>
            </a:r>
            <a:r>
              <a:rPr lang="en-US" sz="2500" dirty="0" smtClean="0"/>
              <a:t> = </a:t>
            </a:r>
            <a:r>
              <a:rPr lang="en-US" sz="2500" dirty="0" err="1" smtClean="0"/>
              <a:t>curIn</a:t>
            </a:r>
            <a:r>
              <a:rPr lang="en-US" sz="2500" dirty="0" smtClean="0"/>
              <a:t> - 1; // it’s in lower half</a:t>
            </a:r>
          </a:p>
          <a:p>
            <a:pPr lvl="2">
              <a:buNone/>
            </a:pPr>
            <a:r>
              <a:rPr lang="en-US" sz="2500" dirty="0" smtClean="0"/>
              <a:t>	} // end else divide range</a:t>
            </a:r>
          </a:p>
          <a:p>
            <a:pPr lvl="2">
              <a:buNone/>
            </a:pPr>
            <a:r>
              <a:rPr lang="en-US" sz="2500" dirty="0" smtClean="0"/>
              <a:t>} // end while</a:t>
            </a:r>
          </a:p>
          <a:p>
            <a:pPr lvl="1">
              <a:buNone/>
            </a:pPr>
            <a:r>
              <a:rPr lang="en-US" sz="2500" dirty="0" smtClean="0"/>
              <a:t>}</a:t>
            </a:r>
          </a:p>
          <a:p>
            <a:pPr>
              <a:buNone/>
            </a:pPr>
            <a:r>
              <a:rPr lang="en-US" sz="2800" b="1" u="sng" dirty="0" smtClean="0"/>
              <a:t>} //end class</a:t>
            </a:r>
            <a:endParaRPr lang="en-US" sz="2800" b="1" u="sng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smtClean="0"/>
              <a:t>Running Time: </a:t>
            </a:r>
            <a:r>
              <a:rPr lang="en-US" dirty="0" err="1" smtClean="0"/>
              <a:t>seqSearch</a:t>
            </a:r>
            <a:r>
              <a:rPr lang="en-US" dirty="0" smtClean="0"/>
              <a:t>()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i="1" dirty="0" smtClean="0">
                <a:solidFill>
                  <a:srgbClr val="FF0000"/>
                </a:solidFill>
              </a:rPr>
              <a:t>Best case</a:t>
            </a:r>
            <a:r>
              <a:rPr lang="en-US" dirty="0" smtClean="0"/>
              <a:t>: Find target at index 0.</a:t>
            </a:r>
            <a:br>
              <a:rPr lang="en-US" dirty="0" smtClean="0"/>
            </a:br>
            <a:r>
              <a:rPr lang="en-US" dirty="0" smtClean="0"/>
              <a:t>		T(n) = 1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Worst case</a:t>
            </a:r>
            <a:r>
              <a:rPr lang="en-US" dirty="0" smtClean="0"/>
              <a:t>: Find target at index n-1 or not finding it.</a:t>
            </a:r>
            <a:br>
              <a:rPr lang="en-US" dirty="0" smtClean="0"/>
            </a:br>
            <a:r>
              <a:rPr lang="en-US" dirty="0" smtClean="0"/>
              <a:t>		T(n) = n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Average case</a:t>
            </a:r>
            <a:r>
              <a:rPr lang="en-US" dirty="0" smtClean="0"/>
              <a:t>: Average of the number of comparisons to find a target at any position.</a:t>
            </a:r>
            <a:br>
              <a:rPr lang="en-US" dirty="0" smtClean="0"/>
            </a:br>
            <a:r>
              <a:rPr lang="en-US" dirty="0" smtClean="0"/>
              <a:t>	T(n) = (1+2+3...+n)/n  =  n(n+1)/2 * (1/n) </a:t>
            </a:r>
            <a:br>
              <a:rPr lang="en-US" dirty="0" smtClean="0"/>
            </a:br>
            <a:r>
              <a:rPr lang="en-US" dirty="0" smtClean="0"/>
              <a:t>	        = (n+1)/2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mtClean="0"/>
              <a:t>Running Time: binSearch()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i="1" dirty="0" smtClean="0">
                <a:solidFill>
                  <a:srgbClr val="FF0000"/>
                </a:solidFill>
              </a:rPr>
              <a:t>Best case</a:t>
            </a:r>
            <a:r>
              <a:rPr lang="en-US" dirty="0" smtClean="0"/>
              <a:t>: Target found at first midpoint.</a:t>
            </a:r>
            <a:br>
              <a:rPr lang="en-US" dirty="0" smtClean="0"/>
            </a:br>
            <a:r>
              <a:rPr lang="en-US" dirty="0" smtClean="0"/>
              <a:t>	T(n) = 1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Worst case</a:t>
            </a:r>
            <a:r>
              <a:rPr lang="en-US" dirty="0" smtClean="0"/>
              <a:t>: Length of </a:t>
            </a:r>
            <a:r>
              <a:rPr lang="en-US" dirty="0" err="1" smtClean="0"/>
              <a:t>sublists</a:t>
            </a:r>
            <a:r>
              <a:rPr lang="en-US" dirty="0" smtClean="0"/>
              <a:t> halves at each iteration.</a:t>
            </a:r>
            <a:br>
              <a:rPr lang="en-US" dirty="0" smtClean="0"/>
            </a:br>
            <a:r>
              <a:rPr lang="en-US" dirty="0" smtClean="0"/>
              <a:t>	T(n) = (</a:t>
            </a:r>
            <a:r>
              <a:rPr lang="en-US" dirty="0" err="1" smtClean="0"/>
              <a:t>int</a:t>
            </a:r>
            <a:r>
              <a:rPr lang="en-US" dirty="0" smtClean="0"/>
              <a:t>) log</a:t>
            </a:r>
            <a:r>
              <a:rPr lang="en-US" baseline="-25000" dirty="0" smtClean="0"/>
              <a:t>2</a:t>
            </a:r>
            <a:r>
              <a:rPr lang="en-US" dirty="0" smtClean="0"/>
              <a:t>n + 1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Average case</a:t>
            </a:r>
            <a:r>
              <a:rPr lang="en-US" dirty="0" smtClean="0"/>
              <a:t>: A fancy analysis shows: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  		T(n) = (</a:t>
            </a:r>
            <a:r>
              <a:rPr lang="en-US" dirty="0" err="1" smtClean="0"/>
              <a:t>int</a:t>
            </a:r>
            <a:r>
              <a:rPr lang="en-US" dirty="0" smtClean="0"/>
              <a:t>) </a:t>
            </a:r>
            <a:r>
              <a:rPr lang="en-US" dirty="0" smtClean="0"/>
              <a:t>log</a:t>
            </a:r>
            <a:r>
              <a:rPr lang="en-US" baseline="-25000" dirty="0" smtClean="0"/>
              <a:t>2</a:t>
            </a:r>
            <a:r>
              <a:rPr lang="en-US" dirty="0" smtClean="0"/>
              <a:t>n</a:t>
            </a:r>
          </a:p>
          <a:p>
            <a:pPr>
              <a:buFont typeface="Monotype Sorts" pitchFamily="2" charset="2"/>
              <a:buNone/>
            </a:pPr>
            <a:endParaRPr lang="en-US" dirty="0" smtClean="0"/>
          </a:p>
          <a:p>
            <a:pPr>
              <a:buFont typeface="Monotype Sorts" pitchFamily="2" charset="2"/>
              <a:buNone/>
            </a:pPr>
            <a:r>
              <a:rPr lang="en-US" dirty="0" smtClean="0"/>
              <a:t>Notes:</a:t>
            </a:r>
          </a:p>
          <a:p>
            <a:pPr lvl="1">
              <a:buFont typeface="Monotype Sorts" pitchFamily="2" charset="2"/>
              <a:buNone/>
            </a:pPr>
            <a:r>
              <a:rPr lang="en-US" dirty="0" smtClean="0"/>
              <a:t>log</a:t>
            </a:r>
            <a:r>
              <a:rPr lang="en-US" baseline="-25000" dirty="0" smtClean="0"/>
              <a:t>2</a:t>
            </a:r>
            <a:r>
              <a:rPr lang="en-US" dirty="0" smtClean="0"/>
              <a:t>(n) = log</a:t>
            </a:r>
            <a:r>
              <a:rPr lang="en-US" baseline="-25000" dirty="0" smtClean="0"/>
              <a:t>10</a:t>
            </a:r>
            <a:r>
              <a:rPr lang="en-US" dirty="0" smtClean="0"/>
              <a:t>(n) * 3.322  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953000"/>
            <a:ext cx="8229600" cy="12039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19200"/>
            <a:ext cx="5496737" cy="370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smtClean="0"/>
              <a:t>Big-Oh </a:t>
            </a:r>
            <a:r>
              <a:rPr lang="en-US" dirty="0" smtClean="0"/>
              <a:t>Notation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i="1" dirty="0" smtClean="0"/>
              <a:t>Big-Oh, O(n) </a:t>
            </a:r>
            <a:r>
              <a:rPr lang="en-US" dirty="0" smtClean="0"/>
              <a:t>is a simpler version of T(n) that only uses the 'biggest' term of the T(n) equation, without constants. </a:t>
            </a:r>
          </a:p>
          <a:p>
            <a:pPr lvl="1"/>
            <a:r>
              <a:rPr lang="en-US" dirty="0" smtClean="0"/>
              <a:t>e.g. if T(n) = 8n</a:t>
            </a:r>
            <a:r>
              <a:rPr lang="en-US" baseline="30000" dirty="0" smtClean="0"/>
              <a:t>3</a:t>
            </a:r>
            <a:r>
              <a:rPr lang="en-US" dirty="0" smtClean="0"/>
              <a:t>+5n</a:t>
            </a:r>
            <a:r>
              <a:rPr lang="en-US" baseline="30000" dirty="0" smtClean="0"/>
              <a:t>2</a:t>
            </a:r>
            <a:r>
              <a:rPr lang="en-US" dirty="0" smtClean="0"/>
              <a:t>-11n+1, </a:t>
            </a:r>
            <a:br>
              <a:rPr lang="en-US" dirty="0" smtClean="0"/>
            </a:br>
            <a:r>
              <a:rPr lang="en-US" dirty="0" smtClean="0"/>
              <a:t>then T(n) is O(n</a:t>
            </a:r>
            <a:r>
              <a:rPr lang="en-US" baseline="30000" dirty="0" smtClean="0"/>
              <a:t>3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The sort </a:t>
            </a:r>
            <a:r>
              <a:rPr lang="en-US" dirty="0" smtClean="0"/>
              <a:t>is O(n</a:t>
            </a:r>
            <a:r>
              <a:rPr lang="en-US" baseline="30000" dirty="0" smtClean="0"/>
              <a:t>2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The average case for </a:t>
            </a:r>
            <a:r>
              <a:rPr lang="en-US" dirty="0" err="1" smtClean="0"/>
              <a:t>seqSearch</a:t>
            </a:r>
            <a:r>
              <a:rPr lang="en-US" dirty="0" smtClean="0"/>
              <a:t> </a:t>
            </a:r>
            <a:r>
              <a:rPr lang="en-US" dirty="0" smtClean="0"/>
              <a:t>is O(n).</a:t>
            </a:r>
          </a:p>
          <a:p>
            <a:pPr lvl="1"/>
            <a:r>
              <a:rPr lang="en-US" dirty="0" smtClean="0"/>
              <a:t>The worst case for </a:t>
            </a:r>
            <a:r>
              <a:rPr lang="en-US" dirty="0" err="1" smtClean="0"/>
              <a:t>binSearch</a:t>
            </a:r>
            <a:r>
              <a:rPr lang="en-US" dirty="0" smtClean="0"/>
              <a:t> </a:t>
            </a:r>
            <a:r>
              <a:rPr lang="en-US" dirty="0" smtClean="0"/>
              <a:t>is O(log</a:t>
            </a:r>
            <a:r>
              <a:rPr lang="en-US" baseline="-25000" dirty="0" smtClean="0"/>
              <a:t>2</a:t>
            </a:r>
            <a:r>
              <a:rPr lang="en-US" dirty="0" smtClean="0"/>
              <a:t>n</a:t>
            </a:r>
            <a:r>
              <a:rPr lang="en-US" dirty="0" smtClean="0"/>
              <a:t>).</a:t>
            </a:r>
          </a:p>
          <a:p>
            <a:pPr lvl="1"/>
            <a:r>
              <a:rPr lang="en-US" i="1" dirty="0" smtClean="0">
                <a:solidFill>
                  <a:srgbClr val="FF0000"/>
                </a:solidFill>
              </a:rPr>
              <a:t>Constant time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smtClean="0"/>
              <a:t>T(n) is O(1) when its running time is independent of the n value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O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The idea in Big O notation isn’t to give actual figures for running times but to convey how the running times are affected by the number of items. </a:t>
            </a:r>
          </a:p>
          <a:p>
            <a:r>
              <a:rPr lang="en-US" sz="1800" dirty="0" smtClean="0"/>
              <a:t>This is the most meaningful way to compare algorithms, except perhaps actually measuring running times in a real installation</a:t>
            </a: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890520"/>
          <a:ext cx="739140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55879"/>
                <a:gridCol w="4235521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Algorithm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Running Time in Big O Notation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O(log 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in unordered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in ordered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Deletion in unordered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Deletion in ordered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O(N)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mtClean="0"/>
              <a:t>T() Equations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62000" y="1981200"/>
          <a:ext cx="8070850" cy="3551238"/>
        </p:xfrm>
        <a:graphic>
          <a:graphicData uri="http://schemas.openxmlformats.org/presentationml/2006/ole">
            <p:oleObj spid="_x0000_s2050" name="Document" r:id="rId4" imgW="7164099" imgH="3153544" progId="Word.Document.8">
              <p:embed/>
            </p:oleObj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mtClean="0"/>
              <a:t>T() Graphs</a:t>
            </a:r>
          </a:p>
        </p:txBody>
      </p:sp>
      <p:pic>
        <p:nvPicPr>
          <p:cNvPr id="46083" name="Picture 4" descr="AAERUUI0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371600"/>
            <a:ext cx="74422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Duplicates Issue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 smtClean="0"/>
              <a:t>if the </a:t>
            </a:r>
            <a:r>
              <a:rPr lang="en-US" dirty="0" smtClean="0"/>
              <a:t>array accept duplicate element ?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2209800"/>
          <a:ext cx="8153400" cy="2971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17800"/>
                <a:gridCol w="2717800"/>
                <a:gridCol w="2717800"/>
              </a:tblGrid>
              <a:tr h="4799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No Duplicates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Duplicates OK</a:t>
                      </a:r>
                      <a:endParaRPr lang="en-US" dirty="0"/>
                    </a:p>
                  </a:txBody>
                  <a:tcPr/>
                </a:tc>
              </a:tr>
              <a:tr h="479959">
                <a:tc>
                  <a:txBody>
                    <a:bodyPr/>
                    <a:lstStyle/>
                    <a:p>
                      <a:r>
                        <a:rPr lang="en-US" dirty="0" smtClean="0"/>
                        <a:t>Searching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N/2 comparisons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 comparisons</a:t>
                      </a:r>
                      <a:endParaRPr lang="en-US" dirty="0"/>
                    </a:p>
                  </a:txBody>
                  <a:tcPr/>
                </a:tc>
              </a:tr>
              <a:tr h="828422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No comparisons</a:t>
                      </a:r>
                      <a:r>
                        <a:rPr kumimoji="0" lang="en-US" sz="1800" kern="1200" baseline="0" dirty="0" smtClean="0"/>
                        <a:t>,</a:t>
                      </a:r>
                    </a:p>
                    <a:p>
                      <a:r>
                        <a:rPr kumimoji="0" lang="en-US" sz="1800" kern="1200" baseline="0" dirty="0" smtClean="0"/>
                        <a:t> </a:t>
                      </a:r>
                      <a:r>
                        <a:rPr kumimoji="0" lang="en-US" sz="1800" kern="1200" baseline="0" dirty="0" smtClean="0"/>
                        <a:t>one move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baseline="0" dirty="0" smtClean="0"/>
                        <a:t>N comparisons</a:t>
                      </a:r>
                      <a:endParaRPr lang="en-US" dirty="0" smtClean="0"/>
                    </a:p>
                    <a:p>
                      <a:r>
                        <a:rPr kumimoji="0" lang="en-US" sz="1800" kern="1200" baseline="0" dirty="0" smtClean="0"/>
                        <a:t>, one move</a:t>
                      </a:r>
                      <a:endParaRPr lang="en-US" dirty="0"/>
                    </a:p>
                  </a:txBody>
                  <a:tcPr/>
                </a:tc>
              </a:tr>
              <a:tr h="1183460">
                <a:tc>
                  <a:txBody>
                    <a:bodyPr/>
                    <a:lstStyle/>
                    <a:p>
                      <a:r>
                        <a:rPr lang="en-US" dirty="0" smtClean="0"/>
                        <a:t>Deletion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N/2 comparisons, </a:t>
                      </a:r>
                      <a:endParaRPr kumimoji="0" lang="en-US" sz="1800" kern="1200" baseline="0" dirty="0" smtClean="0"/>
                    </a:p>
                    <a:p>
                      <a:r>
                        <a:rPr kumimoji="0" lang="en-US" sz="1800" kern="1200" baseline="0" dirty="0" smtClean="0"/>
                        <a:t>N/2 </a:t>
                      </a:r>
                      <a:r>
                        <a:rPr kumimoji="0" lang="en-US" sz="1800" kern="1200" baseline="0" dirty="0" smtClean="0"/>
                        <a:t>moves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 smtClean="0"/>
                        <a:t>N comparisons</a:t>
                      </a:r>
                      <a:r>
                        <a:rPr kumimoji="0" lang="en-US" sz="1800" kern="1200" baseline="0" dirty="0" smtClean="0"/>
                        <a:t>,</a:t>
                      </a:r>
                    </a:p>
                    <a:p>
                      <a:r>
                        <a:rPr kumimoji="0" lang="en-US" sz="1800" kern="1200" baseline="0" dirty="0" smtClean="0"/>
                        <a:t> </a:t>
                      </a:r>
                      <a:r>
                        <a:rPr kumimoji="0" lang="en-US" sz="1800" kern="1200" baseline="0" dirty="0" smtClean="0"/>
                        <a:t>more than N/2 moves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Cloning an </a:t>
            </a:r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419600" cy="49377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public class </a:t>
            </a:r>
            <a:r>
              <a:rPr lang="en-US" dirty="0" err="1" smtClean="0"/>
              <a:t>DuplicateArray</a:t>
            </a:r>
            <a:r>
              <a:rPr lang="en-US" dirty="0" smtClean="0"/>
              <a:t> {</a:t>
            </a:r>
          </a:p>
          <a:p>
            <a:endParaRPr lang="en-US" dirty="0" smtClean="0"/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a = {22, 44, 66, 88};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c = a;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b = (</a:t>
            </a:r>
            <a:r>
              <a:rPr lang="en-US" dirty="0" err="1" smtClean="0"/>
              <a:t>int</a:t>
            </a:r>
            <a:r>
              <a:rPr lang="en-US" dirty="0" smtClean="0"/>
              <a:t>[]) </a:t>
            </a:r>
            <a:r>
              <a:rPr lang="en-US" dirty="0" err="1" smtClean="0"/>
              <a:t>a.clone</a:t>
            </a:r>
            <a:r>
              <a:rPr lang="en-US" dirty="0" smtClean="0"/>
              <a:t>(); // duplicate a[] in b[]</a:t>
            </a:r>
          </a:p>
          <a:p>
            <a:r>
              <a:rPr lang="en-US" dirty="0" smtClean="0"/>
              <a:t>        print(a);</a:t>
            </a:r>
          </a:p>
          <a:p>
            <a:r>
              <a:rPr lang="en-US" dirty="0" smtClean="0"/>
              <a:t>        print(b);</a:t>
            </a:r>
          </a:p>
          <a:p>
            <a:r>
              <a:rPr lang="en-US" dirty="0" smtClean="0"/>
              <a:t>        print(c);</a:t>
            </a:r>
          </a:p>
          <a:p>
            <a:r>
              <a:rPr lang="en-US" dirty="0" smtClean="0"/>
              <a:t>        a[1] = 33;</a:t>
            </a:r>
          </a:p>
          <a:p>
            <a:r>
              <a:rPr lang="en-US" dirty="0" smtClean="0"/>
              <a:t>        b[1] = 55;</a:t>
            </a:r>
          </a:p>
          <a:p>
            <a:r>
              <a:rPr lang="en-US" dirty="0" smtClean="0"/>
              <a:t>        c[1] = 77;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("-----------------");</a:t>
            </a:r>
          </a:p>
          <a:p>
            <a:r>
              <a:rPr lang="en-US" dirty="0" smtClean="0"/>
              <a:t>        print(a);</a:t>
            </a:r>
          </a:p>
          <a:p>
            <a:r>
              <a:rPr lang="en-US" dirty="0" smtClean="0"/>
              <a:t>        print(b);</a:t>
            </a:r>
          </a:p>
          <a:p>
            <a:r>
              <a:rPr lang="en-US" dirty="0" smtClean="0"/>
              <a:t>        print(c);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5400" y="1216152"/>
            <a:ext cx="3568446" cy="49377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dirty="0" smtClean="0"/>
              <a:t> public static void print(</a:t>
            </a:r>
            <a:r>
              <a:rPr lang="en-US" dirty="0" err="1" smtClean="0"/>
              <a:t>int</a:t>
            </a:r>
            <a:r>
              <a:rPr lang="en-US" dirty="0" smtClean="0"/>
              <a:t>[] a)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System.out.printf</a:t>
            </a:r>
            <a:r>
              <a:rPr lang="en-US" dirty="0" smtClean="0"/>
              <a:t>("{%d", a[0]);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1;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System.out.printf</a:t>
            </a:r>
            <a:r>
              <a:rPr lang="en-US" dirty="0" smtClean="0"/>
              <a:t>(", %d", a[</a:t>
            </a:r>
            <a:r>
              <a:rPr lang="en-US" dirty="0" err="1" smtClean="0"/>
              <a:t>i</a:t>
            </a:r>
            <a:r>
              <a:rPr lang="en-US" dirty="0" smtClean="0"/>
              <a:t>]);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("}");</a:t>
            </a:r>
          </a:p>
          <a:p>
            <a:endParaRPr lang="en-US" dirty="0" smtClean="0"/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java.util.Arrays</a:t>
            </a:r>
            <a:r>
              <a:rPr lang="en-US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sort,binarySearch</a:t>
            </a:r>
            <a:r>
              <a:rPr lang="en-US" dirty="0" smtClean="0"/>
              <a:t>, fill, and equals)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the Arrays class from the </a:t>
            </a:r>
            <a:r>
              <a:rPr lang="en-US" dirty="0" err="1" smtClean="0"/>
              <a:t>java.util</a:t>
            </a:r>
            <a:r>
              <a:rPr lang="en-US" dirty="0" smtClean="0"/>
              <a:t> package to access the sort(), </a:t>
            </a:r>
            <a:r>
              <a:rPr lang="en-US" dirty="0" err="1" smtClean="0"/>
              <a:t>binarySearch</a:t>
            </a:r>
            <a:r>
              <a:rPr lang="en-US" dirty="0" smtClean="0"/>
              <a:t>(), fill(), and equals() methods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1770888"/>
            <a:ext cx="7226046" cy="447751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java.util.Arrays</a:t>
            </a:r>
            <a:r>
              <a:rPr lang="en-US" dirty="0" smtClean="0"/>
              <a:t>;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TestArrayUtil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a = {44, 77, 55, 22, 99, 88, 33, 66};</a:t>
            </a:r>
          </a:p>
          <a:p>
            <a:r>
              <a:rPr lang="en-US" dirty="0" smtClean="0"/>
              <a:t>        print(a);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Arrays.sort</a:t>
            </a:r>
            <a:r>
              <a:rPr lang="en-US" dirty="0" smtClean="0"/>
              <a:t>(a);</a:t>
            </a:r>
          </a:p>
          <a:p>
            <a:r>
              <a:rPr lang="en-US" dirty="0" smtClean="0"/>
              <a:t>        print(a);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k = </a:t>
            </a:r>
            <a:r>
              <a:rPr lang="en-US" dirty="0" err="1" smtClean="0"/>
              <a:t>Arrays.binarySearch</a:t>
            </a:r>
            <a:r>
              <a:rPr lang="en-US" dirty="0" smtClean="0"/>
              <a:t>(a, 44);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System.out.printf</a:t>
            </a:r>
            <a:r>
              <a:rPr lang="en-US" dirty="0" smtClean="0"/>
              <a:t>("</a:t>
            </a:r>
            <a:r>
              <a:rPr lang="en-US" dirty="0" err="1" smtClean="0"/>
              <a:t>Arrays.binarySearch</a:t>
            </a:r>
            <a:r>
              <a:rPr lang="en-US" dirty="0" smtClean="0"/>
              <a:t>(a, 44): %</a:t>
            </a:r>
            <a:r>
              <a:rPr lang="en-US" dirty="0" err="1" smtClean="0"/>
              <a:t>d%n</a:t>
            </a:r>
            <a:r>
              <a:rPr lang="en-US" dirty="0" smtClean="0"/>
              <a:t>", k);</a:t>
            </a:r>
          </a:p>
          <a:p>
            <a:r>
              <a:rPr lang="en-US" dirty="0" smtClean="0"/>
              <a:t>        k = </a:t>
            </a:r>
            <a:r>
              <a:rPr lang="en-US" dirty="0" err="1" smtClean="0"/>
              <a:t>Arrays.binarySearch</a:t>
            </a:r>
            <a:r>
              <a:rPr lang="en-US" dirty="0" smtClean="0"/>
              <a:t>(a, 46);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System.out.printf</a:t>
            </a:r>
            <a:r>
              <a:rPr lang="en-US" dirty="0" smtClean="0"/>
              <a:t>("</a:t>
            </a:r>
            <a:r>
              <a:rPr lang="en-US" dirty="0" err="1" smtClean="0"/>
              <a:t>Arrays.binarySearch</a:t>
            </a:r>
            <a:r>
              <a:rPr lang="en-US" dirty="0" smtClean="0"/>
              <a:t>(a, 45): %</a:t>
            </a:r>
            <a:r>
              <a:rPr lang="en-US" dirty="0" err="1" smtClean="0"/>
              <a:t>d%n</a:t>
            </a:r>
            <a:r>
              <a:rPr lang="en-US" dirty="0" smtClean="0"/>
              <a:t>", k);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b = new </a:t>
            </a:r>
            <a:r>
              <a:rPr lang="en-US" dirty="0" err="1" smtClean="0"/>
              <a:t>int</a:t>
            </a:r>
            <a:r>
              <a:rPr lang="en-US" dirty="0" smtClean="0"/>
              <a:t>[8];</a:t>
            </a:r>
          </a:p>
          <a:p>
            <a:r>
              <a:rPr lang="en-US" dirty="0" smtClean="0"/>
              <a:t>        print(b);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Arrays.fill</a:t>
            </a:r>
            <a:r>
              <a:rPr lang="en-US" dirty="0" smtClean="0"/>
              <a:t>(b, 55);</a:t>
            </a:r>
          </a:p>
          <a:p>
            <a:r>
              <a:rPr lang="en-US" dirty="0" smtClean="0"/>
              <a:t>        print(b);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</a:t>
            </a:r>
            <a:r>
              <a:rPr lang="en-US" dirty="0" err="1" smtClean="0"/>
              <a:t>Arrays.equals</a:t>
            </a:r>
            <a:r>
              <a:rPr lang="en-US" dirty="0" smtClean="0"/>
              <a:t>(</a:t>
            </a:r>
            <a:r>
              <a:rPr lang="en-US" dirty="0" err="1" smtClean="0"/>
              <a:t>a,b</a:t>
            </a:r>
            <a:r>
              <a:rPr lang="en-US" dirty="0" smtClean="0"/>
              <a:t>): " + </a:t>
            </a:r>
            <a:r>
              <a:rPr lang="en-US" dirty="0" err="1" smtClean="0"/>
              <a:t>Arrays.equals</a:t>
            </a:r>
            <a:r>
              <a:rPr lang="en-US" dirty="0" smtClean="0"/>
              <a:t>(a, b));</a:t>
            </a:r>
          </a:p>
          <a:p>
            <a:r>
              <a:rPr lang="en-US" dirty="0" smtClean="0"/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591</TotalTime>
  <Words>2741</Words>
  <Application>Microsoft Office PowerPoint</Application>
  <PresentationFormat>On-screen Show (4:3)</PresentationFormat>
  <Paragraphs>585</Paragraphs>
  <Slides>35</Slides>
  <Notes>16</Notes>
  <HiddenSlides>3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Origin</vt:lpstr>
      <vt:lpstr>Microsoft Word 97 - 2003 Document</vt:lpstr>
      <vt:lpstr>Data Structure &amp; Algorithm</vt:lpstr>
      <vt:lpstr>Lecture Content </vt:lpstr>
      <vt:lpstr>Major Data Storage Structure </vt:lpstr>
      <vt:lpstr>Operation on Data Structure</vt:lpstr>
      <vt:lpstr>The array data structure</vt:lpstr>
      <vt:lpstr>Arrays in Java I</vt:lpstr>
      <vt:lpstr>Arrays in Java II</vt:lpstr>
      <vt:lpstr>Arrays in Java III</vt:lpstr>
      <vt:lpstr>Two-dimensional arrays II</vt:lpstr>
      <vt:lpstr>2D arrays in Java</vt:lpstr>
      <vt:lpstr>Ragged arrays</vt:lpstr>
      <vt:lpstr>Example 1</vt:lpstr>
      <vt:lpstr>Inserting an element into unsorted array</vt:lpstr>
      <vt:lpstr>Example: Insert into unsorted Array</vt:lpstr>
      <vt:lpstr>Inserting an element into sorted array</vt:lpstr>
      <vt:lpstr>Example: Insert into sorted Array</vt:lpstr>
      <vt:lpstr>Deleting an element from an array</vt:lpstr>
      <vt:lpstr>Example : Delete element</vt:lpstr>
      <vt:lpstr>Search an element from an array</vt:lpstr>
      <vt:lpstr>Linear Search</vt:lpstr>
      <vt:lpstr>Example: Linear Search</vt:lpstr>
      <vt:lpstr>Binary Search</vt:lpstr>
      <vt:lpstr>Binary Search</vt:lpstr>
      <vt:lpstr>Example:Binary Search</vt:lpstr>
      <vt:lpstr>Example:Binary Search-cont.</vt:lpstr>
      <vt:lpstr>Running Time: seqSearch()</vt:lpstr>
      <vt:lpstr>Running Time: binSearch()</vt:lpstr>
      <vt:lpstr>Slide 28</vt:lpstr>
      <vt:lpstr>Big-Oh Notation</vt:lpstr>
      <vt:lpstr>Big O Notation</vt:lpstr>
      <vt:lpstr>T() Equations</vt:lpstr>
      <vt:lpstr>T() Graphs</vt:lpstr>
      <vt:lpstr>The Duplicates Issue</vt:lpstr>
      <vt:lpstr>Cloning an Array</vt:lpstr>
      <vt:lpstr>java.util.Arrays  (sort,binarySearch, fill, and equals)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ezz</dc:creator>
  <cp:lastModifiedBy>Mohamed Ezz</cp:lastModifiedBy>
  <cp:revision>111</cp:revision>
  <dcterms:created xsi:type="dcterms:W3CDTF">2006-08-16T00:00:00Z</dcterms:created>
  <dcterms:modified xsi:type="dcterms:W3CDTF">2014-03-16T23:56:04Z</dcterms:modified>
</cp:coreProperties>
</file>